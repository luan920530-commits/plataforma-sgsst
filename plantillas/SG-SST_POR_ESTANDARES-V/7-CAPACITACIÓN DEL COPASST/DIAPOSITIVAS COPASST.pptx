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65" r:id="rId5"/>
    <p:sldId id="261" r:id="rId6"/>
    <p:sldId id="258" r:id="rId7"/>
    <p:sldId id="267" r:id="rId8"/>
    <p:sldId id="268" r:id="rId9"/>
    <p:sldId id="259" r:id="rId10"/>
    <p:sldId id="260" r:id="rId11"/>
    <p:sldId id="262" r:id="rId12"/>
    <p:sldId id="264" r:id="rId13"/>
    <p:sldId id="263" r:id="rId1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1061581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2695201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4031265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7A58026-05B9-48E2-9F6F-EF430661B49E}" type="datetimeFigureOut">
              <a:rPr lang="es-CO" smtClean="0"/>
              <a:t>16/03/2021</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3379052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7A58026-05B9-48E2-9F6F-EF430661B49E}" type="datetimeFigureOut">
              <a:rPr lang="es-CO" smtClean="0"/>
              <a:t>16/03/2021</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1282746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A58026-05B9-48E2-9F6F-EF430661B49E}" type="datetimeFigureOut">
              <a:rPr lang="es-CO" smtClean="0"/>
              <a:t>16/03/2021</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1481602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A58026-05B9-48E2-9F6F-EF430661B49E}" type="datetimeFigureOut">
              <a:rPr lang="es-CO" smtClean="0"/>
              <a:t>16/03/2021</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1704343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87A58026-05B9-48E2-9F6F-EF430661B49E}" type="datetimeFigureOut">
              <a:rPr lang="es-CO" smtClean="0"/>
              <a:t>16/03/2021</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3354800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87A58026-05B9-48E2-9F6F-EF430661B49E}" type="datetimeFigureOut">
              <a:rPr lang="es-CO" smtClean="0"/>
              <a:t>16/03/2021</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3006375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2716690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70469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1989973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68045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2776104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32982240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A58026-05B9-48E2-9F6F-EF430661B49E}" type="datetimeFigureOut">
              <a:rPr lang="es-CO" smtClean="0"/>
              <a:t>16/03/2021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1023E3E-AD6D-4210-8024-2FEB42476099}" type="slidenum">
              <a:rPr lang="es-CO" smtClean="0"/>
              <a:t>‹Nº›</a:t>
            </a:fld>
            <a:endParaRPr lang="es-CO"/>
          </a:p>
        </p:txBody>
      </p:sp>
    </p:spTree>
    <p:extLst>
      <p:ext uri="{BB962C8B-B14F-4D97-AF65-F5344CB8AC3E}">
        <p14:creationId xmlns:p14="http://schemas.microsoft.com/office/powerpoint/2010/main" val="2564556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A58026-05B9-48E2-9F6F-EF430661B49E}" type="datetimeFigureOut">
              <a:rPr lang="es-CO" smtClean="0"/>
              <a:t>16/03/2021</a:t>
            </a:fld>
            <a:endParaRPr lang="es-CO"/>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1023E3E-AD6D-4210-8024-2FEB42476099}" type="slidenum">
              <a:rPr lang="es-CO" smtClean="0"/>
              <a:t>‹Nº›</a:t>
            </a:fld>
            <a:endParaRPr lang="es-CO"/>
          </a:p>
        </p:txBody>
      </p:sp>
    </p:spTree>
    <p:extLst>
      <p:ext uri="{BB962C8B-B14F-4D97-AF65-F5344CB8AC3E}">
        <p14:creationId xmlns:p14="http://schemas.microsoft.com/office/powerpoint/2010/main" val="37319468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CO" sz="6600" dirty="0"/>
              <a:t>COPASST</a:t>
            </a:r>
          </a:p>
        </p:txBody>
      </p:sp>
      <p:sp>
        <p:nvSpPr>
          <p:cNvPr id="3" name="Subtítulo 2"/>
          <p:cNvSpPr>
            <a:spLocks noGrp="1"/>
          </p:cNvSpPr>
          <p:nvPr>
            <p:ph type="subTitle" idx="1"/>
          </p:nvPr>
        </p:nvSpPr>
        <p:spPr/>
        <p:txBody>
          <a:bodyPr/>
          <a:lstStyle/>
          <a:p>
            <a:r>
              <a:rPr lang="es-CO" dirty="0"/>
              <a:t>Comité paritario en seguridad y salud en el trabajo</a:t>
            </a:r>
          </a:p>
        </p:txBody>
      </p:sp>
      <p:pic>
        <p:nvPicPr>
          <p:cNvPr id="5" name="Imagen 4"/>
          <p:cNvPicPr>
            <a:picLocks noChangeAspect="1"/>
          </p:cNvPicPr>
          <p:nvPr/>
        </p:nvPicPr>
        <p:blipFill>
          <a:blip r:embed="rId2"/>
          <a:stretch>
            <a:fillRect/>
          </a:stretch>
        </p:blipFill>
        <p:spPr>
          <a:xfrm>
            <a:off x="923243" y="968650"/>
            <a:ext cx="4467292" cy="2688950"/>
          </a:xfrm>
          <a:prstGeom prst="ellipse">
            <a:avLst/>
          </a:prstGeom>
          <a:ln>
            <a:noFill/>
          </a:ln>
          <a:effectLst>
            <a:softEdge rad="112500"/>
          </a:effectLst>
        </p:spPr>
      </p:pic>
    </p:spTree>
    <p:extLst>
      <p:ext uri="{BB962C8B-B14F-4D97-AF65-F5344CB8AC3E}">
        <p14:creationId xmlns:p14="http://schemas.microsoft.com/office/powerpoint/2010/main" val="4144624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CO" dirty="0"/>
              <a:t>¿QUÉ ES EL COPASST?</a:t>
            </a:r>
          </a:p>
        </p:txBody>
      </p:sp>
      <p:sp>
        <p:nvSpPr>
          <p:cNvPr id="3" name="Marcador de contenido 2"/>
          <p:cNvSpPr>
            <a:spLocks noGrp="1"/>
          </p:cNvSpPr>
          <p:nvPr>
            <p:ph idx="1"/>
          </p:nvPr>
        </p:nvSpPr>
        <p:spPr>
          <a:xfrm>
            <a:off x="862864" y="1488613"/>
            <a:ext cx="8596668" cy="3880773"/>
          </a:xfrm>
        </p:spPr>
        <p:txBody>
          <a:bodyPr/>
          <a:lstStyle/>
          <a:p>
            <a:pPr marL="0" indent="0" algn="just">
              <a:buNone/>
            </a:pPr>
            <a:r>
              <a:rPr lang="es-CO" dirty="0"/>
              <a:t>Es un organismo de promoción y vigilancia de las normas y reglamentos de salud ocupacional dentro de la empresa.</a:t>
            </a:r>
          </a:p>
          <a:p>
            <a:pPr marL="0" indent="0" algn="just">
              <a:buNone/>
            </a:pPr>
            <a:r>
              <a:rPr lang="es-CO" dirty="0"/>
              <a:t>Tiene la característica de estar conformado por igual número de representantes por parte del empleador e igual número de representantes por parte de los colaboradores, de allí su denominación de paritario.</a:t>
            </a:r>
          </a:p>
          <a:p>
            <a:pPr marL="0" indent="0" algn="just">
              <a:buNone/>
            </a:pPr>
            <a:r>
              <a:rPr lang="es-CO" dirty="0"/>
              <a:t>Está regido por la Resolución 2013/1986 y el Decreto 1072/2015.</a:t>
            </a:r>
          </a:p>
        </p:txBody>
      </p:sp>
      <p:pic>
        <p:nvPicPr>
          <p:cNvPr id="2052" name="Picture 4" descr="TALLERES DE LOS COPASST | Secretaría de Educación Municipal">
            <a:extLst>
              <a:ext uri="{FF2B5EF4-FFF2-40B4-BE49-F238E27FC236}">
                <a16:creationId xmlns:a16="http://schemas.microsoft.com/office/drawing/2014/main" id="{5CCE64FD-BEA3-40C2-BD56-6B6388AAB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2804" y="4105275"/>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55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5CC9DF-987B-4B98-A4F5-A971B82D3783}"/>
              </a:ext>
            </a:extLst>
          </p:cNvPr>
          <p:cNvSpPr>
            <a:spLocks noGrp="1"/>
          </p:cNvSpPr>
          <p:nvPr>
            <p:ph type="title"/>
          </p:nvPr>
        </p:nvSpPr>
        <p:spPr/>
        <p:txBody>
          <a:bodyPr/>
          <a:lstStyle/>
          <a:p>
            <a:pPr algn="ctr"/>
            <a:r>
              <a:rPr lang="es-CO" dirty="0"/>
              <a:t>CONFORMACIÓN</a:t>
            </a:r>
            <a:endParaRPr lang="es-419" dirty="0"/>
          </a:p>
        </p:txBody>
      </p:sp>
      <p:sp>
        <p:nvSpPr>
          <p:cNvPr id="3" name="Marcador de contenido 2">
            <a:extLst>
              <a:ext uri="{FF2B5EF4-FFF2-40B4-BE49-F238E27FC236}">
                <a16:creationId xmlns:a16="http://schemas.microsoft.com/office/drawing/2014/main" id="{62735847-828C-428B-9853-8AAFCE53F4BC}"/>
              </a:ext>
            </a:extLst>
          </p:cNvPr>
          <p:cNvSpPr>
            <a:spLocks noGrp="1"/>
          </p:cNvSpPr>
          <p:nvPr>
            <p:ph idx="1"/>
          </p:nvPr>
        </p:nvSpPr>
        <p:spPr>
          <a:xfrm>
            <a:off x="6758608" y="2987214"/>
            <a:ext cx="3366052" cy="3880773"/>
          </a:xfrm>
        </p:spPr>
        <p:txBody>
          <a:bodyPr>
            <a:normAutofit/>
          </a:bodyPr>
          <a:lstStyle/>
          <a:p>
            <a:pPr marL="0" indent="0" algn="just">
              <a:buNone/>
            </a:pPr>
            <a:r>
              <a:rPr lang="es-419" dirty="0"/>
              <a:t>El comité estará compuesto por un número igual de representantes del empleador y de los trabajadores, con sus respectivos suplentes, así: </a:t>
            </a:r>
          </a:p>
        </p:txBody>
      </p:sp>
      <p:pic>
        <p:nvPicPr>
          <p:cNvPr id="3076" name="Picture 4" descr="Comité Paritario De Sst - TOMi.digital">
            <a:extLst>
              <a:ext uri="{FF2B5EF4-FFF2-40B4-BE49-F238E27FC236}">
                <a16:creationId xmlns:a16="http://schemas.microsoft.com/office/drawing/2014/main" id="{21A02C3E-92F0-4B2D-A2A5-8CFB6A9D59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108" y="1819737"/>
            <a:ext cx="6076950" cy="456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736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9C0ADD-DC22-46C9-89AF-9BFD0888871C}"/>
              </a:ext>
            </a:extLst>
          </p:cNvPr>
          <p:cNvSpPr>
            <a:spLocks noGrp="1"/>
          </p:cNvSpPr>
          <p:nvPr>
            <p:ph type="title"/>
          </p:nvPr>
        </p:nvSpPr>
        <p:spPr/>
        <p:txBody>
          <a:bodyPr/>
          <a:lstStyle/>
          <a:p>
            <a:pPr algn="ctr"/>
            <a:r>
              <a:rPr lang="es-CO" dirty="0"/>
              <a:t>OBLIGACIONES DEL EMPLEADOR</a:t>
            </a:r>
            <a:endParaRPr lang="es-419" dirty="0"/>
          </a:p>
        </p:txBody>
      </p:sp>
      <p:sp>
        <p:nvSpPr>
          <p:cNvPr id="3" name="Marcador de contenido 2">
            <a:extLst>
              <a:ext uri="{FF2B5EF4-FFF2-40B4-BE49-F238E27FC236}">
                <a16:creationId xmlns:a16="http://schemas.microsoft.com/office/drawing/2014/main" id="{0166D820-DD3B-485C-AB41-2934C30A69FF}"/>
              </a:ext>
            </a:extLst>
          </p:cNvPr>
          <p:cNvSpPr>
            <a:spLocks noGrp="1"/>
          </p:cNvSpPr>
          <p:nvPr>
            <p:ph idx="1"/>
          </p:nvPr>
        </p:nvSpPr>
        <p:spPr>
          <a:xfrm>
            <a:off x="677334" y="2160589"/>
            <a:ext cx="5617449" cy="3880773"/>
          </a:xfrm>
        </p:spPr>
        <p:txBody>
          <a:bodyPr>
            <a:normAutofit lnSpcReduction="10000"/>
          </a:bodyPr>
          <a:lstStyle/>
          <a:p>
            <a:pPr algn="just"/>
            <a:r>
              <a:rPr lang="es-419" dirty="0"/>
              <a:t>Propiciar la elección de los representantes de los trabajadores al Comité de acuerdo con lo ordenado en el artículo 20 de la Resolución 2013/1986, garantizando la libertad y oportunidad de las votaciones.</a:t>
            </a:r>
          </a:p>
          <a:p>
            <a:pPr algn="just"/>
            <a:r>
              <a:rPr lang="es-419" dirty="0"/>
              <a:t>Designar sus representantes al Comité.</a:t>
            </a:r>
          </a:p>
          <a:p>
            <a:pPr algn="just"/>
            <a:r>
              <a:rPr lang="es-419" dirty="0"/>
              <a:t>Designar al Presidente del Comité</a:t>
            </a:r>
          </a:p>
          <a:p>
            <a:pPr algn="just"/>
            <a:r>
              <a:rPr lang="es-419" dirty="0"/>
              <a:t>Proporcionar los medios necesarios para el normal desempeño de las funciones del Comité;</a:t>
            </a:r>
          </a:p>
          <a:p>
            <a:pPr algn="just"/>
            <a:r>
              <a:rPr lang="es-419" dirty="0"/>
              <a:t>Estudiar las recomendaciones emanadas del Comité y determinar la adopción de las medidas más convenientes e informar las decisiones tomadas al respecto. </a:t>
            </a:r>
          </a:p>
        </p:txBody>
      </p:sp>
      <p:pic>
        <p:nvPicPr>
          <p:cNvPr id="4098" name="Picture 2" descr="Mintrabajo vigilará “rigurosamente” decisiones de empleadores durante  pandemia | EL ESPECTADOR">
            <a:extLst>
              <a:ext uri="{FF2B5EF4-FFF2-40B4-BE49-F238E27FC236}">
                <a16:creationId xmlns:a16="http://schemas.microsoft.com/office/drawing/2014/main" id="{8C99731A-3BDD-4064-91EC-EB810FE52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4627" y="2994785"/>
            <a:ext cx="2619375" cy="17430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845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CO" dirty="0"/>
              <a:t>OBLIGACIONES DE LOS TRABAJADORES</a:t>
            </a:r>
          </a:p>
        </p:txBody>
      </p:sp>
      <p:sp>
        <p:nvSpPr>
          <p:cNvPr id="3" name="Marcador de contenido 2"/>
          <p:cNvSpPr>
            <a:spLocks noGrp="1"/>
          </p:cNvSpPr>
          <p:nvPr>
            <p:ph idx="1"/>
          </p:nvPr>
        </p:nvSpPr>
        <p:spPr/>
        <p:txBody>
          <a:bodyPr/>
          <a:lstStyle/>
          <a:p>
            <a:pPr algn="just"/>
            <a:r>
              <a:rPr lang="es-CO" dirty="0"/>
              <a:t>Elegir al representante del comité.</a:t>
            </a:r>
          </a:p>
          <a:p>
            <a:pPr algn="just"/>
            <a:r>
              <a:rPr lang="es-CO" dirty="0"/>
              <a:t>Informar al comité las situaciones de riesgo que se presenten y manifestar sus sugerencias para el mejoramiento del SG-SST.</a:t>
            </a:r>
          </a:p>
          <a:p>
            <a:pPr algn="just"/>
            <a:r>
              <a:rPr lang="es-CO" dirty="0"/>
              <a:t>Cumplir con las normas de seguridad y salud en el trabajo y con los reglamentos e instrucciones ordenados por el empleador.</a:t>
            </a:r>
          </a:p>
        </p:txBody>
      </p:sp>
      <p:pic>
        <p:nvPicPr>
          <p:cNvPr id="1026" name="Picture 2" descr="http://ppsotoasesor.com/wp-content/uploads/2014/03/protocolo_de_responsabilidad_social_empresarial_guia_para_una_gestion_empresarial_integral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9133" y="4226761"/>
            <a:ext cx="2042330" cy="230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389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térate de los derechos y obligaciones que tienes como consumidor  financiero - Cuida Tu Futuro">
            <a:extLst>
              <a:ext uri="{FF2B5EF4-FFF2-40B4-BE49-F238E27FC236}">
                <a16:creationId xmlns:a16="http://schemas.microsoft.com/office/drawing/2014/main" id="{6AC94E3D-2DF1-465E-910F-DDFFF693B739}"/>
              </a:ext>
            </a:extLst>
          </p:cNvPr>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9818" y="2813810"/>
            <a:ext cx="2171700" cy="2105025"/>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p:cNvSpPr>
            <a:spLocks noGrp="1"/>
          </p:cNvSpPr>
          <p:nvPr>
            <p:ph type="title"/>
          </p:nvPr>
        </p:nvSpPr>
        <p:spPr/>
        <p:txBody>
          <a:bodyPr/>
          <a:lstStyle/>
          <a:p>
            <a:pPr algn="ctr"/>
            <a:r>
              <a:rPr lang="es-CO" dirty="0"/>
              <a:t>FUNCION DEL COPASST EN LA RESOLUCIÓN 2013/1986</a:t>
            </a:r>
          </a:p>
        </p:txBody>
      </p:sp>
      <p:sp>
        <p:nvSpPr>
          <p:cNvPr id="3" name="Marcador de contenido 2"/>
          <p:cNvSpPr>
            <a:spLocks noGrp="1"/>
          </p:cNvSpPr>
          <p:nvPr>
            <p:ph idx="1"/>
          </p:nvPr>
        </p:nvSpPr>
        <p:spPr>
          <a:xfrm>
            <a:off x="677334" y="1930400"/>
            <a:ext cx="8596668" cy="4381878"/>
          </a:xfrm>
        </p:spPr>
        <p:txBody>
          <a:bodyPr>
            <a:normAutofit fontScale="85000" lnSpcReduction="10000"/>
          </a:bodyPr>
          <a:lstStyle/>
          <a:p>
            <a:pPr>
              <a:buFont typeface="Wingdings" panose="05000000000000000000" pitchFamily="2" charset="2"/>
              <a:buChar char="v"/>
            </a:pPr>
            <a:r>
              <a:rPr lang="es-419" sz="2000" dirty="0"/>
              <a:t>Proponer a la administración de la empresa o establecimiento de trabajo la adopción de medidas y el desarrollo de actividades que procuren y mantengan la salud en los lugares y ambientes de trabajo.</a:t>
            </a:r>
          </a:p>
          <a:p>
            <a:pPr>
              <a:buFont typeface="Wingdings" panose="05000000000000000000" pitchFamily="2" charset="2"/>
              <a:buChar char="v"/>
            </a:pPr>
            <a:r>
              <a:rPr lang="es-419" sz="2000" dirty="0"/>
              <a:t>Proponer y participar en actividades de capacitación en seguridad y salud en el trabajo dirigidas a trabajadores, supervisores y directivos de la empresa o establecimiento de trabajo.</a:t>
            </a:r>
          </a:p>
          <a:p>
            <a:pPr>
              <a:buFont typeface="Wingdings" panose="05000000000000000000" pitchFamily="2" charset="2"/>
              <a:buChar char="v"/>
            </a:pPr>
            <a:r>
              <a:rPr lang="es-419" sz="2000" dirty="0"/>
              <a:t>Colaborar con los funcionarios de entidades gubernamentales de seguridad y salud en el trabajo en las actividades que éstos adelanten en la empresa y recibir por derecho propio los informes correspondientes.</a:t>
            </a:r>
          </a:p>
          <a:p>
            <a:pPr>
              <a:buFont typeface="Wingdings" panose="05000000000000000000" pitchFamily="2" charset="2"/>
              <a:buChar char="v"/>
            </a:pPr>
            <a:r>
              <a:rPr lang="es-419" sz="2000" dirty="0"/>
              <a:t>Vigilar el desarrollo de las actividades que en materia de seguridad y salud en el trabajo debe realizar la empresa de cuerdo con el Reglamento de Higiene y Seguridad Industrial y las normas vigentes, promover su divulgación y observancia.</a:t>
            </a:r>
          </a:p>
          <a:p>
            <a:pPr>
              <a:buFont typeface="Wingdings" panose="05000000000000000000" pitchFamily="2" charset="2"/>
              <a:buChar char="v"/>
            </a:pPr>
            <a:r>
              <a:rPr lang="es-419" sz="2000" dirty="0"/>
              <a:t>Colaborar en el análisis de las causas de los accidentes de trabajo y enfermedades laborales y proponer al empleador las medidas correctivas a que haya lugar para evitar su ocurrencia. Evaluar los programas que se hayan realizado.</a:t>
            </a:r>
          </a:p>
        </p:txBody>
      </p:sp>
    </p:spTree>
    <p:extLst>
      <p:ext uri="{BB962C8B-B14F-4D97-AF65-F5344CB8AC3E}">
        <p14:creationId xmlns:p14="http://schemas.microsoft.com/office/powerpoint/2010/main" val="861556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térate de los derechos y obligaciones que tienes como consumidor  financiero - Cuida Tu Futuro">
            <a:extLst>
              <a:ext uri="{FF2B5EF4-FFF2-40B4-BE49-F238E27FC236}">
                <a16:creationId xmlns:a16="http://schemas.microsoft.com/office/drawing/2014/main" id="{FBB09925-2805-46B7-A088-4034AE54315E}"/>
              </a:ext>
            </a:extLst>
          </p:cNvPr>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9818" y="2813810"/>
            <a:ext cx="2171700" cy="2105025"/>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36EC222-D130-4D2C-84B9-C9F45B540571}"/>
              </a:ext>
            </a:extLst>
          </p:cNvPr>
          <p:cNvSpPr>
            <a:spLocks noGrp="1"/>
          </p:cNvSpPr>
          <p:nvPr>
            <p:ph type="title"/>
          </p:nvPr>
        </p:nvSpPr>
        <p:spPr/>
        <p:txBody>
          <a:bodyPr/>
          <a:lstStyle/>
          <a:p>
            <a:pPr algn="ctr"/>
            <a:r>
              <a:rPr lang="es-CO" dirty="0"/>
              <a:t>FUNCIONES DEL COPASST EN LA RESOLUCIÓN 2013/1986</a:t>
            </a:r>
            <a:endParaRPr lang="es-419" dirty="0"/>
          </a:p>
        </p:txBody>
      </p:sp>
      <p:sp>
        <p:nvSpPr>
          <p:cNvPr id="3" name="Marcador de contenido 2">
            <a:extLst>
              <a:ext uri="{FF2B5EF4-FFF2-40B4-BE49-F238E27FC236}">
                <a16:creationId xmlns:a16="http://schemas.microsoft.com/office/drawing/2014/main" id="{8C605C60-88A9-4357-B02E-0FA306050AC7}"/>
              </a:ext>
            </a:extLst>
          </p:cNvPr>
          <p:cNvSpPr>
            <a:spLocks noGrp="1"/>
          </p:cNvSpPr>
          <p:nvPr>
            <p:ph idx="1"/>
          </p:nvPr>
        </p:nvSpPr>
        <p:spPr/>
        <p:txBody>
          <a:bodyPr>
            <a:normAutofit fontScale="85000" lnSpcReduction="10000"/>
          </a:bodyPr>
          <a:lstStyle/>
          <a:p>
            <a:pPr>
              <a:buFont typeface="Wingdings" panose="05000000000000000000" pitchFamily="2" charset="2"/>
              <a:buChar char="v"/>
            </a:pPr>
            <a:r>
              <a:rPr lang="es-419" sz="1800" dirty="0"/>
              <a:t>Visitar periódicamente los lugares de trabajo e inspeccionar los ambientes, máquinas, equipos, aparatos y las operaciones realizadas por el personal de trabajadores en cada área o sección de la empresa e informar al empleador sobre la existencia de factores de riesgo y sugerir las medidas correctivas y de control;</a:t>
            </a:r>
          </a:p>
          <a:p>
            <a:pPr>
              <a:buFont typeface="Wingdings" panose="05000000000000000000" pitchFamily="2" charset="2"/>
              <a:buChar char="v"/>
            </a:pPr>
            <a:r>
              <a:rPr lang="es-419" sz="1800" dirty="0"/>
              <a:t>Estudiar y considerar las sugerencias que presenten los trabajadores, en materia de seguridad y salud en el trabajo.</a:t>
            </a:r>
          </a:p>
          <a:p>
            <a:pPr>
              <a:buFont typeface="Wingdings" panose="05000000000000000000" pitchFamily="2" charset="2"/>
              <a:buChar char="v"/>
            </a:pPr>
            <a:r>
              <a:rPr lang="es-419" sz="1800" dirty="0"/>
              <a:t>Servir como organismo de coordinación entre empleador y los trabajadores en la solución de los problemas relativos a la seguridad y salud en el trabajo. Tramitar los reclamos de los trabajadores relacionados con la SST.</a:t>
            </a:r>
          </a:p>
          <a:p>
            <a:pPr>
              <a:buFont typeface="Wingdings" panose="05000000000000000000" pitchFamily="2" charset="2"/>
              <a:buChar char="v"/>
            </a:pPr>
            <a:r>
              <a:rPr lang="es-419" sz="1800" dirty="0"/>
              <a:t>Solicitar periódicamente a la empresa informes sobre accidentalidad y enfermedades profesionales con el objeto de dar cumplimiento a lo estipulado en la presente resolución.</a:t>
            </a:r>
          </a:p>
          <a:p>
            <a:pPr>
              <a:buFont typeface="Wingdings" panose="05000000000000000000" pitchFamily="2" charset="2"/>
              <a:buChar char="v"/>
            </a:pPr>
            <a:r>
              <a:rPr lang="es-419" sz="1800" dirty="0"/>
              <a:t>Elegir el secretario del Comité.</a:t>
            </a:r>
          </a:p>
          <a:p>
            <a:pPr>
              <a:buFont typeface="Wingdings" panose="05000000000000000000" pitchFamily="2" charset="2"/>
              <a:buChar char="v"/>
            </a:pPr>
            <a:r>
              <a:rPr lang="es-419" sz="1800" dirty="0"/>
              <a:t>Mantener un archivo de las actas de cada reunión y demás actividades que se desarrollen, el cual estará en cualquier momento a disposición del empleador, los trabajadores y las autoridades competentes.</a:t>
            </a:r>
            <a:endParaRPr lang="es-CO" sz="1800" dirty="0"/>
          </a:p>
          <a:p>
            <a:endParaRPr lang="es-419" dirty="0"/>
          </a:p>
        </p:txBody>
      </p:sp>
    </p:spTree>
    <p:extLst>
      <p:ext uri="{BB962C8B-B14F-4D97-AF65-F5344CB8AC3E}">
        <p14:creationId xmlns:p14="http://schemas.microsoft.com/office/powerpoint/2010/main" val="1027228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ntérate de los derechos y obligaciones que tienes como consumidor  financiero - Cuida Tu Futuro">
            <a:extLst>
              <a:ext uri="{FF2B5EF4-FFF2-40B4-BE49-F238E27FC236}">
                <a16:creationId xmlns:a16="http://schemas.microsoft.com/office/drawing/2014/main" id="{2E18393E-FF7C-43B5-A97B-63DF83498EA8}"/>
              </a:ext>
            </a:extLst>
          </p:cNvPr>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9818" y="2813810"/>
            <a:ext cx="2171700" cy="2105025"/>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9A2B62FC-DFCD-495F-B25F-9BF31943DB83}"/>
              </a:ext>
            </a:extLst>
          </p:cNvPr>
          <p:cNvSpPr>
            <a:spLocks noGrp="1"/>
          </p:cNvSpPr>
          <p:nvPr>
            <p:ph type="title"/>
          </p:nvPr>
        </p:nvSpPr>
        <p:spPr/>
        <p:txBody>
          <a:bodyPr/>
          <a:lstStyle/>
          <a:p>
            <a:pPr algn="ctr"/>
            <a:r>
              <a:rPr lang="es-CO" dirty="0"/>
              <a:t>FUNCIONES DEL COPASST EN EL DECRETO 1072/2015</a:t>
            </a:r>
            <a:endParaRPr lang="es-419" dirty="0"/>
          </a:p>
        </p:txBody>
      </p:sp>
      <p:sp>
        <p:nvSpPr>
          <p:cNvPr id="3" name="Marcador de contenido 2">
            <a:extLst>
              <a:ext uri="{FF2B5EF4-FFF2-40B4-BE49-F238E27FC236}">
                <a16:creationId xmlns:a16="http://schemas.microsoft.com/office/drawing/2014/main" id="{F13A709A-2E07-4573-B5A7-A0653130A858}"/>
              </a:ext>
            </a:extLst>
          </p:cNvPr>
          <p:cNvSpPr>
            <a:spLocks noGrp="1"/>
          </p:cNvSpPr>
          <p:nvPr>
            <p:ph idx="1"/>
          </p:nvPr>
        </p:nvSpPr>
        <p:spPr>
          <a:xfrm>
            <a:off x="677334" y="2160589"/>
            <a:ext cx="8596668" cy="4584768"/>
          </a:xfrm>
        </p:spPr>
        <p:txBody>
          <a:bodyPr>
            <a:normAutofit fontScale="77500" lnSpcReduction="20000"/>
          </a:bodyPr>
          <a:lstStyle/>
          <a:p>
            <a:r>
              <a:rPr lang="es-419" dirty="0"/>
              <a:t>Recibir por parte de la alta dirección la comunicación de la política de seguridad y salud en el trabajo (artículo 2.2.4.6.5).</a:t>
            </a:r>
          </a:p>
          <a:p>
            <a:r>
              <a:rPr lang="es-419" dirty="0"/>
              <a:t>Recibir por parte del empleador información sobre el desarrollo de todas las etapas del Sistema de Gestión de Seguridad de la Salud en el Trabajo (SG-SST) (artículo 2.2.4.6.8).</a:t>
            </a:r>
          </a:p>
          <a:p>
            <a:r>
              <a:rPr lang="es-419" dirty="0"/>
              <a:t>Rendir cuentas internamente en relación con su desempeño (artículo 2.2.4.6.8).</a:t>
            </a:r>
          </a:p>
          <a:p>
            <a:r>
              <a:rPr lang="es-419" dirty="0"/>
              <a:t>Dar recomendaciones para el mejoramiento del SG-SST (artículo 2.2.4.6.8).</a:t>
            </a:r>
          </a:p>
          <a:p>
            <a:r>
              <a:rPr lang="es-419" dirty="0"/>
              <a:t>Participar en las capacitaciones que realice la Administradora de Riesgos Laborales (artículo 2.2.4.6.9).</a:t>
            </a:r>
          </a:p>
          <a:p>
            <a:r>
              <a:rPr lang="es-419" dirty="0"/>
              <a:t>Revisión del programa de capacitación en Seguridad y Salud en el Trabajo (artículo 2.2.4.6.11).</a:t>
            </a:r>
          </a:p>
          <a:p>
            <a:r>
              <a:rPr lang="es-419" dirty="0"/>
              <a:t>Recibir los resultados de las evaluaciones de los ambientes de trabajo y emitir recomendaciones (artículo 2.2.4.6.15).</a:t>
            </a:r>
          </a:p>
          <a:p>
            <a:r>
              <a:rPr lang="es-419" dirty="0"/>
              <a:t>Apoyar la adopción de las medidas de prevención y control derivadas de la gestión del cambio (artículo 2.2.4.6.26).</a:t>
            </a:r>
          </a:p>
          <a:p>
            <a:r>
              <a:rPr lang="es-419" dirty="0"/>
              <a:t>Participar en la planificación de las auditorías (artículo 2.2.4.6.29).</a:t>
            </a:r>
          </a:p>
          <a:p>
            <a:r>
              <a:rPr lang="es-419" dirty="0"/>
              <a:t>Tener conocimiento de los resultados de la revisión de la alta dirección (artículo 2.2.4.6.31).</a:t>
            </a:r>
          </a:p>
          <a:p>
            <a:r>
              <a:rPr lang="es-419" dirty="0"/>
              <a:t>Formar parte del equipo investigador de incidentes, accidentes de trabajo y enfermedades laborales (artículos 2.2.4.1.6 y 2.2.4.6.32).</a:t>
            </a:r>
          </a:p>
        </p:txBody>
      </p:sp>
    </p:spTree>
    <p:extLst>
      <p:ext uri="{BB962C8B-B14F-4D97-AF65-F5344CB8AC3E}">
        <p14:creationId xmlns:p14="http://schemas.microsoft.com/office/powerpoint/2010/main" val="2163328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CO" dirty="0"/>
              <a:t>FUNCIONES DEL PRESIDENTE DEL COPASST</a:t>
            </a:r>
          </a:p>
        </p:txBody>
      </p:sp>
      <p:sp>
        <p:nvSpPr>
          <p:cNvPr id="3" name="Marcador de contenido 2"/>
          <p:cNvSpPr>
            <a:spLocks noGrp="1"/>
          </p:cNvSpPr>
          <p:nvPr>
            <p:ph idx="1"/>
          </p:nvPr>
        </p:nvSpPr>
        <p:spPr>
          <a:xfrm>
            <a:off x="677334" y="2160589"/>
            <a:ext cx="5829483" cy="3880773"/>
          </a:xfrm>
        </p:spPr>
        <p:txBody>
          <a:bodyPr>
            <a:normAutofit fontScale="70000" lnSpcReduction="20000"/>
          </a:bodyPr>
          <a:lstStyle/>
          <a:p>
            <a:r>
              <a:rPr lang="es-419" sz="2400" dirty="0"/>
              <a:t>Presidir y orientar las reuniones en forma dinámica y eficaz,</a:t>
            </a:r>
          </a:p>
          <a:p>
            <a:r>
              <a:rPr lang="es-419" sz="2400" dirty="0"/>
              <a:t>Llevar a cabo los arreglos necesarios para determinar el lugar o sitio de las reuniones;</a:t>
            </a:r>
          </a:p>
          <a:p>
            <a:r>
              <a:rPr lang="es-419" sz="2400" dirty="0"/>
              <a:t>Notificar por escrito a los miembros del Comité sobre convocatoria a las reuniones por lo menos una vez al mes;</a:t>
            </a:r>
          </a:p>
          <a:p>
            <a:r>
              <a:rPr lang="es-419" sz="2400" dirty="0"/>
              <a:t>Preparar los temas que van a tratarse en cada reunión;</a:t>
            </a:r>
          </a:p>
          <a:p>
            <a:r>
              <a:rPr lang="es-419" sz="2400" dirty="0"/>
              <a:t>Tramitar ante la administración de la empresa las recomendaciones aprobadas en el Comité y darle a conocer todas sus actividades;</a:t>
            </a:r>
          </a:p>
          <a:p>
            <a:r>
              <a:rPr lang="es-419" sz="2400" dirty="0"/>
              <a:t>Coordinar todo lo necesario para la buena marcha del Comité e informar a los trabajadores de la empresa acerca de las actividades del mismo.</a:t>
            </a:r>
          </a:p>
          <a:p>
            <a:endParaRPr lang="es-419" sz="2400" dirty="0"/>
          </a:p>
        </p:txBody>
      </p:sp>
      <p:pic>
        <p:nvPicPr>
          <p:cNvPr id="5" name="Picture 4" descr="http://empleur.com/wp-content/uploads/2013/10/como-protegerte-de-un-mal-jefe.jpg">
            <a:extLst>
              <a:ext uri="{FF2B5EF4-FFF2-40B4-BE49-F238E27FC236}">
                <a16:creationId xmlns:a16="http://schemas.microsoft.com/office/drawing/2014/main" id="{717F3E6F-0C90-4109-B5CA-2CAE9108F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2974739"/>
            <a:ext cx="3879758" cy="1636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86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CO" dirty="0"/>
              <a:t>FUNCIONES DEL SECRETARIO DEL COPASST</a:t>
            </a:r>
          </a:p>
        </p:txBody>
      </p:sp>
      <p:sp>
        <p:nvSpPr>
          <p:cNvPr id="3" name="Marcador de contenido 2"/>
          <p:cNvSpPr>
            <a:spLocks noGrp="1"/>
          </p:cNvSpPr>
          <p:nvPr>
            <p:ph idx="1"/>
          </p:nvPr>
        </p:nvSpPr>
        <p:spPr/>
        <p:txBody>
          <a:bodyPr>
            <a:normAutofit/>
          </a:bodyPr>
          <a:lstStyle/>
          <a:p>
            <a:r>
              <a:rPr lang="es-CO" sz="2400" dirty="0"/>
              <a:t>Verificar la asistencia de los miembros del comité a las reuniones programadas.</a:t>
            </a:r>
          </a:p>
          <a:p>
            <a:r>
              <a:rPr lang="es-CO" sz="2400" dirty="0"/>
              <a:t>Elaborar el acta de cada reunión y someterla a discusión y aprobación del comité.</a:t>
            </a:r>
          </a:p>
          <a:p>
            <a:r>
              <a:rPr lang="es-CO" sz="2400" dirty="0"/>
              <a:t>Llevar el archivo referente a las actividades desarrolladas por el comité  y suministrar toda la información que requieran la empresa y los colaboradores.</a:t>
            </a:r>
          </a:p>
        </p:txBody>
      </p:sp>
      <p:pic>
        <p:nvPicPr>
          <p:cNvPr id="1026" name="Picture 2" descr="1.497 Ilustraciones de Secretaria - Getty Images">
            <a:extLst>
              <a:ext uri="{FF2B5EF4-FFF2-40B4-BE49-F238E27FC236}">
                <a16:creationId xmlns:a16="http://schemas.microsoft.com/office/drawing/2014/main" id="{7231657F-BADB-4F4B-93B2-C59BE2FF3C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2462" y="4953000"/>
            <a:ext cx="240982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0943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457511335"/>
              </p:ext>
            </p:extLst>
          </p:nvPr>
        </p:nvGraphicFramePr>
        <p:xfrm>
          <a:off x="677863" y="747710"/>
          <a:ext cx="8596312" cy="4818636"/>
        </p:xfrm>
        <a:graphic>
          <a:graphicData uri="http://schemas.openxmlformats.org/drawingml/2006/table">
            <a:tbl>
              <a:tblPr firstRow="1" bandRow="1">
                <a:tableStyleId>{5C22544A-7EE6-4342-B048-85BDC9FD1C3A}</a:tableStyleId>
              </a:tblPr>
              <a:tblGrid>
                <a:gridCol w="4298156">
                  <a:extLst>
                    <a:ext uri="{9D8B030D-6E8A-4147-A177-3AD203B41FA5}">
                      <a16:colId xmlns:a16="http://schemas.microsoft.com/office/drawing/2014/main" val="20000"/>
                    </a:ext>
                  </a:extLst>
                </a:gridCol>
                <a:gridCol w="4298156">
                  <a:extLst>
                    <a:ext uri="{9D8B030D-6E8A-4147-A177-3AD203B41FA5}">
                      <a16:colId xmlns:a16="http://schemas.microsoft.com/office/drawing/2014/main" val="20001"/>
                    </a:ext>
                  </a:extLst>
                </a:gridCol>
              </a:tblGrid>
              <a:tr h="1093969">
                <a:tc>
                  <a:txBody>
                    <a:bodyPr/>
                    <a:lstStyle/>
                    <a:p>
                      <a:pPr algn="ctr"/>
                      <a:endParaRPr lang="es-CO" dirty="0"/>
                    </a:p>
                    <a:p>
                      <a:pPr algn="ctr"/>
                      <a:r>
                        <a:rPr lang="es-CO" dirty="0"/>
                        <a:t>PERIODICIDAD</a:t>
                      </a:r>
                    </a:p>
                  </a:txBody>
                  <a:tcPr/>
                </a:tc>
                <a:tc>
                  <a:txBody>
                    <a:bodyPr/>
                    <a:lstStyle/>
                    <a:p>
                      <a:pPr algn="ctr"/>
                      <a:endParaRPr lang="es-CO" dirty="0"/>
                    </a:p>
                    <a:p>
                      <a:pPr algn="ctr"/>
                      <a:r>
                        <a:rPr lang="es-CO" dirty="0"/>
                        <a:t>ASISTENCIA</a:t>
                      </a:r>
                    </a:p>
                  </a:txBody>
                  <a:tcPr/>
                </a:tc>
                <a:extLst>
                  <a:ext uri="{0D108BD9-81ED-4DB2-BD59-A6C34878D82A}">
                    <a16:rowId xmlns:a16="http://schemas.microsoft.com/office/drawing/2014/main" val="10000"/>
                  </a:ext>
                </a:extLst>
              </a:tr>
              <a:tr h="3724667">
                <a:tc>
                  <a:txBody>
                    <a:bodyPr/>
                    <a:lstStyle/>
                    <a:p>
                      <a:endParaRPr lang="es-CO" dirty="0"/>
                    </a:p>
                    <a:p>
                      <a:pPr marL="0" indent="0">
                        <a:buFont typeface="Wingdings" panose="05000000000000000000" pitchFamily="2" charset="2"/>
                        <a:buNone/>
                      </a:pPr>
                      <a:r>
                        <a:rPr lang="es-CO" dirty="0"/>
                        <a:t>El comité debe reunirse:</a:t>
                      </a:r>
                    </a:p>
                    <a:p>
                      <a:pPr marL="0" indent="0">
                        <a:buFont typeface="Wingdings" panose="05000000000000000000" pitchFamily="2" charset="2"/>
                        <a:buNone/>
                      </a:pPr>
                      <a:endParaRPr lang="es-CO" dirty="0"/>
                    </a:p>
                    <a:p>
                      <a:pPr marL="0" indent="0">
                        <a:buFont typeface="Wingdings" panose="05000000000000000000" pitchFamily="2" charset="2"/>
                        <a:buNone/>
                      </a:pPr>
                      <a:r>
                        <a:rPr lang="es-CO" dirty="0"/>
                        <a:t>-Mínimo</a:t>
                      </a:r>
                      <a:r>
                        <a:rPr lang="es-CO" baseline="0" dirty="0"/>
                        <a:t> una vez al mes.</a:t>
                      </a:r>
                    </a:p>
                    <a:p>
                      <a:pPr marL="0" indent="0">
                        <a:buFont typeface="Wingdings" panose="05000000000000000000" pitchFamily="2" charset="2"/>
                        <a:buNone/>
                      </a:pPr>
                      <a:endParaRPr lang="es-CO" baseline="0" dirty="0"/>
                    </a:p>
                    <a:p>
                      <a:pPr marL="0" indent="0">
                        <a:buFont typeface="Wingdings" panose="05000000000000000000" pitchFamily="2" charset="2"/>
                        <a:buNone/>
                      </a:pPr>
                      <a:r>
                        <a:rPr lang="es-CO" baseline="0" dirty="0"/>
                        <a:t>-Si ocurre un accidente laboral.</a:t>
                      </a:r>
                    </a:p>
                    <a:p>
                      <a:pPr marL="0" indent="0">
                        <a:buFont typeface="Wingdings" panose="05000000000000000000" pitchFamily="2" charset="2"/>
                        <a:buNone/>
                      </a:pPr>
                      <a:endParaRPr lang="es-CO" baseline="0" dirty="0"/>
                    </a:p>
                    <a:p>
                      <a:pPr marL="0" indent="0">
                        <a:buFont typeface="Wingdings" panose="05000000000000000000" pitchFamily="2" charset="2"/>
                        <a:buNone/>
                      </a:pPr>
                      <a:r>
                        <a:rPr lang="es-CO" baseline="0" dirty="0"/>
                        <a:t>-Si hay emergencia.</a:t>
                      </a:r>
                    </a:p>
                    <a:p>
                      <a:pPr marL="0" indent="0">
                        <a:buFont typeface="Wingdings" panose="05000000000000000000" pitchFamily="2" charset="2"/>
                        <a:buNone/>
                      </a:pPr>
                      <a:endParaRPr lang="es-CO" baseline="0" dirty="0"/>
                    </a:p>
                    <a:p>
                      <a:pPr marL="0" indent="0">
                        <a:buFont typeface="Wingdings" panose="05000000000000000000" pitchFamily="2" charset="2"/>
                        <a:buNone/>
                      </a:pPr>
                      <a:r>
                        <a:rPr lang="es-CO" baseline="0" dirty="0"/>
                        <a:t>-Según cronograma.</a:t>
                      </a:r>
                    </a:p>
                  </a:txBody>
                  <a:tcPr/>
                </a:tc>
                <a:tc>
                  <a:txBody>
                    <a:bodyPr/>
                    <a:lstStyle/>
                    <a:p>
                      <a:endParaRPr lang="es-CO" dirty="0"/>
                    </a:p>
                    <a:p>
                      <a:r>
                        <a:rPr lang="es-CO" dirty="0"/>
                        <a:t>Todos los miembros deben participar:</a:t>
                      </a:r>
                    </a:p>
                    <a:p>
                      <a:endParaRPr lang="es-CO" dirty="0"/>
                    </a:p>
                    <a:p>
                      <a:r>
                        <a:rPr lang="es-CO" dirty="0"/>
                        <a:t>-Principales</a:t>
                      </a:r>
                    </a:p>
                    <a:p>
                      <a:endParaRPr lang="es-CO" dirty="0"/>
                    </a:p>
                    <a:p>
                      <a:r>
                        <a:rPr lang="es-CO" dirty="0"/>
                        <a:t>-Suplentes (cuando no pueda asistir el principal).</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14244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B15B19-CB9F-44C4-B023-C7343C8B3273}"/>
              </a:ext>
            </a:extLst>
          </p:cNvPr>
          <p:cNvSpPr>
            <a:spLocks noGrp="1"/>
          </p:cNvSpPr>
          <p:nvPr>
            <p:ph type="title"/>
          </p:nvPr>
        </p:nvSpPr>
        <p:spPr/>
        <p:txBody>
          <a:bodyPr/>
          <a:lstStyle/>
          <a:p>
            <a:pPr algn="ctr"/>
            <a:r>
              <a:rPr lang="es-CO" dirty="0"/>
              <a:t>SANCIONES</a:t>
            </a:r>
          </a:p>
        </p:txBody>
      </p:sp>
      <p:sp>
        <p:nvSpPr>
          <p:cNvPr id="3" name="Marcador de contenido 2">
            <a:extLst>
              <a:ext uri="{FF2B5EF4-FFF2-40B4-BE49-F238E27FC236}">
                <a16:creationId xmlns:a16="http://schemas.microsoft.com/office/drawing/2014/main" id="{0F805CB9-91A4-4D56-AB3C-C4E9DD170989}"/>
              </a:ext>
            </a:extLst>
          </p:cNvPr>
          <p:cNvSpPr>
            <a:spLocks noGrp="1"/>
          </p:cNvSpPr>
          <p:nvPr>
            <p:ph idx="1"/>
          </p:nvPr>
        </p:nvSpPr>
        <p:spPr>
          <a:xfrm>
            <a:off x="677334" y="1709531"/>
            <a:ext cx="8596668" cy="4331832"/>
          </a:xfrm>
        </p:spPr>
        <p:txBody>
          <a:bodyPr/>
          <a:lstStyle/>
          <a:p>
            <a:pPr algn="just"/>
            <a:r>
              <a:rPr lang="es-CO" dirty="0"/>
              <a:t>Según lo dispuesto en el articulo 13 por la ley 1562/2012,   el incumplimiento del Sistema de Gestión en Seguridad y Salud en el Trabajo, y aquellas obligaciones propias del empleador, dentro de las cuales se encuentra la conformación del COPASST, acarreará multa de hasta 500 salarios mínimos mensuales legales vigentes. En caso de reincidencia en tales conductas, se podrá ordenar la suspensión de actividades hasta por un termino de 120 días o cierre definitivo de la empresa. </a:t>
            </a:r>
          </a:p>
        </p:txBody>
      </p:sp>
    </p:spTree>
    <p:extLst>
      <p:ext uri="{BB962C8B-B14F-4D97-AF65-F5344CB8AC3E}">
        <p14:creationId xmlns:p14="http://schemas.microsoft.com/office/powerpoint/2010/main" val="979372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80365" y="2730321"/>
            <a:ext cx="8596668" cy="1247820"/>
          </a:xfrm>
        </p:spPr>
        <p:txBody>
          <a:bodyPr>
            <a:noAutofit/>
          </a:bodyPr>
          <a:lstStyle/>
          <a:p>
            <a:pPr algn="ctr"/>
            <a:r>
              <a:rPr lang="es-CO" sz="4400" dirty="0"/>
              <a:t>GRACIAS POR LA ATENCIÓN PRESTADA</a:t>
            </a:r>
          </a:p>
        </p:txBody>
      </p:sp>
    </p:spTree>
    <p:extLst>
      <p:ext uri="{BB962C8B-B14F-4D97-AF65-F5344CB8AC3E}">
        <p14:creationId xmlns:p14="http://schemas.microsoft.com/office/powerpoint/2010/main" val="2467618806"/>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201</TotalTime>
  <Words>1112</Words>
  <Application>Microsoft Office PowerPoint</Application>
  <PresentationFormat>Panorámica</PresentationFormat>
  <Paragraphs>77</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Trebuchet MS</vt:lpstr>
      <vt:lpstr>Wingdings</vt:lpstr>
      <vt:lpstr>Wingdings 3</vt:lpstr>
      <vt:lpstr>Faceta</vt:lpstr>
      <vt:lpstr>COPASST</vt:lpstr>
      <vt:lpstr>¿QUÉ ES EL COPASST?</vt:lpstr>
      <vt:lpstr>CONFORMACIÓN</vt:lpstr>
      <vt:lpstr>OBLIGACIONES DEL EMPLEADOR</vt:lpstr>
      <vt:lpstr>OBLIGACIONES DE LOS TRABAJADORES</vt:lpstr>
      <vt:lpstr>FUNCION DEL COPASST EN LA RESOLUCIÓN 2013/1986</vt:lpstr>
      <vt:lpstr>FUNCIONES DEL COPASST EN LA RESOLUCIÓN 2013/1986</vt:lpstr>
      <vt:lpstr>FUNCIONES DEL COPASST EN EL DECRETO 1072/2015</vt:lpstr>
      <vt:lpstr>FUNCIONES DEL PRESIDENTE DEL COPASST</vt:lpstr>
      <vt:lpstr>FUNCIONES DEL SECRETARIO DEL COPASST</vt:lpstr>
      <vt:lpstr>Presentación de PowerPoint</vt:lpstr>
      <vt:lpstr>SANCIONES</vt:lpstr>
      <vt:lpstr>GRACIAS POR LA ATENCIÓN PRESTADA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COPASST</dc:title>
  <dc:creator>Compras Asdisan</dc:creator>
  <cp:lastModifiedBy>LENOVO 1</cp:lastModifiedBy>
  <cp:revision>31</cp:revision>
  <dcterms:created xsi:type="dcterms:W3CDTF">2016-06-08T19:32:08Z</dcterms:created>
  <dcterms:modified xsi:type="dcterms:W3CDTF">2021-03-16T21:37:12Z</dcterms:modified>
</cp:coreProperties>
</file>
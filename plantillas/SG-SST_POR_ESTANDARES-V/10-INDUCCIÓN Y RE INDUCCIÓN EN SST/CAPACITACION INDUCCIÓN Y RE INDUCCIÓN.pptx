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9" r:id="rId5"/>
    <p:sldId id="266" r:id="rId6"/>
    <p:sldId id="265" r:id="rId7"/>
    <p:sldId id="264" r:id="rId8"/>
    <p:sldId id="267" r:id="rId9"/>
    <p:sldId id="268" r:id="rId10"/>
    <p:sldId id="270" r:id="rId11"/>
    <p:sldId id="276" r:id="rId12"/>
    <p:sldId id="271" r:id="rId13"/>
    <p:sldId id="273" r:id="rId14"/>
    <p:sldId id="260" r:id="rId15"/>
    <p:sldId id="274" r:id="rId16"/>
    <p:sldId id="275" r:id="rId17"/>
    <p:sldId id="277" r:id="rId18"/>
    <p:sldId id="279" r:id="rId19"/>
    <p:sldId id="278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623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043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902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0053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9339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995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54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188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4419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8603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2335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0131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396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0575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775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743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FF2F9-3D9E-4AD8-A5C1-18516F82DFC8}" type="datetimeFigureOut">
              <a:rPr lang="es-CO" smtClean="0"/>
              <a:t>15/09/2021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4A39E86-775F-4F39-8445-9246818619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0112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¿QUÉ ES EL SISTEMA DE GESTIÓN EN SEGURIDAD Y SALUD EN EL TRABAJO?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34434" y="2206309"/>
            <a:ext cx="6052713" cy="38807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400" dirty="0" smtClean="0"/>
              <a:t>Es un proceso lógico  por etapas, basado en la mejora continua, mediante el ciclo PHVA (planear, hacer, verificar y actuar) con el objetivo de anticipar, reconocer, evaluar y controlar los riesgos que pueden afectar la seguridad y salud en el trabajo.</a:t>
            </a:r>
            <a:endParaRPr lang="es-CO" sz="2400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1026" name="Picture 2" descr="http://clik.eidos1.netdna-cdn.com/wp-content/uploads/2014/04/dia-munidal-salud-en-el-trabajo-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298" y="2822018"/>
            <a:ext cx="2903221" cy="23064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115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NORMATIVIDAD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77334" y="1828801"/>
            <a:ext cx="8596668" cy="42125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800" dirty="0" smtClean="0"/>
              <a:t>El sistema de gestión en seguridad y salud en el trabajo está regulado por el decreto </a:t>
            </a:r>
            <a:r>
              <a:rPr lang="es-CO" sz="2800" b="1" dirty="0" smtClean="0"/>
              <a:t>1072 de 2015</a:t>
            </a:r>
            <a:r>
              <a:rPr lang="es-CO" sz="2800" dirty="0" smtClean="0"/>
              <a:t>, el cual fue elaborado por el </a:t>
            </a:r>
            <a:r>
              <a:rPr lang="es-CO" sz="2800" b="1" dirty="0" smtClean="0"/>
              <a:t>Ministerio de Trabajo </a:t>
            </a:r>
            <a:r>
              <a:rPr lang="es-CO" sz="2800" dirty="0" smtClean="0"/>
              <a:t>y sancionado por el </a:t>
            </a:r>
            <a:r>
              <a:rPr lang="es-CO" sz="2800" b="1" dirty="0" smtClean="0"/>
              <a:t>Presidente de la república. </a:t>
            </a:r>
            <a:endParaRPr lang="es-CO" sz="2800" b="1" dirty="0"/>
          </a:p>
        </p:txBody>
      </p:sp>
      <p:pic>
        <p:nvPicPr>
          <p:cNvPr id="2050" name="Picture 2" descr="http://www.urosario.edu.co/getattachment/4544e3ca-9112-40fc-a2ca-5940b3788de3/Politologos-capaces-de-actuar-como-dirigentes-de-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140" y="4549140"/>
            <a:ext cx="5715000" cy="196596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898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03114" y="609600"/>
            <a:ext cx="8596668" cy="1320800"/>
          </a:xfrm>
        </p:spPr>
        <p:txBody>
          <a:bodyPr/>
          <a:lstStyle/>
          <a:p>
            <a:pPr algn="ctr"/>
            <a:r>
              <a:rPr lang="es-CO" dirty="0" smtClean="0"/>
              <a:t>¿ QUÉ LO COMPONE?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77334" y="1325880"/>
            <a:ext cx="9541086" cy="555498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s-CO" sz="2300" b="1" i="1" dirty="0" smtClean="0"/>
              <a:t>-Políticas</a:t>
            </a:r>
          </a:p>
          <a:p>
            <a:pPr marL="0" indent="0" algn="ctr">
              <a:buNone/>
            </a:pPr>
            <a:r>
              <a:rPr lang="es-CO" sz="2300" b="1" i="1" dirty="0" smtClean="0"/>
              <a:t>-Objetivos</a:t>
            </a:r>
          </a:p>
          <a:p>
            <a:pPr marL="0" indent="0" algn="ctr">
              <a:buNone/>
            </a:pPr>
            <a:r>
              <a:rPr lang="es-CO" sz="2300" b="1" i="1" dirty="0" smtClean="0"/>
              <a:t>-</a:t>
            </a:r>
            <a:r>
              <a:rPr lang="es-CO" sz="2300" b="1" i="1" dirty="0"/>
              <a:t>Matriz de identificación de peligros y valoración de riesgos</a:t>
            </a:r>
            <a:r>
              <a:rPr lang="es-CO" sz="2300" b="1" i="1" dirty="0" smtClean="0"/>
              <a:t>.</a:t>
            </a:r>
          </a:p>
          <a:p>
            <a:pPr marL="0" indent="0" algn="ctr">
              <a:buNone/>
            </a:pPr>
            <a:r>
              <a:rPr lang="es-CO" sz="2300" b="1" i="1" dirty="0" smtClean="0"/>
              <a:t>-Diagnóstico de las condiciones de salud: exámenes medico ocupacionales de ingreso, periódico y egreso.</a:t>
            </a:r>
          </a:p>
          <a:p>
            <a:pPr marL="0" indent="0" algn="ctr">
              <a:buNone/>
            </a:pPr>
            <a:r>
              <a:rPr lang="es-CO" sz="2300" b="1" i="1" dirty="0" smtClean="0"/>
              <a:t>-Programa de gestión en seguridad y salud en el trabajo con énfasis en promoción y prevención.</a:t>
            </a:r>
          </a:p>
          <a:p>
            <a:pPr marL="0" indent="0" algn="ctr">
              <a:buNone/>
            </a:pPr>
            <a:r>
              <a:rPr lang="es-CO" sz="2300" b="1" i="1" dirty="0" smtClean="0"/>
              <a:t>-Programa </a:t>
            </a:r>
            <a:r>
              <a:rPr lang="es-CO" sz="2300" b="1" i="1" dirty="0"/>
              <a:t>de gestión en seguridad y salud en el trabajo con énfasis </a:t>
            </a:r>
            <a:r>
              <a:rPr lang="es-CO" sz="2300" b="1" i="1" dirty="0" smtClean="0"/>
              <a:t>en higiene y seguridad industrial.</a:t>
            </a:r>
          </a:p>
          <a:p>
            <a:pPr marL="0" indent="0" algn="ctr">
              <a:buNone/>
            </a:pPr>
            <a:r>
              <a:rPr lang="es-CO" sz="2300" b="1" i="1" dirty="0" smtClean="0"/>
              <a:t>-Reporte e investigación de incidentes, accidentes y enfermedades laborales.</a:t>
            </a:r>
          </a:p>
          <a:p>
            <a:pPr marL="0" indent="0" algn="ctr">
              <a:buNone/>
            </a:pPr>
            <a:r>
              <a:rPr lang="es-CO" sz="2300" b="1" i="1" dirty="0" smtClean="0"/>
              <a:t>-Plan de emergencias.</a:t>
            </a:r>
          </a:p>
          <a:p>
            <a:pPr marL="0" indent="0" algn="ctr">
              <a:buNone/>
            </a:pPr>
            <a:r>
              <a:rPr lang="es-CO" sz="2300" b="1" i="1" dirty="0" smtClean="0"/>
              <a:t>-Comité paritario de seguridad y salud en el trabajo (COPASST).</a:t>
            </a:r>
          </a:p>
          <a:p>
            <a:pPr marL="0" indent="0" algn="ctr">
              <a:buNone/>
            </a:pPr>
            <a:r>
              <a:rPr lang="es-CO" sz="2300" b="1" i="1" dirty="0" smtClean="0"/>
              <a:t>-Evaluación del sistema</a:t>
            </a:r>
          </a:p>
          <a:p>
            <a:pPr marL="0" indent="0" algn="ctr">
              <a:buNone/>
            </a:pPr>
            <a:r>
              <a:rPr lang="es-CO" sz="2300" b="1" i="1" dirty="0" smtClean="0"/>
              <a:t>-Control  y seguimiento del sistema.</a:t>
            </a:r>
          </a:p>
          <a:p>
            <a:pPr>
              <a:buFontTx/>
              <a:buChar char="-"/>
            </a:pPr>
            <a:endParaRPr lang="es-CO" dirty="0" smtClean="0"/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89651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06398" y="1530254"/>
            <a:ext cx="8596668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dirty="0">
                <a:latin typeface="Arial" panose="020B0604020202020204" pitchFamily="34" charset="0"/>
              </a:rPr>
              <a:t> </a:t>
            </a:r>
          </a:p>
          <a:p>
            <a:pPr algn="just"/>
            <a:r>
              <a:rPr lang="es-CO" dirty="0">
                <a:latin typeface="Arial" panose="020B0604020202020204" pitchFamily="34" charset="0"/>
              </a:rPr>
              <a:t>Fuente, situación o acto </a:t>
            </a:r>
            <a:r>
              <a:rPr lang="es-CO" dirty="0" smtClean="0">
                <a:latin typeface="Arial" panose="020B0604020202020204" pitchFamily="34" charset="0"/>
              </a:rPr>
              <a:t>con </a:t>
            </a:r>
            <a:r>
              <a:rPr lang="es-CO" dirty="0">
                <a:latin typeface="Arial" panose="020B0604020202020204" pitchFamily="34" charset="0"/>
              </a:rPr>
              <a:t>potencial de daño en términos de enfermedad o lesión a las personas o una combinación de estos. </a:t>
            </a:r>
            <a:endParaRPr lang="es-CO" sz="3200" dirty="0">
              <a:latin typeface="Arial" panose="020B0604020202020204" pitchFamily="34" charset="0"/>
            </a:endParaRPr>
          </a:p>
          <a:p>
            <a:pPr algn="just"/>
            <a:endParaRPr lang="es-CO" sz="32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algn="ctr"/>
            <a:r>
              <a:rPr lang="es-CO" sz="3200" b="1" i="1" dirty="0">
                <a:solidFill>
                  <a:schemeClr val="accent1">
                    <a:lumMod val="75000"/>
                  </a:schemeClr>
                </a:solidFill>
              </a:rPr>
              <a:t>RIESGO</a:t>
            </a:r>
            <a:endParaRPr lang="es-CO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algn="just"/>
            <a:endParaRPr lang="es-CO" dirty="0" smtClean="0">
              <a:solidFill>
                <a:srgbClr val="4C2600"/>
              </a:solidFill>
              <a:latin typeface="Arial" panose="020B0604020202020204" pitchFamily="34" charset="0"/>
            </a:endParaRPr>
          </a:p>
          <a:p>
            <a:pPr algn="just"/>
            <a:endParaRPr lang="es-CO" dirty="0">
              <a:solidFill>
                <a:srgbClr val="4C2600"/>
              </a:solidFill>
              <a:latin typeface="Arial" panose="020B0604020202020204" pitchFamily="34" charset="0"/>
            </a:endParaRPr>
          </a:p>
          <a:p>
            <a:pPr algn="just"/>
            <a:r>
              <a:rPr lang="es-CO" dirty="0" smtClean="0"/>
              <a:t>Combinación </a:t>
            </a:r>
            <a:r>
              <a:rPr lang="es-CO" dirty="0"/>
              <a:t>de la probabilidad de que ocurra un evento o exposición peligroso y la </a:t>
            </a:r>
            <a:r>
              <a:rPr lang="es-CO" dirty="0" smtClean="0"/>
              <a:t>consecuencia </a:t>
            </a:r>
            <a:r>
              <a:rPr lang="es-CO" dirty="0"/>
              <a:t>de la lesión o enfermedad que puede ser causada por el evento o exposición.</a:t>
            </a:r>
          </a:p>
          <a:p>
            <a:pPr algn="just"/>
            <a:endParaRPr lang="es-CO" dirty="0">
              <a:solidFill>
                <a:srgbClr val="4C26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3973634" y="617372"/>
            <a:ext cx="20621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i="1" dirty="0">
                <a:solidFill>
                  <a:schemeClr val="accent1"/>
                </a:solidFill>
              </a:rPr>
              <a:t>PELIGRO</a:t>
            </a:r>
            <a:endParaRPr lang="es-CO" b="1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10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8215"/>
          </a:xfrm>
        </p:spPr>
        <p:txBody>
          <a:bodyPr>
            <a:normAutofit/>
          </a:bodyPr>
          <a:lstStyle/>
          <a:p>
            <a:pPr algn="ctr"/>
            <a:r>
              <a:rPr lang="es-CO" dirty="0" smtClean="0"/>
              <a:t>INCIDENTE DE TRABAJO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711569"/>
            <a:ext cx="8596668" cy="4329793"/>
          </a:xfrm>
        </p:spPr>
        <p:txBody>
          <a:bodyPr/>
          <a:lstStyle/>
          <a:p>
            <a:pPr marL="0" indent="0">
              <a:buNone/>
            </a:pPr>
            <a:r>
              <a:rPr lang="es-CO" dirty="0" smtClean="0">
                <a:solidFill>
                  <a:schemeClr val="tx1"/>
                </a:solidFill>
              </a:rPr>
              <a:t>Suceso producido </a:t>
            </a:r>
            <a:r>
              <a:rPr lang="es-CO" dirty="0">
                <a:solidFill>
                  <a:schemeClr val="tx1"/>
                </a:solidFill>
              </a:rPr>
              <a:t>en el curso del trabajo o en relación con este, que tuvo el potencial de ser un accidente en el que hubo personas involucradas sin que sufrieran lesiones o se presentaran daños a la propiedad y/o pérdida en los procesos.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80" y="3434494"/>
            <a:ext cx="4715975" cy="20288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2659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s-CO" b="1" i="1" dirty="0" smtClean="0"/>
              <a:t>ACCIDENTE LABORAL</a:t>
            </a:r>
            <a:endParaRPr lang="es-CO" b="1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43580" y="1477108"/>
            <a:ext cx="7458481" cy="4575977"/>
          </a:xfrm>
        </p:spPr>
        <p:txBody>
          <a:bodyPr>
            <a:normAutofit fontScale="92500" lnSpcReduction="10000"/>
          </a:bodyPr>
          <a:lstStyle/>
          <a:p>
            <a:r>
              <a:rPr lang="es-CO" dirty="0">
                <a:solidFill>
                  <a:schemeClr val="tx1"/>
                </a:solidFill>
              </a:rPr>
              <a:t>Es accidente </a:t>
            </a:r>
            <a:r>
              <a:rPr lang="es-CO" dirty="0" smtClean="0">
                <a:solidFill>
                  <a:schemeClr val="tx1"/>
                </a:solidFill>
              </a:rPr>
              <a:t>laboral, </a:t>
            </a:r>
            <a:r>
              <a:rPr lang="es-CO" dirty="0">
                <a:solidFill>
                  <a:schemeClr val="tx1"/>
                </a:solidFill>
              </a:rPr>
              <a:t>todo suceso repentino que sobrevenga por causa o con ocasión del trabajo y que produzca en el trabajador una lesión orgánica, una perturbación funcional o psiquiátrica, una invalidez o la muerte</a:t>
            </a:r>
            <a:r>
              <a:rPr lang="es-CO" dirty="0" smtClean="0">
                <a:solidFill>
                  <a:schemeClr val="tx1"/>
                </a:solidFill>
              </a:rPr>
              <a:t>.</a:t>
            </a:r>
            <a:endParaRPr lang="es-CO" dirty="0">
              <a:solidFill>
                <a:schemeClr val="tx1"/>
              </a:solidFill>
            </a:endParaRPr>
          </a:p>
          <a:p>
            <a:r>
              <a:rPr lang="es-CO" dirty="0">
                <a:solidFill>
                  <a:schemeClr val="tx1"/>
                </a:solidFill>
              </a:rPr>
              <a:t>Es también accidente </a:t>
            </a:r>
            <a:r>
              <a:rPr lang="es-CO" dirty="0" smtClean="0">
                <a:solidFill>
                  <a:schemeClr val="tx1"/>
                </a:solidFill>
              </a:rPr>
              <a:t> laboral </a:t>
            </a:r>
            <a:r>
              <a:rPr lang="es-CO" dirty="0">
                <a:solidFill>
                  <a:schemeClr val="tx1"/>
                </a:solidFill>
              </a:rPr>
              <a:t>aquel que se produce durante la ejecución de órdenes del empleador o contratante durante la ejecución de una labor bajo su autoridad, aún fuera del lugar y horas de trabajo</a:t>
            </a:r>
            <a:r>
              <a:rPr lang="es-CO" dirty="0" smtClean="0">
                <a:solidFill>
                  <a:schemeClr val="tx1"/>
                </a:solidFill>
              </a:rPr>
              <a:t>.</a:t>
            </a:r>
            <a:endParaRPr lang="es-CO" dirty="0">
              <a:solidFill>
                <a:schemeClr val="tx1"/>
              </a:solidFill>
            </a:endParaRPr>
          </a:p>
          <a:p>
            <a:r>
              <a:rPr lang="es-CO" dirty="0">
                <a:solidFill>
                  <a:schemeClr val="tx1"/>
                </a:solidFill>
              </a:rPr>
              <a:t>Igualmente se considera accidente </a:t>
            </a:r>
            <a:r>
              <a:rPr lang="es-CO" dirty="0" smtClean="0">
                <a:solidFill>
                  <a:schemeClr val="tx1"/>
                </a:solidFill>
              </a:rPr>
              <a:t>laboral el </a:t>
            </a:r>
            <a:r>
              <a:rPr lang="es-CO" dirty="0">
                <a:solidFill>
                  <a:schemeClr val="tx1"/>
                </a:solidFill>
              </a:rPr>
              <a:t>que se produzca durante el traslado de los trabajadores o contratistas desde su residencia a los lugares de trabajo o viceversa, cuando el transporte lo suministre el empleador</a:t>
            </a:r>
            <a:r>
              <a:rPr lang="es-CO" dirty="0" smtClean="0">
                <a:solidFill>
                  <a:schemeClr val="tx1"/>
                </a:solidFill>
              </a:rPr>
              <a:t>.</a:t>
            </a:r>
            <a:r>
              <a:rPr lang="es-CO" dirty="0">
                <a:solidFill>
                  <a:schemeClr val="tx1"/>
                </a:solidFill>
              </a:rPr>
              <a:t> </a:t>
            </a:r>
          </a:p>
          <a:p>
            <a:r>
              <a:rPr lang="es-CO" dirty="0">
                <a:solidFill>
                  <a:schemeClr val="tx1"/>
                </a:solidFill>
              </a:rPr>
              <a:t>De igual forma, se considera accidente </a:t>
            </a:r>
            <a:r>
              <a:rPr lang="es-CO" dirty="0" smtClean="0">
                <a:solidFill>
                  <a:schemeClr val="tx1"/>
                </a:solidFill>
              </a:rPr>
              <a:t>laboral el </a:t>
            </a:r>
            <a:r>
              <a:rPr lang="es-CO" dirty="0">
                <a:solidFill>
                  <a:schemeClr val="tx1"/>
                </a:solidFill>
              </a:rPr>
              <a:t>que se produzca por la ejecución de actividades recreativas, deportivas o culturales, cuando se actúe por cuenta o en representación del empleador o de la empresa usuaria cuando se trate de trabajadores de </a:t>
            </a:r>
            <a:r>
              <a:rPr lang="es-CO" dirty="0" smtClean="0">
                <a:solidFill>
                  <a:schemeClr val="tx1"/>
                </a:solidFill>
              </a:rPr>
              <a:t>empresas </a:t>
            </a:r>
            <a:r>
              <a:rPr lang="es-CO" dirty="0">
                <a:solidFill>
                  <a:schemeClr val="tx1"/>
                </a:solidFill>
              </a:rPr>
              <a:t>de servicios temporales que se encuentren en misión.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3074" name="Picture 2" descr="http://www.abogadoen-malaga.com/wp-content/uploads/2015/09/indemnizaci%C3%B3n-por-accidente-laboral-Malaga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061" y="3012832"/>
            <a:ext cx="2485293" cy="18639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23001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3385"/>
          </a:xfrm>
        </p:spPr>
        <p:txBody>
          <a:bodyPr/>
          <a:lstStyle/>
          <a:p>
            <a:pPr algn="ctr"/>
            <a:r>
              <a:rPr lang="es-CO" dirty="0" smtClean="0"/>
              <a:t>ENFERMEDAD LABORAL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844066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s-CO" dirty="0">
                <a:solidFill>
                  <a:schemeClr val="tx1"/>
                </a:solidFill>
              </a:rPr>
              <a:t> Es la enfermedad laboral </a:t>
            </a:r>
            <a:r>
              <a:rPr lang="es-CO" dirty="0" smtClean="0">
                <a:solidFill>
                  <a:schemeClr val="tx1"/>
                </a:solidFill>
              </a:rPr>
              <a:t>contraída </a:t>
            </a:r>
            <a:r>
              <a:rPr lang="es-CO" dirty="0">
                <a:solidFill>
                  <a:schemeClr val="tx1"/>
                </a:solidFill>
              </a:rPr>
              <a:t>como resultado de la exposición a factores de riesgo inherentes a la actividad laboral o del medio en el que el trabajador se ha visto obligado a trabajar. </a:t>
            </a:r>
          </a:p>
        </p:txBody>
      </p:sp>
      <p:pic>
        <p:nvPicPr>
          <p:cNvPr id="2050" name="Picture 2" descr="http://actualicese.com/_ig/img/fotos/enfermedadlabora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293" y="3165230"/>
            <a:ext cx="5238750" cy="2857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81022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5108"/>
          </a:xfrm>
        </p:spPr>
        <p:txBody>
          <a:bodyPr/>
          <a:lstStyle/>
          <a:p>
            <a:pPr algn="ctr"/>
            <a:r>
              <a:rPr lang="es-CO" b="1" i="1" dirty="0" smtClean="0"/>
              <a:t>ACTO INSEGURO</a:t>
            </a:r>
            <a:endParaRPr lang="es-CO" b="1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500555"/>
            <a:ext cx="8596668" cy="4540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>
                <a:solidFill>
                  <a:schemeClr val="tx1"/>
                </a:solidFill>
              </a:rPr>
              <a:t>El Acto Inseguro </a:t>
            </a:r>
            <a:r>
              <a:rPr lang="es-CO" dirty="0" smtClean="0">
                <a:solidFill>
                  <a:schemeClr val="tx1"/>
                </a:solidFill>
              </a:rPr>
              <a:t> </a:t>
            </a:r>
            <a:r>
              <a:rPr lang="es-CO" dirty="0">
                <a:solidFill>
                  <a:schemeClr val="tx1"/>
                </a:solidFill>
              </a:rPr>
              <a:t>es toda acción realizada por una persona que por no cumplir con las normas o estándares de seguridad puede originar un evento: </a:t>
            </a:r>
            <a:endParaRPr lang="es-CO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CO" dirty="0" smtClean="0">
                <a:solidFill>
                  <a:schemeClr val="tx1"/>
                </a:solidFill>
              </a:rPr>
              <a:t>• </a:t>
            </a:r>
            <a:r>
              <a:rPr lang="es-CO" dirty="0">
                <a:solidFill>
                  <a:schemeClr val="tx1"/>
                </a:solidFill>
              </a:rPr>
              <a:t>Manejo de equipos sin autorización</a:t>
            </a:r>
            <a:r>
              <a:rPr lang="es-CO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s-CO" dirty="0" smtClean="0">
                <a:solidFill>
                  <a:schemeClr val="tx1"/>
                </a:solidFill>
              </a:rPr>
              <a:t>• </a:t>
            </a:r>
            <a:r>
              <a:rPr lang="es-CO" dirty="0">
                <a:solidFill>
                  <a:schemeClr val="tx1"/>
                </a:solidFill>
              </a:rPr>
              <a:t>Falta de advertencias. </a:t>
            </a:r>
            <a:endParaRPr lang="es-CO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CO" dirty="0" smtClean="0">
                <a:solidFill>
                  <a:schemeClr val="tx1"/>
                </a:solidFill>
              </a:rPr>
              <a:t>• </a:t>
            </a:r>
            <a:r>
              <a:rPr lang="es-CO" dirty="0">
                <a:solidFill>
                  <a:schemeClr val="tx1"/>
                </a:solidFill>
              </a:rPr>
              <a:t>Manejo a velocidad inadecuada. </a:t>
            </a:r>
            <a:endParaRPr lang="es-CO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CO" dirty="0" smtClean="0">
                <a:solidFill>
                  <a:schemeClr val="tx1"/>
                </a:solidFill>
              </a:rPr>
              <a:t>• </a:t>
            </a:r>
            <a:r>
              <a:rPr lang="es-CO" dirty="0">
                <a:solidFill>
                  <a:schemeClr val="tx1"/>
                </a:solidFill>
              </a:rPr>
              <a:t>Hacer inoperable los instrumentos de seguridad. </a:t>
            </a:r>
            <a:endParaRPr lang="es-CO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CO" dirty="0" smtClean="0">
                <a:solidFill>
                  <a:schemeClr val="tx1"/>
                </a:solidFill>
              </a:rPr>
              <a:t>• </a:t>
            </a:r>
            <a:r>
              <a:rPr lang="es-CO" dirty="0">
                <a:solidFill>
                  <a:schemeClr val="tx1"/>
                </a:solidFill>
              </a:rPr>
              <a:t>Uso de equipos defectuosos. </a:t>
            </a:r>
            <a:endParaRPr lang="es-CO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CO" dirty="0" smtClean="0">
                <a:solidFill>
                  <a:schemeClr val="tx1"/>
                </a:solidFill>
              </a:rPr>
              <a:t>• </a:t>
            </a:r>
            <a:r>
              <a:rPr lang="es-CO" dirty="0">
                <a:solidFill>
                  <a:schemeClr val="tx1"/>
                </a:solidFill>
              </a:rPr>
              <a:t>Emplear herramientas en forma incorrecta o en mal estado.</a:t>
            </a:r>
            <a:r>
              <a:rPr lang="es-CO" dirty="0"/>
              <a:t> </a:t>
            </a:r>
            <a:endParaRPr lang="es-CO" dirty="0" smtClean="0"/>
          </a:p>
        </p:txBody>
      </p:sp>
      <p:pic>
        <p:nvPicPr>
          <p:cNvPr id="5122" name="Picture 2" descr="http://charlasdeseguridad.com.ar/wp-content/uploads/2011/05/actitud_insegura_electricida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098" y="2647008"/>
            <a:ext cx="3048000" cy="22479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91111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1323"/>
          </a:xfrm>
        </p:spPr>
        <p:txBody>
          <a:bodyPr>
            <a:normAutofit fontScale="90000"/>
          </a:bodyPr>
          <a:lstStyle/>
          <a:p>
            <a:pPr algn="ctr"/>
            <a:r>
              <a:rPr lang="es-CO" b="1" i="1" dirty="0" smtClean="0"/>
              <a:t>CONDICIÓN INSEGURA</a:t>
            </a:r>
            <a:endParaRPr lang="es-CO" b="1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535723"/>
            <a:ext cx="8596668" cy="4505639"/>
          </a:xfrm>
        </p:spPr>
        <p:txBody>
          <a:bodyPr/>
          <a:lstStyle/>
          <a:p>
            <a:pPr marL="0" indent="0">
              <a:buNone/>
            </a:pPr>
            <a:r>
              <a:rPr lang="es-CO" dirty="0" smtClean="0">
                <a:solidFill>
                  <a:schemeClr val="tx1"/>
                </a:solidFill>
              </a:rPr>
              <a:t>Situación o circunstancia que presenta en el lugar de trabajo y que se caracteriza por la presencia de riesgos no controlados que pueden generar accidentes o enfermedades laborales.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6146" name="Picture 2" descr="http://4.bp.blogspot.com/-geCyenCLgTc/UD7oYfEoXGI/AAAAAAAABBs/WgzkDmTvQ84/s1600/insegur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91" y="3235568"/>
            <a:ext cx="5166701" cy="257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485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6492"/>
          </a:xfrm>
        </p:spPr>
        <p:txBody>
          <a:bodyPr>
            <a:normAutofit fontScale="90000"/>
          </a:bodyPr>
          <a:lstStyle/>
          <a:p>
            <a:pPr algn="ctr"/>
            <a:r>
              <a:rPr lang="es-CO" b="1" i="1" dirty="0" smtClean="0"/>
              <a:t>POLÍTICA DE SEGURIDAD Y SALUD EN EL TRABAJO</a:t>
            </a:r>
            <a:endParaRPr lang="es-CO" b="1" i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CO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Es </a:t>
            </a:r>
            <a:r>
              <a:rPr lang="es-CO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el compromiso de la alta dirección de una organización con la seguridad y la salud en el trabajo, expresadas formalmente, que define su alcance y compromete a toda la </a:t>
            </a:r>
            <a:r>
              <a:rPr lang="es-CO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organización.</a:t>
            </a:r>
            <a:endParaRPr lang="es-CO" sz="2800" dirty="0"/>
          </a:p>
          <a:p>
            <a:pPr marL="0" indent="0" algn="just">
              <a:buNone/>
            </a:pPr>
            <a:endParaRPr lang="es-CO" dirty="0"/>
          </a:p>
        </p:txBody>
      </p:sp>
      <p:pic>
        <p:nvPicPr>
          <p:cNvPr id="1026" name="Picture 2" descr="http://www.municipiodeguano.gob.ec/ot/images/coordinador_-_copi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856" y="4665784"/>
            <a:ext cx="6057900" cy="201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15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OBJETIVOS POLITICA SEGURIDAD Y SALUD EN EL TRABAJO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CO" dirty="0"/>
              <a:t>La alta dirección de </a:t>
            </a:r>
            <a:r>
              <a:rPr lang="es-CO" b="1" dirty="0" smtClean="0"/>
              <a:t>la empresa,  </a:t>
            </a:r>
            <a:r>
              <a:rPr lang="es-CO" dirty="0"/>
              <a:t>en coherencia con la Política de Seguridad y Salud en el Trabajo, ha definido los siguientes Objetivos</a:t>
            </a:r>
            <a:r>
              <a:rPr lang="es-CO" dirty="0" smtClean="0"/>
              <a:t>:</a:t>
            </a:r>
            <a:endParaRPr lang="es-CO" dirty="0"/>
          </a:p>
          <a:p>
            <a:pPr lvl="0"/>
            <a:r>
              <a:rPr lang="es-CO" dirty="0"/>
              <a:t>Dar cumplimiento a la normatividad legal vigente en materia de Seguridad y Salud en el Trabajo</a:t>
            </a:r>
            <a:r>
              <a:rPr lang="es-CO" dirty="0" smtClean="0"/>
              <a:t>.</a:t>
            </a:r>
            <a:endParaRPr lang="es-CO" dirty="0"/>
          </a:p>
          <a:p>
            <a:pPr lvl="0"/>
            <a:r>
              <a:rPr lang="es-CO" dirty="0"/>
              <a:t>Definir acciones encaminadas a la prevención de incidentes, accidentes y enfermedades laborales, generando ambientes de trabajo seguros y saludables</a:t>
            </a:r>
            <a:r>
              <a:rPr lang="es-CO" dirty="0" smtClean="0"/>
              <a:t>.</a:t>
            </a:r>
            <a:r>
              <a:rPr lang="es-CO" dirty="0"/>
              <a:t> </a:t>
            </a:r>
          </a:p>
          <a:p>
            <a:pPr lvl="0"/>
            <a:r>
              <a:rPr lang="es-CO" dirty="0"/>
              <a:t>Identificar de forma oportuna las condiciones de salud y trabajo inseguras que puedan propiciar incidentes, accidentes y enfermedades laborales</a:t>
            </a:r>
            <a:r>
              <a:rPr lang="es-CO" dirty="0" smtClean="0"/>
              <a:t>.</a:t>
            </a:r>
            <a:r>
              <a:rPr lang="es-CO" dirty="0"/>
              <a:t> </a:t>
            </a:r>
          </a:p>
          <a:p>
            <a:pPr lvl="0"/>
            <a:r>
              <a:rPr lang="es-CO" dirty="0"/>
              <a:t>Establecer actividades de gestión del riesgo ante las prioridades identificadas en la evaluación inicial del </a:t>
            </a:r>
            <a:r>
              <a:rPr lang="es-CO" dirty="0" smtClean="0"/>
              <a:t>SG-SST</a:t>
            </a:r>
            <a:r>
              <a:rPr lang="es-CO" dirty="0"/>
              <a:t> </a:t>
            </a:r>
          </a:p>
          <a:p>
            <a:pPr lvl="0"/>
            <a:r>
              <a:rPr lang="es-CO" dirty="0"/>
              <a:t>Verificar la implementación de las actividades de prevención y control planificadas y los resultados arrojados por las </a:t>
            </a:r>
            <a:r>
              <a:rPr lang="es-CO" dirty="0" smtClean="0"/>
              <a:t>mismas</a:t>
            </a:r>
            <a:endParaRPr lang="es-CO" dirty="0"/>
          </a:p>
          <a:p>
            <a:pPr lvl="0"/>
            <a:r>
              <a:rPr lang="es-CO" dirty="0"/>
              <a:t>Definir las actividades de promoción y prevención que permitan mejorar las condiciones  de trabajo y de salud de los empleados</a:t>
            </a:r>
            <a:r>
              <a:rPr lang="es-CO" dirty="0" smtClean="0"/>
              <a:t>.</a:t>
            </a:r>
            <a:endParaRPr lang="es-CO" dirty="0"/>
          </a:p>
          <a:p>
            <a:pPr lvl="0"/>
            <a:r>
              <a:rPr lang="es-CO" dirty="0"/>
              <a:t>Identificar el origen de los accidentes de trabajo y las enfermedades profesionales, para el control de los factores de riesgo relacionados</a:t>
            </a:r>
            <a:r>
              <a:rPr lang="es-CO" dirty="0" smtClean="0"/>
              <a:t>.</a:t>
            </a:r>
            <a:endParaRPr lang="es-CO" dirty="0"/>
          </a:p>
          <a:p>
            <a:pPr lvl="0"/>
            <a:r>
              <a:rPr lang="es-ES" dirty="0"/>
              <a:t>Mantener y mejorar el Sistema de Gestión de Seguridad y Salud en el </a:t>
            </a:r>
            <a:r>
              <a:rPr lang="es-ES" dirty="0" smtClean="0"/>
              <a:t>Trabajo</a:t>
            </a:r>
            <a:r>
              <a:rPr lang="es-ES" dirty="0"/>
              <a:t> 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70703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3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POLITICA DE NO USO DE ALCOHOL, TABACO Y DROGAS EN EL TRABAJO.</a:t>
            </a:r>
            <a:endParaRPr lang="es-CO" sz="3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 smtClean="0">
                <a:solidFill>
                  <a:schemeClr val="tx1"/>
                </a:solidFill>
              </a:rPr>
              <a:t>Es una aspiración de  </a:t>
            </a:r>
            <a:r>
              <a:rPr lang="es-CO" b="1" i="1" dirty="0" smtClean="0">
                <a:solidFill>
                  <a:schemeClr val="tx1"/>
                </a:solidFill>
              </a:rPr>
              <a:t>la empresa, </a:t>
            </a:r>
            <a:r>
              <a:rPr lang="es-CO" b="1" dirty="0" smtClean="0">
                <a:solidFill>
                  <a:schemeClr val="tx1"/>
                </a:solidFill>
              </a:rPr>
              <a:t>que sus colaboradores desarrollen funciones sin que exista ningún factor que altere su comportamiento, considerando que el consumo de alcohol, tabaco y drogas constituye un riesgo para la salud e integridad física de los mismos.</a:t>
            </a:r>
            <a:endParaRPr lang="es-CO" b="1" dirty="0">
              <a:solidFill>
                <a:schemeClr val="tx1"/>
              </a:solidFill>
            </a:endParaRPr>
          </a:p>
        </p:txBody>
      </p:sp>
      <p:sp>
        <p:nvSpPr>
          <p:cNvPr id="4" name="AutoShape 2" descr="data:image/jpeg;base64,/9j/4AAQSkZJRgABAQAAAQABAAD/2wCEAAkGBxMSEhUTEhIWFRUXFxsXFRcYGBcXGBUZGBcXFxcXFhgaHSggGRolHhUXITEhJSkuLi4uFyAzODMtNygwLi0BCgoKDg0OGhAQGy0lHyUuLS0tLS0tLS0tLS0tLS0tLS0tLS0tLS0tLS0tLS0tLS0tLS0tLS0tLS0tLS0tLS0tLf/AABEIAGgBNAMBEQACEQEDEQH/xAAcAAACAwEBAQEAAAAAAAAAAAAABwEFBgQCAwj/xABKEAABAgMFBAUJBAcGBgMAAAABAgMABBEFBhIhMQdBUXETImGBkRQjMlJicqGxwUKCktEkM1NUstLwF0OTwuHxFTRzhKKzJTVE/8QAGwEAAQUBAQAAAAAAAAAAAAAAAAEDBAUGAgf/xAA2EQACAgEDAgMGBAUFAQEAAAAAAQIDBAURIRIxEyJBBjJRYXGhFIGRsVLB0eHwFSMzNEJyYv/aAAwDAQACEQMRAD8AeMABAAQAEAEGAAgAAYNgAmARvYisKKl8SRCATAAQAEABAAQAEAHmFEWzCsJsBMAfUIQXYisLsD+YCATZEiAUmAAgAIACAAgAgwARByBIMAchABEAckiATcmAUIACAAgAIACAAgAisAHhx0JBKjQDMkwPgVRbeyRi7c2jS7RKWE9OriDhR+Lf3RHnfFIu8XQ7rdnb5V9zHzt/51z0VJbHBKfqqpiP+Ik+xd1aFjQ5e7K03rnT/wDqc8U/QRz4thKWmYf8COiWvrPI0mCrsUEn6QqvsGrNIxJ9o7GjsjaaqtJlkEeu2aEc0nXuPdD0chepV5Ps560y/Jm+si2WJlGNlwLG8V6yTwUNREmMk+xnr8W2iXTNbFgDHQwTAAQAEABABBMAFHb16ZeUFHF1XqG05q7xuHOG7LVEm4un35L8q4+JgrS2lzCiQy2hpO4nrq+gHLOIssl/+TRUezta/wCR7lE9fCdUc5lY5YU/CkN+NYywhpeJBe4n9SGr3TqdJpzvofpArZoV6XhS7wS/z6lxZ+0ebQR0iUOp7QUK7lDKvdDkclp8kG72fx5c1vY3F377S0yQgq6Jw6IXQVPBJ0V84lQtjIoMzSb8fnbdfFGmCocKwkGACYACAAgAisAHNPz7bKCt1YQkb1Gn+5hG0juqqy2XTBNswVs7TUpJTLNYvbXUDuSMz8Ii2ZKXCL/G9n5SSla9vkZibvzOrJ8/gHBCUinzMNO+b7FxXo2JBcrf6nEL1Tn7054j8o58awf/ANNwnx0I7pO/c63q8HB7aQa+FDHUb5ruMW6JjTXlWxrLE2mNq6sy30Z9dBxJ5kaj4w/HIT7lLlaDOC3qlv8AL1N1KzaHEhbagtJ0Ukgg94iQmmUM4Sg9pLk+wMKckwAEABAAQAQYBGzktKfbYbU46oJQkVJPwA4k8I5lPpHaap2SUYrdsTd6r2uziinNDO5sfa7VneeyINtzfY2unaVXQk3zL/Ox13XuM7NJDi1hpo5gihUrtA0HM+ELVQ5csaz9ahjycIrdm/s25Ekz/dBw+s51j+Q7hEpURRnL9UybXv1bfQ7Z5qXZCU9AgqWrC2hKE1Ucz3AAEk7gI76EQ3fa+ep/qc1s2bIIRimkMNJJoVqohIJ4ryA76QjhEcrzr4e7JmZtnZu2sY5RwjKoQshSD7qtRXiSYYnjL0LnF1+yL2t/VdzDfpEi/niZdT3VHyUiIrUq2aP/AGM2nlpoa1y73JnE4FgIfSOsncoesns7N0TqrVJGO1LTZ4st+8X2NUIeKsmAAgA8qMAIXt978dGVMSqhj0ccGeHilPFQ47oi3XbcI0Wl6Q7Urre3oviYSxrIenXSlGaj1lqUdK/aUdTpEaEHNmiycuvCq5XHp/Yv3JWy5F4sTRfmX0pSpaW21LQ3izSClGhpQ9Y7wcqxMjjxRlsnXL7OIPZfct5e+lktiiZN8f8AZr/lh1RSKueVdN7uTf5nt2/FlKFFSj5/7Nf8sDimcrIti+JMpJqYsaZcShCZmVW4sISssrbbxKyAVjGHM5bjDcqUyyx9Zyau/P1K28l1H5PNYxtVycSMuzEPsntiJOmUeUaXD1SnLXS+H8GXVzb9LaKWZlWJrRLh9Jv3zvT26j5O03ejIGqaNGSdtC59UNZCwQCDUHMEb4lmSaa4Z7hQCAAgAo7z3jbkm8Suss5IRXNR+gG8xxOxQXJMwsGeVZ0x/UTVr2u9OOBTqsRJolAySmpoAkbtwrrFfObmzcY2HViQ8i+rNhd7ZuVgLmllFc+jRSvJSswOQ8YkV4y7spcr2g6G4ULf5s2sjdOTaAwsIJG9QxHxVWJCriigtz8ib5kzvNlsfsW/wJ/KF6EMePZ/EyutC6Mm6OswkHinqK8RHEqYsk1ahkQflk9jD2/s3cbBXLKLo1wKpjHukUCvhDE8bbsX+Jr6l5Llt8zNWFbj8k4S3XXrtqBANNap1SrtpUfCGYTlW+S1y8KjLr+fo0OWwLdbm2g42exSd6DwMT4WKRh8vFsxp9Mi1EdkYmAAgAIAPKoBRMX+vGZp4toV5lskJ4KVvWePZ/rEC63qfSja6Pp34etWy7srJ67r7LDcw4jqL8UV9HGN1RpDcqWopkyrU6LbZVRfJZ3JvWZNfRuElhRzHqH108BxHfrDtN/TwyFqulxvTlBeZfccjDoWApJCgRUEHIg6GJsXvyYuUXF7PuUVoTzaLSlm3FAFxh4M1+0sKZKwPaw0y5wohevsJcSULSFJUCFJIqCDqCDrAAvbmTXkVpzFk4ypnAH5UHMtpUOu0D6oOggA195LBanGihYodULHpIO4js4jfDc61JEvEzLMaxTgJabl3pGYwk4HGjVJFaEbiOKTT5xX81SNxXZVm0OT9eB0XYttM2wl0ZH0Vp9VY1H15GLGE1JJmHz8R4trrf5P5FxHZECsAGP2i3jMs0G2zR10UrvQjQq7DuH+kMX2dMdi50bA/E29Ul5ULKxLBfm+kLSa4BUk1FTuSDvUc/rEONUprc1OVn1YslGXqc0jOOyzocQShxB0II5pUOG4iEi3Bj11FWVS0+U/84GzcSYlnQ/MtVS68sLmEqVXCpKAgYd+AhNRzPIWFdikjCZ2FPFs6GuPRmo6dPrDxEOkFPfgnp0+sPEQgpQ37s9M3ITDKVALKMbZxAUcbIcbNd3WSO6sAH1uraAnZBh5aQelaGMajFTCtOfBQIgfIvW4NNC5v5dTyRXStV6FR0/ZqO73Tu8Ig3VdL6kbLSNU8deHZ3X3LrZheMn9EdOn6kngMyivZqOzlDlFu/DIGuYHTL8RBcev9RkxKM33CAQ5bRnkstrdWaJQCT3RzKWw5TXK2ajHuxF2taL09MFZGJa1BKEDPCK9VI+p5mIEm7Hsb/GorwqdvguWRbtiOyiw28nUVSRmlXGh3kaRxKtw5OsTNryYuVf6G02f3xNBLPqqaUZWT6VNEKJ38DEqm3fhlBrGldEndUvqjVzExNNtl16Zk5dGpxtrKW67lOl9AVzwjlEozSE23t3nkuUcYlVthRBwJdSVAVzSouKA46GAXbYfNkzyZhlp9FcLraHE1yIC0hQB7aGAQ+FvzqmW0lAxKU622B77iUqPckqPdABRX4uimaSXGhhfSMqUo4PVV28DDF1PUW+manLGl0t7xf2Frdq21yUwFgGnovINalIOYp6wzp3xEqk4PZmoz8WGZT5fyY9JV9LiUrQapUAUkaEHMGLFPdGCnBwk4vuj7QpyEAEVgAzl/rW8nlFlJotfm0HgVakchUw1dPpiWOlY3j5CT7LliyuJYgmppKVJ822MaxuIFMKeRPyMQ6K+qW5qtWy/w1HTF8vhDomZVLiChaQpKhQg7wd0WDimjDRslCXXHuhM3xuwqScqmpZUeorXCfUUePziBdVtyjcaXqkciO0veLC4V7zLEMPqqyT1Vfsyf8nyjqm7bysjavpSu/3ql5vVfE21+LpN2mygdIW3W1dIw8nVCtx5Gg0O4HdE4x7TXco7kXwf8qXZdoAGbaHVdT6L6QAQojcqhr25wCH1t/Z865PG0pedU1MgUQFNpW2AE4MJGpTQnxrAB5sy/TsvMokrXZSw8vJp9FSw9U0FCfQNcqHsrSogA6dp9ih2X8oA67Op4oOvhr4xHvr3W5d6Hluq7wn2l+5mtl9qluZLJPVdGXvpBPxAPhDGPLZ7MttdxeurxV3XA3TE8xyPKjTOEk9kEVvwIa8toqmptxwZ1VgbHsg4Uj5n70V1j658HoOBUsTFTf1Y47q2MmUl0NAdalXDxUdfy5ARYQjtHYxWdlSybnY/yM1f+53TAzDCfODNaR/eAbx7YHj4QzdVut0WWkao6X4dj49PkLiybTclnQ43yUk+itJriSocPlESE3BmoysavLp6Zfkykv7dBsI/4hIJrLKPnmtVSqzkQR+zJ0O6oEWFc1JcGDy8WeNNwmvzF9hjsihSAD9T7FEEWNK1y/Wkci+6RChua+0pJL7a2liqVpoe+OZR3Ww5TbKuanH0ERMIXJzRGi2XMu2mYPIj5xXSXhy4PQISjl4vPaSHtZc4Hmm3U6LSFDkRX6xYRe/KPP763Va4P0OqOxv1FztbtSgblk/a84vtCckg9+f3RETJnstjSez+N53c18j4bKrECiuaWNDgbrx+0rnuHfHOPD1Y77QZj3VEX82bm37Fbm2i04O1Khqg7iIlTgpLYz+Llzxpqdb+okbaspyVdLTooQeqoaLFclJ/rKK2yEq5cG9xcqGTWpx/T4FlaqVWzKJk1u4Zlk42Co0Q+QkjAv26aK/MxLpt6uGZfVtLdTdta8v7f2M3sw2aqnnXzNpW0hg4MNACXgQShQP2UjUZVxChiTsUPoP6yZpSFCWdQlC0t1bLdejcbThQSgHNBSSkFJJpiTmYAOW25hC52Tl8QxJU5MqTiFQG2y2mqdaFTwP3OyADQAQom23YU+1Kxgy8mYQKJdqF03LA17x/CeMQMmG3KNfoOW51ul+nYvtlFq9IythRzaNU+4qtPAgjwh3GnvHYga/jeHarF69/qbyJJQBAB5IgQgs9r80ccu1uotZ59VI/zRDyn6Gp9nauJ2fkd+yOSAYdd3rcwg+ygafiUuO8ZbRGPaG3e+MPgvub2JJnkctoSDbzam3E4kqFCPyO49sI4pndNs6ZdUX2Eneq7q5J3CaltX6tdMldh9ofXwr7aul7o3mnahXlwXx9UaW4F8OjIlphXUJo0s/YJ0QT6tdD2w7Tbvwyq1fSure2lc+qNNeS4zE28JlDrsvM4cHTMqoVJ3BSTkeeR7chExcmVXwZwyt2bWl1VatYOpGeCZZCwfvJIUO4wATtFsYztmvIeQkTDbanmsBKhjbGLqKIBFQKU9qAC4us4qZsxgvCpdl09IDvxIFaxzLlHVU3GakvRids5amJls1zbeT/AOK6HxFYr4+WZ6HdFZGI/mt/sfoMRZHnTKm9c2WpOYcTqlpVOeEgfExxY9okrCq8S+EfixQXHkw7PMJPopVjP3ElQ/8AIJiBTzYbXVrPDxJbfD9x6CLI8/35IVAG+wp732H0i3nG0YX2+s+0NFtk9WYaG9JGSgNCFDUZxLqfVGm0fVOl+BY/ozMWJaypdZIAU2sYXWzmlxByII48D9IYhNwZfZ2FDKqal3XYrbSuBL+WSzzbhFmzDoSpdaKl1H+5cJ9Gqsgo8fGwhJSW5gr6Z0ycZI6toOzyXTOysrZhJceBxt4i50aQR50qJqlOupzplHQyPuw7NTLS7Uuj0Wm0oHbhFKntOsAHcYBGKLarJ4JtLgH6xArzSaV50I8Ig5SNloFzlQ4fB/ubDZhMlcilJ+wtaRyxYh/F8IkUPeBSa1Uq8p/Pk1pMPFQJDaBN9JPvZ5IKUDkEgn4kxXZD3kb3RaujFi368jTuZJdFJS6d5bStXvLGNXxMTaltFGQ1C12ZU382v0OixbYRMBwJIxtOrZdTXNKkKIryUAFDsIhxkLsUu0JEopppE04GlOO9Gw56jhSojEfVOGhrlmIbsgpIm4ObZiWdceV6oU89JuyzpQsFC0HUfBSTwNKg/WK6SlBm8qyKcmvqXO4wro2sicyU4picSP1iaAPpFBVaD1HDkKgio+yRE6i3qXJj9V0uWO+uC8j+xqwwJfHNTL4UUoIKykIQ02CFKCU1JAJAJJJJoOAEPlK9xQ3QtdU3eZx5aFpAQtKUkVwBKUpTi4JJJP3hAKPcQAZnaHKdJIu8UUWPumvyrDV8d4FlpFzry4fPgwOy+ZKJ0JrkttQPdRQ+URMV7S2NFrtSnjdfqmOSsWBiyYAPMAbin2tf801/0h/GqsQcnubD2b/4ZL5/yNJs7mQ3ZpcpkguqI39UqVT4RIo9wpdb3/FybMr/AG+Sn7pMeLf5w8VLD+32U/dJjxb/ADgA55zbFZ04kMPyzyW1EArOA9HwXRJrlrl8Y5nFSQ/RkTosU4spbbshUssJUQtChiacFClxB0UCO6sV9kHBm8ws2GVX1evqjcXAviSBLPqqr+5UcsXBtR3Hge7nIou34ZQaxpTjvdSuPVHHaW2tmXcWy/IzDbiDRaSW6pPjmO0RKM3txwXbN/mHhIeYc/TulDeaeoEUCsfOu6AC4uLbrU9JNvMNqabzbShVCUhs4RmOUHoCE/ahrMu03vKp+MxWy/5D0TG8uJHf+H+Q/mdBXgIsY9jzyfvMotoA/wDj5j3R/GmsN3e6T9K/7de/x/kLrZiQJ9Nf2a6c+qfoYiY3vGm1/f8ACPb4ocwiwMSBEAHDaNlodKFmqXGzVtaclJrqO1JGRScj3CgJ27C52gXP6IqmWE9Q5uIH2SdVJHqk6jdXhpDvq9UavSNU6tqbXz6P+RlrEtXoSpt1IdlnRheaOYWOIG5Q1B7OUM1WOL2ZaangQy4cLaS7DQ2fXXkZNnHJjF0uZdUcSyK5IruCdKdmecWMZJowt1UqpuEls0a0Qo2EJ6huLHbARjY44VfMREyjUeznawttkoPkq+HSmngIcxl5CL7Q/wDYj9EbciJBQ+mwg74j9Mmhv6Vf9fKK233z0PTucSv/AOUPKyzVlojTo00/CIsY7dKMDkb+JP47v9xK7RJp+xrZTPs1LUyB0ic8KykBK0ndXIKHbWFGvQ9berVRMyVnvMnE06pawfuJyPAipy7DABcvTMnMylmyjzwROuSbK2lKqa+aRRLivbzpvy8WrK1JFjp2fPFnv3T7oyK0Oy7tDibdbV3pI3jiPnEB71s3MXVlU8cpjKkbcNpyvQJwh/G10yDkFNB1BdUmuoKQoU3ExPqt6+5idT06WLPf/wAvsxaXMV5deZx+tUpdecB9hurbde7DDpVrsfokQAU97SBJzFdOjV8o4s91krA/7EF8xUbP0ny9mm7F4YTELH/5DYaz/wBOX1HeIsDC+pMAHkwCMWu1+TP6O6B67ZPPCpP8KoiZS43NR7O2+acPzJ2ZvdNLTUrUAmuEnSjiCn4KB8YXGfGwz7RU9NkZ/FGP/sAe/fm/8JX80SjPB/YA9+/N/wCEr+aAAGwF79+b/wAJX80CYGyu5s7fZlVSkzMomGdWDgUFy6/YJJqg+rz4xxOCkiViZU8exTi/7mFtiy3JV4tOiihmFDRQ3KT4d0V04OLN7jZMMuvrj29Ud01ZLVtpQ08sMzrYCW3yKh5saocGVVDOh/1ES6buruZbVtLdD8Wv3X9jXSOzlxv/AIZ+kIPkJdxdVXnOlIpTPq0pEgoS3ujYpsizS046HOiDjhWAUihqvQwk+EOU1udiivVitsVkvzTSTqt1JVyKsS/hiivhzM9Ay2qcWXyR+gBFked7ldeST6aVeaGq21Ac8JofGkcWLyj+JZ0XRl8GhMXPnehnWFk0GPCrksYT4VB7og0vaZutTr8XElt8B8xYnn2xMAEGADPX9tVUpIPzCEhRbCThUKhQ6RAKT2EEjvgFi+nkVNoSTT7CbQkwfJ3MloPpS7goFIPs10PLdEG+nbzI2Gkap4yVVnvL7nVcy9C5NyiiVMKPXT6vtpHEbxv5xzTbs9mSNU06OTByj7y+/wAhzSkwlxIWhQUlQBSRoQeEWCe5iJQlXJxkfasBx6if2oz3STmAGoaQEn3ldY/ApiBkvd7G00Cnpocn6m32ayvRyLZOqypfcT1fgBEqhbQKHWbevLl8uDUmHUVXYSm0aU6OfdyycCV86jCfin4xXZC2kbnRLerFS+HBubDbXOWaz0T6mX0N9Gl1FDhUiiesg1StJoKgjfUUMTKXvFGV1Orw8qa+e/6itvbeWaCVWfb0tiFaszLSQlQUKgOpp1Fgg5gUNDSlYdIBj+lddkfJMWJLT6XGFALwlDtWnNAaALU0aHMYyOyADQXSblmn02jaroDaAkSbNCXHA2EpaWltIybSlIoTSpz7SBsbdy2pW3lOCUadbfaTVK1ooh0b21KSSEq3iv5wzbUpottM1KWNLpl7j7/Iy0u+7LOhSSW3G1eBGoI4dm+IKk62bOcKsmrZ8pjD2eSMo5NPT7IDT7jeB9keiFlQUp1HYvCO8HfWLCuzqRhtQwZ4s9n7r7MYghwrzK7Sp0NyKxXNwhA7zU/AGGbntEtdGp8XKj8uTE7LZUrnSvchsk9hVQD6+ERsVebcv9fs6cdQ+LHBE8xSJEAIIBSjvnZPlUq42BVYGJv3k5gd+nfDdsOqOxN0/I8C9T9PUUV1LZ8kmUumuD0XB7JNCacRrTsiDTLpnszZ6lifisfZfVD1bdCgFJNQRUEaEGLJcnn8l0vZnsQBsTABBgAo71XdbnWilVAsZtr3pPA+yd4huyvqRNwc6eLZ1R7eqEpPSjss6W1gocQdxOR1CkneMqgxXyTgzd0215NfUuYsa1xb2iaT0Tpo+kdzifWHbxH9CdVapIx+q6XLGn1w5h/nBXbU7dCUCVQaqXRTlNyAcgeZHgI4yJ7LYkaFhOU3dLsuxWbKbKxurmSOq2MCffUMzzCSPxQ3RDnqJntBlbRVK9eWNWJxkzyRHPcTsIy+VlGWm3EgUSo9I2RwUfmDUeHGK+6LjLc32lZCvx0pfRjTuTbom5ZJJ84jqODfUaK5HWJtU1KJktTxHjXNej5Ro4cK8IAMdte/+nnPcT/7EQAUOwdlK7IKVAFKnnQQcwR1YRx6hYylFpx7lJfa6qpNeNAqwo9U70H1FfQ90QL6unlG10rU1kwUJcTX3PrcW9plFBp0ksE8+jJ3j2a6jvjqi3bhiatpav8APX737jRte125eXU+pQwhNU+0T6IHMkRMlNbGSoxrLbVWlzuJGWYcnZkJrVbyzU8KmqjyAr4RXLzzN5Y44WNu/RD6k5cNoShIolKQkDsAoIsoo8+nNzm5P1PvC7cnBgdq1klbSJhIqWzhX7itD3Kp4xGyI78l/oGUq7XVLsyl2X250TqpdZ6jmaDuCxqPvD4jthuizZ7Fjr+EpQ8aHdd/oWd/Je1J79HlZNhLFc3pnol4qHVLSsWEZVqU17BE3uY7fcVcpcubWtaWa4EKo++hBbl6lQBDQV+tSFfaCAKINBQCAU+dl3dtBuYdU/ZqJ5bSh0qHFLK6EHAtFFAKbOE0IChkRAA+LnWi09L4WZdUmpIwqZU2EKbIyqkUotPBWkAGavFd7ysOlklczLFLbqyEp8oJbS5okABdFp0FDpyj3U9fJd6Vqjofh2e7+xhLLtFyWdDjRKVpJBG40NClQ4ZZiIUJuEtjW5GNXk07S5Xp/Udt2rfbnGQ4jJQyWg6oVwPZwMWUJpowWZhzxrOiX5C02j24JiY6NBqhmo7CvRZ7qAeMQ8ifU9jU6LhOmjxX3l+3obHZhZHQy5dUKKeor7grgHLMn70SaI7RKXW8rxb+hdo/v6mzh4pQgAIAIUIAFLtHuyWXDMtDzazVYH2FnfyPz5xCvr25RrtF1JTj4Nj5Xb6Hu4d8QzRiYV5vRtfqeyr2eB3coKLvSRzq+ldX+5WufgNVtwEAg1B0PGJm+5lGmnsz1CiEGAQkwBz6GavldhM43VNEvJHUVx9lXsn4aw1bUpIs9N1GWLP/APL7oTig5Lu06zbjauRSQa94+Y5xXveDNxHw8mn4xZ0ycs9PTGEVW44qqlHRI3qPAAfICOknYxi2dWFj/JfceFiWUiWZQy3oka7yd5PaTFjCPStjB5N8r7HOXqd9I6GApAgM1fq7vljHUA6VGbZ48Uk8D86Q1dDqiWWmZrxrefdfcVNhWu7JP40gihwuNnLEAc0ngRxiDXJ1vZmuy8WvNo4+qY6bDttqbbDjRrxSfSSeChFhCakuDD5OLZjz6Joyl8Nq8jIOqYUHXXkUxIQmgSSAoYlLIGhHo1jsjiwvrtkVPSz0qiUCEOgJxKWSoUUFaAU3QAV9wtqrlmS4lhLIdRjUskrKVdalRpTdAKM2xNrVnWh+jTDa2VOUQErGNCyo0ACk6HmBzhHFSR1XZKElKL5RnL3XaXJuEZqaUfNq4b8KjuUPiO8RX3V9L4NxpmoRyo9L4l6/2Kp20HVNIZU4S2gkpTn1a/1lwrHHXJrYnRxqoWO1Ln4jM2bXaLKPKHU0cWKIB1Qg558CdeVIl49XTyzJ6zqHjy8OL8q/c3dIklEFIAPlNSyXEqQsApUCFA7wcjCNbrY6hJxkpLuhHXosJySfKc8BOJpdSKgGtK7lA08KxXzg4M3mnZleVTtLv6o39yL5pmEpYfNHgKAmgDtN49riPCJVVqa2M3qelSok5wXl/Y178qlTamgAlJQUZAUAIpkIfKUlhimEqoVhISVAUrx7q50gA9PJVhOCmKhwkg0rurTOkAGRs1NoyoexyrT6nHXHMTL1D1vQSUOoToAlOSjkN8Am6M9bt23ZmWRN9AWpkJHlLRSE41gDG42EqIOYNM8xTQikRrqd+UaLSdTdb8K33fT5GMkLRdYKi0tSCpJSqh1B/rIxEU3F7Gpvx6bkutb7di3uXdszj3WHmUGrh3Hggdp38BDlUOp7ldqeesavoj7z7L4DtaQAAAKAZADQRYJbLYw7k5Pd9z6QCBAAQAQYAPlMMJcSULSFJIoQRUEHUEQjSZ1Cbi+pPkU97riuMEuy4K2tSkZrR3faHbrEK6h94mu03WYXJV3cP4lTd29sxKZIXjb9RRJSPdP2e7Lshuu5w4JmXpdOVz2fxX8/ibuz9pUsvJ1C2jyxpPIpz8QIlQyE+5n79AyIPyNS+xcIvpInPylHfUH5Q54sPiQpaZlLhwZyzm0CRQP1hX2ISVfHSOXfEeq0XLn6bfmZK2tpDrgKZdHRA/aVRS+7cD4xGsyX2RcY2gQhtO57/JGasmx5idcogKWSeu4smgrqVqzJPZrHEa3N8ltkZtGHDtsvRIcF17uNSbdEdZavTWRQnsHBPZ2xOrrUEYrNz7MufVLt6IvBDhBJgAIAPJg2Ax19Llpmqus0Q/4JcpuVwNNDEe2nq7Fzpuqyx/JPmH7CxQuYkXsitl0HTTEO3cpPiIiJSqZqtsfNr55X7f0NrZW0oUpNMVO9bdPEpUfkTEmGQvUo8n2dknvTLdfM0kvfaz1j9clPvJKfmIeV0Cps0nLh/wCf5np6+Vnp1fQfdBUfACEd0Ucw0rLm/c/kUFp7SWhUS7BWdylgIT3DNR76Q3LJiuxZ0ez1r28RpL5cmFtW15iccHSKUtRNENp0B4JSN/brEWU5WM0NGLRhV77JfP1/U3dzLidGUvzQBUM0N6hPBS9xV2aCJVVHTyzPanq/iJ10vj1fxGEBElmd7nqAAgAIAK227Hammi06moOYO9Ktykncf9o5nBSQ/j5NlFinDuJ28l135JRKhjar1XE8K5YvVV8O2IE6pQ5RtsPUqcuOz4fqv6Fjd+/8wwAh3z6BpiNFge9v7/GOq7+nuRsvQ6b/AD1+V/b9DZyO0STWBjUto7wtBy+8moiSr4Mo7dEyodo7r6lgb5yNP+ZR4n8o68WHxIq03L/gZWWhtGk2x1Mbp3BKaD8SqZRxLIiuxLp0HKm/NskYm8N+ZmZBQk9C2dQgnEoe0rh2CkRp5E3wi+w9Fpx31SfU/sj43Wui9OEKILbO9Z1UODY389OcJXS58s7zdXqxouMeZjisqzm5dtLTSQlI3cTvJO8nUmJ8YKKMTdfO6TnPls7BHQ0TAKEABAAQAEAHmATdGcty5krMkqKMCzqtFEk8xoe+Gp0qRY42qX0bJPdfBmPntmDwPmXkLHtgpV4ioPwhh425eU+0MGv9yLRWnZ5Peo2fviG/wzJX+uYfxf6H3l9m04r0lNIHaoqPgB9Y6WMxqev40fdTf2NJZOzZhs1fWp48KYEeAJJ8YejjxRWZGv32ravyo2knKoaSENoShI0CQAB3CH1FLsUc7J2S3m92dEKchAAQAEABABFIAOC1bIZmE4Xm0rG6ozHaDqO6OZQUu49Tk20veDaMRamzBJqZd4p9lYxD8QzHgYjyxl6F9j+0FkVtZHco3tnM6Dl0ahxC6fMCGnjMsIe0GO15k1+R5b2dzx1S2Oax9AYRYzOpa9i7cbv8i4s3Zeci++Keq2n/ADq/KHFjEC72he21cP1f8ja2Jd2XlR5psA71nNR5qOfdEmEFEosnNvyHvNlvSOyL3JgAIACAAgAikAHh5sKBBAIORBzBhGtxYtxe6exkLY2eSr2bdWFexQo/CfpSGZ48WXGNruTT5X5l8zLzWzSaST0bjSxuzUgnuIIHjDDxZLsXFftHS+JRa+5xDZ5Peo3+MQn4aY7/AK7ifP8AQ7pTZlMqp0jrbY7MSz/lHxhY4hHs9oKkvLFv7GrsW4MqxQqBeVxWAR3J08axJrpUCmydayLuE9voaxCQBlDpVNtvdnoCACYACAAgAIACAAgAikABSAAgAIBNgpAKBgDYBABMABAAQAEABAAQARCbAFIUTYIBQgACIUTYKQgpMABAAQAEABAAQABgAikABSAApCbCMKQov0CkKG7CATv3JhBQgAIACA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453" y="3449516"/>
            <a:ext cx="5146430" cy="990600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677334" y="4871407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smtClean="0"/>
              <a:t>Ésta política es aplicable a todos los colaboradores de la empresa</a:t>
            </a:r>
            <a:r>
              <a:rPr lang="es-CO" b="1" dirty="0" smtClean="0"/>
              <a:t>.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80047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980" y="4314825"/>
            <a:ext cx="2857500" cy="2381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77334" y="640081"/>
            <a:ext cx="8596668" cy="54012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O" b="1" dirty="0" smtClean="0">
                <a:solidFill>
                  <a:schemeClr val="tx1"/>
                </a:solidFill>
              </a:rPr>
              <a:t>MÉTODOS DE COMPROBACIÓN</a:t>
            </a:r>
            <a:endParaRPr lang="es-CO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CO" dirty="0">
                <a:solidFill>
                  <a:schemeClr val="tx1"/>
                </a:solidFill>
              </a:rPr>
              <a:t>-</a:t>
            </a:r>
            <a:r>
              <a:rPr lang="es-CO" b="1" dirty="0">
                <a:solidFill>
                  <a:schemeClr val="tx1"/>
                </a:solidFill>
              </a:rPr>
              <a:t> </a:t>
            </a:r>
            <a:r>
              <a:rPr lang="es-CO" b="1" dirty="0" smtClean="0">
                <a:solidFill>
                  <a:schemeClr val="tx1"/>
                </a:solidFill>
              </a:rPr>
              <a:t>La empresa </a:t>
            </a:r>
            <a:r>
              <a:rPr lang="es-CO" dirty="0" smtClean="0">
                <a:solidFill>
                  <a:schemeClr val="tx1"/>
                </a:solidFill>
              </a:rPr>
              <a:t>se </a:t>
            </a:r>
            <a:r>
              <a:rPr lang="es-CO" dirty="0">
                <a:solidFill>
                  <a:schemeClr val="tx1"/>
                </a:solidFill>
              </a:rPr>
              <a:t>reserva el derecho de realizar pruebas de alcoholemia y/o de consumo de drogas ilícitas o de convocar a terceros para que las hagan, en caso de que un colaborador presente características o actitudes sospechosas de haber consumido alguna de  éstas sustancias.</a:t>
            </a:r>
          </a:p>
          <a:p>
            <a:pPr marL="0" indent="0" algn="ctr">
              <a:buNone/>
            </a:pPr>
            <a:endParaRPr lang="es-CO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s-CO" b="1" dirty="0" smtClean="0">
                <a:solidFill>
                  <a:schemeClr val="tx1"/>
                </a:solidFill>
              </a:rPr>
              <a:t>CONSECUENCIAS LABORALES</a:t>
            </a:r>
            <a:r>
              <a:rPr lang="es-CO" b="1" dirty="0">
                <a:solidFill>
                  <a:schemeClr val="tx1"/>
                </a:solidFill>
              </a:rPr>
              <a:t> </a:t>
            </a:r>
            <a:r>
              <a:rPr lang="es-CO" b="1" dirty="0" smtClean="0">
                <a:solidFill>
                  <a:schemeClr val="tx1"/>
                </a:solidFill>
              </a:rPr>
              <a:t>POR INFRINGIR ÉSTA POLÍTICA</a:t>
            </a:r>
          </a:p>
          <a:p>
            <a:pPr marL="0" indent="0">
              <a:buNone/>
            </a:pPr>
            <a:r>
              <a:rPr lang="es-CO" dirty="0">
                <a:solidFill>
                  <a:schemeClr val="tx1"/>
                </a:solidFill>
              </a:rPr>
              <a:t>-La comprobación de consumo, distribución o venta de bebidas alcohólicas, tabaco o de drogas ilícitas por parte de un colaborador de </a:t>
            </a:r>
            <a:r>
              <a:rPr lang="es-CO" b="1" dirty="0" smtClean="0">
                <a:solidFill>
                  <a:schemeClr val="tx1"/>
                </a:solidFill>
              </a:rPr>
              <a:t>la empresa</a:t>
            </a:r>
            <a:r>
              <a:rPr lang="es-CO" dirty="0" smtClean="0">
                <a:solidFill>
                  <a:schemeClr val="tx1"/>
                </a:solidFill>
              </a:rPr>
              <a:t>, </a:t>
            </a:r>
            <a:r>
              <a:rPr lang="es-CO" dirty="0">
                <a:solidFill>
                  <a:schemeClr val="tx1"/>
                </a:solidFill>
              </a:rPr>
              <a:t>será motivo de  terminación del contrato laboral.</a:t>
            </a:r>
          </a:p>
          <a:p>
            <a:pPr marL="0" indent="0">
              <a:buNone/>
            </a:pPr>
            <a:endParaRPr lang="es-CO" b="1" dirty="0"/>
          </a:p>
        </p:txBody>
      </p:sp>
      <p:sp>
        <p:nvSpPr>
          <p:cNvPr id="4" name="AutoShape 2" descr="http://cdn.colombia.com/sdi/2013/12/22/c23599126eda471c8b9bbde1c0e37046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" name="4 Rectángulo"/>
          <p:cNvSpPr/>
          <p:nvPr/>
        </p:nvSpPr>
        <p:spPr>
          <a:xfrm>
            <a:off x="460375" y="4628287"/>
            <a:ext cx="549719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 smtClean="0"/>
              <a:t>La empresa </a:t>
            </a:r>
            <a:r>
              <a:rPr lang="es-CO" dirty="0" smtClean="0"/>
              <a:t>se </a:t>
            </a:r>
            <a:r>
              <a:rPr lang="es-CO" dirty="0"/>
              <a:t>compromete a promover actividades de sensibilización y capacitaciones dirigidas a sus colaboradores, acerca del daño que causa el consumo de alcohol, tabaco y drogas ilícitas, con el fin de que obtenga un estilo de vida saludable.</a:t>
            </a:r>
          </a:p>
        </p:txBody>
      </p:sp>
    </p:spTree>
    <p:extLst>
      <p:ext uri="{BB962C8B-B14F-4D97-AF65-F5344CB8AC3E}">
        <p14:creationId xmlns:p14="http://schemas.microsoft.com/office/powerpoint/2010/main" val="277742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7877"/>
          </a:xfrm>
        </p:spPr>
        <p:txBody>
          <a:bodyPr>
            <a:normAutofit fontScale="90000"/>
          </a:bodyPr>
          <a:lstStyle/>
          <a:p>
            <a:pPr algn="ctr"/>
            <a:r>
              <a:rPr lang="es-CO" dirty="0" smtClean="0"/>
              <a:t>REGLAMENTO DE HIGIENE Y SEGURIDAD INDUSTRIAL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77334" y="1934309"/>
            <a:ext cx="8596668" cy="4107054"/>
          </a:xfrm>
        </p:spPr>
        <p:txBody>
          <a:bodyPr/>
          <a:lstStyle/>
          <a:p>
            <a:pPr marL="0" indent="0">
              <a:buNone/>
            </a:pPr>
            <a:r>
              <a:rPr lang="es-CO" b="1" dirty="0" smtClean="0">
                <a:solidFill>
                  <a:schemeClr val="tx1"/>
                </a:solidFill>
              </a:rPr>
              <a:t>CLASIFICACIÓN DE LOS AGENTES:</a:t>
            </a:r>
          </a:p>
          <a:p>
            <a:pPr marL="0" indent="0">
              <a:buNone/>
            </a:pPr>
            <a:endParaRPr lang="es-CO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16249" t="23258" r="18670" b="20373"/>
          <a:stretch/>
        </p:blipFill>
        <p:spPr>
          <a:xfrm>
            <a:off x="1020956" y="2379784"/>
            <a:ext cx="7067968" cy="374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8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OBLIGACIONES DE LOS EMPLEADORES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Definir , firmar  y divulgar la política en SST.</a:t>
            </a:r>
          </a:p>
          <a:p>
            <a:r>
              <a:rPr lang="es-CO" dirty="0" smtClean="0"/>
              <a:t>Definir los recurso económicos, físicos y tecnológicos para la implementación del SG-SST.</a:t>
            </a:r>
          </a:p>
          <a:p>
            <a:r>
              <a:rPr lang="es-CO" dirty="0" smtClean="0"/>
              <a:t>Cumplir con la normatividad legal vigente</a:t>
            </a:r>
          </a:p>
          <a:p>
            <a:r>
              <a:rPr lang="es-CO" dirty="0" smtClean="0"/>
              <a:t>Prevenir los accidentes y enfermedades laborales en la empresa</a:t>
            </a:r>
          </a:p>
          <a:p>
            <a:r>
              <a:rPr lang="es-CO" dirty="0" smtClean="0"/>
              <a:t>Capacitar a los trabajadores en la prevención de accidentes y enfermedades laborales</a:t>
            </a:r>
          </a:p>
          <a:p>
            <a:r>
              <a:rPr lang="es-CO" dirty="0" smtClean="0"/>
              <a:t>Incluir a todos los integrantes de la empresa en las medidas que sean implementadas para la prevención de accidentes y enfermedades.</a:t>
            </a:r>
          </a:p>
        </p:txBody>
      </p:sp>
    </p:spTree>
    <p:extLst>
      <p:ext uri="{BB962C8B-B14F-4D97-AF65-F5344CB8AC3E}">
        <p14:creationId xmlns:p14="http://schemas.microsoft.com/office/powerpoint/2010/main" val="3959097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OBLIGACIONES DE LOS TRABAJADORES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Procurar por el cuidado integral de su salud</a:t>
            </a:r>
          </a:p>
          <a:p>
            <a:r>
              <a:rPr lang="es-CO" dirty="0" smtClean="0"/>
              <a:t>Utilizar los elementos de protección personal suministrados por la empresa</a:t>
            </a:r>
          </a:p>
          <a:p>
            <a:r>
              <a:rPr lang="es-CO" dirty="0" smtClean="0"/>
              <a:t>Suministrar información clara, veraz y completa sobre su salud</a:t>
            </a:r>
          </a:p>
          <a:p>
            <a:r>
              <a:rPr lang="es-CO" dirty="0" smtClean="0"/>
              <a:t>Cumplir con las normas, políticas  y reglamentos de seguridad implementados por la empresa</a:t>
            </a:r>
          </a:p>
          <a:p>
            <a:r>
              <a:rPr lang="es-CO" dirty="0" smtClean="0"/>
              <a:t>Participar en las actividades de capacitación en seguridad y salud en el trabajo.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22967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DERECHOS DE LOS AFILIADOS A LA ARL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 smtClean="0"/>
              <a:t>El trabajador que sufra un accidente  o se le diagnostique una enfermedad laboral, tiene derecho a la cobertura del 100% de las siguientes prestaciones económicas:</a:t>
            </a:r>
          </a:p>
          <a:p>
            <a:r>
              <a:rPr lang="es-CO" dirty="0" smtClean="0"/>
              <a:t>Atención inicial en urgencias </a:t>
            </a:r>
          </a:p>
          <a:p>
            <a:r>
              <a:rPr lang="es-CO" dirty="0" smtClean="0"/>
              <a:t>Atención médica, quirúrgica, terapéutica y farmacéutica</a:t>
            </a:r>
          </a:p>
          <a:p>
            <a:r>
              <a:rPr lang="es-CO" dirty="0" smtClean="0"/>
              <a:t>Rehabilitación física y profesional</a:t>
            </a:r>
          </a:p>
          <a:p>
            <a:r>
              <a:rPr lang="es-CO" dirty="0" smtClean="0"/>
              <a:t>Elaboración y reparación de prótesis</a:t>
            </a:r>
          </a:p>
          <a:p>
            <a:r>
              <a:rPr lang="es-CO" dirty="0" smtClean="0"/>
              <a:t>Gastos de traslado</a:t>
            </a:r>
          </a:p>
          <a:p>
            <a:r>
              <a:rPr lang="es-CO" dirty="0" smtClean="0"/>
              <a:t>Subsidio por incapacidad temporal</a:t>
            </a:r>
          </a:p>
          <a:p>
            <a:r>
              <a:rPr lang="es-CO" dirty="0" smtClean="0"/>
              <a:t>Indemnización por incapacidad permanente parcial</a:t>
            </a:r>
          </a:p>
          <a:p>
            <a:r>
              <a:rPr lang="es-CO" dirty="0" smtClean="0"/>
              <a:t>Pensión</a:t>
            </a:r>
          </a:p>
          <a:p>
            <a:r>
              <a:rPr lang="es-CO" dirty="0" smtClean="0"/>
              <a:t>Auxilio funerario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03074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DEBERES DE LOS AFILIADOS A LA ARL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Ser re incorporado o re ubicado laboralmente, una vez terminados los procesos de rehabilitación y recuperación</a:t>
            </a:r>
          </a:p>
          <a:p>
            <a:r>
              <a:rPr lang="es-CO" dirty="0" smtClean="0"/>
              <a:t>Procurar por el cuidado integral de su salud</a:t>
            </a:r>
          </a:p>
          <a:p>
            <a:r>
              <a:rPr lang="es-CO" dirty="0" smtClean="0"/>
              <a:t>Cumplir las normas, reglamentos e instrucciones de salud ocupacional</a:t>
            </a:r>
          </a:p>
          <a:p>
            <a:r>
              <a:rPr lang="es-CO" dirty="0" smtClean="0"/>
              <a:t>Participar en las actividades de prevención de riesgos y capacitaciones de la empresa</a:t>
            </a:r>
          </a:p>
          <a:p>
            <a:r>
              <a:rPr lang="es-CO" dirty="0" smtClean="0"/>
              <a:t>Los pensionados por invalidez por riesgos laborales, deberán informar y mantener actualizada su información.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09112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REPORTE DE ACCIDENTE </a:t>
            </a:r>
            <a:endParaRPr lang="es-CO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6751327"/>
              </p:ext>
            </p:extLst>
          </p:nvPr>
        </p:nvGraphicFramePr>
        <p:xfrm>
          <a:off x="1361209" y="1485901"/>
          <a:ext cx="7429500" cy="525811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61961"/>
                <a:gridCol w="1856215"/>
                <a:gridCol w="1624189"/>
                <a:gridCol w="3587135"/>
              </a:tblGrid>
              <a:tr h="1781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dirty="0">
                          <a:effectLst/>
                        </a:rPr>
                        <a:t>Nº</a:t>
                      </a:r>
                      <a:endParaRPr lang="es-CO" sz="1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ACTIVIDAD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RESPONSABLE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DESCRIPCION DE LA ACTIVIDAD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</a:tr>
              <a:tr h="6993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1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Notificar el accidente de trabajo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Trabajador</a:t>
                      </a:r>
                      <a:endParaRPr lang="es-CO" sz="1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El  empleado que sufrió el accidente de trabajo debe notificarlo al Jefe Directo y/o delegado inmediatamente se presente.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</a:tr>
              <a:tr h="5343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2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Valorar el accidente de trabajo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Brigadista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El brigadista realiza atención de primeros auxilios antes de remitirlo a la IPS correspondiente.              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</a:tr>
              <a:tr h="8741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3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Reportar el accidente de trabajo a la línea de atención ARL </a:t>
                      </a:r>
                      <a:r>
                        <a:rPr lang="es-CO" sz="1000" dirty="0" smtClean="0">
                          <a:effectLst/>
                        </a:rPr>
                        <a:t>POSITIVA</a:t>
                      </a:r>
                      <a:endParaRPr lang="es-CO" sz="1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seguridad y salud en el trabajo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Reportar a la línea de atención ARL </a:t>
                      </a:r>
                      <a:r>
                        <a:rPr lang="es-CO" sz="1000" dirty="0" smtClean="0">
                          <a:effectLst/>
                        </a:rPr>
                        <a:t>POSITIVA 6823602, </a:t>
                      </a:r>
                      <a:r>
                        <a:rPr lang="es-CO" sz="1000" dirty="0">
                          <a:effectLst/>
                        </a:rPr>
                        <a:t>el presunto accidente de trabajo y solicita la autorización de atención o direccionamiento médico del accidentado.</a:t>
                      </a:r>
                      <a:endParaRPr lang="es-CO" sz="1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</a:tr>
              <a:tr h="6993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4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Atención y prestación de servicios asistenciales</a:t>
                      </a:r>
                      <a:endParaRPr lang="es-CO" sz="1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IPS - ARL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El  empleado que sufrió el presunto accidente de trabajo es atendido en la IPS autorizada por la línea de atención.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</a:tr>
              <a:tr h="1748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5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Diligenciar el FURAT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Responsable de seguridad y salud en el trabajo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El jefe directo y/o delegado  reporta inmediatamente a seguridad y salud en el trabajo el presunto  accidente de trabajo para  el diligenciamiento del  FURAT antes de 48 horas posteriores al evento.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Una vez diligenciado el FURAT a través de servicios en línea, se debe imprimir el documento y enviarlo a la ARL SURA y a la EPS correspondiente.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</a:tr>
              <a:tr h="524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6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Investigación accidente de trabajo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>
                          <a:effectLst/>
                        </a:rPr>
                        <a:t>Equipo investigador</a:t>
                      </a:r>
                      <a:endParaRPr lang="es-CO" sz="10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 Realizar la investigación y análisis del incidente.</a:t>
                      </a:r>
                      <a:endParaRPr lang="es-CO" sz="1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36" marR="37736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330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Rojo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</TotalTime>
  <Words>1318</Words>
  <Application>Microsoft Office PowerPoint</Application>
  <PresentationFormat>Panorámica</PresentationFormat>
  <Paragraphs>126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Tahoma</vt:lpstr>
      <vt:lpstr>Times New Roman</vt:lpstr>
      <vt:lpstr>Trebuchet MS</vt:lpstr>
      <vt:lpstr>Wingdings 3</vt:lpstr>
      <vt:lpstr>Faceta</vt:lpstr>
      <vt:lpstr>¿QUÉ ES EL SISTEMA DE GESTIÓN EN SEGURIDAD Y SALUD EN EL TRABAJO?</vt:lpstr>
      <vt:lpstr>NORMATIVIDAD</vt:lpstr>
      <vt:lpstr>¿ QUÉ LO COMPONE?</vt:lpstr>
      <vt:lpstr>Presentación de PowerPoint</vt:lpstr>
      <vt:lpstr>INCIDENTE DE TRABAJO</vt:lpstr>
      <vt:lpstr>ACCIDENTE LABORAL</vt:lpstr>
      <vt:lpstr>ENFERMEDAD LABORAL</vt:lpstr>
      <vt:lpstr>ACTO INSEGURO</vt:lpstr>
      <vt:lpstr>CONDICIÓN INSEGURA</vt:lpstr>
      <vt:lpstr>POLÍTICA DE SEGURIDAD Y SALUD EN EL TRABAJO</vt:lpstr>
      <vt:lpstr>OBJETIVOS POLITICA SEGURIDAD Y SALUD EN EL TRABAJO</vt:lpstr>
      <vt:lpstr>POLITICA DE NO USO DE ALCOHOL, TABACO Y DROGAS EN EL TRABAJO.</vt:lpstr>
      <vt:lpstr>Presentación de PowerPoint</vt:lpstr>
      <vt:lpstr>REGLAMENTO DE HIGIENE Y SEGURIDAD INDUSTRIAL</vt:lpstr>
      <vt:lpstr>OBLIGACIONES DE LOS EMPLEADORES</vt:lpstr>
      <vt:lpstr>OBLIGACIONES DE LOS TRABAJADORES</vt:lpstr>
      <vt:lpstr>DERECHOS DE LOS AFILIADOS A LA ARL</vt:lpstr>
      <vt:lpstr>DEBERES DE LOS AFILIADOS A LA ARL</vt:lpstr>
      <vt:lpstr>REPORTE DE ACCIDENTE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¿QUÉ ES EL SISTEMA DE GESTIÓN EN SEGURIDAD Y SALUD EN EL TRABAJO?</dc:title>
  <dc:creator>Ventas 2</dc:creator>
  <cp:lastModifiedBy>user</cp:lastModifiedBy>
  <cp:revision>13</cp:revision>
  <dcterms:created xsi:type="dcterms:W3CDTF">2016-06-17T23:05:58Z</dcterms:created>
  <dcterms:modified xsi:type="dcterms:W3CDTF">2021-09-15T19:41:23Z</dcterms:modified>
</cp:coreProperties>
</file>
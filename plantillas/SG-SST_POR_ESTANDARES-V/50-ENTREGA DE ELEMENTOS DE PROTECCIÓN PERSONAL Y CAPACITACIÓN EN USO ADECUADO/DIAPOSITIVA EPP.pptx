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258" r:id="rId2"/>
    <p:sldId id="326" r:id="rId3"/>
    <p:sldId id="327" r:id="rId4"/>
    <p:sldId id="328" r:id="rId5"/>
    <p:sldId id="380" r:id="rId6"/>
    <p:sldId id="329" r:id="rId7"/>
    <p:sldId id="335" r:id="rId8"/>
    <p:sldId id="299" r:id="rId9"/>
    <p:sldId id="336" r:id="rId10"/>
    <p:sldId id="337" r:id="rId11"/>
    <p:sldId id="382" r:id="rId12"/>
    <p:sldId id="384" r:id="rId13"/>
    <p:sldId id="315" r:id="rId14"/>
    <p:sldId id="340" r:id="rId15"/>
    <p:sldId id="339" r:id="rId16"/>
    <p:sldId id="344" r:id="rId17"/>
    <p:sldId id="385" r:id="rId18"/>
    <p:sldId id="303" r:id="rId19"/>
    <p:sldId id="386" r:id="rId20"/>
    <p:sldId id="349" r:id="rId21"/>
    <p:sldId id="350" r:id="rId22"/>
    <p:sldId id="351" r:id="rId23"/>
    <p:sldId id="356" r:id="rId24"/>
    <p:sldId id="352" r:id="rId25"/>
    <p:sldId id="367" r:id="rId26"/>
    <p:sldId id="368" r:id="rId27"/>
    <p:sldId id="369" r:id="rId28"/>
    <p:sldId id="370" r:id="rId29"/>
    <p:sldId id="357" r:id="rId30"/>
    <p:sldId id="359" r:id="rId31"/>
    <p:sldId id="360" r:id="rId32"/>
    <p:sldId id="361" r:id="rId33"/>
    <p:sldId id="388" r:id="rId34"/>
    <p:sldId id="395" r:id="rId35"/>
    <p:sldId id="390" r:id="rId36"/>
    <p:sldId id="391" r:id="rId37"/>
    <p:sldId id="392" r:id="rId38"/>
    <p:sldId id="393" r:id="rId39"/>
    <p:sldId id="394" r:id="rId40"/>
    <p:sldId id="362" r:id="rId41"/>
    <p:sldId id="313" r:id="rId42"/>
    <p:sldId id="396" r:id="rId43"/>
    <p:sldId id="397" r:id="rId44"/>
    <p:sldId id="398" r:id="rId45"/>
    <p:sldId id="259" r:id="rId46"/>
    <p:sldId id="261" r:id="rId47"/>
    <p:sldId id="278" r:id="rId48"/>
    <p:sldId id="264" r:id="rId49"/>
    <p:sldId id="400" r:id="rId5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23CC6C-E9BE-4B85-A563-3E61219D5313}" type="datetimeFigureOut">
              <a:rPr lang="es-CO" smtClean="0"/>
              <a:t>14/05/2021</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D8A81F-87D0-42B3-AF5F-C7A98A5F90DD}" type="slidenum">
              <a:rPr lang="es-CO" smtClean="0"/>
              <a:t>‹Nº›</a:t>
            </a:fld>
            <a:endParaRPr lang="es-CO"/>
          </a:p>
        </p:txBody>
      </p:sp>
    </p:spTree>
    <p:extLst>
      <p:ext uri="{BB962C8B-B14F-4D97-AF65-F5344CB8AC3E}">
        <p14:creationId xmlns:p14="http://schemas.microsoft.com/office/powerpoint/2010/main" val="508817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a:extLst>
              <a:ext uri="{FF2B5EF4-FFF2-40B4-BE49-F238E27FC236}">
                <a16:creationId xmlns:a16="http://schemas.microsoft.com/office/drawing/2014/main" id="{B7520844-56CF-452B-A815-2D578025154E}"/>
              </a:ext>
            </a:extLst>
          </p:cNvPr>
          <p:cNvSpPr>
            <a:spLocks noGrp="1" noRot="1" noChangeAspect="1" noChangeArrowheads="1" noTextEdit="1"/>
          </p:cNvSpPr>
          <p:nvPr>
            <p:ph type="sldImg"/>
          </p:nvPr>
        </p:nvSpPr>
        <p:spPr>
          <a:ln/>
        </p:spPr>
      </p:sp>
      <p:sp>
        <p:nvSpPr>
          <p:cNvPr id="6147" name="2 Marcador de notas">
            <a:extLst>
              <a:ext uri="{FF2B5EF4-FFF2-40B4-BE49-F238E27FC236}">
                <a16:creationId xmlns:a16="http://schemas.microsoft.com/office/drawing/2014/main" id="{BE18734A-E0FB-47CC-B8F8-3F40DF3DF8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O" altLang="es-CO"/>
          </a:p>
        </p:txBody>
      </p:sp>
      <p:sp>
        <p:nvSpPr>
          <p:cNvPr id="6148" name="3 Marcador de fecha">
            <a:extLst>
              <a:ext uri="{FF2B5EF4-FFF2-40B4-BE49-F238E27FC236}">
                <a16:creationId xmlns:a16="http://schemas.microsoft.com/office/drawing/2014/main" id="{39A624C5-009B-4A6E-B739-D707BA2FB7DE}"/>
              </a:ext>
            </a:extLst>
          </p:cNvPr>
          <p:cNvSpPr>
            <a:spLocks noGrp="1" noChangeArrowheads="1"/>
          </p:cNvSpPr>
          <p:nvPr>
            <p:ph type="dt"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1pPr>
            <a:lvl2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2pPr>
            <a:lvl3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3pPr>
            <a:lvl4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4pPr>
            <a:lvl5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9pPr>
          </a:lstStyle>
          <a:p>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r>
              <a:rPr kumimoji="0" lang="en-US" altLang="es-CO" sz="13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03/23/11</a:t>
            </a:r>
          </a:p>
        </p:txBody>
      </p:sp>
      <p:sp>
        <p:nvSpPr>
          <p:cNvPr id="6149" name="4 Marcador de número de diapositiva">
            <a:extLst>
              <a:ext uri="{FF2B5EF4-FFF2-40B4-BE49-F238E27FC236}">
                <a16:creationId xmlns:a16="http://schemas.microsoft.com/office/drawing/2014/main" id="{259AB413-2505-4B75-A4D0-1EB29005B19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1pPr>
            <a:lvl2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2pPr>
            <a:lvl3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3pPr>
            <a:lvl4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4pPr>
            <a:lvl5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5pPr>
            <a:lvl6pPr marL="25146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6pPr>
            <a:lvl7pPr marL="29718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7pPr>
            <a:lvl8pPr marL="34290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8pPr>
            <a:lvl9pPr marL="38862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9pPr>
          </a:lstStyle>
          <a:p>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fld id="{064677D7-2418-46D0-AFB1-07082E2B56F5}" type="slidenum">
              <a:rPr kumimoji="0" lang="en-US" altLang="es-CO" sz="13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t>1</a:t>
            </a:fld>
            <a:endParaRPr kumimoji="0" lang="en-US" altLang="es-CO" sz="13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488157E7-A4ED-4D92-B436-53A880D1B21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1pPr>
            <a:lvl2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2pPr>
            <a:lvl3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3pPr>
            <a:lvl4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4pPr>
            <a:lvl5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5pPr>
            <a:lvl6pPr marL="25146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6pPr>
            <a:lvl7pPr marL="29718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7pPr>
            <a:lvl8pPr marL="34290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8pPr>
            <a:lvl9pPr marL="38862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9pPr>
          </a:lstStyle>
          <a:p>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fld id="{E6CB568D-0930-47E8-BCF9-DFA56E8AD19A}" type="slidenum">
              <a:rPr kumimoji="0" lang="es-ES_tradnl" altLang="es-CO" sz="13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t>10</a:t>
            </a:fld>
            <a:endParaRPr kumimoji="0" lang="es-ES_tradnl" altLang="es-CO" sz="13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387" name="Rectangle 2">
            <a:extLst>
              <a:ext uri="{FF2B5EF4-FFF2-40B4-BE49-F238E27FC236}">
                <a16:creationId xmlns:a16="http://schemas.microsoft.com/office/drawing/2014/main" id="{23661545-3DB2-40F2-86FC-E1C3A1CE45A8}"/>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F0C6279C-E9C9-4357-B4BA-A6E8ADB08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_tradnl" altLang="es-C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C92EA0C1-8F68-4C73-B603-EB1F6E136D5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1pPr>
            <a:lvl2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2pPr>
            <a:lvl3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3pPr>
            <a:lvl4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4pPr>
            <a:lvl5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5pPr>
            <a:lvl6pPr marL="25146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6pPr>
            <a:lvl7pPr marL="29718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7pPr>
            <a:lvl8pPr marL="34290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8pPr>
            <a:lvl9pPr marL="38862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9pPr>
          </a:lstStyle>
          <a:p>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fld id="{4A9DD427-E420-40C5-A41F-4B633D2DC212}" type="slidenum">
              <a:rPr kumimoji="0" lang="es-ES" altLang="es-CO" sz="13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t>13</a:t>
            </a:fld>
            <a:endParaRPr kumimoji="0" lang="es-ES" altLang="es-CO" sz="13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483" name="Rectangle 2">
            <a:extLst>
              <a:ext uri="{FF2B5EF4-FFF2-40B4-BE49-F238E27FC236}">
                <a16:creationId xmlns:a16="http://schemas.microsoft.com/office/drawing/2014/main" id="{672BF600-A9AA-48CB-A76C-0BEBC21B1A49}"/>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A116BE5F-4272-4824-AE03-443A68819B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C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Marcador de imagen de diapositiva">
            <a:extLst>
              <a:ext uri="{FF2B5EF4-FFF2-40B4-BE49-F238E27FC236}">
                <a16:creationId xmlns:a16="http://schemas.microsoft.com/office/drawing/2014/main" id="{8C529EC4-0E0E-47AF-8555-04331EFD8BA6}"/>
              </a:ext>
            </a:extLst>
          </p:cNvPr>
          <p:cNvSpPr>
            <a:spLocks noGrp="1" noRot="1" noChangeAspect="1" noChangeArrowheads="1" noTextEdit="1"/>
          </p:cNvSpPr>
          <p:nvPr>
            <p:ph type="sldImg"/>
          </p:nvPr>
        </p:nvSpPr>
        <p:spPr>
          <a:ln/>
        </p:spPr>
      </p:sp>
      <p:sp>
        <p:nvSpPr>
          <p:cNvPr id="24579" name="2 Marcador de notas">
            <a:extLst>
              <a:ext uri="{FF2B5EF4-FFF2-40B4-BE49-F238E27FC236}">
                <a16:creationId xmlns:a16="http://schemas.microsoft.com/office/drawing/2014/main" id="{D5E2149D-12F3-44A1-BDD1-7EFDCFE11DC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ltLang="es-CO"/>
          </a:p>
        </p:txBody>
      </p:sp>
      <p:sp>
        <p:nvSpPr>
          <p:cNvPr id="24580" name="3 Marcador de número de diapositiva">
            <a:extLst>
              <a:ext uri="{FF2B5EF4-FFF2-40B4-BE49-F238E27FC236}">
                <a16:creationId xmlns:a16="http://schemas.microsoft.com/office/drawing/2014/main" id="{CDCA2195-2A07-44C8-AC2B-396851DBA182}"/>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1pPr>
            <a:lvl2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2pPr>
            <a:lvl3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3pPr>
            <a:lvl4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4pPr>
            <a:lvl5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5pPr>
            <a:lvl6pPr marL="25146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6pPr>
            <a:lvl7pPr marL="29718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7pPr>
            <a:lvl8pPr marL="34290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8pPr>
            <a:lvl9pPr marL="38862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9pPr>
          </a:lstStyle>
          <a:p>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fld id="{2E8B81B7-6805-4BD3-AF13-A785DE164E39}" type="slidenum">
              <a:rPr kumimoji="0" lang="en-US" altLang="es-CO" sz="13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t>16</a:t>
            </a:fld>
            <a:endParaRPr kumimoji="0" lang="en-US" altLang="es-CO" sz="13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Marcador de imagen de diapositiva">
            <a:extLst>
              <a:ext uri="{FF2B5EF4-FFF2-40B4-BE49-F238E27FC236}">
                <a16:creationId xmlns:a16="http://schemas.microsoft.com/office/drawing/2014/main" id="{952E5DFD-E483-42AF-9365-174D739BD8D6}"/>
              </a:ext>
            </a:extLst>
          </p:cNvPr>
          <p:cNvSpPr>
            <a:spLocks noGrp="1" noRot="1" noChangeAspect="1" noChangeArrowheads="1" noTextEdit="1"/>
          </p:cNvSpPr>
          <p:nvPr>
            <p:ph type="sldImg"/>
          </p:nvPr>
        </p:nvSpPr>
        <p:spPr>
          <a:ln/>
        </p:spPr>
      </p:sp>
      <p:sp>
        <p:nvSpPr>
          <p:cNvPr id="57347" name="2 Marcador de notas">
            <a:extLst>
              <a:ext uri="{FF2B5EF4-FFF2-40B4-BE49-F238E27FC236}">
                <a16:creationId xmlns:a16="http://schemas.microsoft.com/office/drawing/2014/main" id="{2CB22DBE-1680-403B-AA0C-01DA7C066F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O" altLang="es-CO"/>
          </a:p>
        </p:txBody>
      </p:sp>
      <p:sp>
        <p:nvSpPr>
          <p:cNvPr id="57348" name="3 Marcador de fecha">
            <a:extLst>
              <a:ext uri="{FF2B5EF4-FFF2-40B4-BE49-F238E27FC236}">
                <a16:creationId xmlns:a16="http://schemas.microsoft.com/office/drawing/2014/main" id="{1EBCC01B-D149-470C-BE13-E0F08CF01D46}"/>
              </a:ext>
            </a:extLst>
          </p:cNvPr>
          <p:cNvSpPr>
            <a:spLocks noGrp="1" noChangeArrowheads="1"/>
          </p:cNvSpPr>
          <p:nvPr>
            <p:ph type="dt"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1pPr>
            <a:lvl2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2pPr>
            <a:lvl3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3pPr>
            <a:lvl4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4pPr>
            <a:lvl5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9pPr>
          </a:lstStyle>
          <a:p>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r>
              <a:rPr kumimoji="0" lang="en-US" altLang="es-CO" sz="13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03/23/11</a:t>
            </a:r>
          </a:p>
        </p:txBody>
      </p:sp>
      <p:sp>
        <p:nvSpPr>
          <p:cNvPr id="57349" name="4 Marcador de número de diapositiva">
            <a:extLst>
              <a:ext uri="{FF2B5EF4-FFF2-40B4-BE49-F238E27FC236}">
                <a16:creationId xmlns:a16="http://schemas.microsoft.com/office/drawing/2014/main" id="{BC56468B-84EE-4CFA-B73C-2AA1B1868E8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1pPr>
            <a:lvl2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2pPr>
            <a:lvl3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3pPr>
            <a:lvl4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4pPr>
            <a:lvl5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5pPr>
            <a:lvl6pPr marL="25146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6pPr>
            <a:lvl7pPr marL="29718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7pPr>
            <a:lvl8pPr marL="34290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8pPr>
            <a:lvl9pPr marL="38862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9pPr>
          </a:lstStyle>
          <a:p>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fld id="{92A744A7-53AF-4C10-A79D-91DCADD6E602}" type="slidenum">
              <a:rPr kumimoji="0" lang="en-US" altLang="es-CO" sz="13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t>48</a:t>
            </a:fld>
            <a:endParaRPr kumimoji="0" lang="en-US" altLang="es-CO" sz="13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Marcador de imagen de diapositiva">
            <a:extLst>
              <a:ext uri="{FF2B5EF4-FFF2-40B4-BE49-F238E27FC236}">
                <a16:creationId xmlns:a16="http://schemas.microsoft.com/office/drawing/2014/main" id="{952E5DFD-E483-42AF-9365-174D739BD8D6}"/>
              </a:ext>
            </a:extLst>
          </p:cNvPr>
          <p:cNvSpPr>
            <a:spLocks noGrp="1" noRot="1" noChangeAspect="1" noChangeArrowheads="1" noTextEdit="1"/>
          </p:cNvSpPr>
          <p:nvPr>
            <p:ph type="sldImg"/>
          </p:nvPr>
        </p:nvSpPr>
        <p:spPr>
          <a:ln/>
        </p:spPr>
      </p:sp>
      <p:sp>
        <p:nvSpPr>
          <p:cNvPr id="57347" name="2 Marcador de notas">
            <a:extLst>
              <a:ext uri="{FF2B5EF4-FFF2-40B4-BE49-F238E27FC236}">
                <a16:creationId xmlns:a16="http://schemas.microsoft.com/office/drawing/2014/main" id="{2CB22DBE-1680-403B-AA0C-01DA7C066F1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CO" altLang="es-CO"/>
          </a:p>
        </p:txBody>
      </p:sp>
      <p:sp>
        <p:nvSpPr>
          <p:cNvPr id="57348" name="3 Marcador de fecha">
            <a:extLst>
              <a:ext uri="{FF2B5EF4-FFF2-40B4-BE49-F238E27FC236}">
                <a16:creationId xmlns:a16="http://schemas.microsoft.com/office/drawing/2014/main" id="{1EBCC01B-D149-470C-BE13-E0F08CF01D46}"/>
              </a:ext>
            </a:extLst>
          </p:cNvPr>
          <p:cNvSpPr>
            <a:spLocks noGrp="1" noChangeArrowheads="1"/>
          </p:cNvSpPr>
          <p:nvPr>
            <p:ph type="dt"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1pPr>
            <a:lvl2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2pPr>
            <a:lvl3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3pPr>
            <a:lvl4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4pPr>
            <a:lvl5pPr defTabSz="474663">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5pPr>
            <a:lvl6pPr marL="25146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6pPr>
            <a:lvl7pPr marL="29718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7pPr>
            <a:lvl8pPr marL="34290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8pPr>
            <a:lvl9pPr marL="3886200" indent="-228600" defTabSz="474663" eaLnBrk="0" fontAlgn="base" hangingPunct="0">
              <a:spcBef>
                <a:spcPct val="0"/>
              </a:spcBef>
              <a:spcAft>
                <a:spcPct val="0"/>
              </a:spcAft>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2400">
                <a:solidFill>
                  <a:schemeClr val="bg1"/>
                </a:solidFill>
                <a:latin typeface="Arial" panose="020B0604020202020204" pitchFamily="34" charset="0"/>
                <a:ea typeface="ＭＳ Ｐゴシック" panose="020B0600070205080204" pitchFamily="34" charset="-128"/>
              </a:defRPr>
            </a:lvl9pPr>
          </a:lstStyle>
          <a:p>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r>
              <a:rPr kumimoji="0" lang="en-US" altLang="es-CO" sz="13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03/23/11</a:t>
            </a:r>
          </a:p>
        </p:txBody>
      </p:sp>
      <p:sp>
        <p:nvSpPr>
          <p:cNvPr id="57349" name="4 Marcador de número de diapositiva">
            <a:extLst>
              <a:ext uri="{FF2B5EF4-FFF2-40B4-BE49-F238E27FC236}">
                <a16:creationId xmlns:a16="http://schemas.microsoft.com/office/drawing/2014/main" id="{BC56468B-84EE-4CFA-B73C-2AA1B1868E86}"/>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1pPr>
            <a:lvl2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2pPr>
            <a:lvl3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3pPr>
            <a:lvl4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4pPr>
            <a:lvl5pPr defTabSz="474663">
              <a:spcBef>
                <a:spcPct val="30000"/>
              </a:spcBef>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5pPr>
            <a:lvl6pPr marL="25146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6pPr>
            <a:lvl7pPr marL="29718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7pPr>
            <a:lvl8pPr marL="34290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8pPr>
            <a:lvl9pPr marL="3886200" indent="-228600" defTabSz="474663" eaLnBrk="0" fontAlgn="base" hangingPunct="0">
              <a:spcBef>
                <a:spcPct val="30000"/>
              </a:spcBef>
              <a:spcAft>
                <a:spcPct val="0"/>
              </a:spcAft>
              <a:buClr>
                <a:srgbClr val="000000"/>
              </a:buClr>
              <a:buSzPct val="100000"/>
              <a:buFont typeface="Times New Roman" panose="02020603050405020304" pitchFamily="18" charset="0"/>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sz="1200">
                <a:solidFill>
                  <a:srgbClr val="000000"/>
                </a:solidFill>
                <a:latin typeface="Times New Roman" panose="02020603050405020304" pitchFamily="18" charset="0"/>
              </a:defRPr>
            </a:lvl9pPr>
          </a:lstStyle>
          <a:p>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fld id="{92A744A7-53AF-4C10-A79D-91DCADD6E602}" type="slidenum">
              <a:rPr kumimoji="0" lang="en-US" altLang="es-CO" sz="13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74663" rtl="0" eaLnBrk="1" fontAlgn="base" latinLnBrk="0" hangingPunct="1">
                <a:lnSpc>
                  <a:spcPct val="100000"/>
                </a:lnSpc>
                <a:spcBef>
                  <a:spcPct val="0"/>
                </a:spcBef>
                <a:spcAft>
                  <a:spcPct val="0"/>
                </a:spcAft>
                <a:buClrTx/>
                <a:buSzPct val="100000"/>
                <a:buFontTx/>
                <a:buNone/>
                <a:tabLst>
                  <a:tab pos="0" algn="l"/>
                  <a:tab pos="473075" algn="l"/>
                  <a:tab pos="947738" algn="l"/>
                  <a:tab pos="1422400" algn="l"/>
                  <a:tab pos="1898650" algn="l"/>
                  <a:tab pos="2373313" algn="l"/>
                  <a:tab pos="2847975" algn="l"/>
                  <a:tab pos="3322638" algn="l"/>
                  <a:tab pos="3797300" algn="l"/>
                  <a:tab pos="4271963" algn="l"/>
                  <a:tab pos="4748213" algn="l"/>
                  <a:tab pos="5222875" algn="l"/>
                  <a:tab pos="5697538" algn="l"/>
                  <a:tab pos="6172200" algn="l"/>
                  <a:tab pos="6646863" algn="l"/>
                  <a:tab pos="7121525" algn="l"/>
                  <a:tab pos="7596188" algn="l"/>
                  <a:tab pos="8072438" algn="l"/>
                  <a:tab pos="8547100" algn="l"/>
                  <a:tab pos="9021763" algn="l"/>
                  <a:tab pos="9496425" algn="l"/>
                </a:tabLst>
                <a:defRPr/>
              </a:pPr>
              <a:t>49</a:t>
            </a:fld>
            <a:endParaRPr kumimoji="0" lang="en-US" altLang="es-CO" sz="13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826097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MX"/>
          </a:p>
        </p:txBody>
      </p:sp>
      <p:sp>
        <p:nvSpPr>
          <p:cNvPr id="3" name="2 Subtítulo"/>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endParaRPr lang="es-MX"/>
          </a:p>
        </p:txBody>
      </p:sp>
      <p:sp>
        <p:nvSpPr>
          <p:cNvPr id="4" name="Rectangle 5">
            <a:extLst>
              <a:ext uri="{FF2B5EF4-FFF2-40B4-BE49-F238E27FC236}">
                <a16:creationId xmlns:a16="http://schemas.microsoft.com/office/drawing/2014/main" id="{C4B498F6-9F78-48FF-9CAD-99597F4D7E05}"/>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2022305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Rectangle 5">
            <a:extLst>
              <a:ext uri="{FF2B5EF4-FFF2-40B4-BE49-F238E27FC236}">
                <a16:creationId xmlns:a16="http://schemas.microsoft.com/office/drawing/2014/main" id="{451CFA78-3A51-4F8B-B74F-8555D0424A11}"/>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1361223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lstStyle>
            <a:lvl1pPr algn="l">
              <a:defRPr sz="4000" b="1" cap="all"/>
            </a:lvl1pPr>
          </a:lstStyle>
          <a:p>
            <a:r>
              <a:rPr lang="es-ES"/>
              <a:t>Haga clic para modificar el estilo de título del patrón</a:t>
            </a:r>
            <a:endParaRPr lang="es-MX"/>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5">
            <a:extLst>
              <a:ext uri="{FF2B5EF4-FFF2-40B4-BE49-F238E27FC236}">
                <a16:creationId xmlns:a16="http://schemas.microsoft.com/office/drawing/2014/main" id="{7DDAF02A-ED89-4B38-B844-2A30740B5719}"/>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3320399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sz="half" idx="1"/>
          </p:nvPr>
        </p:nvSpPr>
        <p:spPr>
          <a:xfrm>
            <a:off x="508001" y="1600201"/>
            <a:ext cx="5484284" cy="4721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half" idx="2"/>
          </p:nvPr>
        </p:nvSpPr>
        <p:spPr>
          <a:xfrm>
            <a:off x="6195484" y="1600201"/>
            <a:ext cx="5484283" cy="47212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Rectangle 5">
            <a:extLst>
              <a:ext uri="{FF2B5EF4-FFF2-40B4-BE49-F238E27FC236}">
                <a16:creationId xmlns:a16="http://schemas.microsoft.com/office/drawing/2014/main" id="{2061EF57-1639-4EDE-9657-2E5A021FC54C}"/>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2819264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8"/>
            <a:ext cx="10972800" cy="1143000"/>
          </a:xfrm>
        </p:spPr>
        <p:txBody>
          <a:bodyPr/>
          <a:lstStyle>
            <a:lvl1pPr>
              <a:defRPr/>
            </a:lvl1pPr>
          </a:lstStyle>
          <a:p>
            <a:r>
              <a:rPr lang="es-ES"/>
              <a:t>Haga clic para modificar el estilo de título del patrón</a:t>
            </a:r>
            <a:endParaRPr lang="es-MX"/>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Rectangle 5">
            <a:extLst>
              <a:ext uri="{FF2B5EF4-FFF2-40B4-BE49-F238E27FC236}">
                <a16:creationId xmlns:a16="http://schemas.microsoft.com/office/drawing/2014/main" id="{E1C6B6F1-DADC-4A4E-B75E-A713135C58DD}"/>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1388891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Rectangle 5">
            <a:extLst>
              <a:ext uri="{FF2B5EF4-FFF2-40B4-BE49-F238E27FC236}">
                <a16:creationId xmlns:a16="http://schemas.microsoft.com/office/drawing/2014/main" id="{23333F50-BD83-4904-893F-566D886C6300}"/>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3662399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CE41D54B-E528-41F4-A6CC-7E05FD51E6A3}"/>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4009968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MX"/>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a:extLst>
              <a:ext uri="{FF2B5EF4-FFF2-40B4-BE49-F238E27FC236}">
                <a16:creationId xmlns:a16="http://schemas.microsoft.com/office/drawing/2014/main" id="{7BBA1747-7A64-469A-AFEA-3C95DDDD39DE}"/>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4235256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MX"/>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MX" noProof="0"/>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a:extLst>
              <a:ext uri="{FF2B5EF4-FFF2-40B4-BE49-F238E27FC236}">
                <a16:creationId xmlns:a16="http://schemas.microsoft.com/office/drawing/2014/main" id="{14C1E067-5CBA-442B-B77B-D53C01F08E8F}"/>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961592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Rectangle 5">
            <a:extLst>
              <a:ext uri="{FF2B5EF4-FFF2-40B4-BE49-F238E27FC236}">
                <a16:creationId xmlns:a16="http://schemas.microsoft.com/office/drawing/2014/main" id="{61C4B28A-B457-42B5-9D2E-83EF3BA87F14}"/>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668084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87884" y="228601"/>
            <a:ext cx="2791883" cy="6092825"/>
          </a:xfrm>
        </p:spPr>
        <p:txBody>
          <a:bodyPr vert="eaVert"/>
          <a:lstStyle/>
          <a:p>
            <a:r>
              <a:rPr lang="es-ES"/>
              <a:t>Haga clic para modificar el estilo de título del patrón</a:t>
            </a:r>
            <a:endParaRPr lang="es-MX"/>
          </a:p>
        </p:txBody>
      </p:sp>
      <p:sp>
        <p:nvSpPr>
          <p:cNvPr id="3" name="2 Marcador de texto vertical"/>
          <p:cNvSpPr>
            <a:spLocks noGrp="1"/>
          </p:cNvSpPr>
          <p:nvPr>
            <p:ph type="body" orient="vert" idx="1"/>
          </p:nvPr>
        </p:nvSpPr>
        <p:spPr>
          <a:xfrm>
            <a:off x="508001" y="228601"/>
            <a:ext cx="8176684" cy="60928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Rectangle 5">
            <a:extLst>
              <a:ext uri="{FF2B5EF4-FFF2-40B4-BE49-F238E27FC236}">
                <a16:creationId xmlns:a16="http://schemas.microsoft.com/office/drawing/2014/main" id="{6B94252C-1667-41A8-AF54-1A427F236573}"/>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4234337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508001" y="228600"/>
            <a:ext cx="11171767" cy="1066800"/>
          </a:xfrm>
        </p:spPr>
        <p:txBody>
          <a:bodyPr/>
          <a:lstStyle/>
          <a:p>
            <a:r>
              <a:rPr lang="es-ES"/>
              <a:t>Haga clic para modificar el estilo de título del patrón</a:t>
            </a:r>
            <a:endParaRPr lang="es-MX"/>
          </a:p>
        </p:txBody>
      </p:sp>
      <p:sp>
        <p:nvSpPr>
          <p:cNvPr id="3" name="Rectangle 5">
            <a:extLst>
              <a:ext uri="{FF2B5EF4-FFF2-40B4-BE49-F238E27FC236}">
                <a16:creationId xmlns:a16="http://schemas.microsoft.com/office/drawing/2014/main" id="{9F24D795-5B14-47E3-8CA1-32E815161F0D}"/>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3732080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08000" y="1600202"/>
            <a:ext cx="11176000" cy="472439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p:cNvSpPr>
            <a:spLocks noGrp="1"/>
          </p:cNvSpPr>
          <p:nvPr>
            <p:ph type="title"/>
          </p:nvPr>
        </p:nvSpPr>
        <p:spPr/>
        <p:txBody>
          <a:bodyPr/>
          <a:lstStyle/>
          <a:p>
            <a:r>
              <a:rPr lang="en-US"/>
              <a:t>Click to edit Master title style</a:t>
            </a:r>
          </a:p>
        </p:txBody>
      </p:sp>
      <p:sp>
        <p:nvSpPr>
          <p:cNvPr id="4" name="Rectangle 5">
            <a:extLst>
              <a:ext uri="{FF2B5EF4-FFF2-40B4-BE49-F238E27FC236}">
                <a16:creationId xmlns:a16="http://schemas.microsoft.com/office/drawing/2014/main" id="{3828596D-2D7B-4F15-B783-DECC00CE1498}"/>
              </a:ext>
            </a:extLst>
          </p:cNvPr>
          <p:cNvSpPr>
            <a:spLocks noGrp="1" noChangeArrowheads="1"/>
          </p:cNvSpPr>
          <p:nvPr>
            <p:ph type="ftr" idx="10"/>
          </p:nvPr>
        </p:nvSpPr>
        <p:spPr>
          <a:ln/>
        </p:spPr>
        <p:txBody>
          <a:bodyPr/>
          <a:lstStyle>
            <a:lvl1pPr>
              <a:defRPr/>
            </a:lvl1pPr>
          </a:lstStyle>
          <a:p>
            <a:pPr>
              <a:defRPr/>
            </a:pPr>
            <a:r>
              <a:rPr lang="en-US"/>
              <a:t>Título de la presentación - 00 de mes de 0000</a:t>
            </a:r>
          </a:p>
        </p:txBody>
      </p:sp>
    </p:spTree>
    <p:extLst>
      <p:ext uri="{BB962C8B-B14F-4D97-AF65-F5344CB8AC3E}">
        <p14:creationId xmlns:p14="http://schemas.microsoft.com/office/powerpoint/2010/main" val="308836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BE4539BF-C245-4CD5-8BF1-44430FD35B0B}"/>
              </a:ext>
            </a:extLst>
          </p:cNvPr>
          <p:cNvSpPr>
            <a:spLocks noChangeArrowheads="1"/>
          </p:cNvSpPr>
          <p:nvPr/>
        </p:nvSpPr>
        <p:spPr bwMode="auto">
          <a:xfrm>
            <a:off x="0" y="0"/>
            <a:ext cx="12192000" cy="1435100"/>
          </a:xfrm>
          <a:prstGeom prst="rect">
            <a:avLst/>
          </a:prstGeom>
          <a:solidFill>
            <a:srgbClr val="71B94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s-MX" altLang="es-CO" sz="1800"/>
          </a:p>
        </p:txBody>
      </p:sp>
      <p:sp>
        <p:nvSpPr>
          <p:cNvPr id="1027" name="Text Box 2">
            <a:extLst>
              <a:ext uri="{FF2B5EF4-FFF2-40B4-BE49-F238E27FC236}">
                <a16:creationId xmlns:a16="http://schemas.microsoft.com/office/drawing/2014/main" id="{1AE1EDBA-001E-4FF4-ADD5-E429D513A7A5}"/>
              </a:ext>
            </a:extLst>
          </p:cNvPr>
          <p:cNvSpPr txBox="1">
            <a:spLocks noChangeArrowheads="1"/>
          </p:cNvSpPr>
          <p:nvPr/>
        </p:nvSpPr>
        <p:spPr bwMode="auto">
          <a:xfrm>
            <a:off x="9990667" y="6492875"/>
            <a:ext cx="1693333" cy="381000"/>
          </a:xfrm>
          <a:prstGeom prst="rect">
            <a:avLst/>
          </a:prstGeom>
          <a:noFill/>
          <a:ln>
            <a:noFill/>
          </a:ln>
        </p:spPr>
        <p:txBody>
          <a:bodyPr lIns="90000" tIns="46800" rIns="90000" bIns="46800" anchor="ctr"/>
          <a:lstStyle>
            <a:lvl1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1pPr>
            <a:lvl2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2pPr>
            <a:lvl3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3pPr>
            <a:lvl4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4pPr>
            <a:lvl5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5pPr>
            <a:lvl6pPr marL="2514600" indent="-228600" defTabSz="449263" eaLnBrk="0" fontAlgn="base" hangingPunct="0">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6pPr>
            <a:lvl7pPr marL="2971800" indent="-228600" defTabSz="449263" eaLnBrk="0" fontAlgn="base" hangingPunct="0">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7pPr>
            <a:lvl8pPr marL="3429000" indent="-228600" defTabSz="449263" eaLnBrk="0" fontAlgn="base" hangingPunct="0">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8pPr>
            <a:lvl9pPr marL="3886200" indent="-228600" defTabSz="449263" eaLnBrk="0" fontAlgn="base" hangingPunct="0">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9pPr>
          </a:lstStyle>
          <a:p>
            <a:pPr algn="r" eaLnBrk="1" hangingPunct="1">
              <a:buClrTx/>
              <a:buFontTx/>
              <a:buNone/>
              <a:defRPr/>
            </a:pPr>
            <a:r>
              <a:rPr lang="en-US" sz="1000" b="1" dirty="0">
                <a:solidFill>
                  <a:srgbClr val="202F78"/>
                </a:solidFill>
                <a:cs typeface="Arial" charset="0"/>
              </a:rPr>
              <a:t>ARP SURA</a:t>
            </a:r>
          </a:p>
        </p:txBody>
      </p:sp>
      <p:sp>
        <p:nvSpPr>
          <p:cNvPr id="1028" name="Rectangle 3">
            <a:extLst>
              <a:ext uri="{FF2B5EF4-FFF2-40B4-BE49-F238E27FC236}">
                <a16:creationId xmlns:a16="http://schemas.microsoft.com/office/drawing/2014/main" id="{5FCB5511-84B5-48B6-A008-5A738575D06D}"/>
              </a:ext>
            </a:extLst>
          </p:cNvPr>
          <p:cNvSpPr>
            <a:spLocks noGrp="1" noChangeArrowheads="1"/>
          </p:cNvSpPr>
          <p:nvPr>
            <p:ph type="title"/>
          </p:nvPr>
        </p:nvSpPr>
        <p:spPr bwMode="auto">
          <a:xfrm>
            <a:off x="508001" y="228600"/>
            <a:ext cx="1117176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p>
            <a:pPr lvl="0"/>
            <a:r>
              <a:rPr lang="en-GB" altLang="es-CO"/>
              <a:t>Pulse para editar el formato del texto de título</a:t>
            </a:r>
          </a:p>
        </p:txBody>
      </p:sp>
      <p:sp>
        <p:nvSpPr>
          <p:cNvPr id="1029" name="Rectangle 4">
            <a:extLst>
              <a:ext uri="{FF2B5EF4-FFF2-40B4-BE49-F238E27FC236}">
                <a16:creationId xmlns:a16="http://schemas.microsoft.com/office/drawing/2014/main" id="{CE273EC8-4CC8-46A1-9A05-8FFC7DF6B345}"/>
              </a:ext>
            </a:extLst>
          </p:cNvPr>
          <p:cNvSpPr>
            <a:spLocks noGrp="1" noChangeArrowheads="1"/>
          </p:cNvSpPr>
          <p:nvPr>
            <p:ph type="body" idx="1"/>
          </p:nvPr>
        </p:nvSpPr>
        <p:spPr bwMode="auto">
          <a:xfrm>
            <a:off x="508001" y="1600201"/>
            <a:ext cx="11171767"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6800" rIns="90000" bIns="46800" numCol="1" anchor="t" anchorCtr="0" compatLnSpc="1">
            <a:prstTxWarp prst="textNoShape">
              <a:avLst/>
            </a:prstTxWarp>
          </a:bodyPr>
          <a:lstStyle/>
          <a:p>
            <a:pPr lvl="0"/>
            <a:r>
              <a:rPr lang="en-GB" altLang="es-CO"/>
              <a:t>Pulse para editar los formatos del texto del esquema</a:t>
            </a:r>
          </a:p>
          <a:p>
            <a:pPr lvl="1"/>
            <a:r>
              <a:rPr lang="en-GB" altLang="es-CO"/>
              <a:t>Segundo nivel del esquema</a:t>
            </a:r>
          </a:p>
          <a:p>
            <a:pPr lvl="2"/>
            <a:r>
              <a:rPr lang="en-GB" altLang="es-CO"/>
              <a:t>Tercer nivel del esquema</a:t>
            </a:r>
          </a:p>
          <a:p>
            <a:pPr lvl="3"/>
            <a:r>
              <a:rPr lang="en-GB" altLang="es-CO"/>
              <a:t>Cuarto nivel del esquema</a:t>
            </a:r>
          </a:p>
          <a:p>
            <a:pPr lvl="4"/>
            <a:r>
              <a:rPr lang="en-GB" altLang="es-CO"/>
              <a:t>Quinto nivel del esquema</a:t>
            </a:r>
          </a:p>
          <a:p>
            <a:pPr lvl="4"/>
            <a:r>
              <a:rPr lang="en-GB" altLang="es-CO"/>
              <a:t>Sexto nivel del esquema</a:t>
            </a:r>
          </a:p>
          <a:p>
            <a:pPr lvl="4"/>
            <a:r>
              <a:rPr lang="en-GB" altLang="es-CO"/>
              <a:t>Séptimo nivel del esquema</a:t>
            </a:r>
          </a:p>
          <a:p>
            <a:pPr lvl="4"/>
            <a:r>
              <a:rPr lang="en-GB" altLang="es-CO"/>
              <a:t>Octavo nivel del esquema</a:t>
            </a:r>
          </a:p>
          <a:p>
            <a:pPr lvl="4"/>
            <a:r>
              <a:rPr lang="en-GB" altLang="es-CO"/>
              <a:t>Noveno nivel del esquema</a:t>
            </a:r>
          </a:p>
        </p:txBody>
      </p:sp>
      <p:sp>
        <p:nvSpPr>
          <p:cNvPr id="2" name="Rectangle 5">
            <a:extLst>
              <a:ext uri="{FF2B5EF4-FFF2-40B4-BE49-F238E27FC236}">
                <a16:creationId xmlns:a16="http://schemas.microsoft.com/office/drawing/2014/main" id="{FC624F5A-3876-428B-B83A-A6D629553C50}"/>
              </a:ext>
            </a:extLst>
          </p:cNvPr>
          <p:cNvSpPr>
            <a:spLocks noGrp="1" noChangeArrowheads="1"/>
          </p:cNvSpPr>
          <p:nvPr>
            <p:ph type="ftr"/>
          </p:nvPr>
        </p:nvSpPr>
        <p:spPr bwMode="auto">
          <a:xfrm>
            <a:off x="508001" y="6443664"/>
            <a:ext cx="9478433" cy="458787"/>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eaLnBrk="1" hangingPunct="1">
              <a:buClrTx/>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1C2F79"/>
                </a:solidFill>
                <a:latin typeface="Arial" charset="0"/>
                <a:ea typeface="ＭＳ Ｐゴシック" charset="-128"/>
                <a:cs typeface="+mn-cs"/>
              </a:defRPr>
            </a:lvl1pPr>
          </a:lstStyle>
          <a:p>
            <a:pPr>
              <a:defRPr/>
            </a:pPr>
            <a:r>
              <a:rPr lang="en-US"/>
              <a:t>Título de la presentación - 00 de mes de 0000</a:t>
            </a:r>
          </a:p>
        </p:txBody>
      </p:sp>
      <p:sp>
        <p:nvSpPr>
          <p:cNvPr id="1031" name="Rectangle 6">
            <a:extLst>
              <a:ext uri="{FF2B5EF4-FFF2-40B4-BE49-F238E27FC236}">
                <a16:creationId xmlns:a16="http://schemas.microsoft.com/office/drawing/2014/main" id="{5E08B667-EAD1-4CBB-A785-A0E3BDB6442D}"/>
              </a:ext>
            </a:extLst>
          </p:cNvPr>
          <p:cNvSpPr>
            <a:spLocks noChangeArrowheads="1"/>
          </p:cNvSpPr>
          <p:nvPr/>
        </p:nvSpPr>
        <p:spPr bwMode="auto">
          <a:xfrm>
            <a:off x="0" y="0"/>
            <a:ext cx="12192000" cy="1435100"/>
          </a:xfrm>
          <a:prstGeom prst="rect">
            <a:avLst/>
          </a:prstGeom>
          <a:solidFill>
            <a:srgbClr val="71B94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s-MX" altLang="es-CO" sz="1800"/>
          </a:p>
        </p:txBody>
      </p:sp>
      <p:sp>
        <p:nvSpPr>
          <p:cNvPr id="1032" name="Text Box 7">
            <a:extLst>
              <a:ext uri="{FF2B5EF4-FFF2-40B4-BE49-F238E27FC236}">
                <a16:creationId xmlns:a16="http://schemas.microsoft.com/office/drawing/2014/main" id="{8DBEC6A1-7A71-4C4B-A97F-1F7DAD652A34}"/>
              </a:ext>
            </a:extLst>
          </p:cNvPr>
          <p:cNvSpPr txBox="1">
            <a:spLocks noChangeArrowheads="1"/>
          </p:cNvSpPr>
          <p:nvPr/>
        </p:nvSpPr>
        <p:spPr bwMode="auto">
          <a:xfrm>
            <a:off x="9990667" y="6492875"/>
            <a:ext cx="1693333" cy="381000"/>
          </a:xfrm>
          <a:prstGeom prst="rect">
            <a:avLst/>
          </a:prstGeom>
          <a:noFill/>
          <a:ln>
            <a:noFill/>
          </a:ln>
        </p:spPr>
        <p:txBody>
          <a:bodyPr lIns="90000" tIns="46800" rIns="90000" bIns="46800" anchor="ctr"/>
          <a:lstStyle>
            <a:lvl1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1pPr>
            <a:lvl2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2pPr>
            <a:lvl3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3pPr>
            <a:lvl4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4pPr>
            <a:lvl5pPr eaLnBrk="0" hangingPunct="0">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5pPr>
            <a:lvl6pPr marL="2514600" indent="-228600" defTabSz="449263" eaLnBrk="0" fontAlgn="base" hangingPunct="0">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6pPr>
            <a:lvl7pPr marL="2971800" indent="-228600" defTabSz="449263" eaLnBrk="0" fontAlgn="base" hangingPunct="0">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7pPr>
            <a:lvl8pPr marL="3429000" indent="-228600" defTabSz="449263" eaLnBrk="0" fontAlgn="base" hangingPunct="0">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8pPr>
            <a:lvl9pPr marL="3886200" indent="-228600" defTabSz="449263" eaLnBrk="0" fontAlgn="base" hangingPunct="0">
              <a:spcBef>
                <a:spcPct val="0"/>
              </a:spcBef>
              <a:spcAft>
                <a:spcPct val="0"/>
              </a:spcAft>
              <a:buClr>
                <a:srgbClr val="000000"/>
              </a:buClr>
              <a:buSzPct val="100000"/>
              <a:buFont typeface="Times New Roman"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Arial" charset="0"/>
                <a:ea typeface="ＭＳ Ｐゴシック" pitchFamily="34" charset="-128"/>
              </a:defRPr>
            </a:lvl9pPr>
          </a:lstStyle>
          <a:p>
            <a:pPr algn="r" eaLnBrk="1" hangingPunct="1">
              <a:buClrTx/>
              <a:buFontTx/>
              <a:buNone/>
              <a:defRPr/>
            </a:pPr>
            <a:r>
              <a:rPr lang="en-US" sz="1000" b="1" dirty="0">
                <a:solidFill>
                  <a:srgbClr val="202F78"/>
                </a:solidFill>
                <a:cs typeface="Arial" charset="0"/>
              </a:rPr>
              <a:t>ARP SURA</a:t>
            </a:r>
          </a:p>
        </p:txBody>
      </p:sp>
    </p:spTree>
    <p:extLst>
      <p:ext uri="{BB962C8B-B14F-4D97-AF65-F5344CB8AC3E}">
        <p14:creationId xmlns:p14="http://schemas.microsoft.com/office/powerpoint/2010/main" val="29664883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FFFFFF"/>
          </a:solidFill>
          <a:latin typeface="+mj-lt"/>
          <a:ea typeface="ＭＳ Ｐゴシック" pitchFamily="34" charset="-128"/>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FFFFFF"/>
          </a:solidFill>
          <a:latin typeface="Arial Bold" charset="0"/>
          <a:ea typeface="ＭＳ Ｐゴシック" pitchFamily="34" charset="-128"/>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FFFFFF"/>
          </a:solidFill>
          <a:latin typeface="Arial Bold" charset="0"/>
          <a:ea typeface="ＭＳ Ｐゴシック" pitchFamily="34" charset="-128"/>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FFFFFF"/>
          </a:solidFill>
          <a:latin typeface="Arial Bold" charset="0"/>
          <a:ea typeface="ＭＳ Ｐゴシック" pitchFamily="34" charset="-128"/>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FFFFFF"/>
          </a:solidFill>
          <a:latin typeface="Arial Bold" charset="0"/>
          <a:ea typeface="ＭＳ Ｐゴシック" pitchFamily="34" charset="-128"/>
        </a:defRPr>
      </a:lvl5pPr>
      <a:lvl6pPr marL="2514600" indent="-228600" algn="l" defTabSz="449263" rtl="0" eaLnBrk="0" fontAlgn="base" hangingPunct="0">
        <a:spcBef>
          <a:spcPct val="0"/>
        </a:spcBef>
        <a:spcAft>
          <a:spcPct val="0"/>
        </a:spcAft>
        <a:buClr>
          <a:srgbClr val="000000"/>
        </a:buClr>
        <a:buSzPct val="100000"/>
        <a:buFont typeface="Times New Roman" pitchFamily="18" charset="0"/>
        <a:defRPr sz="3200">
          <a:solidFill>
            <a:srgbClr val="FFFFFF"/>
          </a:solidFill>
          <a:latin typeface="Arial Bold"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8" charset="0"/>
        <a:defRPr sz="3200">
          <a:solidFill>
            <a:srgbClr val="FFFFFF"/>
          </a:solidFill>
          <a:latin typeface="Arial Bold"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8" charset="0"/>
        <a:defRPr sz="3200">
          <a:solidFill>
            <a:srgbClr val="FFFFFF"/>
          </a:solidFill>
          <a:latin typeface="Arial Bold"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8" charset="0"/>
        <a:defRPr sz="3200">
          <a:solidFill>
            <a:srgbClr val="FFFFFF"/>
          </a:solidFill>
          <a:latin typeface="Arial Bold" charset="0"/>
          <a:ea typeface="ＭＳ Ｐゴシック" charset="-128"/>
        </a:defRPr>
      </a:lvl9pPr>
    </p:titleStyle>
    <p:bodyStyle>
      <a:lvl1pPr marL="342900" indent="-342900" algn="l" defTabSz="449263" rtl="0" eaLnBrk="0" fontAlgn="base" hangingPunct="0">
        <a:spcBef>
          <a:spcPct val="0"/>
        </a:spcBef>
        <a:spcAft>
          <a:spcPts val="1200"/>
        </a:spcAft>
        <a:buClr>
          <a:srgbClr val="000000"/>
        </a:buClr>
        <a:buSzPct val="100000"/>
        <a:buFont typeface="Times New Roman" panose="02020603050405020304" pitchFamily="18" charset="0"/>
        <a:buChar char="•"/>
        <a:defRPr sz="3200">
          <a:solidFill>
            <a:srgbClr val="1B418B"/>
          </a:solidFill>
          <a:latin typeface="+mn-lt"/>
          <a:ea typeface="ＭＳ Ｐゴシック" pitchFamily="34" charset="-128"/>
          <a:cs typeface="+mn-cs"/>
        </a:defRPr>
      </a:lvl1pPr>
      <a:lvl2pPr marL="742950" indent="-285750" algn="l" defTabSz="449263" rtl="0" eaLnBrk="0" fontAlgn="base" hangingPunct="0">
        <a:spcBef>
          <a:spcPct val="0"/>
        </a:spcBef>
        <a:spcAft>
          <a:spcPts val="1200"/>
        </a:spcAft>
        <a:buClr>
          <a:srgbClr val="000000"/>
        </a:buClr>
        <a:buSzPct val="100000"/>
        <a:buFont typeface="Times New Roman" panose="02020603050405020304" pitchFamily="18" charset="0"/>
        <a:buChar char="–"/>
        <a:defRPr sz="1600">
          <a:solidFill>
            <a:srgbClr val="1B418B"/>
          </a:solidFill>
          <a:latin typeface="+mn-lt"/>
          <a:ea typeface="ＭＳ Ｐゴシック" pitchFamily="34" charset="-128"/>
        </a:defRPr>
      </a:lvl2pPr>
      <a:lvl3pPr marL="1143000" indent="-228600" algn="l" defTabSz="449263" rtl="0" eaLnBrk="0" fontAlgn="base" hangingPunct="0">
        <a:spcBef>
          <a:spcPct val="0"/>
        </a:spcBef>
        <a:spcAft>
          <a:spcPts val="1200"/>
        </a:spcAft>
        <a:buClr>
          <a:srgbClr val="000000"/>
        </a:buClr>
        <a:buSzPct val="100000"/>
        <a:buFont typeface="Times New Roman" panose="02020603050405020304" pitchFamily="18" charset="0"/>
        <a:buChar char="•"/>
        <a:defRPr sz="1400">
          <a:solidFill>
            <a:srgbClr val="1B418B"/>
          </a:solidFill>
          <a:latin typeface="+mn-lt"/>
          <a:ea typeface="ＭＳ Ｐゴシック" pitchFamily="34" charset="-128"/>
        </a:defRPr>
      </a:lvl3pPr>
      <a:lvl4pPr marL="1600200" indent="-228600" algn="l" defTabSz="449263" rtl="0" eaLnBrk="0" fontAlgn="base" hangingPunct="0">
        <a:spcBef>
          <a:spcPct val="0"/>
        </a:spcBef>
        <a:spcAft>
          <a:spcPts val="1200"/>
        </a:spcAft>
        <a:buClr>
          <a:srgbClr val="000000"/>
        </a:buClr>
        <a:buSzPct val="100000"/>
        <a:buFont typeface="Times New Roman" panose="02020603050405020304" pitchFamily="18" charset="0"/>
        <a:buChar char="–"/>
        <a:defRPr sz="1200">
          <a:solidFill>
            <a:srgbClr val="1B418B"/>
          </a:solidFill>
          <a:latin typeface="+mn-lt"/>
          <a:ea typeface="ＭＳ Ｐゴシック" pitchFamily="34" charset="-128"/>
        </a:defRPr>
      </a:lvl4pPr>
      <a:lvl5pPr marL="2057400" indent="-228600" algn="l" defTabSz="449263" rtl="0"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mn-lt"/>
          <a:ea typeface="ＭＳ Ｐゴシック" pitchFamily="34" charset="-128"/>
        </a:defRPr>
      </a:lvl5pPr>
      <a:lvl6pPr marL="2514600" indent="-228600" algn="l" defTabSz="449263" rtl="0" eaLnBrk="0" fontAlgn="base" hangingPunct="0">
        <a:spcBef>
          <a:spcPct val="0"/>
        </a:spcBef>
        <a:spcAft>
          <a:spcPts val="1200"/>
        </a:spcAft>
        <a:buClr>
          <a:srgbClr val="000000"/>
        </a:buClr>
        <a:buSzPct val="100000"/>
        <a:buFont typeface="Times New Roman" pitchFamily="18" charset="0"/>
        <a:defRPr sz="1100">
          <a:solidFill>
            <a:srgbClr val="1B418B"/>
          </a:solidFill>
          <a:latin typeface="+mn-lt"/>
          <a:ea typeface="+mn-ea"/>
        </a:defRPr>
      </a:lvl6pPr>
      <a:lvl7pPr marL="2971800" indent="-228600" algn="l" defTabSz="449263" rtl="0" eaLnBrk="0" fontAlgn="base" hangingPunct="0">
        <a:spcBef>
          <a:spcPct val="0"/>
        </a:spcBef>
        <a:spcAft>
          <a:spcPts val="1200"/>
        </a:spcAft>
        <a:buClr>
          <a:srgbClr val="000000"/>
        </a:buClr>
        <a:buSzPct val="100000"/>
        <a:buFont typeface="Times New Roman" pitchFamily="18" charset="0"/>
        <a:defRPr sz="1100">
          <a:solidFill>
            <a:srgbClr val="1B418B"/>
          </a:solidFill>
          <a:latin typeface="+mn-lt"/>
          <a:ea typeface="+mn-ea"/>
        </a:defRPr>
      </a:lvl7pPr>
      <a:lvl8pPr marL="3429000" indent="-228600" algn="l" defTabSz="449263" rtl="0" eaLnBrk="0" fontAlgn="base" hangingPunct="0">
        <a:spcBef>
          <a:spcPct val="0"/>
        </a:spcBef>
        <a:spcAft>
          <a:spcPts val="1200"/>
        </a:spcAft>
        <a:buClr>
          <a:srgbClr val="000000"/>
        </a:buClr>
        <a:buSzPct val="100000"/>
        <a:buFont typeface="Times New Roman" pitchFamily="18" charset="0"/>
        <a:defRPr sz="1100">
          <a:solidFill>
            <a:srgbClr val="1B418B"/>
          </a:solidFill>
          <a:latin typeface="+mn-lt"/>
          <a:ea typeface="+mn-ea"/>
        </a:defRPr>
      </a:lvl8pPr>
      <a:lvl9pPr marL="3886200" indent="-228600" algn="l" defTabSz="449263" rtl="0" eaLnBrk="0" fontAlgn="base" hangingPunct="0">
        <a:spcBef>
          <a:spcPct val="0"/>
        </a:spcBef>
        <a:spcAft>
          <a:spcPts val="1200"/>
        </a:spcAft>
        <a:buClr>
          <a:srgbClr val="000000"/>
        </a:buClr>
        <a:buSzPct val="100000"/>
        <a:buFont typeface="Times New Roman" pitchFamily="18" charset="0"/>
        <a:defRPr sz="1100">
          <a:solidFill>
            <a:srgbClr val="1B418B"/>
          </a:solidFill>
          <a:latin typeface="+mn-lt"/>
          <a:ea typeface="+mn-ea"/>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3" Type="http://schemas.openxmlformats.org/officeDocument/2006/relationships/hyperlink" Target="http://images.google.com.co/imgres?imgurl=http://www.jb-vestuario.com/fotos/COFIA-BLANCA-MALLA-BLANCA.gif&amp;imgrefurl=http://www.jb-vestuario.com/catalogocolecciones.phtml%3Fcoleccion%3D17845982&amp;h=365&amp;w=254&amp;sz=44&amp;tbnid=UujyEl01yww14M:&amp;tbnh=118&amp;tbnw=82&amp;hl=es&amp;start=20&amp;prev=/images%3Fq%3Dcofias%26svnum%3D10%26hl%3Des%26lr%3D%26sa%3DG"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1.jpeg"/><Relationship Id="rId5" Type="http://schemas.openxmlformats.org/officeDocument/2006/relationships/hyperlink" Target="http://images.google.com.co/imgres?imgurl=http://www.harco.com.mx/productos/images/corporal/sq.JPG&amp;imgrefurl=http://www.harco.com.mx/productos/cabeza.htm&amp;h=131&amp;w=111&amp;sz=4&amp;tbnid=vHnc7uGHkKISsM:&amp;tbnh=86&amp;tbnw=72&amp;hl=es&amp;start=38&amp;prev=/images%3Fq%3Dcofias%26start%3D20%26svnum%3D10%26hl%3Des%26lr%3D%26sa%3DN" TargetMode="Externa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www.google.com.co/imgres?imgurl=http://coprom-image.s3.amazonaws.com/80473_w640_h640_respirador.jpg&amp;imgrefurl=http://aquinegocio.co/p32701-mascarilla-cara-completa-marca-msa-y-3m.html&amp;usg=___EHZpsvXQMBiDPptUAbvyCZCquk=&amp;h=236&amp;w=214&amp;sz=9&amp;hl=es&amp;start=26&amp;zoom=1&amp;tbnid=qmT8RIT4kElDkM:&amp;tbnh=109&amp;tbnw=99&amp;ei=hDOzT-mhBYu5twecoczuCA&amp;prev=/search%3Fq%3Drespirador%2Bpurificante%26start%3D20%26hl%3Des%26sa%3DN%26biw%3D827%26bih%3D494%26gbv%3D2%26tbm%3Disch&amp;itbs=1" TargetMode="External"/><Relationship Id="rId2" Type="http://schemas.openxmlformats.org/officeDocument/2006/relationships/image" Target="../media/image23.jpeg"/><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27.jpeg"/><Relationship Id="rId4" Type="http://schemas.openxmlformats.org/officeDocument/2006/relationships/image" Target="../media/image26.jpeg"/></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7.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tags" Target="../tags/tag8.xml"/><Relationship Id="rId7" Type="http://schemas.openxmlformats.org/officeDocument/2006/relationships/image" Target="../media/image30.jpe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29.jpeg"/><Relationship Id="rId5" Type="http://schemas.openxmlformats.org/officeDocument/2006/relationships/slideLayout" Target="../slideLayouts/slideLayout7.xml"/><Relationship Id="rId4" Type="http://schemas.openxmlformats.org/officeDocument/2006/relationships/tags" Target="../tags/tag9.xml"/><Relationship Id="rId9" Type="http://schemas.openxmlformats.org/officeDocument/2006/relationships/image" Target="../media/image32.jpeg"/></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34.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35.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xml"/><Relationship Id="rId1" Type="http://schemas.openxmlformats.org/officeDocument/2006/relationships/vmlDrawing" Target="../drawings/vmlDrawing6.vml"/><Relationship Id="rId6" Type="http://schemas.openxmlformats.org/officeDocument/2006/relationships/image" Target="../media/image45.jpeg"/><Relationship Id="rId5" Type="http://schemas.openxmlformats.org/officeDocument/2006/relationships/image" Target="../media/image44.wmf"/><Relationship Id="rId4" Type="http://schemas.openxmlformats.org/officeDocument/2006/relationships/oleObject" Target="../embeddings/oleObject7.bin"/></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Layout" Target="../slideLayouts/slideLayout2.xml"/><Relationship Id="rId5" Type="http://schemas.openxmlformats.org/officeDocument/2006/relationships/image" Target="../media/image49.jpeg"/><Relationship Id="rId4" Type="http://schemas.openxmlformats.org/officeDocument/2006/relationships/image" Target="../media/image48.jpeg"/></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2ACF4A9-2A8B-416D-9E97-5D03D28EB964}"/>
              </a:ext>
            </a:extLst>
          </p:cNvPr>
          <p:cNvSpPr>
            <a:spLocks noGrp="1" noChangeArrowheads="1"/>
          </p:cNvSpPr>
          <p:nvPr>
            <p:ph type="title" idx="4294967295"/>
          </p:nvPr>
        </p:nvSpPr>
        <p:spPr>
          <a:xfrm>
            <a:off x="1774826" y="19050"/>
            <a:ext cx="8378825" cy="1066800"/>
          </a:xfrm>
        </p:spPr>
        <p:txBody>
          <a:bodyPr vert="horz" wrap="square" lIns="91440" tIns="45720" rIns="91440" bIns="45720" numCol="1" anchor="b" anchorCtr="0" compatLnSpc="1">
            <a:prstTxWarp prst="textNoShape">
              <a:avLst/>
            </a:prstTxWarp>
          </a:bodyPr>
          <a:lstStyle/>
          <a:p>
            <a:pPr algn="ctr" eaLnBrk="1" hangingPunct="1"/>
            <a:r>
              <a:rPr lang="es-ES" altLang="es-CO" b="1">
                <a:latin typeface="Bookman Old Style" panose="02050604050505020204" pitchFamily="18" charset="0"/>
              </a:rPr>
              <a:t>DEFINICIÓN DE EPP</a:t>
            </a:r>
          </a:p>
        </p:txBody>
      </p:sp>
      <p:sp>
        <p:nvSpPr>
          <p:cNvPr id="3075" name="Rectangle 15">
            <a:extLst>
              <a:ext uri="{FF2B5EF4-FFF2-40B4-BE49-F238E27FC236}">
                <a16:creationId xmlns:a16="http://schemas.microsoft.com/office/drawing/2014/main" id="{0B69706B-75AF-452E-AAAC-E9CB6C8CAB34}"/>
              </a:ext>
            </a:extLst>
          </p:cNvPr>
          <p:cNvSpPr>
            <a:spLocks noChangeArrowheads="1"/>
          </p:cNvSpPr>
          <p:nvPr/>
        </p:nvSpPr>
        <p:spPr bwMode="auto">
          <a:xfrm>
            <a:off x="1524001" y="1408114"/>
            <a:ext cx="6659563" cy="5692775"/>
          </a:xfrm>
          <a:prstGeom prst="rect">
            <a:avLst/>
          </a:prstGeom>
          <a:noFill/>
          <a:ln>
            <a:noFill/>
          </a:ln>
        </p:spPr>
        <p:txBody>
          <a:bodyPr anchor="ctr">
            <a:spAutoFit/>
          </a:bodyPr>
          <a:lstStyle/>
          <a:p>
            <a:pPr algn="just" fontAlgn="base">
              <a:spcBef>
                <a:spcPct val="0"/>
              </a:spcBef>
              <a:spcAft>
                <a:spcPct val="0"/>
              </a:spcAft>
              <a:defRPr/>
            </a:pPr>
            <a:r>
              <a:rPr lang="es-CO" sz="2600" dirty="0">
                <a:solidFill>
                  <a:srgbClr val="1B418B"/>
                </a:solidFill>
                <a:latin typeface="Arial"/>
                <a:ea typeface="ＭＳ Ｐゴシック"/>
              </a:rPr>
              <a:t>Los </a:t>
            </a:r>
            <a:r>
              <a:rPr lang="es-CO" sz="2600" b="1" u="sng" dirty="0">
                <a:solidFill>
                  <a:srgbClr val="000000"/>
                </a:solidFill>
                <a:latin typeface="Arial"/>
                <a:ea typeface="ＭＳ Ｐゴシック"/>
              </a:rPr>
              <a:t>EPP</a:t>
            </a:r>
            <a:r>
              <a:rPr lang="es-CO" sz="2600" dirty="0">
                <a:solidFill>
                  <a:srgbClr val="1B418B"/>
                </a:solidFill>
                <a:latin typeface="Arial"/>
                <a:ea typeface="ＭＳ Ｐゴシック"/>
              </a:rPr>
              <a:t> comprenden todos aquellos dispositivos, accesorios y vestimentas de diversos diseños que emplea el trabajador para protegerse contra posibles lesiones (</a:t>
            </a:r>
            <a:r>
              <a:rPr lang="es-CO" sz="2600" b="1" u="sng" dirty="0">
                <a:solidFill>
                  <a:srgbClr val="FF0000"/>
                </a:solidFill>
                <a:latin typeface="Arial"/>
                <a:ea typeface="ＭＳ Ｐゴシック"/>
              </a:rPr>
              <a:t>ATEL</a:t>
            </a:r>
            <a:r>
              <a:rPr lang="es-CO" sz="2600" dirty="0">
                <a:solidFill>
                  <a:srgbClr val="1B418B"/>
                </a:solidFill>
                <a:latin typeface="Arial"/>
                <a:ea typeface="ＭＳ Ｐゴシック"/>
              </a:rPr>
              <a:t>). </a:t>
            </a:r>
          </a:p>
          <a:p>
            <a:pPr algn="just" fontAlgn="base">
              <a:spcBef>
                <a:spcPct val="0"/>
              </a:spcBef>
              <a:spcAft>
                <a:spcPct val="0"/>
              </a:spcAft>
              <a:defRPr/>
            </a:pPr>
            <a:endParaRPr lang="es-CO" sz="2600" dirty="0">
              <a:solidFill>
                <a:srgbClr val="1B418B"/>
              </a:solidFill>
              <a:latin typeface="Arial"/>
              <a:ea typeface="ＭＳ Ｐゴシック"/>
            </a:endParaRPr>
          </a:p>
          <a:p>
            <a:pPr algn="just" fontAlgn="base">
              <a:spcBef>
                <a:spcPct val="0"/>
              </a:spcBef>
              <a:spcAft>
                <a:spcPct val="0"/>
              </a:spcAft>
              <a:defRPr/>
            </a:pPr>
            <a:r>
              <a:rPr lang="es-CO" sz="2600" dirty="0">
                <a:solidFill>
                  <a:srgbClr val="1B418B"/>
                </a:solidFill>
                <a:latin typeface="Arial"/>
                <a:ea typeface="ＭＳ Ｐゴシック"/>
              </a:rPr>
              <a:t>Los equipos de protección personal (EPP) constituyen uno de los conceptos más básicos en cuanto a la seguridad en el lugar de trabajo y son necesarios cuando los peligros no han podido ser eliminados por completo o controlados por otros medios como por ejemplo: Controles de Ingeniería</a:t>
            </a:r>
            <a:r>
              <a:rPr lang="es-CO" sz="2800" dirty="0">
                <a:solidFill>
                  <a:srgbClr val="1B418B"/>
                </a:solidFill>
                <a:latin typeface="Arial"/>
                <a:ea typeface="ＭＳ Ｐゴシック"/>
              </a:rPr>
              <a:t>.</a:t>
            </a:r>
            <a:endParaRPr lang="es-ES" sz="2800" dirty="0">
              <a:solidFill>
                <a:srgbClr val="1B418B"/>
              </a:solidFill>
              <a:latin typeface="Arial"/>
              <a:ea typeface="ＭＳ Ｐゴシック"/>
            </a:endParaRPr>
          </a:p>
          <a:p>
            <a:pPr algn="just" eaLnBrk="0" fontAlgn="base" hangingPunct="0">
              <a:spcBef>
                <a:spcPct val="0"/>
              </a:spcBef>
              <a:spcAft>
                <a:spcPct val="0"/>
              </a:spcAft>
              <a:defRPr/>
            </a:pPr>
            <a:endParaRPr lang="es-ES" sz="2400" dirty="0">
              <a:solidFill>
                <a:srgbClr val="3333CC"/>
              </a:solidFill>
              <a:latin typeface="Bookman Old Style" pitchFamily="18" charset="0"/>
              <a:ea typeface="ＭＳ Ｐゴシック" panose="020B0600070205080204" pitchFamily="34" charset="-128"/>
              <a:cs typeface="Arial" charset="0"/>
            </a:endParaRPr>
          </a:p>
        </p:txBody>
      </p:sp>
      <p:sp>
        <p:nvSpPr>
          <p:cNvPr id="5124" name="Rectangle 16">
            <a:extLst>
              <a:ext uri="{FF2B5EF4-FFF2-40B4-BE49-F238E27FC236}">
                <a16:creationId xmlns:a16="http://schemas.microsoft.com/office/drawing/2014/main" id="{86F091F8-F9A0-43BA-AA6C-CFF2A44F48B3}"/>
              </a:ext>
            </a:extLst>
          </p:cNvPr>
          <p:cNvSpPr>
            <a:spLocks noChangeArrowheads="1"/>
          </p:cNvSpPr>
          <p:nvPr/>
        </p:nvSpPr>
        <p:spPr bwMode="auto">
          <a:xfrm>
            <a:off x="2208214" y="3785028"/>
            <a:ext cx="1847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ts val="1200"/>
              </a:spcAft>
              <a:buClr>
                <a:srgbClr val="000000"/>
              </a:buClr>
              <a:buSzPct val="100000"/>
              <a:buFont typeface="Times New Roman" panose="02020603050405020304" pitchFamily="18" charset="0"/>
              <a:buChar char="•"/>
              <a:defRPr sz="3200">
                <a:solidFill>
                  <a:srgbClr val="1B418B"/>
                </a:solidFill>
                <a:latin typeface="Arial" panose="020B0604020202020204" pitchFamily="34" charset="0"/>
                <a:ea typeface="ＭＳ Ｐゴシック" panose="020B0600070205080204" pitchFamily="34" charset="-128"/>
              </a:defRPr>
            </a:lvl1pPr>
            <a:lvl2pPr>
              <a:spcAft>
                <a:spcPts val="1200"/>
              </a:spcAft>
              <a:buClr>
                <a:srgbClr val="000000"/>
              </a:buClr>
              <a:buSzPct val="100000"/>
              <a:buFont typeface="Times New Roman" panose="02020603050405020304" pitchFamily="18" charset="0"/>
              <a:buChar char="–"/>
              <a:defRPr sz="1600">
                <a:solidFill>
                  <a:srgbClr val="1B418B"/>
                </a:solidFill>
                <a:latin typeface="Arial" panose="020B0604020202020204" pitchFamily="34" charset="0"/>
                <a:ea typeface="ＭＳ Ｐゴシック" panose="020B0600070205080204" pitchFamily="34" charset="-128"/>
              </a:defRPr>
            </a:lvl2pPr>
            <a:lvl3pPr>
              <a:spcAft>
                <a:spcPts val="1200"/>
              </a:spcAft>
              <a:buClr>
                <a:srgbClr val="000000"/>
              </a:buClr>
              <a:buSzPct val="100000"/>
              <a:buFont typeface="Times New Roman" panose="02020603050405020304" pitchFamily="18" charset="0"/>
              <a:buChar char="•"/>
              <a:defRPr sz="1400">
                <a:solidFill>
                  <a:srgbClr val="1B418B"/>
                </a:solidFill>
                <a:latin typeface="Arial" panose="020B0604020202020204" pitchFamily="34" charset="0"/>
                <a:ea typeface="ＭＳ Ｐゴシック" panose="020B0600070205080204" pitchFamily="34" charset="-128"/>
              </a:defRPr>
            </a:lvl3pPr>
            <a:lvl4pPr>
              <a:spcAft>
                <a:spcPts val="1200"/>
              </a:spcAft>
              <a:buClr>
                <a:srgbClr val="000000"/>
              </a:buClr>
              <a:buSzPct val="100000"/>
              <a:buFont typeface="Times New Roman" panose="02020603050405020304" pitchFamily="18" charset="0"/>
              <a:buChar char="–"/>
              <a:defRPr sz="1200">
                <a:solidFill>
                  <a:srgbClr val="1B418B"/>
                </a:solidFill>
                <a:latin typeface="Arial" panose="020B0604020202020204" pitchFamily="34" charset="0"/>
                <a:ea typeface="ＭＳ Ｐゴシック" panose="020B0600070205080204" pitchFamily="34" charset="-128"/>
              </a:defRPr>
            </a:lvl4pPr>
            <a:lvl5pPr>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9pPr>
          </a:lstStyle>
          <a:p>
            <a:pPr fontAlgn="base">
              <a:spcBef>
                <a:spcPct val="0"/>
              </a:spcBef>
              <a:spcAft>
                <a:spcPct val="0"/>
              </a:spcAft>
              <a:buClrTx/>
              <a:buSzTx/>
              <a:buNone/>
            </a:pPr>
            <a:endParaRPr lang="es-ES" altLang="es-CO" sz="2400">
              <a:solidFill>
                <a:srgbClr val="000000"/>
              </a:solidFill>
              <a:latin typeface="Verdana" panose="020B0604030504040204" pitchFamily="34" charset="0"/>
            </a:endParaRPr>
          </a:p>
          <a:p>
            <a:pPr eaLnBrk="0" fontAlgn="base" hangingPunct="0">
              <a:spcBef>
                <a:spcPct val="0"/>
              </a:spcBef>
              <a:spcAft>
                <a:spcPct val="0"/>
              </a:spcAft>
              <a:buClrTx/>
              <a:buSzTx/>
              <a:buNone/>
            </a:pPr>
            <a:endParaRPr lang="es-ES" altLang="es-CO" sz="2400">
              <a:solidFill>
                <a:srgbClr val="000000"/>
              </a:solidFill>
              <a:latin typeface="Verdana" panose="020B0604030504040204" pitchFamily="34" charset="0"/>
            </a:endParaRPr>
          </a:p>
        </p:txBody>
      </p:sp>
      <p:pic>
        <p:nvPicPr>
          <p:cNvPr id="5125" name="Picture 2">
            <a:extLst>
              <a:ext uri="{FF2B5EF4-FFF2-40B4-BE49-F238E27FC236}">
                <a16:creationId xmlns:a16="http://schemas.microsoft.com/office/drawing/2014/main" id="{A65283B9-BFA1-4BCD-999A-D3ED4D0AC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3563" y="2060576"/>
            <a:ext cx="230505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a:extLst>
              <a:ext uri="{FF2B5EF4-FFF2-40B4-BE49-F238E27FC236}">
                <a16:creationId xmlns:a16="http://schemas.microsoft.com/office/drawing/2014/main" id="{413C8BBA-EE79-4897-B24A-9E6463A8FBF6}"/>
              </a:ext>
            </a:extLst>
          </p:cNvPr>
          <p:cNvSpPr txBox="1">
            <a:spLocks noChangeArrowheads="1"/>
          </p:cNvSpPr>
          <p:nvPr/>
        </p:nvSpPr>
        <p:spPr bwMode="auto">
          <a:xfrm>
            <a:off x="1524000" y="571501"/>
            <a:ext cx="9144000" cy="6494463"/>
          </a:xfrm>
          <a:prstGeom prst="rect">
            <a:avLst/>
          </a:prstGeom>
          <a:noFill/>
          <a:ln w="9525">
            <a:noFill/>
            <a:miter lim="800000"/>
            <a:headEnd/>
            <a:tailEnd/>
          </a:ln>
          <a:effectLst/>
        </p:spPr>
        <p:txBody>
          <a:bodyPr>
            <a:spAutoFit/>
          </a:bodyPr>
          <a:lstStyle/>
          <a:p>
            <a:pPr marL="457200" indent="-457200" algn="ctr" defTabSz="449263" eaLnBrk="0" fontAlgn="base" hangingPunct="0">
              <a:spcBef>
                <a:spcPct val="0"/>
              </a:spcBef>
              <a:spcAft>
                <a:spcPct val="0"/>
              </a:spcAft>
              <a:defRPr/>
            </a:pPr>
            <a:r>
              <a:rPr lang="es-CO"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rPr>
              <a:t>LEGISLACIÓN: </a:t>
            </a:r>
          </a:p>
          <a:p>
            <a:pPr marL="457200" indent="-457200" algn="ctr" defTabSz="449263" eaLnBrk="0" fontAlgn="base" hangingPunct="0">
              <a:spcBef>
                <a:spcPct val="0"/>
              </a:spcBef>
              <a:spcAft>
                <a:spcPct val="0"/>
              </a:spcAft>
              <a:defRPr/>
            </a:pPr>
            <a:endParaRPr lang="es-CO" sz="32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endParaRPr>
          </a:p>
          <a:p>
            <a:pPr marL="457200" indent="-457200" algn="ctr" defTabSz="449263" eaLnBrk="0" fontAlgn="base" hangingPunct="0">
              <a:spcBef>
                <a:spcPct val="0"/>
              </a:spcBef>
              <a:spcAft>
                <a:spcPct val="0"/>
              </a:spcAft>
              <a:defRPr/>
            </a:pPr>
            <a:r>
              <a:rPr lang="es-CO" sz="31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Toda empresa en armonía con las disposiciones legales, </a:t>
            </a:r>
            <a:r>
              <a:rPr lang="es-CO" sz="3100" b="1" u="sng" dirty="0">
                <a:solidFill>
                  <a:srgbClr val="FF0000"/>
                </a:solidFill>
                <a:effectLst>
                  <a:outerShdw blurRad="38100" dist="38100" dir="2700000" algn="tl">
                    <a:srgbClr val="C0C0C0"/>
                  </a:outerShdw>
                </a:effectLst>
                <a:latin typeface="Arial" panose="020B0604020202020204" pitchFamily="34" charset="0"/>
                <a:ea typeface="MS PGothic" pitchFamily="34" charset="-128"/>
                <a:cs typeface="Arial" charset="0"/>
              </a:rPr>
              <a:t>deberá demostrar que suministra oportunamente y enseña</a:t>
            </a:r>
            <a:r>
              <a:rPr lang="es-CO" sz="31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 a utilizar a sus trabajadores los elementos de protección personal en </a:t>
            </a:r>
            <a:r>
              <a:rPr lang="es-CO" sz="3100" b="1" u="sng" dirty="0">
                <a:solidFill>
                  <a:srgbClr val="3333CC">
                    <a:lumMod val="75000"/>
                  </a:srgbClr>
                </a:solidFill>
                <a:effectLst>
                  <a:outerShdw blurRad="38100" dist="38100" dir="2700000" algn="tl">
                    <a:srgbClr val="C0C0C0"/>
                  </a:outerShdw>
                </a:effectLst>
                <a:latin typeface="Arial" panose="020B0604020202020204" pitchFamily="34" charset="0"/>
                <a:ea typeface="MS PGothic" pitchFamily="34" charset="-128"/>
                <a:cs typeface="Arial" charset="0"/>
              </a:rPr>
              <a:t>cantidad y calidad</a:t>
            </a:r>
            <a:r>
              <a:rPr lang="es-CO" sz="31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 acordes con los riesgos reales y potenciales en cada actividad, </a:t>
            </a:r>
            <a:r>
              <a:rPr lang="es-CO" sz="3100" b="1" i="1" u="sng" dirty="0">
                <a:solidFill>
                  <a:srgbClr val="C00000"/>
                </a:solidFill>
                <a:effectLst>
                  <a:outerShdw blurRad="38100" dist="38100" dir="2700000" algn="tl">
                    <a:srgbClr val="C0C0C0"/>
                  </a:outerShdw>
                </a:effectLst>
                <a:latin typeface="Arial" panose="020B0604020202020204" pitchFamily="34" charset="0"/>
                <a:ea typeface="MS PGothic" pitchFamily="34" charset="-128"/>
                <a:cs typeface="Arial" charset="0"/>
              </a:rPr>
              <a:t>igualmente exigirá lo mismo a sus contratistas o trabajadores en misión (artículo 11 del decreto 1530 de 1996: inducción completa e información permanente, los EPP).</a:t>
            </a:r>
            <a:endParaRPr lang="es-ES" sz="3100" b="1" i="1" u="sng" dirty="0">
              <a:solidFill>
                <a:srgbClr val="C00000"/>
              </a:solidFill>
              <a:effectLst>
                <a:outerShdw blurRad="38100" dist="38100" dir="2700000" algn="tl">
                  <a:srgbClr val="C0C0C0"/>
                </a:outerShdw>
              </a:effectLst>
              <a:latin typeface="Arial" panose="020B0604020202020204" pitchFamily="34" charset="0"/>
              <a:ea typeface="MS PGothic" pitchFamily="34" charset="-128"/>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CA5EEB66-BFE4-479D-9213-DA7B0593B9F1}"/>
              </a:ext>
            </a:extLst>
          </p:cNvPr>
          <p:cNvSpPr txBox="1">
            <a:spLocks noChangeArrowheads="1"/>
          </p:cNvSpPr>
          <p:nvPr/>
        </p:nvSpPr>
        <p:spPr bwMode="auto">
          <a:xfrm>
            <a:off x="1703389" y="836613"/>
            <a:ext cx="8713787" cy="5016500"/>
          </a:xfrm>
          <a:prstGeom prst="rect">
            <a:avLst/>
          </a:prstGeom>
          <a:noFill/>
          <a:ln w="9525">
            <a:noFill/>
            <a:miter lim="800000"/>
            <a:headEnd/>
            <a:tailEnd/>
          </a:ln>
          <a:effectLst/>
        </p:spPr>
        <p:txBody>
          <a:bodyPr>
            <a:spAutoFit/>
          </a:bodyPr>
          <a:lstStyle/>
          <a:p>
            <a:pPr marL="457200" indent="-457200" algn="ctr" defTabSz="449263" eaLnBrk="0" fontAlgn="base" hangingPunct="0">
              <a:spcBef>
                <a:spcPct val="0"/>
              </a:spcBef>
              <a:spcAft>
                <a:spcPct val="0"/>
              </a:spcAft>
              <a:defRPr/>
            </a:pPr>
            <a:r>
              <a:rPr lang="es-CO"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rPr>
              <a:t>LEGISLACIÓN:</a:t>
            </a:r>
          </a:p>
          <a:p>
            <a:pPr marL="457200" indent="-457200" algn="ctr" defTabSz="449263" eaLnBrk="0" fontAlgn="base" hangingPunct="0">
              <a:spcBef>
                <a:spcPct val="0"/>
              </a:spcBef>
              <a:spcAft>
                <a:spcPct val="0"/>
              </a:spcAft>
              <a:defRPr/>
            </a:pPr>
            <a:r>
              <a:rPr lang="es-CO" sz="32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 </a:t>
            </a:r>
          </a:p>
          <a:p>
            <a:pPr marL="457200" indent="-457200" algn="ctr" defTabSz="449263" eaLnBrk="0" fontAlgn="base" hangingPunct="0">
              <a:spcBef>
                <a:spcPct val="0"/>
              </a:spcBef>
              <a:spcAft>
                <a:spcPct val="0"/>
              </a:spcAft>
              <a:defRPr/>
            </a:pPr>
            <a:r>
              <a:rPr lang="es-CO" sz="32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a:t>
            </a:r>
            <a:r>
              <a:rPr lang="es-ES" sz="32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Todos los empleadores están obligados a proporcionar a cada trabajador, sin costo para éste, </a:t>
            </a:r>
            <a:r>
              <a:rPr lang="es-ES" sz="3200" b="1" u="sng" dirty="0">
                <a:solidFill>
                  <a:srgbClr val="FF0000"/>
                </a:solidFill>
                <a:effectLst>
                  <a:outerShdw blurRad="38100" dist="38100" dir="2700000" algn="tl">
                    <a:srgbClr val="C0C0C0"/>
                  </a:outerShdw>
                </a:effectLst>
                <a:latin typeface="Arial" panose="020B0604020202020204" pitchFamily="34" charset="0"/>
                <a:ea typeface="MS PGothic" pitchFamily="34" charset="-128"/>
                <a:cs typeface="Arial" charset="0"/>
              </a:rPr>
              <a:t>elementos de protección personal </a:t>
            </a:r>
            <a:r>
              <a:rPr lang="es-ES" sz="32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en cantidad y calidad acordes con los riesgos reales o potenciales existentes en los lugares de trabajo”. </a:t>
            </a:r>
            <a:r>
              <a:rPr lang="es-ES" sz="3200" b="1" dirty="0">
                <a:solidFill>
                  <a:srgbClr val="3333CC">
                    <a:lumMod val="75000"/>
                  </a:srgbClr>
                </a:solidFill>
                <a:effectLst>
                  <a:outerShdw blurRad="38100" dist="38100" dir="2700000" algn="tl">
                    <a:srgbClr val="C0C0C0"/>
                  </a:outerShdw>
                </a:effectLst>
                <a:latin typeface="Arial" panose="020B0604020202020204" pitchFamily="34" charset="0"/>
                <a:ea typeface="MS PGothic" pitchFamily="34" charset="-128"/>
                <a:cs typeface="Arial" charset="0"/>
              </a:rPr>
              <a:t>Artículo 122 de la Ley 9 de 1979.</a:t>
            </a:r>
          </a:p>
          <a:p>
            <a:pPr marL="457200" indent="-457200" algn="ctr" defTabSz="449263" eaLnBrk="0" fontAlgn="base" hangingPunct="0">
              <a:spcBef>
                <a:spcPct val="0"/>
              </a:spcBef>
              <a:spcAft>
                <a:spcPct val="0"/>
              </a:spcAft>
              <a:defRPr/>
            </a:pPr>
            <a:r>
              <a:rPr lang="es-CO" sz="32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 </a:t>
            </a:r>
            <a:endParaRPr lang="es-ES" sz="3200" b="1" i="1" u="sng"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a:extLst>
              <a:ext uri="{FF2B5EF4-FFF2-40B4-BE49-F238E27FC236}">
                <a16:creationId xmlns:a16="http://schemas.microsoft.com/office/drawing/2014/main" id="{69F5E095-9C8A-4C52-BFA0-9F8A2706334C}"/>
              </a:ext>
            </a:extLst>
          </p:cNvPr>
          <p:cNvSpPr txBox="1">
            <a:spLocks noChangeArrowheads="1"/>
          </p:cNvSpPr>
          <p:nvPr/>
        </p:nvSpPr>
        <p:spPr bwMode="auto">
          <a:xfrm>
            <a:off x="1703389" y="142876"/>
            <a:ext cx="8713787" cy="6494463"/>
          </a:xfrm>
          <a:prstGeom prst="rect">
            <a:avLst/>
          </a:prstGeom>
          <a:noFill/>
          <a:ln w="9525">
            <a:noFill/>
            <a:miter lim="800000"/>
            <a:headEnd/>
            <a:tailEnd/>
          </a:ln>
          <a:effectLst/>
        </p:spPr>
        <p:txBody>
          <a:bodyPr>
            <a:spAutoFit/>
          </a:bodyPr>
          <a:lstStyle/>
          <a:p>
            <a:pPr marL="457200" indent="-457200" algn="ctr" defTabSz="449263" eaLnBrk="0" fontAlgn="base" hangingPunct="0">
              <a:spcBef>
                <a:spcPct val="0"/>
              </a:spcBef>
              <a:spcAft>
                <a:spcPct val="0"/>
              </a:spcAft>
              <a:defRPr/>
            </a:pPr>
            <a:r>
              <a:rPr lang="es-CO"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rPr>
              <a:t>LEGISLACIÓN:</a:t>
            </a:r>
          </a:p>
          <a:p>
            <a:pPr marL="457200" indent="-457200" algn="ctr" defTabSz="449263" eaLnBrk="0" fontAlgn="base" hangingPunct="0">
              <a:spcBef>
                <a:spcPct val="0"/>
              </a:spcBef>
              <a:spcAft>
                <a:spcPct val="0"/>
              </a:spcAft>
              <a:defRPr/>
            </a:pPr>
            <a:endParaRPr lang="es-CO"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endParaRPr>
          </a:p>
          <a:p>
            <a:pPr marL="457200" indent="-457200" algn="ctr" defTabSz="449263" eaLnBrk="0" fontAlgn="base" hangingPunct="0">
              <a:spcBef>
                <a:spcPct val="0"/>
              </a:spcBef>
              <a:spcAft>
                <a:spcPct val="0"/>
              </a:spcAft>
              <a:defRPr/>
            </a:pPr>
            <a:r>
              <a:rPr lang="es-CO"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rPr>
              <a:t> </a:t>
            </a:r>
            <a:endParaRPr lang="es-CO" sz="32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endParaRPr>
          </a:p>
          <a:p>
            <a:pPr marL="457200" indent="-457200" algn="ctr" defTabSz="449263" fontAlgn="base">
              <a:spcBef>
                <a:spcPct val="0"/>
              </a:spcBef>
              <a:spcAft>
                <a:spcPct val="0"/>
              </a:spcAft>
              <a:defRPr/>
            </a:pPr>
            <a:r>
              <a:rPr lang="es-ES" sz="32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“Son obligaciones de los trabajadores:… ( ) b) Utilizar y mantener adecuadamente las instalaciones de la empresa, los elementos de trabajo, los dispositivos para control de riesgos y </a:t>
            </a:r>
            <a:r>
              <a:rPr lang="es-ES" sz="3200" b="1" dirty="0">
                <a:solidFill>
                  <a:srgbClr val="FF0000"/>
                </a:solidFill>
                <a:effectLst>
                  <a:outerShdw blurRad="38100" dist="38100" dir="2700000" algn="tl">
                    <a:srgbClr val="C0C0C0"/>
                  </a:outerShdw>
                </a:effectLst>
                <a:latin typeface="Arial" panose="020B0604020202020204" pitchFamily="34" charset="0"/>
                <a:ea typeface="MS PGothic" pitchFamily="34" charset="-128"/>
                <a:cs typeface="Arial" charset="0"/>
              </a:rPr>
              <a:t>los equipos de protección personal </a:t>
            </a:r>
            <a:r>
              <a:rPr lang="es-ES" sz="32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que el patrono suministre, y conservar el orden y aseo en los lugares de trabajo”. </a:t>
            </a:r>
          </a:p>
          <a:p>
            <a:pPr marL="457200" indent="-457200" algn="ctr" defTabSz="449263" fontAlgn="base">
              <a:spcBef>
                <a:spcPct val="0"/>
              </a:spcBef>
              <a:spcAft>
                <a:spcPct val="0"/>
              </a:spcAft>
              <a:defRPr/>
            </a:pPr>
            <a:r>
              <a:rPr lang="es-ES" sz="3200" b="1" dirty="0">
                <a:solidFill>
                  <a:srgbClr val="3333CC">
                    <a:lumMod val="75000"/>
                  </a:srgbClr>
                </a:solidFill>
                <a:effectLst>
                  <a:outerShdw blurRad="38100" dist="38100" dir="2700000" algn="tl">
                    <a:srgbClr val="C0C0C0"/>
                  </a:outerShdw>
                </a:effectLst>
                <a:latin typeface="Arial" panose="020B0604020202020204" pitchFamily="34" charset="0"/>
                <a:ea typeface="MS PGothic" pitchFamily="34" charset="-128"/>
                <a:cs typeface="Arial" charset="0"/>
              </a:rPr>
              <a:t>ARTÍCULO 3 DE LA RESOLUCIÓN </a:t>
            </a:r>
          </a:p>
          <a:p>
            <a:pPr marL="457200" indent="-457200" algn="ctr" defTabSz="449263" fontAlgn="base">
              <a:spcBef>
                <a:spcPct val="0"/>
              </a:spcBef>
              <a:spcAft>
                <a:spcPct val="0"/>
              </a:spcAft>
              <a:defRPr/>
            </a:pPr>
            <a:r>
              <a:rPr lang="es-ES" sz="3200" b="1" dirty="0">
                <a:solidFill>
                  <a:srgbClr val="3333CC">
                    <a:lumMod val="75000"/>
                  </a:srgbClr>
                </a:solidFill>
                <a:effectLst>
                  <a:outerShdw blurRad="38100" dist="38100" dir="2700000" algn="tl">
                    <a:srgbClr val="C0C0C0"/>
                  </a:outerShdw>
                </a:effectLst>
                <a:latin typeface="Arial" panose="020B0604020202020204" pitchFamily="34" charset="0"/>
                <a:ea typeface="MS PGothic" pitchFamily="34" charset="-128"/>
                <a:cs typeface="Arial" charset="0"/>
              </a:rPr>
              <a:t>2400 DE 1979.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ítulo 1">
            <a:extLst>
              <a:ext uri="{FF2B5EF4-FFF2-40B4-BE49-F238E27FC236}">
                <a16:creationId xmlns:a16="http://schemas.microsoft.com/office/drawing/2014/main" id="{D1542522-445E-401F-BE99-AA9E8B99DA1C}"/>
              </a:ext>
            </a:extLst>
          </p:cNvPr>
          <p:cNvSpPr>
            <a:spLocks noGrp="1" noChangeArrowheads="1"/>
          </p:cNvSpPr>
          <p:nvPr>
            <p:ph type="title"/>
          </p:nvPr>
        </p:nvSpPr>
        <p:spPr/>
        <p:txBody>
          <a:bodyPr/>
          <a:lstStyle/>
          <a:p>
            <a:pPr algn="ctr"/>
            <a:r>
              <a:rPr lang="es-ES" altLang="es-CO"/>
              <a:t>LEGISLACIÓN</a:t>
            </a:r>
            <a:endParaRPr lang="es-CO" altLang="es-CO"/>
          </a:p>
        </p:txBody>
      </p:sp>
      <p:sp>
        <p:nvSpPr>
          <p:cNvPr id="3" name="Marcador de contenido 2">
            <a:extLst>
              <a:ext uri="{FF2B5EF4-FFF2-40B4-BE49-F238E27FC236}">
                <a16:creationId xmlns:a16="http://schemas.microsoft.com/office/drawing/2014/main" id="{8C763D18-9C09-41CE-AF62-5AB5E2CEF835}"/>
              </a:ext>
            </a:extLst>
          </p:cNvPr>
          <p:cNvSpPr>
            <a:spLocks noGrp="1"/>
          </p:cNvSpPr>
          <p:nvPr>
            <p:ph idx="1"/>
          </p:nvPr>
        </p:nvSpPr>
        <p:spPr/>
        <p:txBody>
          <a:bodyPr/>
          <a:lstStyle/>
          <a:p>
            <a:pPr marL="0" indent="0" algn="just">
              <a:buNone/>
              <a:defRPr/>
            </a:pPr>
            <a:r>
              <a:rPr lang="es-ES" dirty="0">
                <a:solidFill>
                  <a:schemeClr val="tx1"/>
                </a:solidFill>
              </a:rPr>
              <a:t>Dar aviso inmediato a sus superiores sobre la existencia de condiciones defectuosos, o fallas en las instalaciones, maquinarias, procesos y operaciones de trabajo, y sistemas de control de riesgos. </a:t>
            </a:r>
          </a:p>
          <a:p>
            <a:pPr marL="0" indent="0" algn="ctr">
              <a:buNone/>
              <a:defRPr/>
            </a:pPr>
            <a:r>
              <a:rPr lang="es-ES" b="1" dirty="0">
                <a:solidFill>
                  <a:schemeClr val="accent2">
                    <a:lumMod val="75000"/>
                  </a:schemeClr>
                </a:solidFill>
                <a:effectLst>
                  <a:outerShdw blurRad="38100" dist="38100" dir="2700000" algn="tl">
                    <a:srgbClr val="C0C0C0"/>
                  </a:outerShdw>
                </a:effectLst>
                <a:ea typeface="MS PGothic" pitchFamily="34" charset="-128"/>
                <a:cs typeface="Arial" charset="0"/>
              </a:rPr>
              <a:t>ARTÍCULO 3 DE LA RESOLUCIÓN </a:t>
            </a:r>
          </a:p>
          <a:p>
            <a:pPr marL="0" indent="0" algn="ctr">
              <a:buNone/>
              <a:defRPr/>
            </a:pPr>
            <a:r>
              <a:rPr lang="es-ES" b="1" dirty="0">
                <a:solidFill>
                  <a:schemeClr val="accent2">
                    <a:lumMod val="75000"/>
                  </a:schemeClr>
                </a:solidFill>
                <a:effectLst>
                  <a:outerShdw blurRad="38100" dist="38100" dir="2700000" algn="tl">
                    <a:srgbClr val="C0C0C0"/>
                  </a:outerShdw>
                </a:effectLst>
                <a:ea typeface="MS PGothic" pitchFamily="34" charset="-128"/>
                <a:cs typeface="Arial" charset="0"/>
              </a:rPr>
              <a:t>2400 DE 1979.</a:t>
            </a:r>
          </a:p>
          <a:p>
            <a:pPr marL="0" indent="0" algn="just">
              <a:buNone/>
              <a:defRPr/>
            </a:pPr>
            <a:endParaRPr lang="es-ES" dirty="0">
              <a:solidFill>
                <a:schemeClr val="tx1"/>
              </a:solidFill>
            </a:endParaRPr>
          </a:p>
          <a:p>
            <a:pPr marL="0" indent="0" algn="just">
              <a:buNone/>
              <a:defRPr/>
            </a:pPr>
            <a:endParaRPr lang="es-ES"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B0B33D26-1BFF-4A12-AD50-39906B2B0110}"/>
              </a:ext>
            </a:extLst>
          </p:cNvPr>
          <p:cNvSpPr txBox="1">
            <a:spLocks noChangeArrowheads="1"/>
          </p:cNvSpPr>
          <p:nvPr/>
        </p:nvSpPr>
        <p:spPr bwMode="auto">
          <a:xfrm>
            <a:off x="1524000" y="1"/>
            <a:ext cx="9144000" cy="6494463"/>
          </a:xfrm>
          <a:prstGeom prst="rect">
            <a:avLst/>
          </a:prstGeom>
          <a:noFill/>
          <a:ln w="9525">
            <a:noFill/>
            <a:miter lim="800000"/>
            <a:headEnd/>
            <a:tailEnd/>
          </a:ln>
          <a:effectLst/>
        </p:spPr>
        <p:txBody>
          <a:bodyPr>
            <a:spAutoFit/>
          </a:bodyPr>
          <a:lstStyle/>
          <a:p>
            <a:pPr marL="457200" indent="-457200" algn="ctr" defTabSz="449263" eaLnBrk="0" fontAlgn="base" hangingPunct="0">
              <a:spcBef>
                <a:spcPct val="0"/>
              </a:spcBef>
              <a:spcAft>
                <a:spcPct val="0"/>
              </a:spcAft>
              <a:defRPr/>
            </a:pPr>
            <a:endParaRPr lang="es-CO"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endParaRPr>
          </a:p>
          <a:p>
            <a:pPr marL="457200" indent="-457200" algn="ctr" defTabSz="449263" eaLnBrk="0" fontAlgn="base" hangingPunct="0">
              <a:spcBef>
                <a:spcPct val="0"/>
              </a:spcBef>
              <a:spcAft>
                <a:spcPct val="0"/>
              </a:spcAft>
              <a:defRPr/>
            </a:pPr>
            <a:r>
              <a:rPr lang="es-CO"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rPr>
              <a:t>LEGISLACIÓN</a:t>
            </a:r>
            <a:r>
              <a:rPr lang="es-CO" sz="20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rPr>
              <a:t> </a:t>
            </a:r>
          </a:p>
          <a:p>
            <a:pPr marL="457200" indent="-457200" algn="ctr" defTabSz="449263" eaLnBrk="0" fontAlgn="base" hangingPunct="0">
              <a:spcBef>
                <a:spcPct val="0"/>
              </a:spcBef>
              <a:spcAft>
                <a:spcPct val="0"/>
              </a:spcAft>
              <a:defRPr/>
            </a:pPr>
            <a:endParaRPr lang="es-CO" sz="20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endParaRPr>
          </a:p>
          <a:p>
            <a:pPr marL="457200" indent="-457200" algn="ctr" defTabSz="449263" eaLnBrk="0" fontAlgn="base" hangingPunct="0">
              <a:spcBef>
                <a:spcPct val="0"/>
              </a:spcBef>
              <a:spcAft>
                <a:spcPct val="0"/>
              </a:spcAft>
              <a:defRPr/>
            </a:pPr>
            <a:endParaRPr lang="es-CO" sz="20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endParaRPr>
          </a:p>
          <a:p>
            <a:pPr marL="457200" indent="-457200" defTabSz="449263" fontAlgn="base">
              <a:spcBef>
                <a:spcPct val="0"/>
              </a:spcBef>
              <a:spcAft>
                <a:spcPct val="0"/>
              </a:spcAft>
              <a:defRPr/>
            </a:pPr>
            <a:r>
              <a:rPr lang="es-ES" sz="20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RESOLUCIÓN 2400 DE 1979 :  ARTÍCULO 178, Resolución 2400 de 1979: La fabricación, calidad, resistencia y duración del equipo de protección  suministrado a los trabajadores estará sujeto a las normas aprobadas por la autoridad competente y deberá cumplir con los siguientes requisitos:</a:t>
            </a:r>
          </a:p>
          <a:p>
            <a:pPr marL="457200" indent="-457200" defTabSz="449263" fontAlgn="base">
              <a:spcBef>
                <a:spcPct val="0"/>
              </a:spcBef>
              <a:spcAft>
                <a:spcPct val="0"/>
              </a:spcAft>
              <a:defRPr/>
            </a:pPr>
            <a:r>
              <a:rPr lang="es-ES" sz="20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a. Ofrecer adecuada protección contra el riesgo particular para el cual fue diseñado.</a:t>
            </a:r>
          </a:p>
          <a:p>
            <a:pPr marL="457200" indent="-457200" defTabSz="449263" fontAlgn="base">
              <a:spcBef>
                <a:spcPct val="0"/>
              </a:spcBef>
              <a:spcAft>
                <a:spcPct val="0"/>
              </a:spcAft>
              <a:defRPr/>
            </a:pPr>
            <a:r>
              <a:rPr lang="es-ES" sz="20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b. Ser adecuadamente confortable cuando lo usa el trabajador.</a:t>
            </a:r>
          </a:p>
          <a:p>
            <a:pPr marL="457200" indent="-457200" defTabSz="449263" fontAlgn="base">
              <a:spcBef>
                <a:spcPct val="0"/>
              </a:spcBef>
              <a:spcAft>
                <a:spcPct val="0"/>
              </a:spcAft>
              <a:defRPr/>
            </a:pPr>
            <a:r>
              <a:rPr lang="es-ES" sz="20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c. Adaptarse cómodamente sin interferir en los movimientos naturales del usuario.</a:t>
            </a:r>
          </a:p>
          <a:p>
            <a:pPr marL="457200" indent="-457200" defTabSz="449263" fontAlgn="base">
              <a:spcBef>
                <a:spcPct val="0"/>
              </a:spcBef>
              <a:spcAft>
                <a:spcPct val="0"/>
              </a:spcAft>
              <a:defRPr/>
            </a:pPr>
            <a:r>
              <a:rPr lang="es-ES" sz="20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d. Ofrecer garantía de durabilidad. </a:t>
            </a:r>
          </a:p>
          <a:p>
            <a:pPr marL="457200" indent="-457200" defTabSz="449263" fontAlgn="base">
              <a:spcBef>
                <a:spcPct val="0"/>
              </a:spcBef>
              <a:spcAft>
                <a:spcPct val="0"/>
              </a:spcAft>
              <a:defRPr/>
            </a:pPr>
            <a:r>
              <a:rPr lang="es-ES" sz="2000"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e. Poderse desinfectar y limpiar fácilmente.</a:t>
            </a:r>
          </a:p>
          <a:p>
            <a:pPr marL="457200" indent="-457200" defTabSz="449263" fontAlgn="base">
              <a:spcBef>
                <a:spcPct val="0"/>
              </a:spcBef>
              <a:spcAft>
                <a:spcPct val="0"/>
              </a:spcAft>
              <a:defRPr/>
            </a:pPr>
            <a:r>
              <a:rPr lang="es-ES" sz="3600" b="1" i="1" u="sng"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f. Tener grabada la marca de fábrica para identificar al fabricante.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a:extLst>
              <a:ext uri="{FF2B5EF4-FFF2-40B4-BE49-F238E27FC236}">
                <a16:creationId xmlns:a16="http://schemas.microsoft.com/office/drawing/2014/main" id="{5156C01D-0BBE-4608-AC86-3852FAA25CE4}"/>
              </a:ext>
            </a:extLst>
          </p:cNvPr>
          <p:cNvSpPr txBox="1">
            <a:spLocks noChangeArrowheads="1"/>
          </p:cNvSpPr>
          <p:nvPr/>
        </p:nvSpPr>
        <p:spPr bwMode="auto">
          <a:xfrm>
            <a:off x="1703389" y="981075"/>
            <a:ext cx="8713787" cy="4516438"/>
          </a:xfrm>
          <a:prstGeom prst="rect">
            <a:avLst/>
          </a:prstGeom>
          <a:noFill/>
          <a:ln w="9525">
            <a:noFill/>
            <a:miter lim="800000"/>
            <a:headEnd/>
            <a:tailEnd/>
          </a:ln>
          <a:effectLst/>
        </p:spPr>
        <p:txBody>
          <a:bodyPr>
            <a:spAutoFit/>
          </a:bodyPr>
          <a:lstStyle/>
          <a:p>
            <a:pPr marL="457200" indent="-457200" algn="ctr" defTabSz="449263" eaLnBrk="0" fontAlgn="base" hangingPunct="0">
              <a:spcBef>
                <a:spcPct val="0"/>
              </a:spcBef>
              <a:spcAft>
                <a:spcPct val="0"/>
              </a:spcAft>
              <a:defRPr/>
            </a:pPr>
            <a:r>
              <a:rPr lang="es-CO" sz="20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rPr>
              <a:t>LEGISLACIÓN: </a:t>
            </a:r>
            <a:endParaRPr lang="es-CO" sz="2000"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endParaRPr>
          </a:p>
          <a:p>
            <a:pPr marL="457200" indent="-457200" algn="ctr" defTabSz="449263" fontAlgn="base">
              <a:spcBef>
                <a:spcPct val="0"/>
              </a:spcBef>
              <a:spcAft>
                <a:spcPct val="0"/>
              </a:spcAft>
              <a:defRPr/>
            </a:pPr>
            <a:endParaRPr lang="es-ES"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endParaRPr>
          </a:p>
          <a:p>
            <a:pPr marL="457200" indent="-457200" algn="ctr" defTabSz="449263" fontAlgn="base">
              <a:spcBef>
                <a:spcPct val="0"/>
              </a:spcBef>
              <a:spcAft>
                <a:spcPct val="0"/>
              </a:spcAft>
              <a:defRPr/>
            </a:pPr>
            <a:r>
              <a:rPr lang="es-ES"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EN EL CASO QUE LA PERSONA TENGA O NO LOS ELEMENTOS DE PROTECCIÓN PERSONAL, </a:t>
            </a:r>
            <a:r>
              <a:rPr lang="es-ES" b="1" dirty="0">
                <a:solidFill>
                  <a:srgbClr val="FF0000"/>
                </a:solidFill>
                <a:effectLst>
                  <a:outerShdw blurRad="38100" dist="38100" dir="2700000" algn="tl">
                    <a:srgbClr val="C0C0C0"/>
                  </a:outerShdw>
                </a:effectLst>
                <a:latin typeface="Arial" panose="020B0604020202020204" pitchFamily="34" charset="0"/>
                <a:ea typeface="MS PGothic" pitchFamily="34" charset="-128"/>
                <a:cs typeface="Arial" charset="0"/>
              </a:rPr>
              <a:t>NO DESVIRTÚA QUE SEA UN ACCIDENTE DE TRABAJO.</a:t>
            </a:r>
          </a:p>
          <a:p>
            <a:pPr marL="457200" indent="-457200" algn="ctr" defTabSz="449263" fontAlgn="base">
              <a:spcBef>
                <a:spcPct val="0"/>
              </a:spcBef>
              <a:spcAft>
                <a:spcPct val="0"/>
              </a:spcAft>
              <a:defRPr/>
            </a:pPr>
            <a:r>
              <a:rPr lang="es-ES"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  </a:t>
            </a:r>
          </a:p>
          <a:p>
            <a:pPr marL="457200" indent="-457200" algn="ctr" defTabSz="449263" fontAlgn="base">
              <a:spcBef>
                <a:spcPct val="0"/>
              </a:spcBef>
              <a:spcAft>
                <a:spcPct val="0"/>
              </a:spcAft>
              <a:defRPr/>
            </a:pPr>
            <a:r>
              <a:rPr lang="es-ES"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PARA EL EMPLEADOR FRENTE A UNA DEMANDA POR RESPONSABILIDAD CIVIL: </a:t>
            </a:r>
            <a:r>
              <a:rPr lang="es-ES" b="1" dirty="0">
                <a:solidFill>
                  <a:srgbClr val="3333CC">
                    <a:lumMod val="75000"/>
                  </a:srgbClr>
                </a:solidFill>
                <a:effectLst>
                  <a:outerShdw blurRad="38100" dist="38100" dir="2700000" algn="tl">
                    <a:srgbClr val="C0C0C0"/>
                  </a:outerShdw>
                </a:effectLst>
                <a:latin typeface="Arial" panose="020B0604020202020204" pitchFamily="34" charset="0"/>
                <a:ea typeface="MS PGothic" pitchFamily="34" charset="-128"/>
                <a:cs typeface="Arial" charset="0"/>
              </a:rPr>
              <a:t>LA SITUACIÓN DE NEGLIGENCIA POR NO ENTREGAR LOS ELEMENTOS DE PROTECCIÓN A LOS QUE ESTA OBLIGADO POR LEY. </a:t>
            </a:r>
          </a:p>
          <a:p>
            <a:pPr marL="457200" indent="-457200" algn="ctr" defTabSz="449263" fontAlgn="base">
              <a:spcBef>
                <a:spcPct val="0"/>
              </a:spcBef>
              <a:spcAft>
                <a:spcPct val="0"/>
              </a:spcAft>
              <a:defRPr/>
            </a:pPr>
            <a:r>
              <a:rPr lang="es-ES"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 </a:t>
            </a:r>
          </a:p>
          <a:p>
            <a:pPr marL="457200" indent="-457200" algn="ctr" defTabSz="449263" fontAlgn="base">
              <a:spcBef>
                <a:spcPct val="0"/>
              </a:spcBef>
              <a:spcAft>
                <a:spcPct val="0"/>
              </a:spcAft>
              <a:defRPr/>
            </a:pPr>
            <a:r>
              <a:rPr lang="es-ES"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rPr>
              <a:t>IGUALMENTE, EL TRABAJADOR QUE NO UTILIZA LOS ELEMENTOS DE PROTECCIÓN, TENGA O NO UN ACCIDENTE DE TRABAJO, SE LE DEBE SEGUIR UN PROCESO DISCIPLINARIO, YA QUE LOS TRABAJADORES DEBEN UTILIZARLOS, Y EL EMPLEADOR DEBE VELAR POR QUE LOS USEN. ESTO ES DILIGENCIA Y CUIDADO....HASTA SE LE PUEDE TERMINAR SU CONTRATO DE TRABAJO.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a:extLst>
              <a:ext uri="{FF2B5EF4-FFF2-40B4-BE49-F238E27FC236}">
                <a16:creationId xmlns:a16="http://schemas.microsoft.com/office/drawing/2014/main" id="{FA1ED27E-B9E8-4771-B5D5-4A299D3DE7E3}"/>
              </a:ext>
            </a:extLst>
          </p:cNvPr>
          <p:cNvSpPr>
            <a:spLocks noGrp="1"/>
          </p:cNvSpPr>
          <p:nvPr>
            <p:ph type="subTitle" idx="1"/>
          </p:nvPr>
        </p:nvSpPr>
        <p:spPr>
          <a:xfrm>
            <a:off x="1524001" y="1557339"/>
            <a:ext cx="8964613" cy="4319587"/>
          </a:xfrm>
        </p:spPr>
        <p:txBody>
          <a:bodyPr/>
          <a:lstStyle/>
          <a:p>
            <a:pPr>
              <a:spcAft>
                <a:spcPts val="0"/>
              </a:spcAft>
              <a:defRPr/>
            </a:pPr>
            <a:r>
              <a:rPr lang="es-CO" sz="1400" b="1" kern="1200" dirty="0">
                <a:solidFill>
                  <a:schemeClr val="tx1"/>
                </a:solidFill>
                <a:ea typeface="+mn-ea"/>
              </a:rPr>
              <a:t>Ley 1562 de 2012: </a:t>
            </a:r>
            <a:r>
              <a:rPr lang="es-CO" sz="1400" b="1" dirty="0">
                <a:ea typeface="MS PGothic" pitchFamily="34" charset="-128"/>
              </a:rPr>
              <a:t>Artículo 13. </a:t>
            </a:r>
            <a:r>
              <a:rPr lang="es-CO" sz="1400" i="1" dirty="0">
                <a:ea typeface="MS PGothic" pitchFamily="34" charset="-128"/>
              </a:rPr>
              <a:t>Sanciones</a:t>
            </a:r>
            <a:r>
              <a:rPr lang="es-CO" sz="1400" dirty="0">
                <a:ea typeface="MS PGothic" pitchFamily="34" charset="-128"/>
              </a:rPr>
              <a:t>. Modifíquese el numeral 2, literal a), del artículo 91 del Decreto-ley 1295 de 1994, de la siguiente manera: El incumplimiento de los programas de salud ocupacional, las normas en salud ocupacional y aquellas obligaciones propias del empleador, previstas en el Sistema General de Riesgos Laborales, acarreará </a:t>
            </a:r>
            <a:r>
              <a:rPr lang="es-CO" sz="1400" b="1" u="sng" dirty="0">
                <a:solidFill>
                  <a:srgbClr val="FF0000"/>
                </a:solidFill>
                <a:ea typeface="MS PGothic" pitchFamily="34" charset="-128"/>
              </a:rPr>
              <a:t>multa de hasta quinientos (500) salarios mínimos mensuales legales vigentes</a:t>
            </a:r>
            <a:r>
              <a:rPr lang="es-CO" sz="1400" dirty="0">
                <a:ea typeface="MS PGothic" pitchFamily="34" charset="-128"/>
              </a:rPr>
              <a:t>, graduales de acuerdo a la gravedad de la infracción y previo cumplimiento del debido proceso destinados al Fondo de Riesgos Laborales. En caso de reincidencia en tales conductas o por incumplimiento de los correctivos que deban adoptarse, formulados por la Entidad Administradora de Riesgos Laborales o el Ministerio de Trabajo debidamente demostrados, se podrá ordenar la suspensión de actividades hasta por un término de ciento veinte (120) días o cierre definitivo de la empresa por parte de las Direcciones Territoriales del Ministerio de Trabajo, garantizando el debido proceso, de conformidad con el artículo 134 de la Ley 1438 de 2011 en el tema de sanciones. Adiciónese en el artículo 91 del Decreto-ley 1295 de 1994, modificado por el artículo 115 del Decreto 2150 de 1995, el siguiente inciso: En caso de accidente que ocasione la muerte del trabajador donde se demuestre el incumplimiento de las normas de salud ocupacional, el Ministerio de Trabajo impondrá multa </a:t>
            </a:r>
            <a:r>
              <a:rPr lang="es-CO" sz="1400" b="1" u="sng" dirty="0">
                <a:solidFill>
                  <a:srgbClr val="FF0000"/>
                </a:solidFill>
                <a:ea typeface="MS PGothic" pitchFamily="34" charset="-128"/>
              </a:rPr>
              <a:t>no inferior a veinte (20) salarios mínimos legales mensuales vigentes, ni superior a mil (1.000) salarios mínimos legales mensuales vigentes</a:t>
            </a:r>
            <a:r>
              <a:rPr lang="es-CO" sz="1400" dirty="0">
                <a:ea typeface="MS PGothic" pitchFamily="34" charset="-128"/>
              </a:rPr>
              <a:t> destinados al Fondo de Riesgos Laborales; en caso de reincidencia por incumplimiento de los correctivos de promoción y prevención formulados por la Entidad Administradora de Riesgos Laborales o el Ministerio de Trabajo una vez verificadas las circunstancias, se podrá ordenar la suspensión de actividades o cierre definitivo de la empresa por parte de las Direcciones Territoriales del Ministerio de Trabajo, garantizando siempre el debido proceso. El Ministerio de Trabajo reglamentará dentro de un plazo no mayor a un (1) año contado a partir de la expedición de la presente ley, los criterios de graduación de las multas a que se refiere el presente artículo y las garantías que se deben respetar para el  debido proceso.</a:t>
            </a:r>
            <a:endParaRPr lang="es-CO" sz="1400" dirty="0">
              <a:solidFill>
                <a:schemeClr val="tx1"/>
              </a:solidFill>
              <a:ea typeface="+mn-ea"/>
            </a:endParaRPr>
          </a:p>
        </p:txBody>
      </p:sp>
      <p:sp>
        <p:nvSpPr>
          <p:cNvPr id="13315" name="Rectangle 2">
            <a:extLst>
              <a:ext uri="{FF2B5EF4-FFF2-40B4-BE49-F238E27FC236}">
                <a16:creationId xmlns:a16="http://schemas.microsoft.com/office/drawing/2014/main" id="{F1FEF3EB-5E4C-4291-BE15-DB904441BF0B}"/>
              </a:ext>
            </a:extLst>
          </p:cNvPr>
          <p:cNvSpPr>
            <a:spLocks noGrp="1" noChangeArrowheads="1"/>
          </p:cNvSpPr>
          <p:nvPr>
            <p:ph type="ctrTitle"/>
          </p:nvPr>
        </p:nvSpPr>
        <p:spPr>
          <a:xfrm>
            <a:off x="1919288" y="188914"/>
            <a:ext cx="7772400" cy="1152525"/>
          </a:xfrm>
        </p:spPr>
        <p:txBody>
          <a:bodyPr vert="horz" wrap="square" lIns="91440" tIns="45720" rIns="91440" bIns="45720" numCol="1" anchor="b" anchorCtr="0" compatLnSpc="1">
            <a:prstTxWarp prst="textNoShape">
              <a:avLst/>
            </a:prstTxWarp>
          </a:bodyPr>
          <a:lstStyle/>
          <a:p>
            <a:pPr algn="ctr" eaLnBrk="1" hangingPunct="1"/>
            <a:r>
              <a:rPr lang="es-ES" altLang="es-CO" b="1">
                <a:latin typeface="Bookman Old Style" panose="02050604050505020204" pitchFamily="18" charset="0"/>
              </a:rPr>
              <a:t>LEGISLACIÓN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
            <a:extLst>
              <a:ext uri="{FF2B5EF4-FFF2-40B4-BE49-F238E27FC236}">
                <a16:creationId xmlns:a16="http://schemas.microsoft.com/office/drawing/2014/main" id="{1357F878-1357-47C1-9954-E9FE000A6392}"/>
              </a:ext>
            </a:extLst>
          </p:cNvPr>
          <p:cNvSpPr>
            <a:spLocks noChangeArrowheads="1"/>
          </p:cNvSpPr>
          <p:nvPr/>
        </p:nvSpPr>
        <p:spPr bwMode="auto">
          <a:xfrm>
            <a:off x="3648075" y="44450"/>
            <a:ext cx="4800600" cy="12954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4339" name="WordArt 6">
            <a:extLst>
              <a:ext uri="{FF2B5EF4-FFF2-40B4-BE49-F238E27FC236}">
                <a16:creationId xmlns:a16="http://schemas.microsoft.com/office/drawing/2014/main" id="{82D30667-C8F4-429E-961C-32F3D30BF114}"/>
              </a:ext>
            </a:extLst>
          </p:cNvPr>
          <p:cNvSpPr>
            <a:spLocks noChangeArrowheads="1" noChangeShapeType="1" noTextEdit="1"/>
          </p:cNvSpPr>
          <p:nvPr/>
        </p:nvSpPr>
        <p:spPr bwMode="auto">
          <a:xfrm>
            <a:off x="4151314" y="260350"/>
            <a:ext cx="3889375" cy="941388"/>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SELECCIÓN EPP</a:t>
            </a:r>
          </a:p>
        </p:txBody>
      </p:sp>
      <p:graphicFrame>
        <p:nvGraphicFramePr>
          <p:cNvPr id="14340" name="Object 7">
            <a:extLst>
              <a:ext uri="{FF2B5EF4-FFF2-40B4-BE49-F238E27FC236}">
                <a16:creationId xmlns:a16="http://schemas.microsoft.com/office/drawing/2014/main" id="{2184A220-9E9D-4942-AF4D-70C3E01CAA63}"/>
              </a:ext>
            </a:extLst>
          </p:cNvPr>
          <p:cNvGraphicFramePr>
            <a:graphicFrameLocks noChangeAspect="1"/>
          </p:cNvGraphicFramePr>
          <p:nvPr/>
        </p:nvGraphicFramePr>
        <p:xfrm>
          <a:off x="3657600" y="4191000"/>
          <a:ext cx="1949450" cy="1981200"/>
        </p:xfrm>
        <a:graphic>
          <a:graphicData uri="http://schemas.openxmlformats.org/presentationml/2006/ole">
            <mc:AlternateContent xmlns:mc="http://schemas.openxmlformats.org/markup-compatibility/2006">
              <mc:Choice xmlns:v="urn:schemas-microsoft-com:vml" Requires="v">
                <p:oleObj spid="_x0000_s1032" name="Imagen" r:id="rId3" imgW="796442" imgH="808330" progId="MS_ClipArt_Gallery.2">
                  <p:embed/>
                </p:oleObj>
              </mc:Choice>
              <mc:Fallback>
                <p:oleObj name="Imagen" r:id="rId3" imgW="796442" imgH="808330" progId="MS_ClipArt_Gallery.2">
                  <p:embed/>
                  <p:pic>
                    <p:nvPicPr>
                      <p:cNvPr id="14340" name="Object 7">
                        <a:extLst>
                          <a:ext uri="{FF2B5EF4-FFF2-40B4-BE49-F238E27FC236}">
                            <a16:creationId xmlns:a16="http://schemas.microsoft.com/office/drawing/2014/main" id="{2184A220-9E9D-4942-AF4D-70C3E01CAA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4191000"/>
                        <a:ext cx="1949450" cy="198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8" name="Text Box 8">
            <a:extLst>
              <a:ext uri="{FF2B5EF4-FFF2-40B4-BE49-F238E27FC236}">
                <a16:creationId xmlns:a16="http://schemas.microsoft.com/office/drawing/2014/main" id="{C2471203-E67A-43DF-826D-3C12F32C6E4F}"/>
              </a:ext>
            </a:extLst>
          </p:cNvPr>
          <p:cNvSpPr txBox="1">
            <a:spLocks noChangeArrowheads="1"/>
          </p:cNvSpPr>
          <p:nvPr/>
        </p:nvSpPr>
        <p:spPr bwMode="auto">
          <a:xfrm>
            <a:off x="2438401" y="1828800"/>
            <a:ext cx="4365625" cy="1816100"/>
          </a:xfrm>
          <a:prstGeom prst="rect">
            <a:avLst/>
          </a:prstGeom>
          <a:noFill/>
          <a:ln w="9525">
            <a:noFill/>
            <a:miter lim="800000"/>
            <a:headEnd/>
            <a:tailEnd/>
          </a:ln>
          <a:effectLst/>
        </p:spPr>
        <p:txBody>
          <a:bodyPr wrap="none">
            <a:spAutoFit/>
          </a:bodyPr>
          <a:lstStyle/>
          <a:p>
            <a:pPr defTabSz="449263" fontAlgn="base">
              <a:spcBef>
                <a:spcPct val="0"/>
              </a:spcBef>
              <a:spcAft>
                <a:spcPct val="0"/>
              </a:spcAft>
              <a:defRPr/>
            </a:pPr>
            <a:r>
              <a:rPr lang="es-ES_tradnl" sz="2800" b="1" u="sng" dirty="0">
                <a:solidFill>
                  <a:srgbClr val="FF0000"/>
                </a:solidFill>
                <a:latin typeface="Arial" charset="0"/>
                <a:ea typeface="MS PGothic" pitchFamily="34" charset="-128"/>
                <a:cs typeface="Arial" charset="0"/>
              </a:rPr>
              <a:t>Tener en cuenta:</a:t>
            </a:r>
          </a:p>
          <a:p>
            <a:pPr defTabSz="449263" fontAlgn="base">
              <a:spcBef>
                <a:spcPct val="0"/>
              </a:spcBef>
              <a:spcAft>
                <a:spcPct val="0"/>
              </a:spcAft>
              <a:defRPr/>
            </a:pPr>
            <a:r>
              <a:rPr lang="es-ES_tradnl" sz="2800" dirty="0">
                <a:solidFill>
                  <a:srgbClr val="000000"/>
                </a:solidFill>
                <a:latin typeface="Arial" charset="0"/>
                <a:ea typeface="MS PGothic" pitchFamily="34" charset="-128"/>
                <a:cs typeface="Arial" charset="0"/>
              </a:rPr>
              <a:t>1.  Riesgos posibles</a:t>
            </a:r>
          </a:p>
          <a:p>
            <a:pPr defTabSz="449263" fontAlgn="base">
              <a:spcBef>
                <a:spcPct val="0"/>
              </a:spcBef>
              <a:spcAft>
                <a:spcPct val="0"/>
              </a:spcAft>
              <a:defRPr/>
            </a:pPr>
            <a:r>
              <a:rPr lang="es-ES_tradnl" sz="2800" dirty="0">
                <a:solidFill>
                  <a:srgbClr val="000000"/>
                </a:solidFill>
                <a:latin typeface="Arial" charset="0"/>
                <a:ea typeface="MS PGothic" pitchFamily="34" charset="-128"/>
                <a:cs typeface="Arial" charset="0"/>
              </a:rPr>
              <a:t> 2. Condiciones de trabajo</a:t>
            </a:r>
          </a:p>
          <a:p>
            <a:pPr defTabSz="449263" fontAlgn="base">
              <a:spcBef>
                <a:spcPct val="0"/>
              </a:spcBef>
              <a:spcAft>
                <a:spcPct val="0"/>
              </a:spcAft>
              <a:defRPr/>
            </a:pPr>
            <a:r>
              <a:rPr lang="es-ES_tradnl" sz="2800" dirty="0">
                <a:solidFill>
                  <a:srgbClr val="000000"/>
                </a:solidFill>
                <a:latin typeface="Arial" charset="0"/>
                <a:ea typeface="MS PGothic" pitchFamily="34" charset="-128"/>
                <a:cs typeface="Arial" charset="0"/>
              </a:rPr>
              <a:t> 3. Partes del cuerpo</a:t>
            </a:r>
            <a:endParaRPr lang="es-ES_tradnl" sz="2800" dirty="0">
              <a:solidFill>
                <a:srgbClr val="000000"/>
              </a:solidFill>
              <a:effectLst>
                <a:outerShdw blurRad="38100" dist="38100" dir="2700000" algn="tl">
                  <a:srgbClr val="FFFFFF"/>
                </a:outerShdw>
              </a:effectLst>
              <a:latin typeface="Arial" charset="0"/>
              <a:ea typeface="MS PGothic" pitchFamily="34" charset="-128"/>
              <a:cs typeface="Arial" charset="0"/>
            </a:endParaRPr>
          </a:p>
        </p:txBody>
      </p:sp>
      <p:sp>
        <p:nvSpPr>
          <p:cNvPr id="5129" name="Text Box 9">
            <a:extLst>
              <a:ext uri="{FF2B5EF4-FFF2-40B4-BE49-F238E27FC236}">
                <a16:creationId xmlns:a16="http://schemas.microsoft.com/office/drawing/2014/main" id="{76CE8966-165D-4778-85C6-4CFACF10CB43}"/>
              </a:ext>
            </a:extLst>
          </p:cNvPr>
          <p:cNvSpPr txBox="1">
            <a:spLocks noChangeArrowheads="1"/>
          </p:cNvSpPr>
          <p:nvPr/>
        </p:nvSpPr>
        <p:spPr bwMode="auto">
          <a:xfrm>
            <a:off x="5943601" y="4191000"/>
            <a:ext cx="3903663" cy="1816100"/>
          </a:xfrm>
          <a:prstGeom prst="rect">
            <a:avLst/>
          </a:prstGeom>
          <a:noFill/>
          <a:ln w="9525">
            <a:noFill/>
            <a:miter lim="800000"/>
            <a:headEnd/>
            <a:tailEnd/>
          </a:ln>
          <a:effectLst/>
        </p:spPr>
        <p:txBody>
          <a:bodyPr wrap="none">
            <a:spAutoFit/>
          </a:bodyPr>
          <a:lstStyle/>
          <a:p>
            <a:pPr defTabSz="449263" fontAlgn="base">
              <a:spcBef>
                <a:spcPct val="0"/>
              </a:spcBef>
              <a:spcAft>
                <a:spcPct val="0"/>
              </a:spcAft>
              <a:defRPr/>
            </a:pPr>
            <a:r>
              <a:rPr lang="es-ES_tradnl" sz="2400" dirty="0">
                <a:solidFill>
                  <a:srgbClr val="FFFFFF"/>
                </a:solidFill>
                <a:latin typeface="Arial" charset="0"/>
                <a:ea typeface="MS PGothic" pitchFamily="34" charset="-128"/>
                <a:cs typeface="Arial" charset="0"/>
              </a:rPr>
              <a:t> </a:t>
            </a:r>
            <a:r>
              <a:rPr lang="es-ES_tradnl" sz="2800" b="1" u="sng" dirty="0">
                <a:solidFill>
                  <a:srgbClr val="FF0000"/>
                </a:solidFill>
                <a:latin typeface="Arial" charset="0"/>
                <a:ea typeface="MS PGothic" pitchFamily="34" charset="-128"/>
                <a:cs typeface="Arial" charset="0"/>
              </a:rPr>
              <a:t>Características</a:t>
            </a:r>
            <a:r>
              <a:rPr lang="es-ES_tradnl" sz="2800" b="1" u="sng" dirty="0">
                <a:solidFill>
                  <a:srgbClr val="FF0000"/>
                </a:solidFill>
                <a:effectLst>
                  <a:outerShdw blurRad="38100" dist="38100" dir="2700000" algn="tl">
                    <a:srgbClr val="FFFFFF"/>
                  </a:outerShdw>
                </a:effectLst>
                <a:latin typeface="Arial" charset="0"/>
                <a:ea typeface="MS PGothic" pitchFamily="34" charset="-128"/>
                <a:cs typeface="Arial" charset="0"/>
              </a:rPr>
              <a:t>:</a:t>
            </a:r>
          </a:p>
          <a:p>
            <a:pPr defTabSz="449263" fontAlgn="base">
              <a:spcBef>
                <a:spcPct val="0"/>
              </a:spcBef>
              <a:spcAft>
                <a:spcPct val="0"/>
              </a:spcAft>
              <a:defRPr/>
            </a:pPr>
            <a:r>
              <a:rPr lang="es-ES_tradnl" sz="2800" dirty="0">
                <a:solidFill>
                  <a:srgbClr val="000000"/>
                </a:solidFill>
                <a:latin typeface="Arial" charset="0"/>
                <a:ea typeface="MS PGothic" pitchFamily="34" charset="-128"/>
                <a:cs typeface="Arial" charset="0"/>
              </a:rPr>
              <a:t> 1. Protección, eficacia</a:t>
            </a:r>
          </a:p>
          <a:p>
            <a:pPr defTabSz="449263" fontAlgn="base">
              <a:spcBef>
                <a:spcPct val="0"/>
              </a:spcBef>
              <a:spcAft>
                <a:spcPct val="0"/>
              </a:spcAft>
              <a:defRPr/>
            </a:pPr>
            <a:r>
              <a:rPr lang="es-ES_tradnl" sz="2800" dirty="0">
                <a:solidFill>
                  <a:srgbClr val="000000"/>
                </a:solidFill>
                <a:latin typeface="Arial" charset="0"/>
                <a:ea typeface="MS PGothic" pitchFamily="34" charset="-128"/>
                <a:cs typeface="Arial" charset="0"/>
              </a:rPr>
              <a:t> 2. Comodidad</a:t>
            </a:r>
          </a:p>
          <a:p>
            <a:pPr defTabSz="449263" fontAlgn="base">
              <a:spcBef>
                <a:spcPct val="0"/>
              </a:spcBef>
              <a:spcAft>
                <a:spcPct val="0"/>
              </a:spcAft>
              <a:defRPr/>
            </a:pPr>
            <a:r>
              <a:rPr lang="es-ES_tradnl" sz="2800" dirty="0">
                <a:solidFill>
                  <a:srgbClr val="000000"/>
                </a:solidFill>
                <a:latin typeface="Arial" charset="0"/>
                <a:ea typeface="MS PGothic" pitchFamily="34" charset="-128"/>
                <a:cs typeface="Arial" charset="0"/>
              </a:rPr>
              <a:t> 3. Fácil mantenimiento</a:t>
            </a:r>
            <a:endParaRPr lang="es-ES_tradnl" sz="2800" dirty="0">
              <a:solidFill>
                <a:srgbClr val="000000"/>
              </a:solidFill>
              <a:effectLst>
                <a:outerShdw blurRad="38100" dist="38100" dir="2700000" algn="tl">
                  <a:srgbClr val="FFFFFF"/>
                </a:outerShdw>
              </a:effectLst>
              <a:latin typeface="Arial" charset="0"/>
              <a:ea typeface="MS PGothic" pitchFamily="34" charset="-128"/>
              <a:cs typeface="Arial" charset="0"/>
            </a:endParaRPr>
          </a:p>
        </p:txBody>
      </p:sp>
      <p:graphicFrame>
        <p:nvGraphicFramePr>
          <p:cNvPr id="14343" name="Object 11">
            <a:extLst>
              <a:ext uri="{FF2B5EF4-FFF2-40B4-BE49-F238E27FC236}">
                <a16:creationId xmlns:a16="http://schemas.microsoft.com/office/drawing/2014/main" id="{800D5A94-2DE0-454C-B702-88A8DB9FF621}"/>
              </a:ext>
            </a:extLst>
          </p:cNvPr>
          <p:cNvGraphicFramePr>
            <a:graphicFrameLocks noChangeAspect="1"/>
          </p:cNvGraphicFramePr>
          <p:nvPr/>
        </p:nvGraphicFramePr>
        <p:xfrm>
          <a:off x="7543801" y="1981201"/>
          <a:ext cx="1935163" cy="1971675"/>
        </p:xfrm>
        <a:graphic>
          <a:graphicData uri="http://schemas.openxmlformats.org/presentationml/2006/ole">
            <mc:AlternateContent xmlns:mc="http://schemas.openxmlformats.org/markup-compatibility/2006">
              <mc:Choice xmlns:v="urn:schemas-microsoft-com:vml" Requires="v">
                <p:oleObj spid="_x0000_s1033" name="Imagen" r:id="rId5" imgW="1130198" imgH="1152144" progId="MS_ClipArt_Gallery.2">
                  <p:embed/>
                </p:oleObj>
              </mc:Choice>
              <mc:Fallback>
                <p:oleObj name="Imagen" r:id="rId5" imgW="1130198" imgH="1152144" progId="MS_ClipArt_Gallery.2">
                  <p:embed/>
                  <p:pic>
                    <p:nvPicPr>
                      <p:cNvPr id="14343" name="Object 11">
                        <a:extLst>
                          <a:ext uri="{FF2B5EF4-FFF2-40B4-BE49-F238E27FC236}">
                            <a16:creationId xmlns:a16="http://schemas.microsoft.com/office/drawing/2014/main" id="{800D5A94-2DE0-454C-B702-88A8DB9FF6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1" y="1981201"/>
                        <a:ext cx="1935163" cy="197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1">
            <a:extLst>
              <a:ext uri="{FF2B5EF4-FFF2-40B4-BE49-F238E27FC236}">
                <a16:creationId xmlns:a16="http://schemas.microsoft.com/office/drawing/2014/main" id="{95AA9357-0339-4CDC-892E-3789C0A5259E}"/>
              </a:ext>
            </a:extLst>
          </p:cNvPr>
          <p:cNvSpPr>
            <a:spLocks noChangeArrowheads="1"/>
          </p:cNvSpPr>
          <p:nvPr/>
        </p:nvSpPr>
        <p:spPr bwMode="auto">
          <a:xfrm>
            <a:off x="3733800" y="44450"/>
            <a:ext cx="4800600" cy="12954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5363" name="WordArt 6">
            <a:extLst>
              <a:ext uri="{FF2B5EF4-FFF2-40B4-BE49-F238E27FC236}">
                <a16:creationId xmlns:a16="http://schemas.microsoft.com/office/drawing/2014/main" id="{40AB0868-597D-4E5E-9CA6-41C7695807EB}"/>
              </a:ext>
            </a:extLst>
          </p:cNvPr>
          <p:cNvSpPr>
            <a:spLocks noChangeArrowheads="1" noChangeShapeType="1" noTextEdit="1"/>
          </p:cNvSpPr>
          <p:nvPr/>
        </p:nvSpPr>
        <p:spPr bwMode="auto">
          <a:xfrm>
            <a:off x="4724400" y="260350"/>
            <a:ext cx="3124200" cy="941388"/>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CABEZA</a:t>
            </a:r>
          </a:p>
        </p:txBody>
      </p:sp>
      <p:sp>
        <p:nvSpPr>
          <p:cNvPr id="15364" name="Text Box 69">
            <a:extLst>
              <a:ext uri="{FF2B5EF4-FFF2-40B4-BE49-F238E27FC236}">
                <a16:creationId xmlns:a16="http://schemas.microsoft.com/office/drawing/2014/main" id="{ECA19CB1-C635-4326-8CC2-39CDF01898B2}"/>
              </a:ext>
            </a:extLst>
          </p:cNvPr>
          <p:cNvSpPr txBox="1">
            <a:spLocks noChangeArrowheads="1"/>
          </p:cNvSpPr>
          <p:nvPr/>
        </p:nvSpPr>
        <p:spPr bwMode="auto">
          <a:xfrm>
            <a:off x="2438400" y="2057401"/>
            <a:ext cx="3983038" cy="293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sq">
                <a:solidFill>
                  <a:srgbClr val="000000"/>
                </a:solidFill>
                <a:miter lim="800000"/>
                <a:headEnd/>
                <a:tailEnd/>
              </a14:hiddenLine>
            </a:ext>
          </a:extLst>
        </p:spPr>
        <p:txBody>
          <a:bodyPr wrap="none">
            <a:spAutoFit/>
          </a:bodyPr>
          <a:lstStyle/>
          <a:p>
            <a:pPr defTabSz="449263" fontAlgn="base">
              <a:lnSpc>
                <a:spcPct val="110000"/>
              </a:lnSpc>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a:t>
            </a:r>
            <a:r>
              <a:rPr lang="es-ES_tradnl" altLang="es-CO" sz="2400" b="1" u="sng">
                <a:solidFill>
                  <a:srgbClr val="FF0000"/>
                </a:solidFill>
                <a:latin typeface="Arial" panose="020B0604020202020204" pitchFamily="34" charset="0"/>
                <a:ea typeface="ＭＳ Ｐゴシック" panose="020B0600070205080204" pitchFamily="34" charset="-128"/>
              </a:rPr>
              <a:t>RIESGOS:</a:t>
            </a:r>
          </a:p>
          <a:p>
            <a:pPr defTabSz="449263" fontAlgn="base">
              <a:lnSpc>
                <a:spcPct val="110000"/>
              </a:lnSpc>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1. Objetos que caen</a:t>
            </a:r>
          </a:p>
          <a:p>
            <a:pPr defTabSz="449263" fontAlgn="base">
              <a:lnSpc>
                <a:spcPct val="110000"/>
              </a:lnSpc>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2. Objetos fijos</a:t>
            </a:r>
          </a:p>
          <a:p>
            <a:pPr defTabSz="449263" fontAlgn="base">
              <a:lnSpc>
                <a:spcPct val="110000"/>
              </a:lnSpc>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3. Proyección de partículas</a:t>
            </a:r>
          </a:p>
          <a:p>
            <a:pPr defTabSz="449263" fontAlgn="base">
              <a:lnSpc>
                <a:spcPct val="110000"/>
              </a:lnSpc>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4. Electricidad</a:t>
            </a:r>
          </a:p>
          <a:p>
            <a:pPr defTabSz="449263" fontAlgn="base">
              <a:lnSpc>
                <a:spcPct val="110000"/>
              </a:lnSpc>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5. Materiales calientes</a:t>
            </a:r>
          </a:p>
          <a:p>
            <a:pPr defTabSz="449263" fontAlgn="base">
              <a:lnSpc>
                <a:spcPct val="110000"/>
              </a:lnSpc>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6. Llamas</a:t>
            </a:r>
          </a:p>
        </p:txBody>
      </p:sp>
      <p:graphicFrame>
        <p:nvGraphicFramePr>
          <p:cNvPr id="15365" name="Object 1024">
            <a:extLst>
              <a:ext uri="{FF2B5EF4-FFF2-40B4-BE49-F238E27FC236}">
                <a16:creationId xmlns:a16="http://schemas.microsoft.com/office/drawing/2014/main" id="{E5024FA3-26C7-4A59-95A5-4955306861E2}"/>
              </a:ext>
            </a:extLst>
          </p:cNvPr>
          <p:cNvGraphicFramePr>
            <a:graphicFrameLocks noChangeAspect="1"/>
          </p:cNvGraphicFramePr>
          <p:nvPr/>
        </p:nvGraphicFramePr>
        <p:xfrm>
          <a:off x="7467601" y="1905001"/>
          <a:ext cx="2678113" cy="3756025"/>
        </p:xfrm>
        <a:graphic>
          <a:graphicData uri="http://schemas.openxmlformats.org/presentationml/2006/ole">
            <mc:AlternateContent xmlns:mc="http://schemas.openxmlformats.org/markup-compatibility/2006">
              <mc:Choice xmlns:v="urn:schemas-microsoft-com:vml" Requires="v">
                <p:oleObj spid="_x0000_s2053" name="Imagen" r:id="rId4" imgW="1646834" imgH="2308860" progId="MS_ClipArt_Gallery.2">
                  <p:embed/>
                </p:oleObj>
              </mc:Choice>
              <mc:Fallback>
                <p:oleObj name="Imagen" r:id="rId4" imgW="1646834" imgH="2308860" progId="MS_ClipArt_Gallery.2">
                  <p:embed/>
                  <p:pic>
                    <p:nvPicPr>
                      <p:cNvPr id="15365" name="Object 1024">
                        <a:extLst>
                          <a:ext uri="{FF2B5EF4-FFF2-40B4-BE49-F238E27FC236}">
                            <a16:creationId xmlns:a16="http://schemas.microsoft.com/office/drawing/2014/main" id="{E5024FA3-26C7-4A59-95A5-4955306861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1" y="1905001"/>
                        <a:ext cx="2678113" cy="3756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a:extLst>
              <a:ext uri="{FF2B5EF4-FFF2-40B4-BE49-F238E27FC236}">
                <a16:creationId xmlns:a16="http://schemas.microsoft.com/office/drawing/2014/main" id="{C8F65A17-39B7-4CE9-B7E4-96BCA2DF7E8D}"/>
              </a:ext>
            </a:extLst>
          </p:cNvPr>
          <p:cNvSpPr txBox="1">
            <a:spLocks noChangeArrowheads="1"/>
          </p:cNvSpPr>
          <p:nvPr/>
        </p:nvSpPr>
        <p:spPr bwMode="auto">
          <a:xfrm>
            <a:off x="1531939" y="1773239"/>
            <a:ext cx="8713787" cy="922337"/>
          </a:xfrm>
          <a:prstGeom prst="rect">
            <a:avLst/>
          </a:prstGeom>
          <a:noFill/>
          <a:ln w="9525">
            <a:noFill/>
            <a:miter lim="800000"/>
            <a:headEnd/>
            <a:tailEnd/>
          </a:ln>
          <a:effectLst/>
        </p:spPr>
        <p:txBody>
          <a:bodyPr>
            <a:spAutoFit/>
          </a:bodyPr>
          <a:lstStyle/>
          <a:p>
            <a:pPr marL="457200" indent="-457200" algn="just" defTabSz="449263" eaLnBrk="0" fontAlgn="base" hangingPunct="0">
              <a:spcBef>
                <a:spcPct val="0"/>
              </a:spcBef>
              <a:spcAft>
                <a:spcPct val="0"/>
              </a:spcAft>
              <a:defRPr/>
            </a:pPr>
            <a:r>
              <a:rPr lang="es-ES" dirty="0">
                <a:solidFill>
                  <a:srgbClr val="000000"/>
                </a:solidFill>
                <a:latin typeface="Arial" panose="020B0604020202020204" pitchFamily="34" charset="0"/>
                <a:ea typeface="MS PGothic" pitchFamily="34" charset="-128"/>
                <a:cs typeface="Arial" charset="0"/>
              </a:rPr>
              <a:t>De acuerdo con su diseño, los cascos de seguridad se clasifican de la siguiente manera:</a:t>
            </a:r>
          </a:p>
          <a:p>
            <a:pPr marL="457200" indent="-457200" algn="just" defTabSz="449263" eaLnBrk="0" fontAlgn="base" hangingPunct="0">
              <a:spcBef>
                <a:spcPct val="0"/>
              </a:spcBef>
              <a:spcAft>
                <a:spcPct val="0"/>
              </a:spcAft>
              <a:defRPr/>
            </a:pPr>
            <a:endParaRPr lang="es-ES"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endParaRPr>
          </a:p>
        </p:txBody>
      </p:sp>
      <p:sp>
        <p:nvSpPr>
          <p:cNvPr id="17411" name="Rectangle 72">
            <a:extLst>
              <a:ext uri="{FF2B5EF4-FFF2-40B4-BE49-F238E27FC236}">
                <a16:creationId xmlns:a16="http://schemas.microsoft.com/office/drawing/2014/main" id="{0036979E-7D3C-4047-A184-3796C7CE9B1B}"/>
              </a:ext>
            </a:extLst>
          </p:cNvPr>
          <p:cNvSpPr>
            <a:spLocks noChangeArrowheads="1"/>
          </p:cNvSpPr>
          <p:nvPr/>
        </p:nvSpPr>
        <p:spPr bwMode="auto">
          <a:xfrm>
            <a:off x="3733800" y="44450"/>
            <a:ext cx="4800600" cy="12954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7412" name="WordArt 6">
            <a:extLst>
              <a:ext uri="{FF2B5EF4-FFF2-40B4-BE49-F238E27FC236}">
                <a16:creationId xmlns:a16="http://schemas.microsoft.com/office/drawing/2014/main" id="{823376A3-85AB-4733-8220-06DAE820F2C0}"/>
              </a:ext>
            </a:extLst>
          </p:cNvPr>
          <p:cNvSpPr>
            <a:spLocks noChangeArrowheads="1" noChangeShapeType="1" noTextEdit="1"/>
          </p:cNvSpPr>
          <p:nvPr/>
        </p:nvSpPr>
        <p:spPr bwMode="auto">
          <a:xfrm>
            <a:off x="4724400" y="260350"/>
            <a:ext cx="3124200" cy="941388"/>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CASCOS</a:t>
            </a:r>
          </a:p>
        </p:txBody>
      </p:sp>
      <p:pic>
        <p:nvPicPr>
          <p:cNvPr id="17413" name="Imagen 1">
            <a:extLst>
              <a:ext uri="{FF2B5EF4-FFF2-40B4-BE49-F238E27FC236}">
                <a16:creationId xmlns:a16="http://schemas.microsoft.com/office/drawing/2014/main" id="{DB543D67-6A6E-436F-B709-A7E855B49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187" t="35992" r="13776" b="26190"/>
          <a:stretch>
            <a:fillRect/>
          </a:stretch>
        </p:blipFill>
        <p:spPr bwMode="auto">
          <a:xfrm>
            <a:off x="2841625" y="2997201"/>
            <a:ext cx="6508750"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a:extLst>
              <a:ext uri="{FF2B5EF4-FFF2-40B4-BE49-F238E27FC236}">
                <a16:creationId xmlns:a16="http://schemas.microsoft.com/office/drawing/2014/main" id="{F671B20E-B01A-481E-9E9E-E85D0610759C}"/>
              </a:ext>
            </a:extLst>
          </p:cNvPr>
          <p:cNvSpPr txBox="1">
            <a:spLocks noChangeArrowheads="1"/>
          </p:cNvSpPr>
          <p:nvPr/>
        </p:nvSpPr>
        <p:spPr bwMode="auto">
          <a:xfrm>
            <a:off x="1531939" y="1773238"/>
            <a:ext cx="8713787" cy="2584450"/>
          </a:xfrm>
          <a:prstGeom prst="rect">
            <a:avLst/>
          </a:prstGeom>
          <a:noFill/>
          <a:ln w="9525">
            <a:noFill/>
            <a:miter lim="800000"/>
            <a:headEnd/>
            <a:tailEnd/>
          </a:ln>
          <a:effectLst/>
        </p:spPr>
        <p:txBody>
          <a:bodyPr>
            <a:spAutoFit/>
          </a:bodyPr>
          <a:lstStyle/>
          <a:p>
            <a:pPr marL="457200" indent="-457200" algn="just" defTabSz="449263" eaLnBrk="0" fontAlgn="base" hangingPunct="0">
              <a:spcBef>
                <a:spcPct val="0"/>
              </a:spcBef>
              <a:spcAft>
                <a:spcPct val="0"/>
              </a:spcAft>
              <a:defRPr/>
            </a:pPr>
            <a:r>
              <a:rPr lang="es-ES" dirty="0">
                <a:solidFill>
                  <a:srgbClr val="000000"/>
                </a:solidFill>
                <a:latin typeface="Arial" panose="020B0604020202020204" pitchFamily="34" charset="0"/>
                <a:ea typeface="MS PGothic" pitchFamily="34" charset="-128"/>
                <a:cs typeface="Arial" charset="0"/>
              </a:rPr>
              <a:t>De acuerdo con el tipo de riesgo, los cascos se clasifican en: </a:t>
            </a:r>
          </a:p>
          <a:p>
            <a:pPr marL="457200" indent="-457200" algn="just" defTabSz="449263" eaLnBrk="0" fontAlgn="base" hangingPunct="0">
              <a:spcBef>
                <a:spcPct val="0"/>
              </a:spcBef>
              <a:spcAft>
                <a:spcPct val="0"/>
              </a:spcAft>
              <a:defRPr/>
            </a:pPr>
            <a:endParaRPr lang="es-ES" dirty="0">
              <a:solidFill>
                <a:srgbClr val="000000"/>
              </a:solidFill>
              <a:latin typeface="Arial" panose="020B0604020202020204" pitchFamily="34" charset="0"/>
              <a:ea typeface="MS PGothic" pitchFamily="34" charset="-128"/>
              <a:cs typeface="Arial" charset="0"/>
            </a:endParaRPr>
          </a:p>
          <a:p>
            <a:pPr marL="457200" indent="-457200" algn="just" defTabSz="449263" eaLnBrk="0" fontAlgn="base" hangingPunct="0">
              <a:spcBef>
                <a:spcPct val="0"/>
              </a:spcBef>
              <a:spcAft>
                <a:spcPct val="0"/>
              </a:spcAft>
              <a:defRPr/>
            </a:pPr>
            <a:r>
              <a:rPr lang="es-ES" b="1" dirty="0">
                <a:solidFill>
                  <a:srgbClr val="000000"/>
                </a:solidFill>
                <a:latin typeface="Arial" panose="020B0604020202020204" pitchFamily="34" charset="0"/>
                <a:ea typeface="MS PGothic" pitchFamily="34" charset="-128"/>
                <a:cs typeface="Arial" charset="0"/>
              </a:rPr>
              <a:t>Clase A: </a:t>
            </a:r>
            <a:r>
              <a:rPr lang="es-ES" dirty="0">
                <a:solidFill>
                  <a:srgbClr val="000000"/>
                </a:solidFill>
                <a:latin typeface="Arial" panose="020B0604020202020204" pitchFamily="34" charset="0"/>
                <a:ea typeface="MS PGothic" pitchFamily="34" charset="-128"/>
                <a:cs typeface="Arial" charset="0"/>
              </a:rPr>
              <a:t>uso general, riesgos comunes en la industria. Protección de impactos moderados o leves. Resistentes al agua, salpicaduras de fuego o químicas, protección contra riesgo eléctrico limitado.</a:t>
            </a:r>
          </a:p>
          <a:p>
            <a:pPr marL="457200" indent="-457200" algn="just" defTabSz="449263" eaLnBrk="0" fontAlgn="base" hangingPunct="0">
              <a:spcBef>
                <a:spcPct val="0"/>
              </a:spcBef>
              <a:spcAft>
                <a:spcPct val="0"/>
              </a:spcAft>
              <a:defRPr/>
            </a:pPr>
            <a:r>
              <a:rPr lang="es-ES" b="1" dirty="0">
                <a:solidFill>
                  <a:srgbClr val="000000"/>
                </a:solidFill>
                <a:latin typeface="Arial" panose="020B0604020202020204" pitchFamily="34" charset="0"/>
                <a:ea typeface="MS PGothic" pitchFamily="34" charset="-128"/>
                <a:cs typeface="Arial" charset="0"/>
              </a:rPr>
              <a:t>Clase B</a:t>
            </a:r>
            <a:r>
              <a:rPr lang="es-ES" dirty="0">
                <a:solidFill>
                  <a:srgbClr val="000000"/>
                </a:solidFill>
                <a:latin typeface="Arial" panose="020B0604020202020204" pitchFamily="34" charset="0"/>
                <a:ea typeface="MS PGothic" pitchFamily="34" charset="-128"/>
                <a:cs typeface="Arial" charset="0"/>
              </a:rPr>
              <a:t>:  “ “ “ (A), protección para trabajos de riesgo eléctrico de alta tensión. </a:t>
            </a:r>
          </a:p>
          <a:p>
            <a:pPr marL="457200" indent="-457200" algn="just" defTabSz="449263" eaLnBrk="0" fontAlgn="base" hangingPunct="0">
              <a:spcBef>
                <a:spcPct val="0"/>
              </a:spcBef>
              <a:spcAft>
                <a:spcPct val="0"/>
              </a:spcAft>
              <a:defRPr/>
            </a:pPr>
            <a:r>
              <a:rPr lang="es-ES" b="1" dirty="0">
                <a:solidFill>
                  <a:srgbClr val="000000"/>
                </a:solidFill>
                <a:latin typeface="Arial" panose="020B0604020202020204" pitchFamily="34" charset="0"/>
                <a:ea typeface="MS PGothic" pitchFamily="34" charset="-128"/>
                <a:cs typeface="Arial" charset="0"/>
              </a:rPr>
              <a:t>Clase C: </a:t>
            </a:r>
            <a:r>
              <a:rPr lang="es-ES" dirty="0">
                <a:solidFill>
                  <a:srgbClr val="000000"/>
                </a:solidFill>
                <a:latin typeface="Arial" panose="020B0604020202020204" pitchFamily="34" charset="0"/>
                <a:ea typeface="MS PGothic" pitchFamily="34" charset="-128"/>
                <a:cs typeface="Arial" charset="0"/>
              </a:rPr>
              <a:t>“ “ “ (A), no protegen contra riesgo eléctrico. </a:t>
            </a:r>
          </a:p>
          <a:p>
            <a:pPr marL="457200" indent="-457200" algn="just" defTabSz="449263" eaLnBrk="0" fontAlgn="base" hangingPunct="0">
              <a:spcBef>
                <a:spcPct val="0"/>
              </a:spcBef>
              <a:spcAft>
                <a:spcPct val="0"/>
              </a:spcAft>
              <a:defRPr/>
            </a:pPr>
            <a:r>
              <a:rPr lang="es-ES" b="1" dirty="0">
                <a:solidFill>
                  <a:srgbClr val="000000"/>
                </a:solidFill>
                <a:latin typeface="Arial" panose="020B0604020202020204" pitchFamily="34" charset="0"/>
                <a:ea typeface="MS PGothic" pitchFamily="34" charset="-128"/>
                <a:cs typeface="Arial" charset="0"/>
              </a:rPr>
              <a:t>Clase D: </a:t>
            </a:r>
            <a:r>
              <a:rPr lang="es-ES" dirty="0">
                <a:solidFill>
                  <a:srgbClr val="000000"/>
                </a:solidFill>
                <a:latin typeface="Arial" panose="020B0604020202020204" pitchFamily="34" charset="0"/>
                <a:ea typeface="MS PGothic" pitchFamily="34" charset="-128"/>
                <a:cs typeface="Arial" charset="0"/>
              </a:rPr>
              <a:t>“ “ “ (A), resistentes a la acción del fuego. </a:t>
            </a:r>
          </a:p>
          <a:p>
            <a:pPr marL="457200" indent="-457200" algn="just" defTabSz="449263" eaLnBrk="0" fontAlgn="base" hangingPunct="0">
              <a:spcBef>
                <a:spcPct val="0"/>
              </a:spcBef>
              <a:spcAft>
                <a:spcPct val="0"/>
              </a:spcAft>
              <a:defRPr/>
            </a:pPr>
            <a:endParaRPr lang="es-ES" b="1" dirty="0">
              <a:solidFill>
                <a:srgbClr val="000000"/>
              </a:solidFill>
              <a:effectLst>
                <a:outerShdw blurRad="38100" dist="38100" dir="2700000" algn="tl">
                  <a:srgbClr val="C0C0C0"/>
                </a:outerShdw>
              </a:effectLst>
              <a:latin typeface="Arial" panose="020B0604020202020204" pitchFamily="34" charset="0"/>
              <a:ea typeface="MS PGothic" pitchFamily="34" charset="-128"/>
              <a:cs typeface="Arial" charset="0"/>
            </a:endParaRPr>
          </a:p>
        </p:txBody>
      </p:sp>
      <p:sp>
        <p:nvSpPr>
          <p:cNvPr id="18435" name="Rectangle 72">
            <a:extLst>
              <a:ext uri="{FF2B5EF4-FFF2-40B4-BE49-F238E27FC236}">
                <a16:creationId xmlns:a16="http://schemas.microsoft.com/office/drawing/2014/main" id="{9AD5A242-9631-4C25-A1B9-1A54EB8A0008}"/>
              </a:ext>
            </a:extLst>
          </p:cNvPr>
          <p:cNvSpPr>
            <a:spLocks noChangeArrowheads="1"/>
          </p:cNvSpPr>
          <p:nvPr/>
        </p:nvSpPr>
        <p:spPr bwMode="auto">
          <a:xfrm>
            <a:off x="3733800" y="44450"/>
            <a:ext cx="4800600" cy="12954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8436" name="WordArt 6">
            <a:extLst>
              <a:ext uri="{FF2B5EF4-FFF2-40B4-BE49-F238E27FC236}">
                <a16:creationId xmlns:a16="http://schemas.microsoft.com/office/drawing/2014/main" id="{072F46EF-54DF-4B7E-A58F-F3A97971038F}"/>
              </a:ext>
            </a:extLst>
          </p:cNvPr>
          <p:cNvSpPr>
            <a:spLocks noChangeArrowheads="1" noChangeShapeType="1" noTextEdit="1"/>
          </p:cNvSpPr>
          <p:nvPr/>
        </p:nvSpPr>
        <p:spPr bwMode="auto">
          <a:xfrm>
            <a:off x="4724400" y="260350"/>
            <a:ext cx="3124200" cy="941388"/>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CASCOS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597514" descr="S15Picture 2597514">
            <a:extLst>
              <a:ext uri="{FF2B5EF4-FFF2-40B4-BE49-F238E27FC236}">
                <a16:creationId xmlns:a16="http://schemas.microsoft.com/office/drawing/2014/main" id="{2D64B54D-3389-4EA6-8CAE-659C0BA0A57D}"/>
              </a:ext>
            </a:extLst>
          </p:cNvPr>
          <p:cNvPicPr>
            <a:picLocks noChangeAspect="1" noChangeArrowheads="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765300" y="3141663"/>
            <a:ext cx="4241800" cy="3543300"/>
          </a:xfrm>
          <a:prstGeom prst="rect">
            <a:avLst/>
          </a:prstGeom>
          <a:noFill/>
          <a:ln w="381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9459" name="AutoShape 1027">
            <a:extLst>
              <a:ext uri="{FF2B5EF4-FFF2-40B4-BE49-F238E27FC236}">
                <a16:creationId xmlns:a16="http://schemas.microsoft.com/office/drawing/2014/main" id="{F8284FD7-2D73-4B37-A7C4-05BD888BC263}"/>
              </a:ext>
            </a:extLst>
          </p:cNvPr>
          <p:cNvSpPr>
            <a:spLocks noChangeArrowheads="1"/>
          </p:cNvSpPr>
          <p:nvPr/>
        </p:nvSpPr>
        <p:spPr bwMode="auto">
          <a:xfrm>
            <a:off x="4440238" y="1412876"/>
            <a:ext cx="2952750" cy="1655763"/>
          </a:xfrm>
          <a:prstGeom prst="cloudCallout">
            <a:avLst>
              <a:gd name="adj1" fmla="val -43120"/>
              <a:gd name="adj2" fmla="val 75218"/>
            </a:avLst>
          </a:prstGeom>
          <a:solidFill>
            <a:schemeClr val="accent1"/>
          </a:solidFill>
          <a:ln w="9525">
            <a:solidFill>
              <a:schemeClr val="tx1"/>
            </a:solidFill>
            <a:round/>
            <a:headEnd/>
            <a:tailEnd/>
          </a:ln>
        </p:spPr>
        <p:txBody>
          <a:bodyPr/>
          <a:lstStyle>
            <a:lvl1pPr defTabSz="903288">
              <a:spcAft>
                <a:spcPts val="1200"/>
              </a:spcAft>
              <a:buClr>
                <a:srgbClr val="000000"/>
              </a:buClr>
              <a:buSzPct val="100000"/>
              <a:buFont typeface="Times New Roman" panose="02020603050405020304" pitchFamily="18" charset="0"/>
              <a:buChar char="•"/>
              <a:defRPr sz="3200">
                <a:solidFill>
                  <a:srgbClr val="1B418B"/>
                </a:solidFill>
                <a:latin typeface="Arial" panose="020B0604020202020204" pitchFamily="34" charset="0"/>
                <a:ea typeface="ＭＳ Ｐゴシック" panose="020B0600070205080204" pitchFamily="34" charset="-128"/>
              </a:defRPr>
            </a:lvl1pPr>
            <a:lvl2pPr defTabSz="903288">
              <a:spcAft>
                <a:spcPts val="1200"/>
              </a:spcAft>
              <a:buClr>
                <a:srgbClr val="000000"/>
              </a:buClr>
              <a:buSzPct val="100000"/>
              <a:buFont typeface="Times New Roman" panose="02020603050405020304" pitchFamily="18" charset="0"/>
              <a:buChar char="–"/>
              <a:defRPr sz="1600">
                <a:solidFill>
                  <a:srgbClr val="1B418B"/>
                </a:solidFill>
                <a:latin typeface="Arial" panose="020B0604020202020204" pitchFamily="34" charset="0"/>
                <a:ea typeface="ＭＳ Ｐゴシック" panose="020B0600070205080204" pitchFamily="34" charset="-128"/>
              </a:defRPr>
            </a:lvl2pPr>
            <a:lvl3pPr defTabSz="903288">
              <a:spcAft>
                <a:spcPts val="1200"/>
              </a:spcAft>
              <a:buClr>
                <a:srgbClr val="000000"/>
              </a:buClr>
              <a:buSzPct val="100000"/>
              <a:buFont typeface="Times New Roman" panose="02020603050405020304" pitchFamily="18" charset="0"/>
              <a:buChar char="•"/>
              <a:defRPr sz="1400">
                <a:solidFill>
                  <a:srgbClr val="1B418B"/>
                </a:solidFill>
                <a:latin typeface="Arial" panose="020B0604020202020204" pitchFamily="34" charset="0"/>
                <a:ea typeface="ＭＳ Ｐゴシック" panose="020B0600070205080204" pitchFamily="34" charset="-128"/>
              </a:defRPr>
            </a:lvl3pPr>
            <a:lvl4pPr defTabSz="903288">
              <a:spcAft>
                <a:spcPts val="1200"/>
              </a:spcAft>
              <a:buClr>
                <a:srgbClr val="000000"/>
              </a:buClr>
              <a:buSzPct val="100000"/>
              <a:buFont typeface="Times New Roman" panose="02020603050405020304" pitchFamily="18" charset="0"/>
              <a:buChar char="–"/>
              <a:defRPr sz="1200">
                <a:solidFill>
                  <a:srgbClr val="1B418B"/>
                </a:solidFill>
                <a:latin typeface="Arial" panose="020B0604020202020204" pitchFamily="34" charset="0"/>
                <a:ea typeface="ＭＳ Ｐゴシック" panose="020B0600070205080204" pitchFamily="34" charset="-128"/>
              </a:defRPr>
            </a:lvl4pPr>
            <a:lvl5pPr defTabSz="903288">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5pPr>
            <a:lvl6pPr marL="25146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6pPr>
            <a:lvl7pPr marL="29718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7pPr>
            <a:lvl8pPr marL="34290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8pPr>
            <a:lvl9pPr marL="38862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buClrTx/>
              <a:buSzTx/>
              <a:buNone/>
            </a:pPr>
            <a:endParaRPr lang="es-SV" altLang="es-CO" sz="1400" b="1">
              <a:solidFill>
                <a:srgbClr val="000000"/>
              </a:solidFill>
            </a:endParaRPr>
          </a:p>
          <a:p>
            <a:pPr algn="ctr" eaLnBrk="0" fontAlgn="base" hangingPunct="0">
              <a:spcBef>
                <a:spcPct val="0"/>
              </a:spcBef>
              <a:spcAft>
                <a:spcPct val="0"/>
              </a:spcAft>
              <a:buClrTx/>
              <a:buSzTx/>
              <a:buNone/>
            </a:pPr>
            <a:r>
              <a:rPr lang="es-SV" altLang="es-CO" sz="1400" b="1">
                <a:solidFill>
                  <a:srgbClr val="000000"/>
                </a:solidFill>
              </a:rPr>
              <a:t>AHORA YA SE QUE SIGNIFICABA ESE SOMBRERITO</a:t>
            </a:r>
            <a:endParaRPr lang="es-ES" altLang="es-CO" sz="1400" b="1">
              <a:solidFill>
                <a:srgbClr val="000000"/>
              </a:solidFill>
            </a:endParaRPr>
          </a:p>
        </p:txBody>
      </p:sp>
      <p:pic>
        <p:nvPicPr>
          <p:cNvPr id="19460" name="Picture 3479242" descr="S15Picture 3479242">
            <a:extLst>
              <a:ext uri="{FF2B5EF4-FFF2-40B4-BE49-F238E27FC236}">
                <a16:creationId xmlns:a16="http://schemas.microsoft.com/office/drawing/2014/main" id="{E30DA52A-C945-4C04-A792-926106D59DCC}"/>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7531100" y="3352800"/>
            <a:ext cx="2438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9461" name="4 CuadroTexto">
            <a:extLst>
              <a:ext uri="{FF2B5EF4-FFF2-40B4-BE49-F238E27FC236}">
                <a16:creationId xmlns:a16="http://schemas.microsoft.com/office/drawing/2014/main" id="{5A1F0D59-5D02-4541-A98E-0A8F0A217336}"/>
              </a:ext>
            </a:extLst>
          </p:cNvPr>
          <p:cNvSpPr txBox="1">
            <a:spLocks noChangeArrowheads="1"/>
          </p:cNvSpPr>
          <p:nvPr/>
        </p:nvSpPr>
        <p:spPr bwMode="auto">
          <a:xfrm>
            <a:off x="2640014" y="333376"/>
            <a:ext cx="75596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449263" fontAlgn="base">
              <a:spcBef>
                <a:spcPct val="0"/>
              </a:spcBef>
              <a:spcAft>
                <a:spcPct val="0"/>
              </a:spcAft>
            </a:pPr>
            <a:r>
              <a:rPr lang="es-CO" altLang="es-CO" sz="2400" b="1">
                <a:solidFill>
                  <a:srgbClr val="FFFFFF"/>
                </a:solidFill>
                <a:latin typeface="Arial" panose="020B0604020202020204" pitchFamily="34" charset="0"/>
                <a:ea typeface="ＭＳ Ｐゴシック" panose="020B0600070205080204" pitchFamily="34" charset="-128"/>
              </a:rPr>
              <a:t>ELEMENTOS  DE  PROTECCIÓN  PESONAL : CASCO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7" name="Text Box 1039">
            <a:extLst>
              <a:ext uri="{FF2B5EF4-FFF2-40B4-BE49-F238E27FC236}">
                <a16:creationId xmlns:a16="http://schemas.microsoft.com/office/drawing/2014/main" id="{E03C9E9F-769F-4290-A251-82BFB986EF5C}"/>
              </a:ext>
            </a:extLst>
          </p:cNvPr>
          <p:cNvSpPr txBox="1">
            <a:spLocks noChangeArrowheads="1"/>
          </p:cNvSpPr>
          <p:nvPr/>
        </p:nvSpPr>
        <p:spPr bwMode="auto">
          <a:xfrm>
            <a:off x="3000375" y="382589"/>
            <a:ext cx="6781800" cy="579437"/>
          </a:xfrm>
          <a:prstGeom prst="rect">
            <a:avLst/>
          </a:prstGeom>
          <a:noFill/>
          <a:ln w="9525">
            <a:noFill/>
            <a:miter lim="800000"/>
            <a:headEnd/>
            <a:tailEnd/>
          </a:ln>
          <a:effectLst/>
        </p:spPr>
        <p:txBody>
          <a:bodyPr>
            <a:spAutoFit/>
          </a:bodyPr>
          <a:lstStyle/>
          <a:p>
            <a:pPr algn="ctr" defTabSz="449263" eaLnBrk="0" fontAlgn="base" hangingPunct="0">
              <a:spcBef>
                <a:spcPct val="0"/>
              </a:spcBef>
              <a:spcAft>
                <a:spcPct val="0"/>
              </a:spcAft>
              <a:defRPr/>
            </a:pPr>
            <a:r>
              <a:rPr lang="es-ES"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rPr>
              <a:t>PROTECCION PARA LA </a:t>
            </a:r>
            <a:r>
              <a:rPr lang="es-CO"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rPr>
              <a:t>CABEZA</a:t>
            </a:r>
            <a:endParaRPr lang="es-ES" sz="3200" b="1" dirty="0">
              <a:solidFill>
                <a:srgbClr val="FFFFFF"/>
              </a:solidFill>
              <a:effectLst>
                <a:outerShdw blurRad="38100" dist="38100" dir="2700000" algn="tl">
                  <a:srgbClr val="C0C0C0"/>
                </a:outerShdw>
              </a:effectLst>
              <a:latin typeface="Arial" panose="020B0604020202020204" pitchFamily="34" charset="0"/>
              <a:ea typeface="MS PGothic" pitchFamily="34" charset="-128"/>
              <a:cs typeface="Arial" charset="0"/>
            </a:endParaRPr>
          </a:p>
        </p:txBody>
      </p:sp>
      <p:pic>
        <p:nvPicPr>
          <p:cNvPr id="21507" name="Picture 17" descr="La importancia del casco de seguridad | GMVykon">
            <a:extLst>
              <a:ext uri="{FF2B5EF4-FFF2-40B4-BE49-F238E27FC236}">
                <a16:creationId xmlns:a16="http://schemas.microsoft.com/office/drawing/2014/main" id="{D225C2DA-4C2E-4BA2-B762-6E892FBF35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1916114"/>
            <a:ext cx="8610600"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5A5B7B3C-3A66-439F-BDCC-7DD8036C5A2E}"/>
              </a:ext>
            </a:extLst>
          </p:cNvPr>
          <p:cNvSpPr>
            <a:spLocks noChangeArrowheads="1"/>
          </p:cNvSpPr>
          <p:nvPr/>
        </p:nvSpPr>
        <p:spPr bwMode="auto">
          <a:xfrm>
            <a:off x="3733800" y="188913"/>
            <a:ext cx="4800600" cy="10668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2531" name="WordArt 1027">
            <a:extLst>
              <a:ext uri="{FF2B5EF4-FFF2-40B4-BE49-F238E27FC236}">
                <a16:creationId xmlns:a16="http://schemas.microsoft.com/office/drawing/2014/main" id="{07E46142-05C5-45F4-B67A-FA870A0BDF89}"/>
              </a:ext>
            </a:extLst>
          </p:cNvPr>
          <p:cNvSpPr>
            <a:spLocks noChangeArrowheads="1" noChangeShapeType="1" noTextEdit="1"/>
          </p:cNvSpPr>
          <p:nvPr/>
        </p:nvSpPr>
        <p:spPr bwMode="auto">
          <a:xfrm>
            <a:off x="4724400" y="188914"/>
            <a:ext cx="3124200" cy="941387"/>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CUIDADOS</a:t>
            </a:r>
          </a:p>
        </p:txBody>
      </p:sp>
      <p:sp>
        <p:nvSpPr>
          <p:cNvPr id="22532" name="Text Box 1032">
            <a:extLst>
              <a:ext uri="{FF2B5EF4-FFF2-40B4-BE49-F238E27FC236}">
                <a16:creationId xmlns:a16="http://schemas.microsoft.com/office/drawing/2014/main" id="{13083FC5-EA25-44F5-837F-2B3543623C56}"/>
              </a:ext>
            </a:extLst>
          </p:cNvPr>
          <p:cNvSpPr txBox="1">
            <a:spLocks noChangeArrowheads="1"/>
          </p:cNvSpPr>
          <p:nvPr/>
        </p:nvSpPr>
        <p:spPr bwMode="auto">
          <a:xfrm>
            <a:off x="1774826" y="2667001"/>
            <a:ext cx="6302375"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49263" fontAlgn="base">
              <a:spcBef>
                <a:spcPct val="0"/>
              </a:spcBef>
              <a:spcAft>
                <a:spcPct val="0"/>
              </a:spcAft>
            </a:pPr>
            <a:r>
              <a:rPr lang="es-ES_tradnl" altLang="es-CO" sz="3000">
                <a:solidFill>
                  <a:srgbClr val="000000"/>
                </a:solidFill>
                <a:latin typeface="Arial" panose="020B0604020202020204" pitchFamily="34" charset="0"/>
                <a:ea typeface="ＭＳ Ｐゴシック" panose="020B0600070205080204" pitchFamily="34" charset="-128"/>
              </a:rPr>
              <a:t>1. Ajustar el tafilete de </a:t>
            </a:r>
          </a:p>
          <a:p>
            <a:pPr defTabSz="449263" fontAlgn="base">
              <a:spcBef>
                <a:spcPct val="0"/>
              </a:spcBef>
              <a:spcAft>
                <a:spcPct val="0"/>
              </a:spcAft>
            </a:pPr>
            <a:r>
              <a:rPr lang="es-ES_tradnl" altLang="es-CO" sz="3000">
                <a:solidFill>
                  <a:srgbClr val="000000"/>
                </a:solidFill>
                <a:latin typeface="Arial" panose="020B0604020202020204" pitchFamily="34" charset="0"/>
                <a:ea typeface="ＭＳ Ｐゴシック" panose="020B0600070205080204" pitchFamily="34" charset="-128"/>
              </a:rPr>
              <a:t>   acuerdo con el usuario</a:t>
            </a:r>
          </a:p>
          <a:p>
            <a:pPr defTabSz="449263" fontAlgn="base">
              <a:spcBef>
                <a:spcPct val="0"/>
              </a:spcBef>
              <a:spcAft>
                <a:spcPct val="0"/>
              </a:spcAft>
            </a:pPr>
            <a:r>
              <a:rPr lang="es-ES_tradnl" altLang="es-CO" sz="3000">
                <a:solidFill>
                  <a:srgbClr val="000000"/>
                </a:solidFill>
                <a:latin typeface="Arial" panose="020B0604020202020204" pitchFamily="34" charset="0"/>
                <a:ea typeface="ＭＳ Ｐゴシック" panose="020B0600070205080204" pitchFamily="34" charset="-128"/>
              </a:rPr>
              <a:t>2. Revisar antes de cada uso</a:t>
            </a:r>
          </a:p>
          <a:p>
            <a:pPr defTabSz="449263" fontAlgn="base">
              <a:spcBef>
                <a:spcPct val="0"/>
              </a:spcBef>
              <a:spcAft>
                <a:spcPct val="0"/>
              </a:spcAft>
            </a:pPr>
            <a:r>
              <a:rPr lang="es-ES_tradnl" altLang="es-CO" sz="3000">
                <a:solidFill>
                  <a:srgbClr val="000000"/>
                </a:solidFill>
                <a:latin typeface="Arial" panose="020B0604020202020204" pitchFamily="34" charset="0"/>
                <a:ea typeface="ＭＳ Ｐゴシック" panose="020B0600070205080204" pitchFamily="34" charset="-128"/>
              </a:rPr>
              <a:t>3. Limpieza periódica</a:t>
            </a:r>
          </a:p>
          <a:p>
            <a:pPr defTabSz="449263" fontAlgn="base">
              <a:spcBef>
                <a:spcPct val="0"/>
              </a:spcBef>
              <a:spcAft>
                <a:spcPct val="0"/>
              </a:spcAft>
            </a:pPr>
            <a:r>
              <a:rPr lang="es-ES_tradnl" altLang="es-CO" sz="3000">
                <a:solidFill>
                  <a:srgbClr val="000000"/>
                </a:solidFill>
                <a:latin typeface="Arial" panose="020B0604020202020204" pitchFamily="34" charset="0"/>
                <a:ea typeface="ＭＳ Ｐゴシック" panose="020B0600070205080204" pitchFamily="34" charset="-128"/>
              </a:rPr>
              <a:t>4. Remplazo después de</a:t>
            </a:r>
          </a:p>
          <a:p>
            <a:pPr defTabSz="449263" fontAlgn="base">
              <a:spcBef>
                <a:spcPct val="0"/>
              </a:spcBef>
              <a:spcAft>
                <a:spcPct val="0"/>
              </a:spcAft>
            </a:pPr>
            <a:r>
              <a:rPr lang="es-ES_tradnl" altLang="es-CO" sz="3000">
                <a:solidFill>
                  <a:srgbClr val="000000"/>
                </a:solidFill>
                <a:latin typeface="Arial" panose="020B0604020202020204" pitchFamily="34" charset="0"/>
                <a:ea typeface="ＭＳ Ｐゴシック" panose="020B0600070205080204" pitchFamily="34" charset="-128"/>
              </a:rPr>
              <a:t>   impactos severos</a:t>
            </a:r>
          </a:p>
        </p:txBody>
      </p:sp>
      <p:grpSp>
        <p:nvGrpSpPr>
          <p:cNvPr id="22533" name="Group 1044">
            <a:extLst>
              <a:ext uri="{FF2B5EF4-FFF2-40B4-BE49-F238E27FC236}">
                <a16:creationId xmlns:a16="http://schemas.microsoft.com/office/drawing/2014/main" id="{07B593B9-1E75-45D6-9723-C60E05B9F00A}"/>
              </a:ext>
            </a:extLst>
          </p:cNvPr>
          <p:cNvGrpSpPr>
            <a:grpSpLocks/>
          </p:cNvGrpSpPr>
          <p:nvPr/>
        </p:nvGrpSpPr>
        <p:grpSpPr bwMode="auto">
          <a:xfrm>
            <a:off x="7239000" y="2209801"/>
            <a:ext cx="2971800" cy="3019425"/>
            <a:chOff x="3696" y="2160"/>
            <a:chExt cx="1872" cy="1902"/>
          </a:xfrm>
        </p:grpSpPr>
        <p:grpSp>
          <p:nvGrpSpPr>
            <p:cNvPr id="22534" name="Group 1036">
              <a:extLst>
                <a:ext uri="{FF2B5EF4-FFF2-40B4-BE49-F238E27FC236}">
                  <a16:creationId xmlns:a16="http://schemas.microsoft.com/office/drawing/2014/main" id="{16923101-2492-48D2-806D-B6BEA54EEDDE}"/>
                </a:ext>
              </a:extLst>
            </p:cNvPr>
            <p:cNvGrpSpPr>
              <a:grpSpLocks/>
            </p:cNvGrpSpPr>
            <p:nvPr/>
          </p:nvGrpSpPr>
          <p:grpSpPr bwMode="auto">
            <a:xfrm flipH="1">
              <a:off x="4848" y="2736"/>
              <a:ext cx="720" cy="624"/>
              <a:chOff x="432" y="1008"/>
              <a:chExt cx="972" cy="937"/>
            </a:xfrm>
          </p:grpSpPr>
          <p:sp>
            <p:nvSpPr>
              <p:cNvPr id="22536" name="Freeform 1037">
                <a:extLst>
                  <a:ext uri="{FF2B5EF4-FFF2-40B4-BE49-F238E27FC236}">
                    <a16:creationId xmlns:a16="http://schemas.microsoft.com/office/drawing/2014/main" id="{B8E4F4FB-2AB1-4405-AA92-D6E9DEF6F793}"/>
                  </a:ext>
                </a:extLst>
              </p:cNvPr>
              <p:cNvSpPr>
                <a:spLocks/>
              </p:cNvSpPr>
              <p:nvPr/>
            </p:nvSpPr>
            <p:spPr bwMode="auto">
              <a:xfrm>
                <a:off x="432" y="1008"/>
                <a:ext cx="972" cy="937"/>
              </a:xfrm>
              <a:custGeom>
                <a:avLst/>
                <a:gdLst>
                  <a:gd name="T0" fmla="*/ 59 w 972"/>
                  <a:gd name="T1" fmla="*/ 641 h 937"/>
                  <a:gd name="T2" fmla="*/ 84 w 972"/>
                  <a:gd name="T3" fmla="*/ 671 h 937"/>
                  <a:gd name="T4" fmla="*/ 110 w 972"/>
                  <a:gd name="T5" fmla="*/ 698 h 937"/>
                  <a:gd name="T6" fmla="*/ 128 w 972"/>
                  <a:gd name="T7" fmla="*/ 727 h 937"/>
                  <a:gd name="T8" fmla="*/ 140 w 972"/>
                  <a:gd name="T9" fmla="*/ 777 h 937"/>
                  <a:gd name="T10" fmla="*/ 138 w 972"/>
                  <a:gd name="T11" fmla="*/ 856 h 937"/>
                  <a:gd name="T12" fmla="*/ 140 w 972"/>
                  <a:gd name="T13" fmla="*/ 914 h 937"/>
                  <a:gd name="T14" fmla="*/ 162 w 972"/>
                  <a:gd name="T15" fmla="*/ 937 h 937"/>
                  <a:gd name="T16" fmla="*/ 219 w 972"/>
                  <a:gd name="T17" fmla="*/ 878 h 937"/>
                  <a:gd name="T18" fmla="*/ 313 w 972"/>
                  <a:gd name="T19" fmla="*/ 774 h 937"/>
                  <a:gd name="T20" fmla="*/ 410 w 972"/>
                  <a:gd name="T21" fmla="*/ 673 h 937"/>
                  <a:gd name="T22" fmla="*/ 510 w 972"/>
                  <a:gd name="T23" fmla="*/ 575 h 937"/>
                  <a:gd name="T24" fmla="*/ 611 w 972"/>
                  <a:gd name="T25" fmla="*/ 481 h 937"/>
                  <a:gd name="T26" fmla="*/ 711 w 972"/>
                  <a:gd name="T27" fmla="*/ 385 h 937"/>
                  <a:gd name="T28" fmla="*/ 814 w 972"/>
                  <a:gd name="T29" fmla="*/ 291 h 937"/>
                  <a:gd name="T30" fmla="*/ 916 w 972"/>
                  <a:gd name="T31" fmla="*/ 193 h 937"/>
                  <a:gd name="T32" fmla="*/ 972 w 972"/>
                  <a:gd name="T33" fmla="*/ 138 h 937"/>
                  <a:gd name="T34" fmla="*/ 963 w 972"/>
                  <a:gd name="T35" fmla="*/ 126 h 937"/>
                  <a:gd name="T36" fmla="*/ 942 w 972"/>
                  <a:gd name="T37" fmla="*/ 119 h 937"/>
                  <a:gd name="T38" fmla="*/ 916 w 972"/>
                  <a:gd name="T39" fmla="*/ 116 h 937"/>
                  <a:gd name="T40" fmla="*/ 883 w 972"/>
                  <a:gd name="T41" fmla="*/ 123 h 937"/>
                  <a:gd name="T42" fmla="*/ 844 w 972"/>
                  <a:gd name="T43" fmla="*/ 141 h 937"/>
                  <a:gd name="T44" fmla="*/ 809 w 972"/>
                  <a:gd name="T45" fmla="*/ 166 h 937"/>
                  <a:gd name="T46" fmla="*/ 774 w 972"/>
                  <a:gd name="T47" fmla="*/ 192 h 937"/>
                  <a:gd name="T48" fmla="*/ 745 w 972"/>
                  <a:gd name="T49" fmla="*/ 212 h 937"/>
                  <a:gd name="T50" fmla="*/ 728 w 972"/>
                  <a:gd name="T51" fmla="*/ 232 h 937"/>
                  <a:gd name="T52" fmla="*/ 715 w 972"/>
                  <a:gd name="T53" fmla="*/ 252 h 937"/>
                  <a:gd name="T54" fmla="*/ 698 w 972"/>
                  <a:gd name="T55" fmla="*/ 269 h 937"/>
                  <a:gd name="T56" fmla="*/ 684 w 972"/>
                  <a:gd name="T57" fmla="*/ 266 h 937"/>
                  <a:gd name="T58" fmla="*/ 691 w 972"/>
                  <a:gd name="T59" fmla="*/ 247 h 937"/>
                  <a:gd name="T60" fmla="*/ 683 w 972"/>
                  <a:gd name="T61" fmla="*/ 217 h 937"/>
                  <a:gd name="T62" fmla="*/ 661 w 972"/>
                  <a:gd name="T63" fmla="*/ 171 h 937"/>
                  <a:gd name="T64" fmla="*/ 632 w 972"/>
                  <a:gd name="T65" fmla="*/ 129 h 937"/>
                  <a:gd name="T66" fmla="*/ 595 w 972"/>
                  <a:gd name="T67" fmla="*/ 96 h 937"/>
                  <a:gd name="T68" fmla="*/ 562 w 972"/>
                  <a:gd name="T69" fmla="*/ 79 h 937"/>
                  <a:gd name="T70" fmla="*/ 540 w 972"/>
                  <a:gd name="T71" fmla="*/ 75 h 937"/>
                  <a:gd name="T72" fmla="*/ 518 w 972"/>
                  <a:gd name="T73" fmla="*/ 74 h 937"/>
                  <a:gd name="T74" fmla="*/ 496 w 972"/>
                  <a:gd name="T75" fmla="*/ 69 h 937"/>
                  <a:gd name="T76" fmla="*/ 476 w 972"/>
                  <a:gd name="T77" fmla="*/ 45 h 937"/>
                  <a:gd name="T78" fmla="*/ 471 w 972"/>
                  <a:gd name="T79" fmla="*/ 6 h 937"/>
                  <a:gd name="T80" fmla="*/ 437 w 972"/>
                  <a:gd name="T81" fmla="*/ 3 h 937"/>
                  <a:gd name="T82" fmla="*/ 394 w 972"/>
                  <a:gd name="T83" fmla="*/ 11 h 937"/>
                  <a:gd name="T84" fmla="*/ 352 w 972"/>
                  <a:gd name="T85" fmla="*/ 23 h 937"/>
                  <a:gd name="T86" fmla="*/ 311 w 972"/>
                  <a:gd name="T87" fmla="*/ 38 h 937"/>
                  <a:gd name="T88" fmla="*/ 271 w 972"/>
                  <a:gd name="T89" fmla="*/ 59 h 937"/>
                  <a:gd name="T90" fmla="*/ 232 w 972"/>
                  <a:gd name="T91" fmla="*/ 80 h 937"/>
                  <a:gd name="T92" fmla="*/ 195 w 972"/>
                  <a:gd name="T93" fmla="*/ 107 h 937"/>
                  <a:gd name="T94" fmla="*/ 162 w 972"/>
                  <a:gd name="T95" fmla="*/ 138 h 937"/>
                  <a:gd name="T96" fmla="*/ 116 w 972"/>
                  <a:gd name="T97" fmla="*/ 188 h 937"/>
                  <a:gd name="T98" fmla="*/ 68 w 972"/>
                  <a:gd name="T99" fmla="*/ 262 h 937"/>
                  <a:gd name="T100" fmla="*/ 29 w 972"/>
                  <a:gd name="T101" fmla="*/ 341 h 937"/>
                  <a:gd name="T102" fmla="*/ 5 w 972"/>
                  <a:gd name="T103" fmla="*/ 424 h 937"/>
                  <a:gd name="T104" fmla="*/ 0 w 972"/>
                  <a:gd name="T105" fmla="*/ 488 h 937"/>
                  <a:gd name="T106" fmla="*/ 5 w 972"/>
                  <a:gd name="T107" fmla="*/ 528 h 937"/>
                  <a:gd name="T108" fmla="*/ 17 w 972"/>
                  <a:gd name="T109" fmla="*/ 569 h 937"/>
                  <a:gd name="T110" fmla="*/ 36 w 972"/>
                  <a:gd name="T111" fmla="*/ 607 h 93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72"/>
                  <a:gd name="T169" fmla="*/ 0 h 937"/>
                  <a:gd name="T170" fmla="*/ 972 w 972"/>
                  <a:gd name="T171" fmla="*/ 937 h 93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72" h="937">
                    <a:moveTo>
                      <a:pt x="47" y="626"/>
                    </a:moveTo>
                    <a:lnTo>
                      <a:pt x="59" y="641"/>
                    </a:lnTo>
                    <a:lnTo>
                      <a:pt x="71" y="656"/>
                    </a:lnTo>
                    <a:lnTo>
                      <a:pt x="84" y="671"/>
                    </a:lnTo>
                    <a:lnTo>
                      <a:pt x="96" y="685"/>
                    </a:lnTo>
                    <a:lnTo>
                      <a:pt x="110" y="698"/>
                    </a:lnTo>
                    <a:lnTo>
                      <a:pt x="120" y="713"/>
                    </a:lnTo>
                    <a:lnTo>
                      <a:pt x="128" y="727"/>
                    </a:lnTo>
                    <a:lnTo>
                      <a:pt x="135" y="742"/>
                    </a:lnTo>
                    <a:lnTo>
                      <a:pt x="140" y="777"/>
                    </a:lnTo>
                    <a:lnTo>
                      <a:pt x="140" y="816"/>
                    </a:lnTo>
                    <a:lnTo>
                      <a:pt x="138" y="856"/>
                    </a:lnTo>
                    <a:lnTo>
                      <a:pt x="137" y="897"/>
                    </a:lnTo>
                    <a:lnTo>
                      <a:pt x="140" y="914"/>
                    </a:lnTo>
                    <a:lnTo>
                      <a:pt x="150" y="929"/>
                    </a:lnTo>
                    <a:lnTo>
                      <a:pt x="162" y="937"/>
                    </a:lnTo>
                    <a:lnTo>
                      <a:pt x="172" y="934"/>
                    </a:lnTo>
                    <a:lnTo>
                      <a:pt x="219" y="878"/>
                    </a:lnTo>
                    <a:lnTo>
                      <a:pt x="266" y="826"/>
                    </a:lnTo>
                    <a:lnTo>
                      <a:pt x="313" y="774"/>
                    </a:lnTo>
                    <a:lnTo>
                      <a:pt x="362" y="723"/>
                    </a:lnTo>
                    <a:lnTo>
                      <a:pt x="410" y="673"/>
                    </a:lnTo>
                    <a:lnTo>
                      <a:pt x="459" y="624"/>
                    </a:lnTo>
                    <a:lnTo>
                      <a:pt x="510" y="575"/>
                    </a:lnTo>
                    <a:lnTo>
                      <a:pt x="560" y="528"/>
                    </a:lnTo>
                    <a:lnTo>
                      <a:pt x="611" y="481"/>
                    </a:lnTo>
                    <a:lnTo>
                      <a:pt x="661" y="432"/>
                    </a:lnTo>
                    <a:lnTo>
                      <a:pt x="711" y="385"/>
                    </a:lnTo>
                    <a:lnTo>
                      <a:pt x="763" y="338"/>
                    </a:lnTo>
                    <a:lnTo>
                      <a:pt x="814" y="291"/>
                    </a:lnTo>
                    <a:lnTo>
                      <a:pt x="864" y="242"/>
                    </a:lnTo>
                    <a:lnTo>
                      <a:pt x="916" y="193"/>
                    </a:lnTo>
                    <a:lnTo>
                      <a:pt x="967" y="144"/>
                    </a:lnTo>
                    <a:lnTo>
                      <a:pt x="972" y="138"/>
                    </a:lnTo>
                    <a:lnTo>
                      <a:pt x="970" y="131"/>
                    </a:lnTo>
                    <a:lnTo>
                      <a:pt x="963" y="126"/>
                    </a:lnTo>
                    <a:lnTo>
                      <a:pt x="953" y="123"/>
                    </a:lnTo>
                    <a:lnTo>
                      <a:pt x="942" y="119"/>
                    </a:lnTo>
                    <a:lnTo>
                      <a:pt x="928" y="118"/>
                    </a:lnTo>
                    <a:lnTo>
                      <a:pt x="916" y="116"/>
                    </a:lnTo>
                    <a:lnTo>
                      <a:pt x="905" y="118"/>
                    </a:lnTo>
                    <a:lnTo>
                      <a:pt x="883" y="123"/>
                    </a:lnTo>
                    <a:lnTo>
                      <a:pt x="863" y="131"/>
                    </a:lnTo>
                    <a:lnTo>
                      <a:pt x="844" y="141"/>
                    </a:lnTo>
                    <a:lnTo>
                      <a:pt x="826" y="153"/>
                    </a:lnTo>
                    <a:lnTo>
                      <a:pt x="809" y="166"/>
                    </a:lnTo>
                    <a:lnTo>
                      <a:pt x="792" y="178"/>
                    </a:lnTo>
                    <a:lnTo>
                      <a:pt x="774" y="192"/>
                    </a:lnTo>
                    <a:lnTo>
                      <a:pt x="755" y="203"/>
                    </a:lnTo>
                    <a:lnTo>
                      <a:pt x="745" y="212"/>
                    </a:lnTo>
                    <a:lnTo>
                      <a:pt x="737" y="220"/>
                    </a:lnTo>
                    <a:lnTo>
                      <a:pt x="728" y="232"/>
                    </a:lnTo>
                    <a:lnTo>
                      <a:pt x="723" y="242"/>
                    </a:lnTo>
                    <a:lnTo>
                      <a:pt x="715" y="252"/>
                    </a:lnTo>
                    <a:lnTo>
                      <a:pt x="708" y="262"/>
                    </a:lnTo>
                    <a:lnTo>
                      <a:pt x="698" y="269"/>
                    </a:lnTo>
                    <a:lnTo>
                      <a:pt x="684" y="274"/>
                    </a:lnTo>
                    <a:lnTo>
                      <a:pt x="684" y="266"/>
                    </a:lnTo>
                    <a:lnTo>
                      <a:pt x="688" y="256"/>
                    </a:lnTo>
                    <a:lnTo>
                      <a:pt x="691" y="247"/>
                    </a:lnTo>
                    <a:lnTo>
                      <a:pt x="691" y="240"/>
                    </a:lnTo>
                    <a:lnTo>
                      <a:pt x="683" y="217"/>
                    </a:lnTo>
                    <a:lnTo>
                      <a:pt x="671" y="193"/>
                    </a:lnTo>
                    <a:lnTo>
                      <a:pt x="661" y="171"/>
                    </a:lnTo>
                    <a:lnTo>
                      <a:pt x="647" y="149"/>
                    </a:lnTo>
                    <a:lnTo>
                      <a:pt x="632" y="129"/>
                    </a:lnTo>
                    <a:lnTo>
                      <a:pt x="616" y="111"/>
                    </a:lnTo>
                    <a:lnTo>
                      <a:pt x="595" y="96"/>
                    </a:lnTo>
                    <a:lnTo>
                      <a:pt x="572" y="82"/>
                    </a:lnTo>
                    <a:lnTo>
                      <a:pt x="562" y="79"/>
                    </a:lnTo>
                    <a:lnTo>
                      <a:pt x="550" y="75"/>
                    </a:lnTo>
                    <a:lnTo>
                      <a:pt x="540" y="75"/>
                    </a:lnTo>
                    <a:lnTo>
                      <a:pt x="528" y="74"/>
                    </a:lnTo>
                    <a:lnTo>
                      <a:pt x="518" y="74"/>
                    </a:lnTo>
                    <a:lnTo>
                      <a:pt x="506" y="72"/>
                    </a:lnTo>
                    <a:lnTo>
                      <a:pt x="496" y="69"/>
                    </a:lnTo>
                    <a:lnTo>
                      <a:pt x="486" y="62"/>
                    </a:lnTo>
                    <a:lnTo>
                      <a:pt x="476" y="45"/>
                    </a:lnTo>
                    <a:lnTo>
                      <a:pt x="474" y="23"/>
                    </a:lnTo>
                    <a:lnTo>
                      <a:pt x="471" y="6"/>
                    </a:lnTo>
                    <a:lnTo>
                      <a:pt x="459" y="0"/>
                    </a:lnTo>
                    <a:lnTo>
                      <a:pt x="437" y="3"/>
                    </a:lnTo>
                    <a:lnTo>
                      <a:pt x="416" y="6"/>
                    </a:lnTo>
                    <a:lnTo>
                      <a:pt x="394" y="11"/>
                    </a:lnTo>
                    <a:lnTo>
                      <a:pt x="374" y="17"/>
                    </a:lnTo>
                    <a:lnTo>
                      <a:pt x="352" y="23"/>
                    </a:lnTo>
                    <a:lnTo>
                      <a:pt x="331" y="30"/>
                    </a:lnTo>
                    <a:lnTo>
                      <a:pt x="311" y="38"/>
                    </a:lnTo>
                    <a:lnTo>
                      <a:pt x="291" y="48"/>
                    </a:lnTo>
                    <a:lnTo>
                      <a:pt x="271" y="59"/>
                    </a:lnTo>
                    <a:lnTo>
                      <a:pt x="251" y="69"/>
                    </a:lnTo>
                    <a:lnTo>
                      <a:pt x="232" y="80"/>
                    </a:lnTo>
                    <a:lnTo>
                      <a:pt x="214" y="94"/>
                    </a:lnTo>
                    <a:lnTo>
                      <a:pt x="195" y="107"/>
                    </a:lnTo>
                    <a:lnTo>
                      <a:pt x="179" y="123"/>
                    </a:lnTo>
                    <a:lnTo>
                      <a:pt x="162" y="138"/>
                    </a:lnTo>
                    <a:lnTo>
                      <a:pt x="147" y="155"/>
                    </a:lnTo>
                    <a:lnTo>
                      <a:pt x="116" y="188"/>
                    </a:lnTo>
                    <a:lnTo>
                      <a:pt x="91" y="224"/>
                    </a:lnTo>
                    <a:lnTo>
                      <a:pt x="68" y="262"/>
                    </a:lnTo>
                    <a:lnTo>
                      <a:pt x="46" y="301"/>
                    </a:lnTo>
                    <a:lnTo>
                      <a:pt x="29" y="341"/>
                    </a:lnTo>
                    <a:lnTo>
                      <a:pt x="15" y="382"/>
                    </a:lnTo>
                    <a:lnTo>
                      <a:pt x="5" y="424"/>
                    </a:lnTo>
                    <a:lnTo>
                      <a:pt x="0" y="468"/>
                    </a:lnTo>
                    <a:lnTo>
                      <a:pt x="0" y="488"/>
                    </a:lnTo>
                    <a:lnTo>
                      <a:pt x="2" y="508"/>
                    </a:lnTo>
                    <a:lnTo>
                      <a:pt x="5" y="528"/>
                    </a:lnTo>
                    <a:lnTo>
                      <a:pt x="10" y="548"/>
                    </a:lnTo>
                    <a:lnTo>
                      <a:pt x="17" y="569"/>
                    </a:lnTo>
                    <a:lnTo>
                      <a:pt x="26" y="587"/>
                    </a:lnTo>
                    <a:lnTo>
                      <a:pt x="36" y="607"/>
                    </a:lnTo>
                    <a:lnTo>
                      <a:pt x="47" y="626"/>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22537" name="Freeform 1038">
                <a:extLst>
                  <a:ext uri="{FF2B5EF4-FFF2-40B4-BE49-F238E27FC236}">
                    <a16:creationId xmlns:a16="http://schemas.microsoft.com/office/drawing/2014/main" id="{C073E7AF-C4AB-4606-934D-E290F1A9228E}"/>
                  </a:ext>
                </a:extLst>
              </p:cNvPr>
              <p:cNvSpPr>
                <a:spLocks/>
              </p:cNvSpPr>
              <p:nvPr/>
            </p:nvSpPr>
            <p:spPr bwMode="auto">
              <a:xfrm>
                <a:off x="432" y="1008"/>
                <a:ext cx="972" cy="937"/>
              </a:xfrm>
              <a:custGeom>
                <a:avLst/>
                <a:gdLst>
                  <a:gd name="T0" fmla="*/ 47 w 972"/>
                  <a:gd name="T1" fmla="*/ 626 h 937"/>
                  <a:gd name="T2" fmla="*/ 71 w 972"/>
                  <a:gd name="T3" fmla="*/ 656 h 937"/>
                  <a:gd name="T4" fmla="*/ 96 w 972"/>
                  <a:gd name="T5" fmla="*/ 685 h 937"/>
                  <a:gd name="T6" fmla="*/ 120 w 972"/>
                  <a:gd name="T7" fmla="*/ 713 h 937"/>
                  <a:gd name="T8" fmla="*/ 135 w 972"/>
                  <a:gd name="T9" fmla="*/ 742 h 937"/>
                  <a:gd name="T10" fmla="*/ 140 w 972"/>
                  <a:gd name="T11" fmla="*/ 777 h 937"/>
                  <a:gd name="T12" fmla="*/ 138 w 972"/>
                  <a:gd name="T13" fmla="*/ 856 h 937"/>
                  <a:gd name="T14" fmla="*/ 137 w 972"/>
                  <a:gd name="T15" fmla="*/ 897 h 937"/>
                  <a:gd name="T16" fmla="*/ 150 w 972"/>
                  <a:gd name="T17" fmla="*/ 929 h 937"/>
                  <a:gd name="T18" fmla="*/ 172 w 972"/>
                  <a:gd name="T19" fmla="*/ 934 h 937"/>
                  <a:gd name="T20" fmla="*/ 219 w 972"/>
                  <a:gd name="T21" fmla="*/ 878 h 937"/>
                  <a:gd name="T22" fmla="*/ 313 w 972"/>
                  <a:gd name="T23" fmla="*/ 774 h 937"/>
                  <a:gd name="T24" fmla="*/ 410 w 972"/>
                  <a:gd name="T25" fmla="*/ 673 h 937"/>
                  <a:gd name="T26" fmla="*/ 510 w 972"/>
                  <a:gd name="T27" fmla="*/ 575 h 937"/>
                  <a:gd name="T28" fmla="*/ 611 w 972"/>
                  <a:gd name="T29" fmla="*/ 481 h 937"/>
                  <a:gd name="T30" fmla="*/ 711 w 972"/>
                  <a:gd name="T31" fmla="*/ 385 h 937"/>
                  <a:gd name="T32" fmla="*/ 814 w 972"/>
                  <a:gd name="T33" fmla="*/ 291 h 937"/>
                  <a:gd name="T34" fmla="*/ 916 w 972"/>
                  <a:gd name="T35" fmla="*/ 193 h 937"/>
                  <a:gd name="T36" fmla="*/ 967 w 972"/>
                  <a:gd name="T37" fmla="*/ 144 h 937"/>
                  <a:gd name="T38" fmla="*/ 970 w 972"/>
                  <a:gd name="T39" fmla="*/ 131 h 937"/>
                  <a:gd name="T40" fmla="*/ 953 w 972"/>
                  <a:gd name="T41" fmla="*/ 123 h 937"/>
                  <a:gd name="T42" fmla="*/ 928 w 972"/>
                  <a:gd name="T43" fmla="*/ 118 h 937"/>
                  <a:gd name="T44" fmla="*/ 905 w 972"/>
                  <a:gd name="T45" fmla="*/ 118 h 937"/>
                  <a:gd name="T46" fmla="*/ 883 w 972"/>
                  <a:gd name="T47" fmla="*/ 123 h 937"/>
                  <a:gd name="T48" fmla="*/ 844 w 972"/>
                  <a:gd name="T49" fmla="*/ 141 h 937"/>
                  <a:gd name="T50" fmla="*/ 809 w 972"/>
                  <a:gd name="T51" fmla="*/ 166 h 937"/>
                  <a:gd name="T52" fmla="*/ 774 w 972"/>
                  <a:gd name="T53" fmla="*/ 192 h 937"/>
                  <a:gd name="T54" fmla="*/ 755 w 972"/>
                  <a:gd name="T55" fmla="*/ 203 h 937"/>
                  <a:gd name="T56" fmla="*/ 737 w 972"/>
                  <a:gd name="T57" fmla="*/ 220 h 937"/>
                  <a:gd name="T58" fmla="*/ 723 w 972"/>
                  <a:gd name="T59" fmla="*/ 242 h 937"/>
                  <a:gd name="T60" fmla="*/ 708 w 972"/>
                  <a:gd name="T61" fmla="*/ 262 h 937"/>
                  <a:gd name="T62" fmla="*/ 684 w 972"/>
                  <a:gd name="T63" fmla="*/ 274 h 937"/>
                  <a:gd name="T64" fmla="*/ 684 w 972"/>
                  <a:gd name="T65" fmla="*/ 266 h 937"/>
                  <a:gd name="T66" fmla="*/ 691 w 972"/>
                  <a:gd name="T67" fmla="*/ 247 h 937"/>
                  <a:gd name="T68" fmla="*/ 691 w 972"/>
                  <a:gd name="T69" fmla="*/ 240 h 937"/>
                  <a:gd name="T70" fmla="*/ 671 w 972"/>
                  <a:gd name="T71" fmla="*/ 193 h 937"/>
                  <a:gd name="T72" fmla="*/ 647 w 972"/>
                  <a:gd name="T73" fmla="*/ 149 h 937"/>
                  <a:gd name="T74" fmla="*/ 616 w 972"/>
                  <a:gd name="T75" fmla="*/ 111 h 937"/>
                  <a:gd name="T76" fmla="*/ 572 w 972"/>
                  <a:gd name="T77" fmla="*/ 82 h 937"/>
                  <a:gd name="T78" fmla="*/ 562 w 972"/>
                  <a:gd name="T79" fmla="*/ 79 h 937"/>
                  <a:gd name="T80" fmla="*/ 540 w 972"/>
                  <a:gd name="T81" fmla="*/ 75 h 937"/>
                  <a:gd name="T82" fmla="*/ 518 w 972"/>
                  <a:gd name="T83" fmla="*/ 74 h 937"/>
                  <a:gd name="T84" fmla="*/ 496 w 972"/>
                  <a:gd name="T85" fmla="*/ 69 h 937"/>
                  <a:gd name="T86" fmla="*/ 486 w 972"/>
                  <a:gd name="T87" fmla="*/ 62 h 937"/>
                  <a:gd name="T88" fmla="*/ 474 w 972"/>
                  <a:gd name="T89" fmla="*/ 23 h 937"/>
                  <a:gd name="T90" fmla="*/ 459 w 972"/>
                  <a:gd name="T91" fmla="*/ 0 h 937"/>
                  <a:gd name="T92" fmla="*/ 437 w 972"/>
                  <a:gd name="T93" fmla="*/ 3 h 937"/>
                  <a:gd name="T94" fmla="*/ 394 w 972"/>
                  <a:gd name="T95" fmla="*/ 11 h 937"/>
                  <a:gd name="T96" fmla="*/ 352 w 972"/>
                  <a:gd name="T97" fmla="*/ 23 h 937"/>
                  <a:gd name="T98" fmla="*/ 311 w 972"/>
                  <a:gd name="T99" fmla="*/ 38 h 937"/>
                  <a:gd name="T100" fmla="*/ 271 w 972"/>
                  <a:gd name="T101" fmla="*/ 59 h 937"/>
                  <a:gd name="T102" fmla="*/ 232 w 972"/>
                  <a:gd name="T103" fmla="*/ 80 h 937"/>
                  <a:gd name="T104" fmla="*/ 195 w 972"/>
                  <a:gd name="T105" fmla="*/ 107 h 937"/>
                  <a:gd name="T106" fmla="*/ 162 w 972"/>
                  <a:gd name="T107" fmla="*/ 138 h 937"/>
                  <a:gd name="T108" fmla="*/ 147 w 972"/>
                  <a:gd name="T109" fmla="*/ 155 h 937"/>
                  <a:gd name="T110" fmla="*/ 91 w 972"/>
                  <a:gd name="T111" fmla="*/ 224 h 937"/>
                  <a:gd name="T112" fmla="*/ 46 w 972"/>
                  <a:gd name="T113" fmla="*/ 301 h 937"/>
                  <a:gd name="T114" fmla="*/ 15 w 972"/>
                  <a:gd name="T115" fmla="*/ 382 h 937"/>
                  <a:gd name="T116" fmla="*/ 0 w 972"/>
                  <a:gd name="T117" fmla="*/ 468 h 937"/>
                  <a:gd name="T118" fmla="*/ 0 w 972"/>
                  <a:gd name="T119" fmla="*/ 488 h 937"/>
                  <a:gd name="T120" fmla="*/ 5 w 972"/>
                  <a:gd name="T121" fmla="*/ 528 h 937"/>
                  <a:gd name="T122" fmla="*/ 17 w 972"/>
                  <a:gd name="T123" fmla="*/ 569 h 937"/>
                  <a:gd name="T124" fmla="*/ 36 w 972"/>
                  <a:gd name="T125" fmla="*/ 607 h 93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72"/>
                  <a:gd name="T190" fmla="*/ 0 h 937"/>
                  <a:gd name="T191" fmla="*/ 972 w 972"/>
                  <a:gd name="T192" fmla="*/ 937 h 93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72" h="937">
                    <a:moveTo>
                      <a:pt x="47" y="626"/>
                    </a:moveTo>
                    <a:lnTo>
                      <a:pt x="47" y="626"/>
                    </a:lnTo>
                    <a:lnTo>
                      <a:pt x="59" y="641"/>
                    </a:lnTo>
                    <a:lnTo>
                      <a:pt x="71" y="656"/>
                    </a:lnTo>
                    <a:lnTo>
                      <a:pt x="84" y="671"/>
                    </a:lnTo>
                    <a:lnTo>
                      <a:pt x="96" y="685"/>
                    </a:lnTo>
                    <a:lnTo>
                      <a:pt x="110" y="698"/>
                    </a:lnTo>
                    <a:lnTo>
                      <a:pt x="120" y="713"/>
                    </a:lnTo>
                    <a:lnTo>
                      <a:pt x="128" y="727"/>
                    </a:lnTo>
                    <a:lnTo>
                      <a:pt x="135" y="742"/>
                    </a:lnTo>
                    <a:lnTo>
                      <a:pt x="140" y="777"/>
                    </a:lnTo>
                    <a:lnTo>
                      <a:pt x="140" y="816"/>
                    </a:lnTo>
                    <a:lnTo>
                      <a:pt x="138" y="856"/>
                    </a:lnTo>
                    <a:lnTo>
                      <a:pt x="137" y="897"/>
                    </a:lnTo>
                    <a:lnTo>
                      <a:pt x="140" y="914"/>
                    </a:lnTo>
                    <a:lnTo>
                      <a:pt x="150" y="929"/>
                    </a:lnTo>
                    <a:lnTo>
                      <a:pt x="162" y="937"/>
                    </a:lnTo>
                    <a:lnTo>
                      <a:pt x="172" y="934"/>
                    </a:lnTo>
                    <a:lnTo>
                      <a:pt x="219" y="878"/>
                    </a:lnTo>
                    <a:lnTo>
                      <a:pt x="266" y="826"/>
                    </a:lnTo>
                    <a:lnTo>
                      <a:pt x="313" y="774"/>
                    </a:lnTo>
                    <a:lnTo>
                      <a:pt x="362" y="723"/>
                    </a:lnTo>
                    <a:lnTo>
                      <a:pt x="410" y="673"/>
                    </a:lnTo>
                    <a:lnTo>
                      <a:pt x="459" y="624"/>
                    </a:lnTo>
                    <a:lnTo>
                      <a:pt x="510" y="575"/>
                    </a:lnTo>
                    <a:lnTo>
                      <a:pt x="560" y="528"/>
                    </a:lnTo>
                    <a:lnTo>
                      <a:pt x="611" y="481"/>
                    </a:lnTo>
                    <a:lnTo>
                      <a:pt x="661" y="432"/>
                    </a:lnTo>
                    <a:lnTo>
                      <a:pt x="711" y="385"/>
                    </a:lnTo>
                    <a:lnTo>
                      <a:pt x="763" y="338"/>
                    </a:lnTo>
                    <a:lnTo>
                      <a:pt x="814" y="291"/>
                    </a:lnTo>
                    <a:lnTo>
                      <a:pt x="864" y="242"/>
                    </a:lnTo>
                    <a:lnTo>
                      <a:pt x="916" y="193"/>
                    </a:lnTo>
                    <a:lnTo>
                      <a:pt x="967" y="144"/>
                    </a:lnTo>
                    <a:lnTo>
                      <a:pt x="972" y="138"/>
                    </a:lnTo>
                    <a:lnTo>
                      <a:pt x="970" y="131"/>
                    </a:lnTo>
                    <a:lnTo>
                      <a:pt x="963" y="126"/>
                    </a:lnTo>
                    <a:lnTo>
                      <a:pt x="953" y="123"/>
                    </a:lnTo>
                    <a:lnTo>
                      <a:pt x="942" y="119"/>
                    </a:lnTo>
                    <a:lnTo>
                      <a:pt x="928" y="118"/>
                    </a:lnTo>
                    <a:lnTo>
                      <a:pt x="916" y="116"/>
                    </a:lnTo>
                    <a:lnTo>
                      <a:pt x="905" y="118"/>
                    </a:lnTo>
                    <a:lnTo>
                      <a:pt x="883" y="123"/>
                    </a:lnTo>
                    <a:lnTo>
                      <a:pt x="863" y="131"/>
                    </a:lnTo>
                    <a:lnTo>
                      <a:pt x="844" y="141"/>
                    </a:lnTo>
                    <a:lnTo>
                      <a:pt x="826" y="153"/>
                    </a:lnTo>
                    <a:lnTo>
                      <a:pt x="809" y="166"/>
                    </a:lnTo>
                    <a:lnTo>
                      <a:pt x="792" y="178"/>
                    </a:lnTo>
                    <a:lnTo>
                      <a:pt x="774" y="192"/>
                    </a:lnTo>
                    <a:lnTo>
                      <a:pt x="755" y="203"/>
                    </a:lnTo>
                    <a:lnTo>
                      <a:pt x="745" y="212"/>
                    </a:lnTo>
                    <a:lnTo>
                      <a:pt x="737" y="220"/>
                    </a:lnTo>
                    <a:lnTo>
                      <a:pt x="728" y="232"/>
                    </a:lnTo>
                    <a:lnTo>
                      <a:pt x="723" y="242"/>
                    </a:lnTo>
                    <a:lnTo>
                      <a:pt x="715" y="252"/>
                    </a:lnTo>
                    <a:lnTo>
                      <a:pt x="708" y="262"/>
                    </a:lnTo>
                    <a:lnTo>
                      <a:pt x="698" y="269"/>
                    </a:lnTo>
                    <a:lnTo>
                      <a:pt x="684" y="274"/>
                    </a:lnTo>
                    <a:lnTo>
                      <a:pt x="684" y="266"/>
                    </a:lnTo>
                    <a:lnTo>
                      <a:pt x="688" y="256"/>
                    </a:lnTo>
                    <a:lnTo>
                      <a:pt x="691" y="247"/>
                    </a:lnTo>
                    <a:lnTo>
                      <a:pt x="691" y="240"/>
                    </a:lnTo>
                    <a:lnTo>
                      <a:pt x="683" y="217"/>
                    </a:lnTo>
                    <a:lnTo>
                      <a:pt x="671" y="193"/>
                    </a:lnTo>
                    <a:lnTo>
                      <a:pt x="661" y="171"/>
                    </a:lnTo>
                    <a:lnTo>
                      <a:pt x="647" y="149"/>
                    </a:lnTo>
                    <a:lnTo>
                      <a:pt x="632" y="129"/>
                    </a:lnTo>
                    <a:lnTo>
                      <a:pt x="616" y="111"/>
                    </a:lnTo>
                    <a:lnTo>
                      <a:pt x="595" y="96"/>
                    </a:lnTo>
                    <a:lnTo>
                      <a:pt x="572" y="82"/>
                    </a:lnTo>
                    <a:lnTo>
                      <a:pt x="562" y="79"/>
                    </a:lnTo>
                    <a:lnTo>
                      <a:pt x="550" y="75"/>
                    </a:lnTo>
                    <a:lnTo>
                      <a:pt x="540" y="75"/>
                    </a:lnTo>
                    <a:lnTo>
                      <a:pt x="528" y="74"/>
                    </a:lnTo>
                    <a:lnTo>
                      <a:pt x="518" y="74"/>
                    </a:lnTo>
                    <a:lnTo>
                      <a:pt x="506" y="72"/>
                    </a:lnTo>
                    <a:lnTo>
                      <a:pt x="496" y="69"/>
                    </a:lnTo>
                    <a:lnTo>
                      <a:pt x="486" y="62"/>
                    </a:lnTo>
                    <a:lnTo>
                      <a:pt x="476" y="45"/>
                    </a:lnTo>
                    <a:lnTo>
                      <a:pt x="474" y="23"/>
                    </a:lnTo>
                    <a:lnTo>
                      <a:pt x="471" y="6"/>
                    </a:lnTo>
                    <a:lnTo>
                      <a:pt x="459" y="0"/>
                    </a:lnTo>
                    <a:lnTo>
                      <a:pt x="437" y="3"/>
                    </a:lnTo>
                    <a:lnTo>
                      <a:pt x="416" y="6"/>
                    </a:lnTo>
                    <a:lnTo>
                      <a:pt x="394" y="11"/>
                    </a:lnTo>
                    <a:lnTo>
                      <a:pt x="374" y="17"/>
                    </a:lnTo>
                    <a:lnTo>
                      <a:pt x="352" y="23"/>
                    </a:lnTo>
                    <a:lnTo>
                      <a:pt x="331" y="30"/>
                    </a:lnTo>
                    <a:lnTo>
                      <a:pt x="311" y="38"/>
                    </a:lnTo>
                    <a:lnTo>
                      <a:pt x="291" y="48"/>
                    </a:lnTo>
                    <a:lnTo>
                      <a:pt x="271" y="59"/>
                    </a:lnTo>
                    <a:lnTo>
                      <a:pt x="251" y="69"/>
                    </a:lnTo>
                    <a:lnTo>
                      <a:pt x="232" y="80"/>
                    </a:lnTo>
                    <a:lnTo>
                      <a:pt x="214" y="94"/>
                    </a:lnTo>
                    <a:lnTo>
                      <a:pt x="195" y="107"/>
                    </a:lnTo>
                    <a:lnTo>
                      <a:pt x="179" y="123"/>
                    </a:lnTo>
                    <a:lnTo>
                      <a:pt x="162" y="138"/>
                    </a:lnTo>
                    <a:lnTo>
                      <a:pt x="147" y="155"/>
                    </a:lnTo>
                    <a:lnTo>
                      <a:pt x="116" y="188"/>
                    </a:lnTo>
                    <a:lnTo>
                      <a:pt x="91" y="224"/>
                    </a:lnTo>
                    <a:lnTo>
                      <a:pt x="68" y="262"/>
                    </a:lnTo>
                    <a:lnTo>
                      <a:pt x="46" y="301"/>
                    </a:lnTo>
                    <a:lnTo>
                      <a:pt x="29" y="341"/>
                    </a:lnTo>
                    <a:lnTo>
                      <a:pt x="15" y="382"/>
                    </a:lnTo>
                    <a:lnTo>
                      <a:pt x="5" y="424"/>
                    </a:lnTo>
                    <a:lnTo>
                      <a:pt x="0" y="468"/>
                    </a:lnTo>
                    <a:lnTo>
                      <a:pt x="0" y="488"/>
                    </a:lnTo>
                    <a:lnTo>
                      <a:pt x="2" y="508"/>
                    </a:lnTo>
                    <a:lnTo>
                      <a:pt x="5" y="528"/>
                    </a:lnTo>
                    <a:lnTo>
                      <a:pt x="10" y="548"/>
                    </a:lnTo>
                    <a:lnTo>
                      <a:pt x="17" y="569"/>
                    </a:lnTo>
                    <a:lnTo>
                      <a:pt x="26" y="587"/>
                    </a:lnTo>
                    <a:lnTo>
                      <a:pt x="36" y="607"/>
                    </a:lnTo>
                    <a:lnTo>
                      <a:pt x="47" y="626"/>
                    </a:lnTo>
                  </a:path>
                </a:pathLst>
              </a:custGeom>
              <a:solidFill>
                <a:srgbClr val="FFFF00"/>
              </a:solidFill>
              <a:ln w="0" cap="sq">
                <a:solidFill>
                  <a:srgbClr val="000000"/>
                </a:solidFill>
                <a:prstDash val="solid"/>
                <a:miter lim="800000"/>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22538" name="Freeform 1039">
                <a:extLst>
                  <a:ext uri="{FF2B5EF4-FFF2-40B4-BE49-F238E27FC236}">
                    <a16:creationId xmlns:a16="http://schemas.microsoft.com/office/drawing/2014/main" id="{5C3E1CEF-0BF3-41EF-B71D-500302D99534}"/>
                  </a:ext>
                </a:extLst>
              </p:cNvPr>
              <p:cNvSpPr>
                <a:spLocks/>
              </p:cNvSpPr>
              <p:nvPr/>
            </p:nvSpPr>
            <p:spPr bwMode="auto">
              <a:xfrm>
                <a:off x="530" y="1301"/>
                <a:ext cx="153" cy="442"/>
              </a:xfrm>
              <a:custGeom>
                <a:avLst/>
                <a:gdLst>
                  <a:gd name="T0" fmla="*/ 55 w 153"/>
                  <a:gd name="T1" fmla="*/ 0 h 442"/>
                  <a:gd name="T2" fmla="*/ 47 w 153"/>
                  <a:gd name="T3" fmla="*/ 16 h 442"/>
                  <a:gd name="T4" fmla="*/ 37 w 153"/>
                  <a:gd name="T5" fmla="*/ 40 h 442"/>
                  <a:gd name="T6" fmla="*/ 27 w 153"/>
                  <a:gd name="T7" fmla="*/ 67 h 442"/>
                  <a:gd name="T8" fmla="*/ 17 w 153"/>
                  <a:gd name="T9" fmla="*/ 97 h 442"/>
                  <a:gd name="T10" fmla="*/ 10 w 153"/>
                  <a:gd name="T11" fmla="*/ 129 h 442"/>
                  <a:gd name="T12" fmla="*/ 3 w 153"/>
                  <a:gd name="T13" fmla="*/ 158 h 442"/>
                  <a:gd name="T14" fmla="*/ 0 w 153"/>
                  <a:gd name="T15" fmla="*/ 181 h 442"/>
                  <a:gd name="T16" fmla="*/ 2 w 153"/>
                  <a:gd name="T17" fmla="*/ 200 h 442"/>
                  <a:gd name="T18" fmla="*/ 7 w 153"/>
                  <a:gd name="T19" fmla="*/ 217 h 442"/>
                  <a:gd name="T20" fmla="*/ 13 w 153"/>
                  <a:gd name="T21" fmla="*/ 237 h 442"/>
                  <a:gd name="T22" fmla="*/ 22 w 153"/>
                  <a:gd name="T23" fmla="*/ 257 h 442"/>
                  <a:gd name="T24" fmla="*/ 30 w 153"/>
                  <a:gd name="T25" fmla="*/ 279 h 442"/>
                  <a:gd name="T26" fmla="*/ 40 w 153"/>
                  <a:gd name="T27" fmla="*/ 301 h 442"/>
                  <a:gd name="T28" fmla="*/ 52 w 153"/>
                  <a:gd name="T29" fmla="*/ 321 h 442"/>
                  <a:gd name="T30" fmla="*/ 62 w 153"/>
                  <a:gd name="T31" fmla="*/ 338 h 442"/>
                  <a:gd name="T32" fmla="*/ 72 w 153"/>
                  <a:gd name="T33" fmla="*/ 350 h 442"/>
                  <a:gd name="T34" fmla="*/ 87 w 153"/>
                  <a:gd name="T35" fmla="*/ 373 h 442"/>
                  <a:gd name="T36" fmla="*/ 96 w 153"/>
                  <a:gd name="T37" fmla="*/ 400 h 442"/>
                  <a:gd name="T38" fmla="*/ 97 w 153"/>
                  <a:gd name="T39" fmla="*/ 425 h 442"/>
                  <a:gd name="T40" fmla="*/ 94 w 153"/>
                  <a:gd name="T41" fmla="*/ 442 h 442"/>
                  <a:gd name="T42" fmla="*/ 111 w 153"/>
                  <a:gd name="T43" fmla="*/ 432 h 442"/>
                  <a:gd name="T44" fmla="*/ 123 w 153"/>
                  <a:gd name="T45" fmla="*/ 424 h 442"/>
                  <a:gd name="T46" fmla="*/ 129 w 153"/>
                  <a:gd name="T47" fmla="*/ 419 h 442"/>
                  <a:gd name="T48" fmla="*/ 134 w 153"/>
                  <a:gd name="T49" fmla="*/ 414 h 442"/>
                  <a:gd name="T50" fmla="*/ 138 w 153"/>
                  <a:gd name="T51" fmla="*/ 410 h 442"/>
                  <a:gd name="T52" fmla="*/ 139 w 153"/>
                  <a:gd name="T53" fmla="*/ 405 h 442"/>
                  <a:gd name="T54" fmla="*/ 143 w 153"/>
                  <a:gd name="T55" fmla="*/ 400 h 442"/>
                  <a:gd name="T56" fmla="*/ 146 w 153"/>
                  <a:gd name="T57" fmla="*/ 393 h 442"/>
                  <a:gd name="T58" fmla="*/ 153 w 153"/>
                  <a:gd name="T59" fmla="*/ 378 h 442"/>
                  <a:gd name="T60" fmla="*/ 151 w 153"/>
                  <a:gd name="T61" fmla="*/ 367 h 442"/>
                  <a:gd name="T62" fmla="*/ 144 w 153"/>
                  <a:gd name="T63" fmla="*/ 351 h 442"/>
                  <a:gd name="T64" fmla="*/ 133 w 153"/>
                  <a:gd name="T65" fmla="*/ 333 h 442"/>
                  <a:gd name="T66" fmla="*/ 121 w 153"/>
                  <a:gd name="T67" fmla="*/ 313 h 442"/>
                  <a:gd name="T68" fmla="*/ 107 w 153"/>
                  <a:gd name="T69" fmla="*/ 296 h 442"/>
                  <a:gd name="T70" fmla="*/ 96 w 153"/>
                  <a:gd name="T71" fmla="*/ 284 h 442"/>
                  <a:gd name="T72" fmla="*/ 86 w 153"/>
                  <a:gd name="T73" fmla="*/ 271 h 442"/>
                  <a:gd name="T74" fmla="*/ 65 w 153"/>
                  <a:gd name="T75" fmla="*/ 245 h 442"/>
                  <a:gd name="T76" fmla="*/ 50 w 153"/>
                  <a:gd name="T77" fmla="*/ 225 h 442"/>
                  <a:gd name="T78" fmla="*/ 40 w 153"/>
                  <a:gd name="T79" fmla="*/ 203 h 442"/>
                  <a:gd name="T80" fmla="*/ 37 w 153"/>
                  <a:gd name="T81" fmla="*/ 175 h 442"/>
                  <a:gd name="T82" fmla="*/ 40 w 153"/>
                  <a:gd name="T83" fmla="*/ 129 h 442"/>
                  <a:gd name="T84" fmla="*/ 47 w 153"/>
                  <a:gd name="T85" fmla="*/ 70 h 442"/>
                  <a:gd name="T86" fmla="*/ 52 w 153"/>
                  <a:gd name="T87" fmla="*/ 21 h 442"/>
                  <a:gd name="T88" fmla="*/ 55 w 153"/>
                  <a:gd name="T89" fmla="*/ 0 h 44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53"/>
                  <a:gd name="T136" fmla="*/ 0 h 442"/>
                  <a:gd name="T137" fmla="*/ 153 w 153"/>
                  <a:gd name="T138" fmla="*/ 442 h 44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53" h="442">
                    <a:moveTo>
                      <a:pt x="55" y="0"/>
                    </a:moveTo>
                    <a:lnTo>
                      <a:pt x="47" y="16"/>
                    </a:lnTo>
                    <a:lnTo>
                      <a:pt x="37" y="40"/>
                    </a:lnTo>
                    <a:lnTo>
                      <a:pt x="27" y="67"/>
                    </a:lnTo>
                    <a:lnTo>
                      <a:pt x="17" y="97"/>
                    </a:lnTo>
                    <a:lnTo>
                      <a:pt x="10" y="129"/>
                    </a:lnTo>
                    <a:lnTo>
                      <a:pt x="3" y="158"/>
                    </a:lnTo>
                    <a:lnTo>
                      <a:pt x="0" y="181"/>
                    </a:lnTo>
                    <a:lnTo>
                      <a:pt x="2" y="200"/>
                    </a:lnTo>
                    <a:lnTo>
                      <a:pt x="7" y="217"/>
                    </a:lnTo>
                    <a:lnTo>
                      <a:pt x="13" y="237"/>
                    </a:lnTo>
                    <a:lnTo>
                      <a:pt x="22" y="257"/>
                    </a:lnTo>
                    <a:lnTo>
                      <a:pt x="30" y="279"/>
                    </a:lnTo>
                    <a:lnTo>
                      <a:pt x="40" y="301"/>
                    </a:lnTo>
                    <a:lnTo>
                      <a:pt x="52" y="321"/>
                    </a:lnTo>
                    <a:lnTo>
                      <a:pt x="62" y="338"/>
                    </a:lnTo>
                    <a:lnTo>
                      <a:pt x="72" y="350"/>
                    </a:lnTo>
                    <a:lnTo>
                      <a:pt x="87" y="373"/>
                    </a:lnTo>
                    <a:lnTo>
                      <a:pt x="96" y="400"/>
                    </a:lnTo>
                    <a:lnTo>
                      <a:pt x="97" y="425"/>
                    </a:lnTo>
                    <a:lnTo>
                      <a:pt x="94" y="442"/>
                    </a:lnTo>
                    <a:lnTo>
                      <a:pt x="111" y="432"/>
                    </a:lnTo>
                    <a:lnTo>
                      <a:pt x="123" y="424"/>
                    </a:lnTo>
                    <a:lnTo>
                      <a:pt x="129" y="419"/>
                    </a:lnTo>
                    <a:lnTo>
                      <a:pt x="134" y="414"/>
                    </a:lnTo>
                    <a:lnTo>
                      <a:pt x="138" y="410"/>
                    </a:lnTo>
                    <a:lnTo>
                      <a:pt x="139" y="405"/>
                    </a:lnTo>
                    <a:lnTo>
                      <a:pt x="143" y="400"/>
                    </a:lnTo>
                    <a:lnTo>
                      <a:pt x="146" y="393"/>
                    </a:lnTo>
                    <a:lnTo>
                      <a:pt x="153" y="378"/>
                    </a:lnTo>
                    <a:lnTo>
                      <a:pt x="151" y="367"/>
                    </a:lnTo>
                    <a:lnTo>
                      <a:pt x="144" y="351"/>
                    </a:lnTo>
                    <a:lnTo>
                      <a:pt x="133" y="333"/>
                    </a:lnTo>
                    <a:lnTo>
                      <a:pt x="121" y="313"/>
                    </a:lnTo>
                    <a:lnTo>
                      <a:pt x="107" y="296"/>
                    </a:lnTo>
                    <a:lnTo>
                      <a:pt x="96" y="284"/>
                    </a:lnTo>
                    <a:lnTo>
                      <a:pt x="86" y="271"/>
                    </a:lnTo>
                    <a:lnTo>
                      <a:pt x="65" y="245"/>
                    </a:lnTo>
                    <a:lnTo>
                      <a:pt x="50" y="225"/>
                    </a:lnTo>
                    <a:lnTo>
                      <a:pt x="40" y="203"/>
                    </a:lnTo>
                    <a:lnTo>
                      <a:pt x="37" y="175"/>
                    </a:lnTo>
                    <a:lnTo>
                      <a:pt x="40" y="129"/>
                    </a:lnTo>
                    <a:lnTo>
                      <a:pt x="47" y="70"/>
                    </a:lnTo>
                    <a:lnTo>
                      <a:pt x="52" y="21"/>
                    </a:lnTo>
                    <a:lnTo>
                      <a:pt x="55"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22539" name="Freeform 1040">
                <a:extLst>
                  <a:ext uri="{FF2B5EF4-FFF2-40B4-BE49-F238E27FC236}">
                    <a16:creationId xmlns:a16="http://schemas.microsoft.com/office/drawing/2014/main" id="{D1E1F85A-8DE3-4A1E-9EB8-3427652DE9D8}"/>
                  </a:ext>
                </a:extLst>
              </p:cNvPr>
              <p:cNvSpPr>
                <a:spLocks/>
              </p:cNvSpPr>
              <p:nvPr/>
            </p:nvSpPr>
            <p:spPr bwMode="auto">
              <a:xfrm>
                <a:off x="903" y="1026"/>
                <a:ext cx="289" cy="275"/>
              </a:xfrm>
              <a:custGeom>
                <a:avLst/>
                <a:gdLst>
                  <a:gd name="T0" fmla="*/ 2 w 289"/>
                  <a:gd name="T1" fmla="*/ 12 h 275"/>
                  <a:gd name="T2" fmla="*/ 0 w 289"/>
                  <a:gd name="T3" fmla="*/ 49 h 275"/>
                  <a:gd name="T4" fmla="*/ 17 w 289"/>
                  <a:gd name="T5" fmla="*/ 69 h 275"/>
                  <a:gd name="T6" fmla="*/ 39 w 289"/>
                  <a:gd name="T7" fmla="*/ 74 h 275"/>
                  <a:gd name="T8" fmla="*/ 61 w 289"/>
                  <a:gd name="T9" fmla="*/ 74 h 275"/>
                  <a:gd name="T10" fmla="*/ 82 w 289"/>
                  <a:gd name="T11" fmla="*/ 78 h 275"/>
                  <a:gd name="T12" fmla="*/ 116 w 289"/>
                  <a:gd name="T13" fmla="*/ 96 h 275"/>
                  <a:gd name="T14" fmla="*/ 153 w 289"/>
                  <a:gd name="T15" fmla="*/ 130 h 275"/>
                  <a:gd name="T16" fmla="*/ 182 w 289"/>
                  <a:gd name="T17" fmla="*/ 170 h 275"/>
                  <a:gd name="T18" fmla="*/ 203 w 289"/>
                  <a:gd name="T19" fmla="*/ 216 h 275"/>
                  <a:gd name="T20" fmla="*/ 212 w 289"/>
                  <a:gd name="T21" fmla="*/ 248 h 275"/>
                  <a:gd name="T22" fmla="*/ 207 w 289"/>
                  <a:gd name="T23" fmla="*/ 264 h 275"/>
                  <a:gd name="T24" fmla="*/ 219 w 289"/>
                  <a:gd name="T25" fmla="*/ 270 h 275"/>
                  <a:gd name="T26" fmla="*/ 240 w 289"/>
                  <a:gd name="T27" fmla="*/ 248 h 275"/>
                  <a:gd name="T28" fmla="*/ 259 w 289"/>
                  <a:gd name="T29" fmla="*/ 221 h 275"/>
                  <a:gd name="T30" fmla="*/ 277 w 289"/>
                  <a:gd name="T31" fmla="*/ 195 h 275"/>
                  <a:gd name="T32" fmla="*/ 282 w 289"/>
                  <a:gd name="T33" fmla="*/ 177 h 275"/>
                  <a:gd name="T34" fmla="*/ 269 w 289"/>
                  <a:gd name="T35" fmla="*/ 158 h 275"/>
                  <a:gd name="T36" fmla="*/ 255 w 289"/>
                  <a:gd name="T37" fmla="*/ 143 h 275"/>
                  <a:gd name="T38" fmla="*/ 242 w 289"/>
                  <a:gd name="T39" fmla="*/ 128 h 275"/>
                  <a:gd name="T40" fmla="*/ 229 w 289"/>
                  <a:gd name="T41" fmla="*/ 115 h 275"/>
                  <a:gd name="T42" fmla="*/ 212 w 289"/>
                  <a:gd name="T43" fmla="*/ 103 h 275"/>
                  <a:gd name="T44" fmla="*/ 192 w 289"/>
                  <a:gd name="T45" fmla="*/ 93 h 275"/>
                  <a:gd name="T46" fmla="*/ 170 w 289"/>
                  <a:gd name="T47" fmla="*/ 84 h 275"/>
                  <a:gd name="T48" fmla="*/ 146 w 289"/>
                  <a:gd name="T49" fmla="*/ 78 h 275"/>
                  <a:gd name="T50" fmla="*/ 126 w 289"/>
                  <a:gd name="T51" fmla="*/ 71 h 275"/>
                  <a:gd name="T52" fmla="*/ 104 w 289"/>
                  <a:gd name="T53" fmla="*/ 66 h 275"/>
                  <a:gd name="T54" fmla="*/ 81 w 289"/>
                  <a:gd name="T55" fmla="*/ 61 h 275"/>
                  <a:gd name="T56" fmla="*/ 57 w 289"/>
                  <a:gd name="T57" fmla="*/ 56 h 275"/>
                  <a:gd name="T58" fmla="*/ 39 w 289"/>
                  <a:gd name="T59" fmla="*/ 42 h 275"/>
                  <a:gd name="T60" fmla="*/ 24 w 289"/>
                  <a:gd name="T61" fmla="*/ 25 h 275"/>
                  <a:gd name="T62" fmla="*/ 10 w 289"/>
                  <a:gd name="T63" fmla="*/ 7 h 27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89"/>
                  <a:gd name="T97" fmla="*/ 0 h 275"/>
                  <a:gd name="T98" fmla="*/ 289 w 289"/>
                  <a:gd name="T99" fmla="*/ 275 h 27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89" h="275">
                    <a:moveTo>
                      <a:pt x="3" y="0"/>
                    </a:moveTo>
                    <a:lnTo>
                      <a:pt x="2" y="12"/>
                    </a:lnTo>
                    <a:lnTo>
                      <a:pt x="0" y="30"/>
                    </a:lnTo>
                    <a:lnTo>
                      <a:pt x="0" y="49"/>
                    </a:lnTo>
                    <a:lnTo>
                      <a:pt x="7" y="62"/>
                    </a:lnTo>
                    <a:lnTo>
                      <a:pt x="17" y="69"/>
                    </a:lnTo>
                    <a:lnTo>
                      <a:pt x="27" y="73"/>
                    </a:lnTo>
                    <a:lnTo>
                      <a:pt x="39" y="74"/>
                    </a:lnTo>
                    <a:lnTo>
                      <a:pt x="49" y="74"/>
                    </a:lnTo>
                    <a:lnTo>
                      <a:pt x="61" y="74"/>
                    </a:lnTo>
                    <a:lnTo>
                      <a:pt x="71" y="76"/>
                    </a:lnTo>
                    <a:lnTo>
                      <a:pt x="82" y="78"/>
                    </a:lnTo>
                    <a:lnTo>
                      <a:pt x="92" y="83"/>
                    </a:lnTo>
                    <a:lnTo>
                      <a:pt x="116" y="96"/>
                    </a:lnTo>
                    <a:lnTo>
                      <a:pt x="136" y="111"/>
                    </a:lnTo>
                    <a:lnTo>
                      <a:pt x="153" y="130"/>
                    </a:lnTo>
                    <a:lnTo>
                      <a:pt x="168" y="150"/>
                    </a:lnTo>
                    <a:lnTo>
                      <a:pt x="182" y="170"/>
                    </a:lnTo>
                    <a:lnTo>
                      <a:pt x="192" y="194"/>
                    </a:lnTo>
                    <a:lnTo>
                      <a:pt x="203" y="216"/>
                    </a:lnTo>
                    <a:lnTo>
                      <a:pt x="212" y="239"/>
                    </a:lnTo>
                    <a:lnTo>
                      <a:pt x="212" y="248"/>
                    </a:lnTo>
                    <a:lnTo>
                      <a:pt x="210" y="256"/>
                    </a:lnTo>
                    <a:lnTo>
                      <a:pt x="207" y="264"/>
                    </a:lnTo>
                    <a:lnTo>
                      <a:pt x="205" y="275"/>
                    </a:lnTo>
                    <a:lnTo>
                      <a:pt x="219" y="270"/>
                    </a:lnTo>
                    <a:lnTo>
                      <a:pt x="230" y="259"/>
                    </a:lnTo>
                    <a:lnTo>
                      <a:pt x="240" y="248"/>
                    </a:lnTo>
                    <a:lnTo>
                      <a:pt x="250" y="234"/>
                    </a:lnTo>
                    <a:lnTo>
                      <a:pt x="259" y="221"/>
                    </a:lnTo>
                    <a:lnTo>
                      <a:pt x="267" y="207"/>
                    </a:lnTo>
                    <a:lnTo>
                      <a:pt x="277" y="195"/>
                    </a:lnTo>
                    <a:lnTo>
                      <a:pt x="289" y="187"/>
                    </a:lnTo>
                    <a:lnTo>
                      <a:pt x="282" y="177"/>
                    </a:lnTo>
                    <a:lnTo>
                      <a:pt x="276" y="169"/>
                    </a:lnTo>
                    <a:lnTo>
                      <a:pt x="269" y="158"/>
                    </a:lnTo>
                    <a:lnTo>
                      <a:pt x="262" y="150"/>
                    </a:lnTo>
                    <a:lnTo>
                      <a:pt x="255" y="143"/>
                    </a:lnTo>
                    <a:lnTo>
                      <a:pt x="249" y="135"/>
                    </a:lnTo>
                    <a:lnTo>
                      <a:pt x="242" y="128"/>
                    </a:lnTo>
                    <a:lnTo>
                      <a:pt x="235" y="121"/>
                    </a:lnTo>
                    <a:lnTo>
                      <a:pt x="229" y="115"/>
                    </a:lnTo>
                    <a:lnTo>
                      <a:pt x="220" y="108"/>
                    </a:lnTo>
                    <a:lnTo>
                      <a:pt x="212" y="103"/>
                    </a:lnTo>
                    <a:lnTo>
                      <a:pt x="202" y="98"/>
                    </a:lnTo>
                    <a:lnTo>
                      <a:pt x="192" y="93"/>
                    </a:lnTo>
                    <a:lnTo>
                      <a:pt x="182" y="88"/>
                    </a:lnTo>
                    <a:lnTo>
                      <a:pt x="170" y="84"/>
                    </a:lnTo>
                    <a:lnTo>
                      <a:pt x="158" y="81"/>
                    </a:lnTo>
                    <a:lnTo>
                      <a:pt x="146" y="78"/>
                    </a:lnTo>
                    <a:lnTo>
                      <a:pt x="136" y="74"/>
                    </a:lnTo>
                    <a:lnTo>
                      <a:pt x="126" y="71"/>
                    </a:lnTo>
                    <a:lnTo>
                      <a:pt x="114" y="69"/>
                    </a:lnTo>
                    <a:lnTo>
                      <a:pt x="104" y="66"/>
                    </a:lnTo>
                    <a:lnTo>
                      <a:pt x="92" y="64"/>
                    </a:lnTo>
                    <a:lnTo>
                      <a:pt x="81" y="61"/>
                    </a:lnTo>
                    <a:lnTo>
                      <a:pt x="67" y="59"/>
                    </a:lnTo>
                    <a:lnTo>
                      <a:pt x="57" y="56"/>
                    </a:lnTo>
                    <a:lnTo>
                      <a:pt x="47" y="51"/>
                    </a:lnTo>
                    <a:lnTo>
                      <a:pt x="39" y="42"/>
                    </a:lnTo>
                    <a:lnTo>
                      <a:pt x="32" y="34"/>
                    </a:lnTo>
                    <a:lnTo>
                      <a:pt x="24" y="25"/>
                    </a:lnTo>
                    <a:lnTo>
                      <a:pt x="17" y="15"/>
                    </a:lnTo>
                    <a:lnTo>
                      <a:pt x="10" y="7"/>
                    </a:lnTo>
                    <a:lnTo>
                      <a:pt x="3"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22540" name="Freeform 1041">
                <a:extLst>
                  <a:ext uri="{FF2B5EF4-FFF2-40B4-BE49-F238E27FC236}">
                    <a16:creationId xmlns:a16="http://schemas.microsoft.com/office/drawing/2014/main" id="{C494425E-D7A1-4B2E-B4D5-59C882DD690A}"/>
                  </a:ext>
                </a:extLst>
              </p:cNvPr>
              <p:cNvSpPr>
                <a:spLocks/>
              </p:cNvSpPr>
              <p:nvPr/>
            </p:nvSpPr>
            <p:spPr bwMode="auto">
              <a:xfrm>
                <a:off x="906" y="1026"/>
                <a:ext cx="296" cy="256"/>
              </a:xfrm>
              <a:custGeom>
                <a:avLst/>
                <a:gdLst>
                  <a:gd name="T0" fmla="*/ 0 w 296"/>
                  <a:gd name="T1" fmla="*/ 10 h 256"/>
                  <a:gd name="T2" fmla="*/ 4 w 296"/>
                  <a:gd name="T3" fmla="*/ 34 h 256"/>
                  <a:gd name="T4" fmla="*/ 22 w 296"/>
                  <a:gd name="T5" fmla="*/ 51 h 256"/>
                  <a:gd name="T6" fmla="*/ 44 w 296"/>
                  <a:gd name="T7" fmla="*/ 56 h 256"/>
                  <a:gd name="T8" fmla="*/ 66 w 296"/>
                  <a:gd name="T9" fmla="*/ 57 h 256"/>
                  <a:gd name="T10" fmla="*/ 88 w 296"/>
                  <a:gd name="T11" fmla="*/ 61 h 256"/>
                  <a:gd name="T12" fmla="*/ 121 w 296"/>
                  <a:gd name="T13" fmla="*/ 78 h 256"/>
                  <a:gd name="T14" fmla="*/ 158 w 296"/>
                  <a:gd name="T15" fmla="*/ 111 h 256"/>
                  <a:gd name="T16" fmla="*/ 187 w 296"/>
                  <a:gd name="T17" fmla="*/ 153 h 256"/>
                  <a:gd name="T18" fmla="*/ 209 w 296"/>
                  <a:gd name="T19" fmla="*/ 199 h 256"/>
                  <a:gd name="T20" fmla="*/ 217 w 296"/>
                  <a:gd name="T21" fmla="*/ 229 h 256"/>
                  <a:gd name="T22" fmla="*/ 210 w 296"/>
                  <a:gd name="T23" fmla="*/ 248 h 256"/>
                  <a:gd name="T24" fmla="*/ 224 w 296"/>
                  <a:gd name="T25" fmla="*/ 251 h 256"/>
                  <a:gd name="T26" fmla="*/ 246 w 296"/>
                  <a:gd name="T27" fmla="*/ 231 h 256"/>
                  <a:gd name="T28" fmla="*/ 266 w 296"/>
                  <a:gd name="T29" fmla="*/ 204 h 256"/>
                  <a:gd name="T30" fmla="*/ 284 w 296"/>
                  <a:gd name="T31" fmla="*/ 180 h 256"/>
                  <a:gd name="T32" fmla="*/ 289 w 296"/>
                  <a:gd name="T33" fmla="*/ 162 h 256"/>
                  <a:gd name="T34" fmla="*/ 276 w 296"/>
                  <a:gd name="T35" fmla="*/ 143 h 256"/>
                  <a:gd name="T36" fmla="*/ 261 w 296"/>
                  <a:gd name="T37" fmla="*/ 126 h 256"/>
                  <a:gd name="T38" fmla="*/ 247 w 296"/>
                  <a:gd name="T39" fmla="*/ 110 h 256"/>
                  <a:gd name="T40" fmla="*/ 234 w 296"/>
                  <a:gd name="T41" fmla="*/ 96 h 256"/>
                  <a:gd name="T42" fmla="*/ 217 w 296"/>
                  <a:gd name="T43" fmla="*/ 86 h 256"/>
                  <a:gd name="T44" fmla="*/ 199 w 296"/>
                  <a:gd name="T45" fmla="*/ 76 h 256"/>
                  <a:gd name="T46" fmla="*/ 177 w 296"/>
                  <a:gd name="T47" fmla="*/ 68 h 256"/>
                  <a:gd name="T48" fmla="*/ 153 w 296"/>
                  <a:gd name="T49" fmla="*/ 61 h 256"/>
                  <a:gd name="T50" fmla="*/ 131 w 296"/>
                  <a:gd name="T51" fmla="*/ 54 h 256"/>
                  <a:gd name="T52" fmla="*/ 110 w 296"/>
                  <a:gd name="T53" fmla="*/ 47 h 256"/>
                  <a:gd name="T54" fmla="*/ 86 w 296"/>
                  <a:gd name="T55" fmla="*/ 44 h 256"/>
                  <a:gd name="T56" fmla="*/ 63 w 296"/>
                  <a:gd name="T57" fmla="*/ 39 h 256"/>
                  <a:gd name="T58" fmla="*/ 42 w 296"/>
                  <a:gd name="T59" fmla="*/ 30 h 256"/>
                  <a:gd name="T60" fmla="*/ 24 w 296"/>
                  <a:gd name="T61" fmla="*/ 19 h 256"/>
                  <a:gd name="T62" fmla="*/ 7 w 296"/>
                  <a:gd name="T63" fmla="*/ 7 h 2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96"/>
                  <a:gd name="T97" fmla="*/ 0 h 256"/>
                  <a:gd name="T98" fmla="*/ 296 w 296"/>
                  <a:gd name="T99" fmla="*/ 256 h 25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96" h="256">
                    <a:moveTo>
                      <a:pt x="0" y="0"/>
                    </a:moveTo>
                    <a:lnTo>
                      <a:pt x="0" y="10"/>
                    </a:lnTo>
                    <a:lnTo>
                      <a:pt x="2" y="22"/>
                    </a:lnTo>
                    <a:lnTo>
                      <a:pt x="4" y="34"/>
                    </a:lnTo>
                    <a:lnTo>
                      <a:pt x="12" y="44"/>
                    </a:lnTo>
                    <a:lnTo>
                      <a:pt x="22" y="51"/>
                    </a:lnTo>
                    <a:lnTo>
                      <a:pt x="32" y="54"/>
                    </a:lnTo>
                    <a:lnTo>
                      <a:pt x="44" y="56"/>
                    </a:lnTo>
                    <a:lnTo>
                      <a:pt x="54" y="56"/>
                    </a:lnTo>
                    <a:lnTo>
                      <a:pt x="66" y="57"/>
                    </a:lnTo>
                    <a:lnTo>
                      <a:pt x="76" y="57"/>
                    </a:lnTo>
                    <a:lnTo>
                      <a:pt x="88" y="61"/>
                    </a:lnTo>
                    <a:lnTo>
                      <a:pt x="98" y="64"/>
                    </a:lnTo>
                    <a:lnTo>
                      <a:pt x="121" y="78"/>
                    </a:lnTo>
                    <a:lnTo>
                      <a:pt x="142" y="93"/>
                    </a:lnTo>
                    <a:lnTo>
                      <a:pt x="158" y="111"/>
                    </a:lnTo>
                    <a:lnTo>
                      <a:pt x="173" y="131"/>
                    </a:lnTo>
                    <a:lnTo>
                      <a:pt x="187" y="153"/>
                    </a:lnTo>
                    <a:lnTo>
                      <a:pt x="197" y="175"/>
                    </a:lnTo>
                    <a:lnTo>
                      <a:pt x="209" y="199"/>
                    </a:lnTo>
                    <a:lnTo>
                      <a:pt x="217" y="222"/>
                    </a:lnTo>
                    <a:lnTo>
                      <a:pt x="217" y="229"/>
                    </a:lnTo>
                    <a:lnTo>
                      <a:pt x="214" y="238"/>
                    </a:lnTo>
                    <a:lnTo>
                      <a:pt x="210" y="248"/>
                    </a:lnTo>
                    <a:lnTo>
                      <a:pt x="210" y="256"/>
                    </a:lnTo>
                    <a:lnTo>
                      <a:pt x="224" y="251"/>
                    </a:lnTo>
                    <a:lnTo>
                      <a:pt x="236" y="243"/>
                    </a:lnTo>
                    <a:lnTo>
                      <a:pt x="246" y="231"/>
                    </a:lnTo>
                    <a:lnTo>
                      <a:pt x="256" y="217"/>
                    </a:lnTo>
                    <a:lnTo>
                      <a:pt x="266" y="204"/>
                    </a:lnTo>
                    <a:lnTo>
                      <a:pt x="274" y="192"/>
                    </a:lnTo>
                    <a:lnTo>
                      <a:pt x="284" y="180"/>
                    </a:lnTo>
                    <a:lnTo>
                      <a:pt x="296" y="172"/>
                    </a:lnTo>
                    <a:lnTo>
                      <a:pt x="289" y="162"/>
                    </a:lnTo>
                    <a:lnTo>
                      <a:pt x="283" y="153"/>
                    </a:lnTo>
                    <a:lnTo>
                      <a:pt x="276" y="143"/>
                    </a:lnTo>
                    <a:lnTo>
                      <a:pt x="269" y="135"/>
                    </a:lnTo>
                    <a:lnTo>
                      <a:pt x="261" y="126"/>
                    </a:lnTo>
                    <a:lnTo>
                      <a:pt x="254" y="118"/>
                    </a:lnTo>
                    <a:lnTo>
                      <a:pt x="247" y="110"/>
                    </a:lnTo>
                    <a:lnTo>
                      <a:pt x="241" y="103"/>
                    </a:lnTo>
                    <a:lnTo>
                      <a:pt x="234" y="96"/>
                    </a:lnTo>
                    <a:lnTo>
                      <a:pt x="226" y="91"/>
                    </a:lnTo>
                    <a:lnTo>
                      <a:pt x="217" y="86"/>
                    </a:lnTo>
                    <a:lnTo>
                      <a:pt x="209" y="81"/>
                    </a:lnTo>
                    <a:lnTo>
                      <a:pt x="199" y="76"/>
                    </a:lnTo>
                    <a:lnTo>
                      <a:pt x="187" y="71"/>
                    </a:lnTo>
                    <a:lnTo>
                      <a:pt x="177" y="68"/>
                    </a:lnTo>
                    <a:lnTo>
                      <a:pt x="165" y="64"/>
                    </a:lnTo>
                    <a:lnTo>
                      <a:pt x="153" y="61"/>
                    </a:lnTo>
                    <a:lnTo>
                      <a:pt x="142" y="57"/>
                    </a:lnTo>
                    <a:lnTo>
                      <a:pt x="131" y="54"/>
                    </a:lnTo>
                    <a:lnTo>
                      <a:pt x="120" y="51"/>
                    </a:lnTo>
                    <a:lnTo>
                      <a:pt x="110" y="47"/>
                    </a:lnTo>
                    <a:lnTo>
                      <a:pt x="98" y="46"/>
                    </a:lnTo>
                    <a:lnTo>
                      <a:pt x="86" y="44"/>
                    </a:lnTo>
                    <a:lnTo>
                      <a:pt x="73" y="42"/>
                    </a:lnTo>
                    <a:lnTo>
                      <a:pt x="63" y="39"/>
                    </a:lnTo>
                    <a:lnTo>
                      <a:pt x="52" y="36"/>
                    </a:lnTo>
                    <a:lnTo>
                      <a:pt x="42" y="30"/>
                    </a:lnTo>
                    <a:lnTo>
                      <a:pt x="32" y="25"/>
                    </a:lnTo>
                    <a:lnTo>
                      <a:pt x="24" y="19"/>
                    </a:lnTo>
                    <a:lnTo>
                      <a:pt x="15" y="12"/>
                    </a:lnTo>
                    <a:lnTo>
                      <a:pt x="7" y="7"/>
                    </a:lnTo>
                    <a:lnTo>
                      <a:pt x="0"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22541" name="Freeform 1042">
                <a:extLst>
                  <a:ext uri="{FF2B5EF4-FFF2-40B4-BE49-F238E27FC236}">
                    <a16:creationId xmlns:a16="http://schemas.microsoft.com/office/drawing/2014/main" id="{6673EBEF-EECE-4E57-8782-D16FAC2EC704}"/>
                  </a:ext>
                </a:extLst>
              </p:cNvPr>
              <p:cNvSpPr>
                <a:spLocks/>
              </p:cNvSpPr>
              <p:nvPr/>
            </p:nvSpPr>
            <p:spPr bwMode="auto">
              <a:xfrm>
                <a:off x="906" y="1026"/>
                <a:ext cx="296" cy="256"/>
              </a:xfrm>
              <a:custGeom>
                <a:avLst/>
                <a:gdLst>
                  <a:gd name="T0" fmla="*/ 0 w 296"/>
                  <a:gd name="T1" fmla="*/ 0 h 256"/>
                  <a:gd name="T2" fmla="*/ 2 w 296"/>
                  <a:gd name="T3" fmla="*/ 22 h 256"/>
                  <a:gd name="T4" fmla="*/ 12 w 296"/>
                  <a:gd name="T5" fmla="*/ 44 h 256"/>
                  <a:gd name="T6" fmla="*/ 22 w 296"/>
                  <a:gd name="T7" fmla="*/ 51 h 256"/>
                  <a:gd name="T8" fmla="*/ 44 w 296"/>
                  <a:gd name="T9" fmla="*/ 56 h 256"/>
                  <a:gd name="T10" fmla="*/ 66 w 296"/>
                  <a:gd name="T11" fmla="*/ 57 h 256"/>
                  <a:gd name="T12" fmla="*/ 88 w 296"/>
                  <a:gd name="T13" fmla="*/ 61 h 256"/>
                  <a:gd name="T14" fmla="*/ 98 w 296"/>
                  <a:gd name="T15" fmla="*/ 64 h 256"/>
                  <a:gd name="T16" fmla="*/ 142 w 296"/>
                  <a:gd name="T17" fmla="*/ 93 h 256"/>
                  <a:gd name="T18" fmla="*/ 173 w 296"/>
                  <a:gd name="T19" fmla="*/ 131 h 256"/>
                  <a:gd name="T20" fmla="*/ 197 w 296"/>
                  <a:gd name="T21" fmla="*/ 175 h 256"/>
                  <a:gd name="T22" fmla="*/ 217 w 296"/>
                  <a:gd name="T23" fmla="*/ 222 h 256"/>
                  <a:gd name="T24" fmla="*/ 217 w 296"/>
                  <a:gd name="T25" fmla="*/ 229 h 256"/>
                  <a:gd name="T26" fmla="*/ 210 w 296"/>
                  <a:gd name="T27" fmla="*/ 248 h 256"/>
                  <a:gd name="T28" fmla="*/ 210 w 296"/>
                  <a:gd name="T29" fmla="*/ 256 h 256"/>
                  <a:gd name="T30" fmla="*/ 236 w 296"/>
                  <a:gd name="T31" fmla="*/ 243 h 256"/>
                  <a:gd name="T32" fmla="*/ 256 w 296"/>
                  <a:gd name="T33" fmla="*/ 217 h 256"/>
                  <a:gd name="T34" fmla="*/ 274 w 296"/>
                  <a:gd name="T35" fmla="*/ 192 h 256"/>
                  <a:gd name="T36" fmla="*/ 296 w 296"/>
                  <a:gd name="T37" fmla="*/ 172 h 256"/>
                  <a:gd name="T38" fmla="*/ 289 w 296"/>
                  <a:gd name="T39" fmla="*/ 162 h 256"/>
                  <a:gd name="T40" fmla="*/ 276 w 296"/>
                  <a:gd name="T41" fmla="*/ 143 h 256"/>
                  <a:gd name="T42" fmla="*/ 261 w 296"/>
                  <a:gd name="T43" fmla="*/ 126 h 256"/>
                  <a:gd name="T44" fmla="*/ 247 w 296"/>
                  <a:gd name="T45" fmla="*/ 110 h 256"/>
                  <a:gd name="T46" fmla="*/ 241 w 296"/>
                  <a:gd name="T47" fmla="*/ 103 h 256"/>
                  <a:gd name="T48" fmla="*/ 226 w 296"/>
                  <a:gd name="T49" fmla="*/ 91 h 256"/>
                  <a:gd name="T50" fmla="*/ 209 w 296"/>
                  <a:gd name="T51" fmla="*/ 81 h 256"/>
                  <a:gd name="T52" fmla="*/ 187 w 296"/>
                  <a:gd name="T53" fmla="*/ 71 h 256"/>
                  <a:gd name="T54" fmla="*/ 165 w 296"/>
                  <a:gd name="T55" fmla="*/ 64 h 256"/>
                  <a:gd name="T56" fmla="*/ 153 w 296"/>
                  <a:gd name="T57" fmla="*/ 61 h 256"/>
                  <a:gd name="T58" fmla="*/ 131 w 296"/>
                  <a:gd name="T59" fmla="*/ 54 h 256"/>
                  <a:gd name="T60" fmla="*/ 110 w 296"/>
                  <a:gd name="T61" fmla="*/ 47 h 256"/>
                  <a:gd name="T62" fmla="*/ 86 w 296"/>
                  <a:gd name="T63" fmla="*/ 44 h 256"/>
                  <a:gd name="T64" fmla="*/ 73 w 296"/>
                  <a:gd name="T65" fmla="*/ 42 h 256"/>
                  <a:gd name="T66" fmla="*/ 52 w 296"/>
                  <a:gd name="T67" fmla="*/ 36 h 256"/>
                  <a:gd name="T68" fmla="*/ 32 w 296"/>
                  <a:gd name="T69" fmla="*/ 25 h 256"/>
                  <a:gd name="T70" fmla="*/ 15 w 296"/>
                  <a:gd name="T71" fmla="*/ 12 h 256"/>
                  <a:gd name="T72" fmla="*/ 0 w 296"/>
                  <a:gd name="T73" fmla="*/ 0 h 2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6"/>
                  <a:gd name="T112" fmla="*/ 0 h 256"/>
                  <a:gd name="T113" fmla="*/ 296 w 296"/>
                  <a:gd name="T114" fmla="*/ 256 h 25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6" h="256">
                    <a:moveTo>
                      <a:pt x="0" y="0"/>
                    </a:moveTo>
                    <a:lnTo>
                      <a:pt x="0" y="0"/>
                    </a:lnTo>
                    <a:lnTo>
                      <a:pt x="0" y="10"/>
                    </a:lnTo>
                    <a:lnTo>
                      <a:pt x="2" y="22"/>
                    </a:lnTo>
                    <a:lnTo>
                      <a:pt x="4" y="34"/>
                    </a:lnTo>
                    <a:lnTo>
                      <a:pt x="12" y="44"/>
                    </a:lnTo>
                    <a:lnTo>
                      <a:pt x="22" y="51"/>
                    </a:lnTo>
                    <a:lnTo>
                      <a:pt x="32" y="54"/>
                    </a:lnTo>
                    <a:lnTo>
                      <a:pt x="44" y="56"/>
                    </a:lnTo>
                    <a:lnTo>
                      <a:pt x="54" y="56"/>
                    </a:lnTo>
                    <a:lnTo>
                      <a:pt x="66" y="57"/>
                    </a:lnTo>
                    <a:lnTo>
                      <a:pt x="76" y="57"/>
                    </a:lnTo>
                    <a:lnTo>
                      <a:pt x="88" y="61"/>
                    </a:lnTo>
                    <a:lnTo>
                      <a:pt x="98" y="64"/>
                    </a:lnTo>
                    <a:lnTo>
                      <a:pt x="121" y="78"/>
                    </a:lnTo>
                    <a:lnTo>
                      <a:pt x="142" y="93"/>
                    </a:lnTo>
                    <a:lnTo>
                      <a:pt x="158" y="111"/>
                    </a:lnTo>
                    <a:lnTo>
                      <a:pt x="173" y="131"/>
                    </a:lnTo>
                    <a:lnTo>
                      <a:pt x="187" y="153"/>
                    </a:lnTo>
                    <a:lnTo>
                      <a:pt x="197" y="175"/>
                    </a:lnTo>
                    <a:lnTo>
                      <a:pt x="209" y="199"/>
                    </a:lnTo>
                    <a:lnTo>
                      <a:pt x="217" y="222"/>
                    </a:lnTo>
                    <a:lnTo>
                      <a:pt x="217" y="229"/>
                    </a:lnTo>
                    <a:lnTo>
                      <a:pt x="214" y="238"/>
                    </a:lnTo>
                    <a:lnTo>
                      <a:pt x="210" y="248"/>
                    </a:lnTo>
                    <a:lnTo>
                      <a:pt x="210" y="256"/>
                    </a:lnTo>
                    <a:lnTo>
                      <a:pt x="224" y="251"/>
                    </a:lnTo>
                    <a:lnTo>
                      <a:pt x="236" y="243"/>
                    </a:lnTo>
                    <a:lnTo>
                      <a:pt x="246" y="231"/>
                    </a:lnTo>
                    <a:lnTo>
                      <a:pt x="256" y="217"/>
                    </a:lnTo>
                    <a:lnTo>
                      <a:pt x="266" y="204"/>
                    </a:lnTo>
                    <a:lnTo>
                      <a:pt x="274" y="192"/>
                    </a:lnTo>
                    <a:lnTo>
                      <a:pt x="284" y="180"/>
                    </a:lnTo>
                    <a:lnTo>
                      <a:pt x="296" y="172"/>
                    </a:lnTo>
                    <a:lnTo>
                      <a:pt x="289" y="162"/>
                    </a:lnTo>
                    <a:lnTo>
                      <a:pt x="283" y="153"/>
                    </a:lnTo>
                    <a:lnTo>
                      <a:pt x="276" y="143"/>
                    </a:lnTo>
                    <a:lnTo>
                      <a:pt x="269" y="135"/>
                    </a:lnTo>
                    <a:lnTo>
                      <a:pt x="261" y="126"/>
                    </a:lnTo>
                    <a:lnTo>
                      <a:pt x="254" y="118"/>
                    </a:lnTo>
                    <a:lnTo>
                      <a:pt x="247" y="110"/>
                    </a:lnTo>
                    <a:lnTo>
                      <a:pt x="241" y="103"/>
                    </a:lnTo>
                    <a:lnTo>
                      <a:pt x="234" y="96"/>
                    </a:lnTo>
                    <a:lnTo>
                      <a:pt x="226" y="91"/>
                    </a:lnTo>
                    <a:lnTo>
                      <a:pt x="217" y="86"/>
                    </a:lnTo>
                    <a:lnTo>
                      <a:pt x="209" y="81"/>
                    </a:lnTo>
                    <a:lnTo>
                      <a:pt x="199" y="76"/>
                    </a:lnTo>
                    <a:lnTo>
                      <a:pt x="187" y="71"/>
                    </a:lnTo>
                    <a:lnTo>
                      <a:pt x="177" y="68"/>
                    </a:lnTo>
                    <a:lnTo>
                      <a:pt x="165" y="64"/>
                    </a:lnTo>
                    <a:lnTo>
                      <a:pt x="153" y="61"/>
                    </a:lnTo>
                    <a:lnTo>
                      <a:pt x="142" y="57"/>
                    </a:lnTo>
                    <a:lnTo>
                      <a:pt x="131" y="54"/>
                    </a:lnTo>
                    <a:lnTo>
                      <a:pt x="120" y="51"/>
                    </a:lnTo>
                    <a:lnTo>
                      <a:pt x="110" y="47"/>
                    </a:lnTo>
                    <a:lnTo>
                      <a:pt x="98" y="46"/>
                    </a:lnTo>
                    <a:lnTo>
                      <a:pt x="86" y="44"/>
                    </a:lnTo>
                    <a:lnTo>
                      <a:pt x="73" y="42"/>
                    </a:lnTo>
                    <a:lnTo>
                      <a:pt x="63" y="39"/>
                    </a:lnTo>
                    <a:lnTo>
                      <a:pt x="52" y="36"/>
                    </a:lnTo>
                    <a:lnTo>
                      <a:pt x="42" y="30"/>
                    </a:lnTo>
                    <a:lnTo>
                      <a:pt x="32" y="25"/>
                    </a:lnTo>
                    <a:lnTo>
                      <a:pt x="24" y="19"/>
                    </a:lnTo>
                    <a:lnTo>
                      <a:pt x="15" y="12"/>
                    </a:lnTo>
                    <a:lnTo>
                      <a:pt x="7" y="7"/>
                    </a:lnTo>
                    <a:lnTo>
                      <a:pt x="0" y="0"/>
                    </a:lnTo>
                  </a:path>
                </a:pathLst>
              </a:custGeom>
              <a:solidFill>
                <a:srgbClr val="FFFF00"/>
              </a:solidFill>
              <a:ln w="0" cap="sq">
                <a:solidFill>
                  <a:srgbClr val="000000"/>
                </a:solidFill>
                <a:prstDash val="solid"/>
                <a:miter lim="800000"/>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graphicFrame>
          <p:nvGraphicFramePr>
            <p:cNvPr id="22535" name="Object 1035">
              <a:extLst>
                <a:ext uri="{FF2B5EF4-FFF2-40B4-BE49-F238E27FC236}">
                  <a16:creationId xmlns:a16="http://schemas.microsoft.com/office/drawing/2014/main" id="{B5491385-AA22-4344-8CB8-C13593945F9C}"/>
                </a:ext>
              </a:extLst>
            </p:cNvPr>
            <p:cNvGraphicFramePr>
              <a:graphicFrameLocks noChangeAspect="1"/>
            </p:cNvGraphicFramePr>
            <p:nvPr/>
          </p:nvGraphicFramePr>
          <p:xfrm>
            <a:off x="3696" y="2160"/>
            <a:ext cx="1789" cy="1902"/>
          </p:xfrm>
          <a:graphic>
            <a:graphicData uri="http://schemas.openxmlformats.org/presentationml/2006/ole">
              <mc:AlternateContent xmlns:mc="http://schemas.openxmlformats.org/markup-compatibility/2006">
                <mc:Choice xmlns:v="urn:schemas-microsoft-com:vml" Requires="v">
                  <p:oleObj spid="_x0000_s3077" name="Imagen" r:id="rId3" imgW="2409825" imgH="2562225" progId="MS_ClipArt_Gallery.2">
                    <p:embed/>
                  </p:oleObj>
                </mc:Choice>
                <mc:Fallback>
                  <p:oleObj name="Imagen" r:id="rId3" imgW="2409825" imgH="2562225" progId="MS_ClipArt_Gallery.2">
                    <p:embed/>
                    <p:pic>
                      <p:nvPicPr>
                        <p:cNvPr id="22535" name="Object 1035">
                          <a:extLst>
                            <a:ext uri="{FF2B5EF4-FFF2-40B4-BE49-F238E27FC236}">
                              <a16:creationId xmlns:a16="http://schemas.microsoft.com/office/drawing/2014/main" id="{B5491385-AA22-4344-8CB8-C13593945F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 y="2160"/>
                          <a:ext cx="1789" cy="19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6" descr="COFIA-BLANCA-MALLA-BLANCA">
            <a:hlinkClick r:id="rId3"/>
            <a:extLst>
              <a:ext uri="{FF2B5EF4-FFF2-40B4-BE49-F238E27FC236}">
                <a16:creationId xmlns:a16="http://schemas.microsoft.com/office/drawing/2014/main" id="{987F4CE1-878C-4AE0-8EBE-0DA1F91E88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0151" y="3709988"/>
            <a:ext cx="19034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a:extLst>
              <a:ext uri="{FF2B5EF4-FFF2-40B4-BE49-F238E27FC236}">
                <a16:creationId xmlns:a16="http://schemas.microsoft.com/office/drawing/2014/main" id="{EC938B3F-5B1A-4E46-ACD5-24D35C460E3C}"/>
              </a:ext>
            </a:extLst>
          </p:cNvPr>
          <p:cNvSpPr txBox="1">
            <a:spLocks noChangeArrowheads="1"/>
          </p:cNvSpPr>
          <p:nvPr/>
        </p:nvSpPr>
        <p:spPr bwMode="auto">
          <a:xfrm>
            <a:off x="2097088" y="1752600"/>
            <a:ext cx="7772400" cy="1143000"/>
          </a:xfrm>
          <a:prstGeom prst="rect">
            <a:avLst/>
          </a:prstGeom>
          <a:noFill/>
          <a:ln w="9525">
            <a:noFill/>
            <a:miter lim="800000"/>
            <a:headEnd/>
            <a:tailEnd/>
          </a:ln>
        </p:spPr>
        <p:txBody>
          <a:bodyPr/>
          <a:lstStyle/>
          <a:p>
            <a:pPr defTabSz="449263" fontAlgn="base">
              <a:spcBef>
                <a:spcPct val="0"/>
              </a:spcBef>
              <a:spcAft>
                <a:spcPct val="0"/>
              </a:spcAft>
              <a:defRPr/>
            </a:pPr>
            <a:r>
              <a:rPr lang="es-ES" sz="3200" b="1" dirty="0">
                <a:solidFill>
                  <a:srgbClr val="000066"/>
                </a:solidFill>
                <a:effectLst>
                  <a:outerShdw blurRad="38100" dist="38100" dir="2700000" algn="tl">
                    <a:srgbClr val="C0C0C0"/>
                  </a:outerShdw>
                </a:effectLst>
                <a:latin typeface="Trebuchet MS" pitchFamily="34" charset="0"/>
                <a:ea typeface="ＭＳ Ｐゴシック" charset="-128"/>
                <a:cs typeface="Arial Bold"/>
              </a:rPr>
              <a:t>COFIAS (gorros)</a:t>
            </a:r>
            <a:endParaRPr lang="es-ES_tradnl" sz="3200" b="1" dirty="0">
              <a:solidFill>
                <a:srgbClr val="000066"/>
              </a:solidFill>
              <a:effectLst>
                <a:outerShdw blurRad="38100" dist="38100" dir="2700000" algn="tl">
                  <a:srgbClr val="C0C0C0"/>
                </a:outerShdw>
              </a:effectLst>
              <a:latin typeface="Trebuchet MS" pitchFamily="34" charset="0"/>
              <a:ea typeface="ＭＳ Ｐゴシック" charset="-128"/>
              <a:cs typeface="Arial Bold"/>
            </a:endParaRPr>
          </a:p>
        </p:txBody>
      </p:sp>
      <p:sp>
        <p:nvSpPr>
          <p:cNvPr id="23556" name="Text Box 5">
            <a:extLst>
              <a:ext uri="{FF2B5EF4-FFF2-40B4-BE49-F238E27FC236}">
                <a16:creationId xmlns:a16="http://schemas.microsoft.com/office/drawing/2014/main" id="{B32A6DD0-63B2-40CA-B9D4-1AC76C979DB3}"/>
              </a:ext>
            </a:extLst>
          </p:cNvPr>
          <p:cNvSpPr txBox="1">
            <a:spLocks noChangeArrowheads="1"/>
          </p:cNvSpPr>
          <p:nvPr/>
        </p:nvSpPr>
        <p:spPr bwMode="auto">
          <a:xfrm>
            <a:off x="5643564" y="1752601"/>
            <a:ext cx="4643437"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defTabSz="449263" fontAlgn="base">
              <a:spcBef>
                <a:spcPct val="50000"/>
              </a:spcBef>
              <a:spcAft>
                <a:spcPct val="0"/>
              </a:spcAft>
            </a:pPr>
            <a:r>
              <a:rPr lang="es-ES_tradnl" altLang="es-CO" sz="2400">
                <a:solidFill>
                  <a:srgbClr val="1B418B"/>
                </a:solidFill>
                <a:latin typeface="Arial" panose="020B0604020202020204" pitchFamily="34" charset="0"/>
                <a:ea typeface="ＭＳ Ｐゴシック" panose="020B0600070205080204" pitchFamily="34" charset="-128"/>
              </a:rPr>
              <a:t>Cofias para las personas </a:t>
            </a:r>
            <a:r>
              <a:rPr lang="es-ES" altLang="es-CO" sz="2400">
                <a:solidFill>
                  <a:srgbClr val="1B418B"/>
                </a:solidFill>
                <a:latin typeface="Arial" panose="020B0604020202020204" pitchFamily="34" charset="0"/>
                <a:ea typeface="ＭＳ Ｐゴシック" panose="020B0600070205080204" pitchFamily="34" charset="-128"/>
              </a:rPr>
              <a:t>en los lugares donde se </a:t>
            </a:r>
            <a:r>
              <a:rPr lang="es-ES_tradnl" altLang="es-CO" sz="2400">
                <a:solidFill>
                  <a:srgbClr val="1B418B"/>
                </a:solidFill>
                <a:latin typeface="Arial" panose="020B0604020202020204" pitchFamily="34" charset="0"/>
                <a:ea typeface="ＭＳ Ｐゴシック" panose="020B0600070205080204" pitchFamily="34" charset="-128"/>
              </a:rPr>
              <a:t> se preparan alimentos</a:t>
            </a:r>
            <a:r>
              <a:rPr lang="es-ES" altLang="es-CO" sz="2400">
                <a:solidFill>
                  <a:srgbClr val="1B418B"/>
                </a:solidFill>
                <a:latin typeface="Arial" panose="020B0604020202020204" pitchFamily="34" charset="0"/>
                <a:ea typeface="ＭＳ Ｐゴシック" panose="020B0600070205080204" pitchFamily="34" charset="-128"/>
              </a:rPr>
              <a:t>.</a:t>
            </a:r>
          </a:p>
          <a:p>
            <a:pPr algn="just" defTabSz="449263" fontAlgn="base">
              <a:spcBef>
                <a:spcPct val="50000"/>
              </a:spcBef>
              <a:spcAft>
                <a:spcPct val="0"/>
              </a:spcAft>
            </a:pPr>
            <a:r>
              <a:rPr lang="es-ES" altLang="es-CO" sz="2400">
                <a:solidFill>
                  <a:srgbClr val="1B418B"/>
                </a:solidFill>
                <a:latin typeface="Arial" panose="020B0604020202020204" pitchFamily="34" charset="0"/>
                <a:ea typeface="ＭＳ Ｐゴシック" panose="020B0600070205080204" pitchFamily="34" charset="-128"/>
              </a:rPr>
              <a:t>Deberán ser de </a:t>
            </a:r>
            <a:r>
              <a:rPr lang="es-ES_tradnl" altLang="es-CO" sz="2400">
                <a:solidFill>
                  <a:srgbClr val="1B418B"/>
                </a:solidFill>
                <a:latin typeface="Arial" panose="020B0604020202020204" pitchFamily="34" charset="0"/>
                <a:ea typeface="ＭＳ Ｐゴシック" panose="020B0600070205080204" pitchFamily="34" charset="-128"/>
              </a:rPr>
              <a:t>material que no sea fácilmente inflamable y durables para resistir el</a:t>
            </a:r>
            <a:r>
              <a:rPr lang="es-ES" altLang="es-CO" sz="2400">
                <a:solidFill>
                  <a:srgbClr val="1B418B"/>
                </a:solidFill>
                <a:latin typeface="Arial" panose="020B0604020202020204" pitchFamily="34" charset="0"/>
                <a:ea typeface="ＭＳ Ｐゴシック" panose="020B0600070205080204" pitchFamily="34" charset="-128"/>
              </a:rPr>
              <a:t> </a:t>
            </a:r>
            <a:r>
              <a:rPr lang="es-ES_tradnl" altLang="es-CO" sz="2400">
                <a:solidFill>
                  <a:srgbClr val="1B418B"/>
                </a:solidFill>
                <a:latin typeface="Arial" panose="020B0604020202020204" pitchFamily="34" charset="0"/>
                <a:ea typeface="ＭＳ Ｐゴシック" panose="020B0600070205080204" pitchFamily="34" charset="-128"/>
              </a:rPr>
              <a:t>lavado y la desinfección.</a:t>
            </a:r>
          </a:p>
        </p:txBody>
      </p:sp>
      <p:pic>
        <p:nvPicPr>
          <p:cNvPr id="23557" name="Picture 7" descr="sq">
            <a:hlinkClick r:id="rId5"/>
            <a:extLst>
              <a:ext uri="{FF2B5EF4-FFF2-40B4-BE49-F238E27FC236}">
                <a16:creationId xmlns:a16="http://schemas.microsoft.com/office/drawing/2014/main" id="{4ABC7425-119A-4509-962A-4749841F0D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8314" y="2381251"/>
            <a:ext cx="2225675" cy="265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Title 4">
            <a:extLst>
              <a:ext uri="{FF2B5EF4-FFF2-40B4-BE49-F238E27FC236}">
                <a16:creationId xmlns:a16="http://schemas.microsoft.com/office/drawing/2014/main" id="{A19CC667-E53F-47A8-8E32-64868EAE1B93}"/>
              </a:ext>
            </a:extLst>
          </p:cNvPr>
          <p:cNvSpPr>
            <a:spLocks noGrp="1" noChangeArrowheads="1"/>
          </p:cNvSpPr>
          <p:nvPr>
            <p:ph type="title"/>
          </p:nvPr>
        </p:nvSpPr>
        <p:spPr>
          <a:xfrm>
            <a:off x="1905000" y="285750"/>
            <a:ext cx="8382000" cy="642938"/>
          </a:xfrm>
        </p:spPr>
        <p:txBody>
          <a:bodyPr/>
          <a:lstStyle/>
          <a:p>
            <a:pPr algn="ctr"/>
            <a:r>
              <a:rPr lang="es-ES" altLang="es-CO" b="1"/>
              <a:t>Protección para la CABEZA</a:t>
            </a:r>
            <a:endParaRPr lang="es-ES" altLang="es-CO" sz="20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Marcador de contenido 1">
            <a:extLst>
              <a:ext uri="{FF2B5EF4-FFF2-40B4-BE49-F238E27FC236}">
                <a16:creationId xmlns:a16="http://schemas.microsoft.com/office/drawing/2014/main" id="{24FE9166-C3E0-47CB-9EB9-9FC0C9FC7450}"/>
              </a:ext>
            </a:extLst>
          </p:cNvPr>
          <p:cNvSpPr>
            <a:spLocks noGrp="1" noChangeArrowheads="1"/>
          </p:cNvSpPr>
          <p:nvPr>
            <p:ph idx="1"/>
          </p:nvPr>
        </p:nvSpPr>
        <p:spPr>
          <a:xfrm>
            <a:off x="1905000" y="1600200"/>
            <a:ext cx="8382000" cy="4724400"/>
          </a:xfrm>
        </p:spPr>
        <p:txBody>
          <a:bodyPr/>
          <a:lstStyle/>
          <a:p>
            <a:r>
              <a:rPr lang="es-ES" altLang="es-CO">
                <a:solidFill>
                  <a:schemeClr val="tx1"/>
                </a:solidFill>
              </a:rPr>
              <a:t>Se busca resguardar los ojos de dos riesgos</a:t>
            </a:r>
          </a:p>
          <a:p>
            <a:r>
              <a:rPr lang="es-ES" altLang="es-CO">
                <a:solidFill>
                  <a:schemeClr val="tx1"/>
                </a:solidFill>
              </a:rPr>
              <a:t>primarios:</a:t>
            </a:r>
          </a:p>
          <a:p>
            <a:r>
              <a:rPr lang="es-ES" altLang="es-CO">
                <a:solidFill>
                  <a:schemeClr val="tx1"/>
                </a:solidFill>
              </a:rPr>
              <a:t>• Impacto de partículas (sólidas y líquidas).</a:t>
            </a:r>
          </a:p>
          <a:p>
            <a:r>
              <a:rPr lang="es-ES" altLang="es-CO">
                <a:solidFill>
                  <a:schemeClr val="tx1"/>
                </a:solidFill>
              </a:rPr>
              <a:t>• Radiación generada por luz visible y por</a:t>
            </a:r>
          </a:p>
          <a:p>
            <a:r>
              <a:rPr lang="es-ES" altLang="es-CO">
                <a:solidFill>
                  <a:schemeClr val="tx1"/>
                </a:solidFill>
              </a:rPr>
              <a:t>ultravioleta (UV) e infrarroja (IR) (ambas</a:t>
            </a:r>
          </a:p>
          <a:p>
            <a:r>
              <a:rPr lang="es-ES" altLang="es-CO">
                <a:solidFill>
                  <a:schemeClr val="tx1"/>
                </a:solidFill>
              </a:rPr>
              <a:t>invisibles).</a:t>
            </a:r>
          </a:p>
          <a:p>
            <a:endParaRPr lang="es-CO" altLang="es-CO"/>
          </a:p>
        </p:txBody>
      </p:sp>
      <p:sp>
        <p:nvSpPr>
          <p:cNvPr id="25603" name="Título 2">
            <a:extLst>
              <a:ext uri="{FF2B5EF4-FFF2-40B4-BE49-F238E27FC236}">
                <a16:creationId xmlns:a16="http://schemas.microsoft.com/office/drawing/2014/main" id="{6B92AFD0-9888-4842-BDB4-F3216074802E}"/>
              </a:ext>
            </a:extLst>
          </p:cNvPr>
          <p:cNvSpPr>
            <a:spLocks noGrp="1" noChangeArrowheads="1"/>
          </p:cNvSpPr>
          <p:nvPr>
            <p:ph type="title"/>
          </p:nvPr>
        </p:nvSpPr>
        <p:spPr/>
        <p:txBody>
          <a:bodyPr/>
          <a:lstStyle/>
          <a:p>
            <a:pPr algn="ctr"/>
            <a:r>
              <a:rPr lang="es-ES" altLang="es-CO"/>
              <a:t>PROTECCIÓN OCULAR</a:t>
            </a:r>
            <a:endParaRPr lang="es-CO" altLang="es-CO"/>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Título">
            <a:extLst>
              <a:ext uri="{FF2B5EF4-FFF2-40B4-BE49-F238E27FC236}">
                <a16:creationId xmlns:a16="http://schemas.microsoft.com/office/drawing/2014/main" id="{C0176C3D-0947-44B3-8011-245FF015A2D3}"/>
              </a:ext>
            </a:extLst>
          </p:cNvPr>
          <p:cNvSpPr>
            <a:spLocks noGrp="1" noChangeArrowheads="1"/>
          </p:cNvSpPr>
          <p:nvPr>
            <p:ph type="title"/>
          </p:nvPr>
        </p:nvSpPr>
        <p:spPr>
          <a:xfrm>
            <a:off x="1905001" y="228600"/>
            <a:ext cx="8583613" cy="1066800"/>
          </a:xfrm>
        </p:spPr>
        <p:txBody>
          <a:bodyPr/>
          <a:lstStyle/>
          <a:p>
            <a:pPr algn="ctr"/>
            <a:r>
              <a:rPr lang="es-CO" altLang="es-CO" b="1"/>
              <a:t>GAFAS DE SEGURIDAD DE LENTE CLARO Y OSCURO</a:t>
            </a:r>
          </a:p>
        </p:txBody>
      </p:sp>
      <p:pic>
        <p:nvPicPr>
          <p:cNvPr id="26627" name="Picture 2">
            <a:extLst>
              <a:ext uri="{FF2B5EF4-FFF2-40B4-BE49-F238E27FC236}">
                <a16:creationId xmlns:a16="http://schemas.microsoft.com/office/drawing/2014/main" id="{8E53C82E-E9E1-46FC-95AB-D07E9B7E0A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01789" y="1773239"/>
            <a:ext cx="3328987" cy="2674937"/>
          </a:xfrm>
          <a:noFill/>
        </p:spPr>
      </p:pic>
      <p:pic>
        <p:nvPicPr>
          <p:cNvPr id="26628" name="Picture 6" descr="Imagen de Gafas De Seguridad Protección Oscuras">
            <a:extLst>
              <a:ext uri="{FF2B5EF4-FFF2-40B4-BE49-F238E27FC236}">
                <a16:creationId xmlns:a16="http://schemas.microsoft.com/office/drawing/2014/main" id="{71903E4A-E6F8-4FCA-8574-8DBAEFB3C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4801" y="3190876"/>
            <a:ext cx="3241675"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ítulo 1">
            <a:extLst>
              <a:ext uri="{FF2B5EF4-FFF2-40B4-BE49-F238E27FC236}">
                <a16:creationId xmlns:a16="http://schemas.microsoft.com/office/drawing/2014/main" id="{CBEF8766-AE5D-40EF-A6D4-040E85E37F2C}"/>
              </a:ext>
            </a:extLst>
          </p:cNvPr>
          <p:cNvSpPr>
            <a:spLocks noGrp="1" noChangeArrowheads="1"/>
          </p:cNvSpPr>
          <p:nvPr>
            <p:ph type="title"/>
          </p:nvPr>
        </p:nvSpPr>
        <p:spPr/>
        <p:txBody>
          <a:bodyPr/>
          <a:lstStyle/>
          <a:p>
            <a:pPr algn="ctr"/>
            <a:r>
              <a:rPr lang="es-ES" altLang="es-CO"/>
              <a:t>GAFAS PARA MANIPULACIÓN DE PRODUCTOS QUÍMICOS</a:t>
            </a:r>
            <a:endParaRPr lang="es-CO" altLang="es-CO"/>
          </a:p>
        </p:txBody>
      </p:sp>
      <p:pic>
        <p:nvPicPr>
          <p:cNvPr id="27651" name="Picture 2">
            <a:extLst>
              <a:ext uri="{FF2B5EF4-FFF2-40B4-BE49-F238E27FC236}">
                <a16:creationId xmlns:a16="http://schemas.microsoft.com/office/drawing/2014/main" id="{9FB6ACE1-33AC-494E-837F-9A30A8EB90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576638" y="1592264"/>
            <a:ext cx="5035550" cy="5037137"/>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0C3D66F4-E576-4722-9E38-DC96B67BAFAA}"/>
              </a:ext>
            </a:extLst>
          </p:cNvPr>
          <p:cNvSpPr>
            <a:spLocks noGrp="1"/>
          </p:cNvSpPr>
          <p:nvPr>
            <p:ph idx="1"/>
          </p:nvPr>
        </p:nvSpPr>
        <p:spPr>
          <a:xfrm>
            <a:off x="1558926" y="1484314"/>
            <a:ext cx="9109075" cy="4721225"/>
          </a:xfrm>
        </p:spPr>
        <p:txBody>
          <a:bodyPr/>
          <a:lstStyle/>
          <a:p>
            <a:pPr marL="0" indent="0">
              <a:buNone/>
              <a:defRPr/>
            </a:pPr>
            <a:r>
              <a:rPr lang="es-CO" sz="2000" kern="1200" dirty="0">
                <a:ea typeface="+mn-ea"/>
              </a:rPr>
              <a:t>Protección a la cara: son elementos diseñados para la protección de los ojos y cara, dentro de estos tenemos: </a:t>
            </a:r>
            <a:endParaRPr lang="es-CO" dirty="0">
              <a:ea typeface="+mn-ea"/>
            </a:endParaRPr>
          </a:p>
          <a:p>
            <a:pPr marL="0" indent="0">
              <a:buNone/>
              <a:defRPr/>
            </a:pPr>
            <a:r>
              <a:rPr lang="es-CO" sz="2000" kern="1200" dirty="0">
                <a:ea typeface="+mn-ea"/>
              </a:rPr>
              <a:t>Mascaras con lentes de protección (mascaras de soldador), están formados de una mascara provista de lentes para filtrar los rayos ultravioletas e infrarrojos.</a:t>
            </a:r>
            <a:br>
              <a:rPr lang="es-CO" sz="2000" kern="1200" dirty="0">
                <a:ea typeface="+mn-ea"/>
              </a:rPr>
            </a:br>
            <a:br>
              <a:rPr lang="es-CO" sz="2000" kern="1200" dirty="0">
                <a:ea typeface="+mn-ea"/>
              </a:rPr>
            </a:br>
            <a:r>
              <a:rPr lang="es-CO" sz="2000" kern="1200" dirty="0">
                <a:ea typeface="+mn-ea"/>
              </a:rPr>
              <a:t>- Protectores faciales, permiten la protección contra partículas y otros cuerpos extraños. Pueden ser de plástico transparente, cristal templado o rejilla metálica. </a:t>
            </a:r>
          </a:p>
          <a:p>
            <a:pPr>
              <a:defRPr/>
            </a:pPr>
            <a:endParaRPr lang="es-CO" dirty="0">
              <a:ea typeface="+mn-ea"/>
            </a:endParaRPr>
          </a:p>
        </p:txBody>
      </p:sp>
      <p:sp>
        <p:nvSpPr>
          <p:cNvPr id="4" name="1 Título">
            <a:extLst>
              <a:ext uri="{FF2B5EF4-FFF2-40B4-BE49-F238E27FC236}">
                <a16:creationId xmlns:a16="http://schemas.microsoft.com/office/drawing/2014/main" id="{BB059805-D5F3-4F36-89AA-E14EED532483}"/>
              </a:ext>
            </a:extLst>
          </p:cNvPr>
          <p:cNvSpPr>
            <a:spLocks noGrp="1"/>
          </p:cNvSpPr>
          <p:nvPr>
            <p:ph type="title"/>
          </p:nvPr>
        </p:nvSpPr>
        <p:spPr/>
        <p:txBody>
          <a:bodyPr/>
          <a:lstStyle/>
          <a:p>
            <a:pPr algn="ctr">
              <a:defRPr/>
            </a:pPr>
            <a:br>
              <a:rPr lang="es-CO" b="1" dirty="0">
                <a:solidFill>
                  <a:schemeClr val="bg1"/>
                </a:solidFill>
                <a:ea typeface="+mj-ea"/>
              </a:rPr>
            </a:br>
            <a:r>
              <a:rPr lang="es-CO" b="1" kern="1200" dirty="0">
                <a:latin typeface="Bookman Old Style" pitchFamily="18" charset="0"/>
                <a:ea typeface="+mj-ea"/>
              </a:rPr>
              <a:t>PROTECCIÓN DE CARA</a:t>
            </a:r>
            <a:br>
              <a:rPr lang="es-CO" dirty="0">
                <a:solidFill>
                  <a:schemeClr val="accent2"/>
                </a:solidFill>
                <a:ea typeface="+mj-ea"/>
              </a:rPr>
            </a:br>
            <a:endParaRPr lang="es-CO" dirty="0">
              <a:solidFill>
                <a:schemeClr val="accent2"/>
              </a:solidFill>
              <a:ea typeface="+mj-ea"/>
            </a:endParaRPr>
          </a:p>
        </p:txBody>
      </p:sp>
      <p:pic>
        <p:nvPicPr>
          <p:cNvPr id="28676" name="Picture 3">
            <a:extLst>
              <a:ext uri="{FF2B5EF4-FFF2-40B4-BE49-F238E27FC236}">
                <a16:creationId xmlns:a16="http://schemas.microsoft.com/office/drawing/2014/main" id="{1D183CE5-FDEE-40F5-B680-EE09D502FA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1801" y="4181476"/>
            <a:ext cx="2665413"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4">
            <a:extLst>
              <a:ext uri="{FF2B5EF4-FFF2-40B4-BE49-F238E27FC236}">
                <a16:creationId xmlns:a16="http://schemas.microsoft.com/office/drawing/2014/main" id="{591136D1-DECE-46D1-BF68-0A778B4DC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413" y="4292601"/>
            <a:ext cx="2266950"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2">
            <a:extLst>
              <a:ext uri="{FF2B5EF4-FFF2-40B4-BE49-F238E27FC236}">
                <a16:creationId xmlns:a16="http://schemas.microsoft.com/office/drawing/2014/main" id="{D4BC5B10-40F3-4DD5-86BB-F1BD14E9A5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8750" y="4513264"/>
            <a:ext cx="1512888" cy="208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4">
            <a:extLst>
              <a:ext uri="{FF2B5EF4-FFF2-40B4-BE49-F238E27FC236}">
                <a16:creationId xmlns:a16="http://schemas.microsoft.com/office/drawing/2014/main" id="{4B8CA5A5-2EA9-4DEA-B387-AFA4EA6CCBB3}"/>
              </a:ext>
            </a:extLst>
          </p:cNvPr>
          <p:cNvPicPr>
            <a:picLocks noChangeAspect="1" noChangeArrowheads="1"/>
          </p:cNvPicPr>
          <p:nvPr/>
        </p:nvPicPr>
        <p:blipFill>
          <a:blip r:embed="rId5">
            <a:lum bright="12000" contrast="-24000"/>
            <a:extLst>
              <a:ext uri="{28A0092B-C50C-407E-A947-70E740481C1C}">
                <a14:useLocalDpi xmlns:a14="http://schemas.microsoft.com/office/drawing/2010/main" val="0"/>
              </a:ext>
            </a:extLst>
          </a:blip>
          <a:srcRect/>
          <a:stretch>
            <a:fillRect/>
          </a:stretch>
        </p:blipFill>
        <p:spPr bwMode="auto">
          <a:xfrm>
            <a:off x="6096000" y="3978275"/>
            <a:ext cx="2520950"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3E6CC05C-2BC9-4D22-BE5A-F2509CBD4C4D}"/>
              </a:ext>
            </a:extLst>
          </p:cNvPr>
          <p:cNvSpPr>
            <a:spLocks noGrp="1"/>
          </p:cNvSpPr>
          <p:nvPr>
            <p:ph type="title"/>
          </p:nvPr>
        </p:nvSpPr>
        <p:spPr/>
        <p:txBody>
          <a:bodyPr/>
          <a:lstStyle/>
          <a:p>
            <a:pPr algn="ctr">
              <a:defRPr/>
            </a:pPr>
            <a:r>
              <a:rPr lang="es-CO" b="1" kern="1200" dirty="0">
                <a:latin typeface="Bookman Old Style" pitchFamily="18" charset="0"/>
                <a:ea typeface="+mj-ea"/>
              </a:rPr>
              <a:t>PROTECCIÓN DE OÍDOS</a:t>
            </a:r>
            <a:endParaRPr lang="es-CO" dirty="0">
              <a:ea typeface="+mj-ea"/>
            </a:endParaRPr>
          </a:p>
        </p:txBody>
      </p:sp>
      <p:sp>
        <p:nvSpPr>
          <p:cNvPr id="3" name="2 Marcador de contenido">
            <a:extLst>
              <a:ext uri="{FF2B5EF4-FFF2-40B4-BE49-F238E27FC236}">
                <a16:creationId xmlns:a16="http://schemas.microsoft.com/office/drawing/2014/main" id="{1EA68A3D-F33E-4F73-890C-CCEFADFF04C5}"/>
              </a:ext>
            </a:extLst>
          </p:cNvPr>
          <p:cNvSpPr>
            <a:spLocks noGrp="1"/>
          </p:cNvSpPr>
          <p:nvPr>
            <p:ph idx="1"/>
          </p:nvPr>
        </p:nvSpPr>
        <p:spPr>
          <a:xfrm>
            <a:off x="1703388" y="1484314"/>
            <a:ext cx="6551612" cy="5057775"/>
          </a:xfrm>
        </p:spPr>
        <p:txBody>
          <a:bodyPr/>
          <a:lstStyle/>
          <a:p>
            <a:pPr marL="0" indent="0" algn="just">
              <a:buNone/>
              <a:defRPr/>
            </a:pPr>
            <a:r>
              <a:rPr lang="es-CO" sz="2000" kern="1200" dirty="0">
                <a:ea typeface="+mn-ea"/>
              </a:rPr>
              <a:t>- Cuando el nivel del ruido exceda los 85 decibeles (A), punto que es considerado como límite superior para la audición normal, es necesario dotar de protección auditiva al trabajador.  </a:t>
            </a:r>
            <a:r>
              <a:rPr lang="es-CO" sz="2000" kern="1200" dirty="0">
                <a:solidFill>
                  <a:srgbClr val="FF0000"/>
                </a:solidFill>
                <a:ea typeface="+mn-ea"/>
              </a:rPr>
              <a:t>ARL SURA sugiere 80 dB(A).</a:t>
            </a:r>
          </a:p>
          <a:p>
            <a:pPr marL="0" indent="0" algn="just">
              <a:buNone/>
              <a:defRPr/>
            </a:pPr>
            <a:r>
              <a:rPr lang="es-CO" sz="2000" kern="1200" dirty="0">
                <a:ea typeface="+mn-ea"/>
              </a:rPr>
              <a:t>- Los protectores auditivos, pueden ser: tapones de caucho o orejeras (auriculares). </a:t>
            </a:r>
          </a:p>
          <a:p>
            <a:pPr marL="0" indent="0" algn="just">
              <a:buNone/>
              <a:defRPr/>
            </a:pPr>
            <a:r>
              <a:rPr lang="es-CO" sz="2000" kern="1200" dirty="0">
                <a:ea typeface="+mn-ea"/>
              </a:rPr>
              <a:t>- Tapones, son elementos que se insertan en el conducto auditivo externo y permanecen en posición sin ningún dispositivo especial de sujeción. </a:t>
            </a:r>
          </a:p>
          <a:p>
            <a:pPr marL="0" indent="0" algn="just">
              <a:buNone/>
              <a:defRPr/>
            </a:pPr>
            <a:r>
              <a:rPr lang="es-CO" sz="2000" kern="1200" dirty="0">
                <a:ea typeface="+mn-ea"/>
              </a:rPr>
              <a:t>- Orejeras, son elementos semiesféricos de plástico, rellenos con absorbentes de ruido (material poroso), los cuales se sostienen por una banda de sujeción alrededor de la cabeza.</a:t>
            </a:r>
          </a:p>
          <a:p>
            <a:pPr marL="0" indent="0">
              <a:buNone/>
              <a:defRPr/>
            </a:pPr>
            <a:endParaRPr lang="es-CO" dirty="0">
              <a:ea typeface="+mn-ea"/>
            </a:endParaRPr>
          </a:p>
        </p:txBody>
      </p:sp>
      <p:pic>
        <p:nvPicPr>
          <p:cNvPr id="29700" name="Picture 3">
            <a:extLst>
              <a:ext uri="{FF2B5EF4-FFF2-40B4-BE49-F238E27FC236}">
                <a16:creationId xmlns:a16="http://schemas.microsoft.com/office/drawing/2014/main" id="{BA184275-AE7E-47F0-A563-D69FE9CD3B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8850" y="2349501"/>
            <a:ext cx="208915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FE4CA803-2510-4946-B8C8-0010EC3674BA}"/>
              </a:ext>
            </a:extLst>
          </p:cNvPr>
          <p:cNvSpPr>
            <a:spLocks noGrp="1"/>
          </p:cNvSpPr>
          <p:nvPr>
            <p:ph idx="1"/>
          </p:nvPr>
        </p:nvSpPr>
        <p:spPr>
          <a:xfrm>
            <a:off x="1619251" y="1427164"/>
            <a:ext cx="8378825" cy="4721225"/>
          </a:xfrm>
        </p:spPr>
        <p:txBody>
          <a:bodyPr/>
          <a:lstStyle/>
          <a:p>
            <a:pPr marL="0" indent="0">
              <a:buNone/>
              <a:defRPr/>
            </a:pPr>
            <a:r>
              <a:rPr lang="es-CO" sz="2000" kern="1200" dirty="0">
                <a:ea typeface="+mn-ea"/>
              </a:rPr>
              <a:t>• Pre moldeados: Disminuyen 27 dB aproximadamente. Permiten ajuste seguro al canal auditivo.</a:t>
            </a:r>
          </a:p>
          <a:p>
            <a:pPr marL="0" indent="0">
              <a:buNone/>
              <a:defRPr/>
            </a:pPr>
            <a:endParaRPr lang="es-CO" sz="2000" kern="1200" dirty="0">
              <a:ea typeface="+mn-ea"/>
            </a:endParaRPr>
          </a:p>
          <a:p>
            <a:pPr marL="0" indent="0">
              <a:buNone/>
              <a:defRPr/>
            </a:pPr>
            <a:endParaRPr lang="es-CO" sz="2000" kern="1200" dirty="0">
              <a:ea typeface="+mn-ea"/>
            </a:endParaRPr>
          </a:p>
          <a:p>
            <a:pPr marL="0" indent="0">
              <a:buNone/>
              <a:defRPr/>
            </a:pPr>
            <a:r>
              <a:rPr lang="es-CO" sz="2000" kern="1200" dirty="0">
                <a:ea typeface="+mn-ea"/>
              </a:rPr>
              <a:t> • Moldeados: Disminuyen 33 dB aproximadamente. Son hechos sobre medida de acuerdo con la forma de su oído</a:t>
            </a:r>
          </a:p>
          <a:p>
            <a:pPr marL="0" indent="0">
              <a:buNone/>
              <a:defRPr/>
            </a:pPr>
            <a:endParaRPr lang="es-CO" sz="2000" kern="1200" dirty="0">
              <a:ea typeface="+mn-ea"/>
            </a:endParaRPr>
          </a:p>
          <a:p>
            <a:pPr marL="0" indent="0">
              <a:buNone/>
              <a:defRPr/>
            </a:pPr>
            <a:endParaRPr lang="es-CO" sz="2000" kern="1200" dirty="0">
              <a:ea typeface="+mn-ea"/>
            </a:endParaRPr>
          </a:p>
          <a:p>
            <a:pPr marL="0" indent="0">
              <a:buNone/>
              <a:defRPr/>
            </a:pPr>
            <a:r>
              <a:rPr lang="es-CO" sz="2000" kern="1200" dirty="0">
                <a:ea typeface="+mn-ea"/>
              </a:rPr>
              <a:t> • Tipo Copa u Orejeras: Atenúan el ruido 33 dB aproximadamente. Cubren la totalidad de la oreja.</a:t>
            </a:r>
          </a:p>
          <a:p>
            <a:pPr marL="0" indent="0">
              <a:buNone/>
              <a:defRPr/>
            </a:pPr>
            <a:endParaRPr lang="es-CO" sz="2000" kern="1200" dirty="0">
              <a:ea typeface="+mn-ea"/>
            </a:endParaRPr>
          </a:p>
        </p:txBody>
      </p:sp>
      <p:sp>
        <p:nvSpPr>
          <p:cNvPr id="4" name="1 Título">
            <a:extLst>
              <a:ext uri="{FF2B5EF4-FFF2-40B4-BE49-F238E27FC236}">
                <a16:creationId xmlns:a16="http://schemas.microsoft.com/office/drawing/2014/main" id="{0337285C-E08D-4D3B-BA96-F64BDE07FB99}"/>
              </a:ext>
            </a:extLst>
          </p:cNvPr>
          <p:cNvSpPr>
            <a:spLocks noGrp="1"/>
          </p:cNvSpPr>
          <p:nvPr>
            <p:ph type="title"/>
          </p:nvPr>
        </p:nvSpPr>
        <p:spPr/>
        <p:txBody>
          <a:bodyPr/>
          <a:lstStyle/>
          <a:p>
            <a:pPr algn="ctr">
              <a:defRPr/>
            </a:pPr>
            <a:r>
              <a:rPr lang="es-CO" b="1" kern="1200" dirty="0">
                <a:latin typeface="Bookman Old Style" pitchFamily="18" charset="0"/>
                <a:ea typeface="+mj-ea"/>
              </a:rPr>
              <a:t>PROTECCIÓN DE OÍDOS</a:t>
            </a:r>
            <a:endParaRPr lang="es-CO" dirty="0">
              <a:ea typeface="+mj-ea"/>
            </a:endParaRPr>
          </a:p>
        </p:txBody>
      </p:sp>
      <p:pic>
        <p:nvPicPr>
          <p:cNvPr id="30724" name="Picture 4">
            <a:extLst>
              <a:ext uri="{FF2B5EF4-FFF2-40B4-BE49-F238E27FC236}">
                <a16:creationId xmlns:a16="http://schemas.microsoft.com/office/drawing/2014/main" id="{752FEB07-E9F0-46F3-B5AD-A646D23E6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1" y="5257800"/>
            <a:ext cx="2232025" cy="141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2">
            <a:extLst>
              <a:ext uri="{FF2B5EF4-FFF2-40B4-BE49-F238E27FC236}">
                <a16:creationId xmlns:a16="http://schemas.microsoft.com/office/drawing/2014/main" id="{89D28335-9E5A-4325-BB87-BDF025E792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5501" y="3429001"/>
            <a:ext cx="2665413"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2">
            <a:extLst>
              <a:ext uri="{FF2B5EF4-FFF2-40B4-BE49-F238E27FC236}">
                <a16:creationId xmlns:a16="http://schemas.microsoft.com/office/drawing/2014/main" id="{C3538DD8-38C6-43A7-A660-84534F33B7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1063" y="1916113"/>
            <a:ext cx="2760662"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8">
            <a:extLst>
              <a:ext uri="{FF2B5EF4-FFF2-40B4-BE49-F238E27FC236}">
                <a16:creationId xmlns:a16="http://schemas.microsoft.com/office/drawing/2014/main" id="{2BE6CD8D-2C4F-4FCC-8532-242A414CA8D2}"/>
              </a:ext>
            </a:extLst>
          </p:cNvPr>
          <p:cNvSpPr>
            <a:spLocks noChangeArrowheads="1"/>
          </p:cNvSpPr>
          <p:nvPr/>
        </p:nvSpPr>
        <p:spPr bwMode="auto">
          <a:xfrm>
            <a:off x="3733800" y="115888"/>
            <a:ext cx="4800600" cy="10668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31747" name="WordArt 1029">
            <a:extLst>
              <a:ext uri="{FF2B5EF4-FFF2-40B4-BE49-F238E27FC236}">
                <a16:creationId xmlns:a16="http://schemas.microsoft.com/office/drawing/2014/main" id="{01E9C557-4DFC-492D-984B-21E876F899C9}"/>
              </a:ext>
            </a:extLst>
          </p:cNvPr>
          <p:cNvSpPr>
            <a:spLocks noChangeArrowheads="1" noChangeShapeType="1" noTextEdit="1"/>
          </p:cNvSpPr>
          <p:nvPr/>
        </p:nvSpPr>
        <p:spPr bwMode="auto">
          <a:xfrm>
            <a:off x="4724400" y="188914"/>
            <a:ext cx="3124200" cy="941387"/>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CUIDADOS</a:t>
            </a:r>
          </a:p>
        </p:txBody>
      </p:sp>
      <p:sp>
        <p:nvSpPr>
          <p:cNvPr id="31748" name="Text Box 1030">
            <a:extLst>
              <a:ext uri="{FF2B5EF4-FFF2-40B4-BE49-F238E27FC236}">
                <a16:creationId xmlns:a16="http://schemas.microsoft.com/office/drawing/2014/main" id="{7628EA2B-7A71-488E-A42E-55485AE133CA}"/>
              </a:ext>
            </a:extLst>
          </p:cNvPr>
          <p:cNvSpPr txBox="1">
            <a:spLocks noChangeArrowheads="1"/>
          </p:cNvSpPr>
          <p:nvPr/>
        </p:nvSpPr>
        <p:spPr bwMode="auto">
          <a:xfrm>
            <a:off x="2803526" y="2206626"/>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449263" fontAlgn="base">
              <a:spcBef>
                <a:spcPct val="0"/>
              </a:spcBef>
              <a:spcAft>
                <a:spcPct val="0"/>
              </a:spcAft>
            </a:pPr>
            <a:endParaRPr lang="es-ES_tradnl" altLang="es-CO" sz="2400">
              <a:solidFill>
                <a:srgbClr val="FFFFFF"/>
              </a:solidFill>
              <a:latin typeface="Arial" panose="020B0604020202020204" pitchFamily="34" charset="0"/>
              <a:ea typeface="ＭＳ Ｐゴシック" panose="020B0600070205080204" pitchFamily="34" charset="-128"/>
            </a:endParaRPr>
          </a:p>
        </p:txBody>
      </p:sp>
      <p:sp>
        <p:nvSpPr>
          <p:cNvPr id="31749" name="Text Box 1031">
            <a:extLst>
              <a:ext uri="{FF2B5EF4-FFF2-40B4-BE49-F238E27FC236}">
                <a16:creationId xmlns:a16="http://schemas.microsoft.com/office/drawing/2014/main" id="{4CB0FADD-3985-4586-A2F9-969BFF7486EC}"/>
              </a:ext>
            </a:extLst>
          </p:cNvPr>
          <p:cNvSpPr txBox="1">
            <a:spLocks noChangeArrowheads="1"/>
          </p:cNvSpPr>
          <p:nvPr/>
        </p:nvSpPr>
        <p:spPr bwMode="auto">
          <a:xfrm>
            <a:off x="2879726" y="2054226"/>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449263" fontAlgn="base">
              <a:spcBef>
                <a:spcPct val="0"/>
              </a:spcBef>
              <a:spcAft>
                <a:spcPct val="0"/>
              </a:spcAft>
            </a:pPr>
            <a:endParaRPr lang="es-ES_tradnl" altLang="es-CO" sz="2400">
              <a:solidFill>
                <a:srgbClr val="FFFFFF"/>
              </a:solidFill>
              <a:latin typeface="Arial" panose="020B0604020202020204" pitchFamily="34" charset="0"/>
              <a:ea typeface="ＭＳ Ｐゴシック" panose="020B0600070205080204" pitchFamily="34" charset="-128"/>
            </a:endParaRPr>
          </a:p>
        </p:txBody>
      </p:sp>
      <p:sp>
        <p:nvSpPr>
          <p:cNvPr id="31750" name="Text Box 1032">
            <a:extLst>
              <a:ext uri="{FF2B5EF4-FFF2-40B4-BE49-F238E27FC236}">
                <a16:creationId xmlns:a16="http://schemas.microsoft.com/office/drawing/2014/main" id="{A59684C8-7069-4453-96C9-6A9D8E2A0AF9}"/>
              </a:ext>
            </a:extLst>
          </p:cNvPr>
          <p:cNvSpPr txBox="1">
            <a:spLocks noChangeArrowheads="1"/>
          </p:cNvSpPr>
          <p:nvPr/>
        </p:nvSpPr>
        <p:spPr bwMode="auto">
          <a:xfrm>
            <a:off x="2727326" y="2282826"/>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449263" fontAlgn="base">
              <a:spcBef>
                <a:spcPct val="0"/>
              </a:spcBef>
              <a:spcAft>
                <a:spcPct val="0"/>
              </a:spcAft>
            </a:pPr>
            <a:endParaRPr lang="es-ES_tradnl" altLang="es-CO" sz="2400">
              <a:solidFill>
                <a:srgbClr val="FFFFFF"/>
              </a:solidFill>
              <a:latin typeface="Arial" panose="020B0604020202020204" pitchFamily="34" charset="0"/>
              <a:ea typeface="ＭＳ Ｐゴシック" panose="020B0600070205080204" pitchFamily="34" charset="-128"/>
            </a:endParaRPr>
          </a:p>
        </p:txBody>
      </p:sp>
      <p:sp>
        <p:nvSpPr>
          <p:cNvPr id="31751" name="Text Box 1033">
            <a:extLst>
              <a:ext uri="{FF2B5EF4-FFF2-40B4-BE49-F238E27FC236}">
                <a16:creationId xmlns:a16="http://schemas.microsoft.com/office/drawing/2014/main" id="{BF6D1611-0415-4F39-AB18-0746E5A4829D}"/>
              </a:ext>
            </a:extLst>
          </p:cNvPr>
          <p:cNvSpPr txBox="1">
            <a:spLocks noChangeArrowheads="1"/>
          </p:cNvSpPr>
          <p:nvPr/>
        </p:nvSpPr>
        <p:spPr bwMode="auto">
          <a:xfrm>
            <a:off x="4648200" y="2057400"/>
            <a:ext cx="4572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49263" fontAlgn="base">
              <a:spcBef>
                <a:spcPct val="0"/>
              </a:spcBef>
              <a:spcAft>
                <a:spcPct val="0"/>
              </a:spcAft>
            </a:pPr>
            <a:r>
              <a:rPr lang="es-ES_tradnl" altLang="es-CO" sz="3200">
                <a:solidFill>
                  <a:srgbClr val="000000"/>
                </a:solidFill>
                <a:latin typeface="Arial" panose="020B0604020202020204" pitchFamily="34" charset="0"/>
                <a:ea typeface="ＭＳ Ｐゴシック" panose="020B0600070205080204" pitchFamily="34" charset="-128"/>
              </a:rPr>
              <a:t>1.) Colocar y quitar con las manos limpias</a:t>
            </a:r>
          </a:p>
        </p:txBody>
      </p:sp>
      <p:grpSp>
        <p:nvGrpSpPr>
          <p:cNvPr id="31752" name="Group 1034">
            <a:extLst>
              <a:ext uri="{FF2B5EF4-FFF2-40B4-BE49-F238E27FC236}">
                <a16:creationId xmlns:a16="http://schemas.microsoft.com/office/drawing/2014/main" id="{2BADA4AB-9F64-4236-ADAB-2E367B68C087}"/>
              </a:ext>
            </a:extLst>
          </p:cNvPr>
          <p:cNvGrpSpPr>
            <a:grpSpLocks/>
          </p:cNvGrpSpPr>
          <p:nvPr/>
        </p:nvGrpSpPr>
        <p:grpSpPr bwMode="auto">
          <a:xfrm>
            <a:off x="1752600" y="2895600"/>
            <a:ext cx="1676400" cy="1371600"/>
            <a:chOff x="3792" y="2784"/>
            <a:chExt cx="1776" cy="1292"/>
          </a:xfrm>
        </p:grpSpPr>
        <p:sp>
          <p:nvSpPr>
            <p:cNvPr id="31755" name="Freeform 1035">
              <a:extLst>
                <a:ext uri="{FF2B5EF4-FFF2-40B4-BE49-F238E27FC236}">
                  <a16:creationId xmlns:a16="http://schemas.microsoft.com/office/drawing/2014/main" id="{9F6B7134-FE18-4340-9011-E1538DA9ED39}"/>
                </a:ext>
              </a:extLst>
            </p:cNvPr>
            <p:cNvSpPr>
              <a:spLocks/>
            </p:cNvSpPr>
            <p:nvPr/>
          </p:nvSpPr>
          <p:spPr bwMode="auto">
            <a:xfrm>
              <a:off x="3792" y="2784"/>
              <a:ext cx="1776" cy="1252"/>
            </a:xfrm>
            <a:custGeom>
              <a:avLst/>
              <a:gdLst>
                <a:gd name="T0" fmla="*/ 2314 w 1706"/>
                <a:gd name="T1" fmla="*/ 17 h 1924"/>
                <a:gd name="T2" fmla="*/ 2382 w 1706"/>
                <a:gd name="T3" fmla="*/ 17 h 1924"/>
                <a:gd name="T4" fmla="*/ 2449 w 1706"/>
                <a:gd name="T5" fmla="*/ 17 h 1924"/>
                <a:gd name="T6" fmla="*/ 2508 w 1706"/>
                <a:gd name="T7" fmla="*/ 17 h 1924"/>
                <a:gd name="T8" fmla="*/ 2556 w 1706"/>
                <a:gd name="T9" fmla="*/ 16 h 1924"/>
                <a:gd name="T10" fmla="*/ 2594 w 1706"/>
                <a:gd name="T11" fmla="*/ 16 h 1924"/>
                <a:gd name="T12" fmla="*/ 2629 w 1706"/>
                <a:gd name="T13" fmla="*/ 16 h 1924"/>
                <a:gd name="T14" fmla="*/ 2648 w 1706"/>
                <a:gd name="T15" fmla="*/ 16 h 1924"/>
                <a:gd name="T16" fmla="*/ 2657 w 1706"/>
                <a:gd name="T17" fmla="*/ 15 h 1924"/>
                <a:gd name="T18" fmla="*/ 2657 w 1706"/>
                <a:gd name="T19" fmla="*/ 2 h 1924"/>
                <a:gd name="T20" fmla="*/ 2648 w 1706"/>
                <a:gd name="T21" fmla="*/ 2 h 1924"/>
                <a:gd name="T22" fmla="*/ 2629 w 1706"/>
                <a:gd name="T23" fmla="*/ 1 h 1924"/>
                <a:gd name="T24" fmla="*/ 2594 w 1706"/>
                <a:gd name="T25" fmla="*/ 1 h 1924"/>
                <a:gd name="T26" fmla="*/ 2556 w 1706"/>
                <a:gd name="T27" fmla="*/ 1 h 1924"/>
                <a:gd name="T28" fmla="*/ 2508 w 1706"/>
                <a:gd name="T29" fmla="*/ 1 h 1924"/>
                <a:gd name="T30" fmla="*/ 2449 w 1706"/>
                <a:gd name="T31" fmla="*/ 1 h 1924"/>
                <a:gd name="T32" fmla="*/ 2382 w 1706"/>
                <a:gd name="T33" fmla="*/ 1 h 1924"/>
                <a:gd name="T34" fmla="*/ 2314 w 1706"/>
                <a:gd name="T35" fmla="*/ 0 h 1924"/>
                <a:gd name="T36" fmla="*/ 339 w 1706"/>
                <a:gd name="T37" fmla="*/ 0 h 1924"/>
                <a:gd name="T38" fmla="*/ 269 w 1706"/>
                <a:gd name="T39" fmla="*/ 1 h 1924"/>
                <a:gd name="T40" fmla="*/ 208 w 1706"/>
                <a:gd name="T41" fmla="*/ 1 h 1924"/>
                <a:gd name="T42" fmla="*/ 149 w 1706"/>
                <a:gd name="T43" fmla="*/ 1 h 1924"/>
                <a:gd name="T44" fmla="*/ 99 w 1706"/>
                <a:gd name="T45" fmla="*/ 1 h 1924"/>
                <a:gd name="T46" fmla="*/ 59 w 1706"/>
                <a:gd name="T47" fmla="*/ 1 h 1924"/>
                <a:gd name="T48" fmla="*/ 27 w 1706"/>
                <a:gd name="T49" fmla="*/ 1 h 1924"/>
                <a:gd name="T50" fmla="*/ 5 w 1706"/>
                <a:gd name="T51" fmla="*/ 2 h 1924"/>
                <a:gd name="T52" fmla="*/ 0 w 1706"/>
                <a:gd name="T53" fmla="*/ 2 h 1924"/>
                <a:gd name="T54" fmla="*/ 0 w 1706"/>
                <a:gd name="T55" fmla="*/ 15 h 1924"/>
                <a:gd name="T56" fmla="*/ 5 w 1706"/>
                <a:gd name="T57" fmla="*/ 16 h 1924"/>
                <a:gd name="T58" fmla="*/ 27 w 1706"/>
                <a:gd name="T59" fmla="*/ 16 h 1924"/>
                <a:gd name="T60" fmla="*/ 59 w 1706"/>
                <a:gd name="T61" fmla="*/ 16 h 1924"/>
                <a:gd name="T62" fmla="*/ 99 w 1706"/>
                <a:gd name="T63" fmla="*/ 16 h 1924"/>
                <a:gd name="T64" fmla="*/ 149 w 1706"/>
                <a:gd name="T65" fmla="*/ 17 h 1924"/>
                <a:gd name="T66" fmla="*/ 208 w 1706"/>
                <a:gd name="T67" fmla="*/ 17 h 1924"/>
                <a:gd name="T68" fmla="*/ 269 w 1706"/>
                <a:gd name="T69" fmla="*/ 17 h 1924"/>
                <a:gd name="T70" fmla="*/ 339 w 1706"/>
                <a:gd name="T71" fmla="*/ 17 h 1924"/>
                <a:gd name="T72" fmla="*/ 2314 w 1706"/>
                <a:gd name="T73" fmla="*/ 17 h 19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706"/>
                <a:gd name="T112" fmla="*/ 0 h 1924"/>
                <a:gd name="T113" fmla="*/ 1706 w 1706"/>
                <a:gd name="T114" fmla="*/ 1924 h 192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706" h="1924">
                  <a:moveTo>
                    <a:pt x="1486" y="1924"/>
                  </a:moveTo>
                  <a:lnTo>
                    <a:pt x="1530" y="1920"/>
                  </a:lnTo>
                  <a:lnTo>
                    <a:pt x="1572" y="1908"/>
                  </a:lnTo>
                  <a:lnTo>
                    <a:pt x="1610" y="1887"/>
                  </a:lnTo>
                  <a:lnTo>
                    <a:pt x="1643" y="1859"/>
                  </a:lnTo>
                  <a:lnTo>
                    <a:pt x="1668" y="1828"/>
                  </a:lnTo>
                  <a:lnTo>
                    <a:pt x="1689" y="1791"/>
                  </a:lnTo>
                  <a:lnTo>
                    <a:pt x="1701" y="1748"/>
                  </a:lnTo>
                  <a:lnTo>
                    <a:pt x="1706" y="1704"/>
                  </a:lnTo>
                  <a:lnTo>
                    <a:pt x="1706" y="221"/>
                  </a:lnTo>
                  <a:lnTo>
                    <a:pt x="1701" y="176"/>
                  </a:lnTo>
                  <a:lnTo>
                    <a:pt x="1689" y="134"/>
                  </a:lnTo>
                  <a:lnTo>
                    <a:pt x="1668" y="96"/>
                  </a:lnTo>
                  <a:lnTo>
                    <a:pt x="1643" y="63"/>
                  </a:lnTo>
                  <a:lnTo>
                    <a:pt x="1610" y="38"/>
                  </a:lnTo>
                  <a:lnTo>
                    <a:pt x="1572" y="16"/>
                  </a:lnTo>
                  <a:lnTo>
                    <a:pt x="1530" y="5"/>
                  </a:lnTo>
                  <a:lnTo>
                    <a:pt x="1486" y="0"/>
                  </a:lnTo>
                  <a:lnTo>
                    <a:pt x="218" y="0"/>
                  </a:lnTo>
                  <a:lnTo>
                    <a:pt x="173" y="5"/>
                  </a:lnTo>
                  <a:lnTo>
                    <a:pt x="134" y="16"/>
                  </a:lnTo>
                  <a:lnTo>
                    <a:pt x="96" y="38"/>
                  </a:lnTo>
                  <a:lnTo>
                    <a:pt x="63" y="63"/>
                  </a:lnTo>
                  <a:lnTo>
                    <a:pt x="37" y="96"/>
                  </a:lnTo>
                  <a:lnTo>
                    <a:pt x="16" y="134"/>
                  </a:lnTo>
                  <a:lnTo>
                    <a:pt x="5" y="176"/>
                  </a:lnTo>
                  <a:lnTo>
                    <a:pt x="0" y="221"/>
                  </a:lnTo>
                  <a:lnTo>
                    <a:pt x="0" y="1704"/>
                  </a:lnTo>
                  <a:lnTo>
                    <a:pt x="5" y="1748"/>
                  </a:lnTo>
                  <a:lnTo>
                    <a:pt x="16" y="1791"/>
                  </a:lnTo>
                  <a:lnTo>
                    <a:pt x="37" y="1828"/>
                  </a:lnTo>
                  <a:lnTo>
                    <a:pt x="63" y="1859"/>
                  </a:lnTo>
                  <a:lnTo>
                    <a:pt x="96" y="1887"/>
                  </a:lnTo>
                  <a:lnTo>
                    <a:pt x="134" y="1908"/>
                  </a:lnTo>
                  <a:lnTo>
                    <a:pt x="173" y="1920"/>
                  </a:lnTo>
                  <a:lnTo>
                    <a:pt x="218" y="1924"/>
                  </a:lnTo>
                  <a:lnTo>
                    <a:pt x="1486" y="19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56" name="Freeform 1036">
              <a:extLst>
                <a:ext uri="{FF2B5EF4-FFF2-40B4-BE49-F238E27FC236}">
                  <a16:creationId xmlns:a16="http://schemas.microsoft.com/office/drawing/2014/main" id="{26DD8117-B18C-4776-83E8-95569C4C3492}"/>
                </a:ext>
              </a:extLst>
            </p:cNvPr>
            <p:cNvSpPr>
              <a:spLocks/>
            </p:cNvSpPr>
            <p:nvPr/>
          </p:nvSpPr>
          <p:spPr bwMode="auto">
            <a:xfrm>
              <a:off x="4862" y="2950"/>
              <a:ext cx="96" cy="68"/>
            </a:xfrm>
            <a:custGeom>
              <a:avLst/>
              <a:gdLst>
                <a:gd name="T0" fmla="*/ 0 w 96"/>
                <a:gd name="T1" fmla="*/ 19 h 68"/>
                <a:gd name="T2" fmla="*/ 0 w 96"/>
                <a:gd name="T3" fmla="*/ 19 h 68"/>
                <a:gd name="T4" fmla="*/ 11 w 96"/>
                <a:gd name="T5" fmla="*/ 21 h 68"/>
                <a:gd name="T6" fmla="*/ 25 w 96"/>
                <a:gd name="T7" fmla="*/ 26 h 68"/>
                <a:gd name="T8" fmla="*/ 35 w 96"/>
                <a:gd name="T9" fmla="*/ 28 h 68"/>
                <a:gd name="T10" fmla="*/ 44 w 96"/>
                <a:gd name="T11" fmla="*/ 35 h 68"/>
                <a:gd name="T12" fmla="*/ 56 w 96"/>
                <a:gd name="T13" fmla="*/ 42 h 68"/>
                <a:gd name="T14" fmla="*/ 65 w 96"/>
                <a:gd name="T15" fmla="*/ 49 h 68"/>
                <a:gd name="T16" fmla="*/ 75 w 96"/>
                <a:gd name="T17" fmla="*/ 58 h 68"/>
                <a:gd name="T18" fmla="*/ 86 w 96"/>
                <a:gd name="T19" fmla="*/ 68 h 68"/>
                <a:gd name="T20" fmla="*/ 96 w 96"/>
                <a:gd name="T21" fmla="*/ 54 h 68"/>
                <a:gd name="T22" fmla="*/ 84 w 96"/>
                <a:gd name="T23" fmla="*/ 44 h 68"/>
                <a:gd name="T24" fmla="*/ 75 w 96"/>
                <a:gd name="T25" fmla="*/ 35 h 68"/>
                <a:gd name="T26" fmla="*/ 65 w 96"/>
                <a:gd name="T27" fmla="*/ 28 h 68"/>
                <a:gd name="T28" fmla="*/ 54 w 96"/>
                <a:gd name="T29" fmla="*/ 21 h 68"/>
                <a:gd name="T30" fmla="*/ 44 w 96"/>
                <a:gd name="T31" fmla="*/ 14 h 68"/>
                <a:gd name="T32" fmla="*/ 30 w 96"/>
                <a:gd name="T33" fmla="*/ 7 h 68"/>
                <a:gd name="T34" fmla="*/ 16 w 96"/>
                <a:gd name="T35" fmla="*/ 2 h 68"/>
                <a:gd name="T36" fmla="*/ 0 w 96"/>
                <a:gd name="T37" fmla="*/ 0 h 68"/>
                <a:gd name="T38" fmla="*/ 0 w 96"/>
                <a:gd name="T39" fmla="*/ 0 h 68"/>
                <a:gd name="T40" fmla="*/ 0 w 96"/>
                <a:gd name="T41" fmla="*/ 19 h 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68"/>
                <a:gd name="T65" fmla="*/ 96 w 96"/>
                <a:gd name="T66" fmla="*/ 68 h 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68">
                  <a:moveTo>
                    <a:pt x="0" y="19"/>
                  </a:moveTo>
                  <a:lnTo>
                    <a:pt x="0" y="19"/>
                  </a:lnTo>
                  <a:lnTo>
                    <a:pt x="11" y="21"/>
                  </a:lnTo>
                  <a:lnTo>
                    <a:pt x="25" y="26"/>
                  </a:lnTo>
                  <a:lnTo>
                    <a:pt x="35" y="28"/>
                  </a:lnTo>
                  <a:lnTo>
                    <a:pt x="44" y="35"/>
                  </a:lnTo>
                  <a:lnTo>
                    <a:pt x="56" y="42"/>
                  </a:lnTo>
                  <a:lnTo>
                    <a:pt x="65" y="49"/>
                  </a:lnTo>
                  <a:lnTo>
                    <a:pt x="75" y="58"/>
                  </a:lnTo>
                  <a:lnTo>
                    <a:pt x="86" y="68"/>
                  </a:lnTo>
                  <a:lnTo>
                    <a:pt x="96" y="54"/>
                  </a:lnTo>
                  <a:lnTo>
                    <a:pt x="84" y="44"/>
                  </a:lnTo>
                  <a:lnTo>
                    <a:pt x="75" y="35"/>
                  </a:lnTo>
                  <a:lnTo>
                    <a:pt x="65" y="28"/>
                  </a:lnTo>
                  <a:lnTo>
                    <a:pt x="54" y="21"/>
                  </a:lnTo>
                  <a:lnTo>
                    <a:pt x="44" y="14"/>
                  </a:lnTo>
                  <a:lnTo>
                    <a:pt x="30" y="7"/>
                  </a:lnTo>
                  <a:lnTo>
                    <a:pt x="16" y="2"/>
                  </a:lnTo>
                  <a:lnTo>
                    <a:pt x="0"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57" name="Freeform 1037">
              <a:extLst>
                <a:ext uri="{FF2B5EF4-FFF2-40B4-BE49-F238E27FC236}">
                  <a16:creationId xmlns:a16="http://schemas.microsoft.com/office/drawing/2014/main" id="{0D4307D6-7657-4372-95DD-2D1E5BC6DF1D}"/>
                </a:ext>
              </a:extLst>
            </p:cNvPr>
            <p:cNvSpPr>
              <a:spLocks/>
            </p:cNvSpPr>
            <p:nvPr/>
          </p:nvSpPr>
          <p:spPr bwMode="auto">
            <a:xfrm>
              <a:off x="4768" y="2943"/>
              <a:ext cx="94" cy="26"/>
            </a:xfrm>
            <a:custGeom>
              <a:avLst/>
              <a:gdLst>
                <a:gd name="T0" fmla="*/ 0 w 94"/>
                <a:gd name="T1" fmla="*/ 14 h 26"/>
                <a:gd name="T2" fmla="*/ 0 w 94"/>
                <a:gd name="T3" fmla="*/ 14 h 26"/>
                <a:gd name="T4" fmla="*/ 9 w 94"/>
                <a:gd name="T5" fmla="*/ 19 h 26"/>
                <a:gd name="T6" fmla="*/ 19 w 94"/>
                <a:gd name="T7" fmla="*/ 21 h 26"/>
                <a:gd name="T8" fmla="*/ 28 w 94"/>
                <a:gd name="T9" fmla="*/ 21 h 26"/>
                <a:gd name="T10" fmla="*/ 37 w 94"/>
                <a:gd name="T11" fmla="*/ 23 h 26"/>
                <a:gd name="T12" fmla="*/ 49 w 94"/>
                <a:gd name="T13" fmla="*/ 23 h 26"/>
                <a:gd name="T14" fmla="*/ 63 w 94"/>
                <a:gd name="T15" fmla="*/ 23 h 26"/>
                <a:gd name="T16" fmla="*/ 77 w 94"/>
                <a:gd name="T17" fmla="*/ 23 h 26"/>
                <a:gd name="T18" fmla="*/ 94 w 94"/>
                <a:gd name="T19" fmla="*/ 26 h 26"/>
                <a:gd name="T20" fmla="*/ 94 w 94"/>
                <a:gd name="T21" fmla="*/ 7 h 26"/>
                <a:gd name="T22" fmla="*/ 77 w 94"/>
                <a:gd name="T23" fmla="*/ 4 h 26"/>
                <a:gd name="T24" fmla="*/ 63 w 94"/>
                <a:gd name="T25" fmla="*/ 4 h 26"/>
                <a:gd name="T26" fmla="*/ 49 w 94"/>
                <a:gd name="T27" fmla="*/ 4 h 26"/>
                <a:gd name="T28" fmla="*/ 37 w 94"/>
                <a:gd name="T29" fmla="*/ 4 h 26"/>
                <a:gd name="T30" fmla="*/ 28 w 94"/>
                <a:gd name="T31" fmla="*/ 2 h 26"/>
                <a:gd name="T32" fmla="*/ 19 w 94"/>
                <a:gd name="T33" fmla="*/ 2 h 26"/>
                <a:gd name="T34" fmla="*/ 14 w 94"/>
                <a:gd name="T35" fmla="*/ 0 h 26"/>
                <a:gd name="T36" fmla="*/ 9 w 94"/>
                <a:gd name="T37" fmla="*/ 0 h 26"/>
                <a:gd name="T38" fmla="*/ 9 w 94"/>
                <a:gd name="T39" fmla="*/ 0 h 26"/>
                <a:gd name="T40" fmla="*/ 0 w 94"/>
                <a:gd name="T41" fmla="*/ 14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26"/>
                <a:gd name="T65" fmla="*/ 94 w 94"/>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26">
                  <a:moveTo>
                    <a:pt x="0" y="14"/>
                  </a:moveTo>
                  <a:lnTo>
                    <a:pt x="0" y="14"/>
                  </a:lnTo>
                  <a:lnTo>
                    <a:pt x="9" y="19"/>
                  </a:lnTo>
                  <a:lnTo>
                    <a:pt x="19" y="21"/>
                  </a:lnTo>
                  <a:lnTo>
                    <a:pt x="28" y="21"/>
                  </a:lnTo>
                  <a:lnTo>
                    <a:pt x="37" y="23"/>
                  </a:lnTo>
                  <a:lnTo>
                    <a:pt x="49" y="23"/>
                  </a:lnTo>
                  <a:lnTo>
                    <a:pt x="63" y="23"/>
                  </a:lnTo>
                  <a:lnTo>
                    <a:pt x="77" y="23"/>
                  </a:lnTo>
                  <a:lnTo>
                    <a:pt x="94" y="26"/>
                  </a:lnTo>
                  <a:lnTo>
                    <a:pt x="94" y="7"/>
                  </a:lnTo>
                  <a:lnTo>
                    <a:pt x="77" y="4"/>
                  </a:lnTo>
                  <a:lnTo>
                    <a:pt x="63" y="4"/>
                  </a:lnTo>
                  <a:lnTo>
                    <a:pt x="49" y="4"/>
                  </a:lnTo>
                  <a:lnTo>
                    <a:pt x="37" y="4"/>
                  </a:lnTo>
                  <a:lnTo>
                    <a:pt x="28" y="2"/>
                  </a:lnTo>
                  <a:lnTo>
                    <a:pt x="19" y="2"/>
                  </a:lnTo>
                  <a:lnTo>
                    <a:pt x="14" y="0"/>
                  </a:lnTo>
                  <a:lnTo>
                    <a:pt x="9" y="0"/>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58" name="Freeform 1038">
              <a:extLst>
                <a:ext uri="{FF2B5EF4-FFF2-40B4-BE49-F238E27FC236}">
                  <a16:creationId xmlns:a16="http://schemas.microsoft.com/office/drawing/2014/main" id="{843D2581-3D21-4DF2-9A21-33EE59DF8817}"/>
                </a:ext>
              </a:extLst>
            </p:cNvPr>
            <p:cNvSpPr>
              <a:spLocks/>
            </p:cNvSpPr>
            <p:nvPr/>
          </p:nvSpPr>
          <p:spPr bwMode="auto">
            <a:xfrm>
              <a:off x="4744" y="2891"/>
              <a:ext cx="33" cy="66"/>
            </a:xfrm>
            <a:custGeom>
              <a:avLst/>
              <a:gdLst>
                <a:gd name="T0" fmla="*/ 0 w 33"/>
                <a:gd name="T1" fmla="*/ 0 h 66"/>
                <a:gd name="T2" fmla="*/ 0 w 33"/>
                <a:gd name="T3" fmla="*/ 0 h 66"/>
                <a:gd name="T4" fmla="*/ 0 w 33"/>
                <a:gd name="T5" fmla="*/ 19 h 66"/>
                <a:gd name="T6" fmla="*/ 3 w 33"/>
                <a:gd name="T7" fmla="*/ 38 h 66"/>
                <a:gd name="T8" fmla="*/ 12 w 33"/>
                <a:gd name="T9" fmla="*/ 54 h 66"/>
                <a:gd name="T10" fmla="*/ 24 w 33"/>
                <a:gd name="T11" fmla="*/ 66 h 66"/>
                <a:gd name="T12" fmla="*/ 33 w 33"/>
                <a:gd name="T13" fmla="*/ 52 h 66"/>
                <a:gd name="T14" fmla="*/ 26 w 33"/>
                <a:gd name="T15" fmla="*/ 45 h 66"/>
                <a:gd name="T16" fmla="*/ 22 w 33"/>
                <a:gd name="T17" fmla="*/ 33 h 66"/>
                <a:gd name="T18" fmla="*/ 19 w 33"/>
                <a:gd name="T19" fmla="*/ 19 h 66"/>
                <a:gd name="T20" fmla="*/ 19 w 33"/>
                <a:gd name="T21" fmla="*/ 0 h 66"/>
                <a:gd name="T22" fmla="*/ 19 w 33"/>
                <a:gd name="T23" fmla="*/ 0 h 66"/>
                <a:gd name="T24" fmla="*/ 0 w 33"/>
                <a:gd name="T25" fmla="*/ 0 h 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66"/>
                <a:gd name="T41" fmla="*/ 33 w 33"/>
                <a:gd name="T42" fmla="*/ 66 h 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66">
                  <a:moveTo>
                    <a:pt x="0" y="0"/>
                  </a:moveTo>
                  <a:lnTo>
                    <a:pt x="0" y="0"/>
                  </a:lnTo>
                  <a:lnTo>
                    <a:pt x="0" y="19"/>
                  </a:lnTo>
                  <a:lnTo>
                    <a:pt x="3" y="38"/>
                  </a:lnTo>
                  <a:lnTo>
                    <a:pt x="12" y="54"/>
                  </a:lnTo>
                  <a:lnTo>
                    <a:pt x="24" y="66"/>
                  </a:lnTo>
                  <a:lnTo>
                    <a:pt x="33" y="52"/>
                  </a:lnTo>
                  <a:lnTo>
                    <a:pt x="26" y="45"/>
                  </a:lnTo>
                  <a:lnTo>
                    <a:pt x="22" y="33"/>
                  </a:lnTo>
                  <a:lnTo>
                    <a:pt x="19" y="19"/>
                  </a:lnTo>
                  <a:lnTo>
                    <a:pt x="19"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59" name="Freeform 1039">
              <a:extLst>
                <a:ext uri="{FF2B5EF4-FFF2-40B4-BE49-F238E27FC236}">
                  <a16:creationId xmlns:a16="http://schemas.microsoft.com/office/drawing/2014/main" id="{11FE87EA-E325-49F7-9FDA-62C4CF94D5A6}"/>
                </a:ext>
              </a:extLst>
            </p:cNvPr>
            <p:cNvSpPr>
              <a:spLocks/>
            </p:cNvSpPr>
            <p:nvPr/>
          </p:nvSpPr>
          <p:spPr bwMode="auto">
            <a:xfrm>
              <a:off x="4744" y="2797"/>
              <a:ext cx="24" cy="94"/>
            </a:xfrm>
            <a:custGeom>
              <a:avLst/>
              <a:gdLst>
                <a:gd name="T0" fmla="*/ 0 w 24"/>
                <a:gd name="T1" fmla="*/ 5 h 94"/>
                <a:gd name="T2" fmla="*/ 0 w 24"/>
                <a:gd name="T3" fmla="*/ 5 h 94"/>
                <a:gd name="T4" fmla="*/ 5 w 24"/>
                <a:gd name="T5" fmla="*/ 24 h 94"/>
                <a:gd name="T6" fmla="*/ 5 w 24"/>
                <a:gd name="T7" fmla="*/ 47 h 94"/>
                <a:gd name="T8" fmla="*/ 3 w 24"/>
                <a:gd name="T9" fmla="*/ 73 h 94"/>
                <a:gd name="T10" fmla="*/ 0 w 24"/>
                <a:gd name="T11" fmla="*/ 94 h 94"/>
                <a:gd name="T12" fmla="*/ 19 w 24"/>
                <a:gd name="T13" fmla="*/ 94 h 94"/>
                <a:gd name="T14" fmla="*/ 22 w 24"/>
                <a:gd name="T15" fmla="*/ 73 h 94"/>
                <a:gd name="T16" fmla="*/ 24 w 24"/>
                <a:gd name="T17" fmla="*/ 47 h 94"/>
                <a:gd name="T18" fmla="*/ 24 w 24"/>
                <a:gd name="T19" fmla="*/ 24 h 94"/>
                <a:gd name="T20" fmla="*/ 19 w 24"/>
                <a:gd name="T21" fmla="*/ 0 h 94"/>
                <a:gd name="T22" fmla="*/ 19 w 24"/>
                <a:gd name="T23" fmla="*/ 0 h 94"/>
                <a:gd name="T24" fmla="*/ 0 w 24"/>
                <a:gd name="T25" fmla="*/ 5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94"/>
                <a:gd name="T41" fmla="*/ 24 w 24"/>
                <a:gd name="T42" fmla="*/ 94 h 9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94">
                  <a:moveTo>
                    <a:pt x="0" y="5"/>
                  </a:moveTo>
                  <a:lnTo>
                    <a:pt x="0" y="5"/>
                  </a:lnTo>
                  <a:lnTo>
                    <a:pt x="5" y="24"/>
                  </a:lnTo>
                  <a:lnTo>
                    <a:pt x="5" y="47"/>
                  </a:lnTo>
                  <a:lnTo>
                    <a:pt x="3" y="73"/>
                  </a:lnTo>
                  <a:lnTo>
                    <a:pt x="0" y="94"/>
                  </a:lnTo>
                  <a:lnTo>
                    <a:pt x="19" y="94"/>
                  </a:lnTo>
                  <a:lnTo>
                    <a:pt x="22" y="73"/>
                  </a:lnTo>
                  <a:lnTo>
                    <a:pt x="24" y="47"/>
                  </a:lnTo>
                  <a:lnTo>
                    <a:pt x="24" y="24"/>
                  </a:lnTo>
                  <a:lnTo>
                    <a:pt x="19" y="0"/>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60" name="Freeform 1040">
              <a:extLst>
                <a:ext uri="{FF2B5EF4-FFF2-40B4-BE49-F238E27FC236}">
                  <a16:creationId xmlns:a16="http://schemas.microsoft.com/office/drawing/2014/main" id="{43C4C72E-08AF-4F0E-8AF7-D0AB2EAC6F1A}"/>
                </a:ext>
              </a:extLst>
            </p:cNvPr>
            <p:cNvSpPr>
              <a:spLocks/>
            </p:cNvSpPr>
            <p:nvPr/>
          </p:nvSpPr>
          <p:spPr bwMode="auto">
            <a:xfrm>
              <a:off x="4691" y="3123"/>
              <a:ext cx="157" cy="50"/>
            </a:xfrm>
            <a:custGeom>
              <a:avLst/>
              <a:gdLst>
                <a:gd name="T0" fmla="*/ 133 w 157"/>
                <a:gd name="T1" fmla="*/ 50 h 50"/>
                <a:gd name="T2" fmla="*/ 0 w 157"/>
                <a:gd name="T3" fmla="*/ 50 h 50"/>
                <a:gd name="T4" fmla="*/ 0 w 157"/>
                <a:gd name="T5" fmla="*/ 0 h 50"/>
                <a:gd name="T6" fmla="*/ 133 w 157"/>
                <a:gd name="T7" fmla="*/ 0 h 50"/>
                <a:gd name="T8" fmla="*/ 143 w 157"/>
                <a:gd name="T9" fmla="*/ 5 h 50"/>
                <a:gd name="T10" fmla="*/ 150 w 157"/>
                <a:gd name="T11" fmla="*/ 10 h 50"/>
                <a:gd name="T12" fmla="*/ 154 w 157"/>
                <a:gd name="T13" fmla="*/ 17 h 50"/>
                <a:gd name="T14" fmla="*/ 157 w 157"/>
                <a:gd name="T15" fmla="*/ 26 h 50"/>
                <a:gd name="T16" fmla="*/ 154 w 157"/>
                <a:gd name="T17" fmla="*/ 36 h 50"/>
                <a:gd name="T18" fmla="*/ 150 w 157"/>
                <a:gd name="T19" fmla="*/ 43 h 50"/>
                <a:gd name="T20" fmla="*/ 143 w 157"/>
                <a:gd name="T21" fmla="*/ 47 h 50"/>
                <a:gd name="T22" fmla="*/ 133 w 157"/>
                <a:gd name="T23" fmla="*/ 50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50"/>
                <a:gd name="T38" fmla="*/ 157 w 157"/>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50">
                  <a:moveTo>
                    <a:pt x="133" y="50"/>
                  </a:moveTo>
                  <a:lnTo>
                    <a:pt x="0" y="50"/>
                  </a:lnTo>
                  <a:lnTo>
                    <a:pt x="0" y="0"/>
                  </a:lnTo>
                  <a:lnTo>
                    <a:pt x="133" y="0"/>
                  </a:lnTo>
                  <a:lnTo>
                    <a:pt x="143" y="5"/>
                  </a:lnTo>
                  <a:lnTo>
                    <a:pt x="150" y="10"/>
                  </a:lnTo>
                  <a:lnTo>
                    <a:pt x="154" y="17"/>
                  </a:lnTo>
                  <a:lnTo>
                    <a:pt x="157" y="26"/>
                  </a:lnTo>
                  <a:lnTo>
                    <a:pt x="154" y="36"/>
                  </a:lnTo>
                  <a:lnTo>
                    <a:pt x="150" y="43"/>
                  </a:lnTo>
                  <a:lnTo>
                    <a:pt x="143" y="47"/>
                  </a:lnTo>
                  <a:lnTo>
                    <a:pt x="133" y="50"/>
                  </a:lnTo>
                  <a:close/>
                </a:path>
              </a:pathLst>
            </a:custGeom>
            <a:solidFill>
              <a:srgbClr val="C184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61" name="Freeform 1041">
              <a:extLst>
                <a:ext uri="{FF2B5EF4-FFF2-40B4-BE49-F238E27FC236}">
                  <a16:creationId xmlns:a16="http://schemas.microsoft.com/office/drawing/2014/main" id="{636FE48C-FC30-42F7-ADB6-2D99905D2C63}"/>
                </a:ext>
              </a:extLst>
            </p:cNvPr>
            <p:cNvSpPr>
              <a:spLocks/>
            </p:cNvSpPr>
            <p:nvPr/>
          </p:nvSpPr>
          <p:spPr bwMode="auto">
            <a:xfrm>
              <a:off x="4468" y="3133"/>
              <a:ext cx="171" cy="49"/>
            </a:xfrm>
            <a:custGeom>
              <a:avLst/>
              <a:gdLst>
                <a:gd name="T0" fmla="*/ 150 w 171"/>
                <a:gd name="T1" fmla="*/ 49 h 49"/>
                <a:gd name="T2" fmla="*/ 0 w 171"/>
                <a:gd name="T3" fmla="*/ 49 h 49"/>
                <a:gd name="T4" fmla="*/ 0 w 171"/>
                <a:gd name="T5" fmla="*/ 0 h 49"/>
                <a:gd name="T6" fmla="*/ 150 w 171"/>
                <a:gd name="T7" fmla="*/ 0 h 49"/>
                <a:gd name="T8" fmla="*/ 159 w 171"/>
                <a:gd name="T9" fmla="*/ 2 h 49"/>
                <a:gd name="T10" fmla="*/ 164 w 171"/>
                <a:gd name="T11" fmla="*/ 9 h 49"/>
                <a:gd name="T12" fmla="*/ 169 w 171"/>
                <a:gd name="T13" fmla="*/ 16 h 49"/>
                <a:gd name="T14" fmla="*/ 171 w 171"/>
                <a:gd name="T15" fmla="*/ 26 h 49"/>
                <a:gd name="T16" fmla="*/ 169 w 171"/>
                <a:gd name="T17" fmla="*/ 35 h 49"/>
                <a:gd name="T18" fmla="*/ 164 w 171"/>
                <a:gd name="T19" fmla="*/ 42 h 49"/>
                <a:gd name="T20" fmla="*/ 157 w 171"/>
                <a:gd name="T21" fmla="*/ 47 h 49"/>
                <a:gd name="T22" fmla="*/ 150 w 171"/>
                <a:gd name="T23" fmla="*/ 49 h 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1"/>
                <a:gd name="T37" fmla="*/ 0 h 49"/>
                <a:gd name="T38" fmla="*/ 171 w 171"/>
                <a:gd name="T39" fmla="*/ 49 h 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1" h="49">
                  <a:moveTo>
                    <a:pt x="150" y="49"/>
                  </a:moveTo>
                  <a:lnTo>
                    <a:pt x="0" y="49"/>
                  </a:lnTo>
                  <a:lnTo>
                    <a:pt x="0" y="0"/>
                  </a:lnTo>
                  <a:lnTo>
                    <a:pt x="150" y="0"/>
                  </a:lnTo>
                  <a:lnTo>
                    <a:pt x="159" y="2"/>
                  </a:lnTo>
                  <a:lnTo>
                    <a:pt x="164" y="9"/>
                  </a:lnTo>
                  <a:lnTo>
                    <a:pt x="169" y="16"/>
                  </a:lnTo>
                  <a:lnTo>
                    <a:pt x="171" y="26"/>
                  </a:lnTo>
                  <a:lnTo>
                    <a:pt x="169" y="35"/>
                  </a:lnTo>
                  <a:lnTo>
                    <a:pt x="164" y="42"/>
                  </a:lnTo>
                  <a:lnTo>
                    <a:pt x="157" y="47"/>
                  </a:lnTo>
                  <a:lnTo>
                    <a:pt x="150" y="49"/>
                  </a:lnTo>
                  <a:close/>
                </a:path>
              </a:pathLst>
            </a:custGeom>
            <a:solidFill>
              <a:srgbClr val="C184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62" name="Freeform 1042">
              <a:extLst>
                <a:ext uri="{FF2B5EF4-FFF2-40B4-BE49-F238E27FC236}">
                  <a16:creationId xmlns:a16="http://schemas.microsoft.com/office/drawing/2014/main" id="{FF836C1F-82F4-4254-807A-85C18E2A1F5A}"/>
                </a:ext>
              </a:extLst>
            </p:cNvPr>
            <p:cNvSpPr>
              <a:spLocks/>
            </p:cNvSpPr>
            <p:nvPr/>
          </p:nvSpPr>
          <p:spPr bwMode="auto">
            <a:xfrm>
              <a:off x="4822" y="3091"/>
              <a:ext cx="686" cy="450"/>
            </a:xfrm>
            <a:custGeom>
              <a:avLst/>
              <a:gdLst>
                <a:gd name="T0" fmla="*/ 0 w 686"/>
                <a:gd name="T1" fmla="*/ 288 h 450"/>
                <a:gd name="T2" fmla="*/ 0 w 686"/>
                <a:gd name="T3" fmla="*/ 406 h 450"/>
                <a:gd name="T4" fmla="*/ 23 w 686"/>
                <a:gd name="T5" fmla="*/ 424 h 450"/>
                <a:gd name="T6" fmla="*/ 63 w 686"/>
                <a:gd name="T7" fmla="*/ 382 h 450"/>
                <a:gd name="T8" fmla="*/ 101 w 686"/>
                <a:gd name="T9" fmla="*/ 345 h 450"/>
                <a:gd name="T10" fmla="*/ 131 w 686"/>
                <a:gd name="T11" fmla="*/ 312 h 450"/>
                <a:gd name="T12" fmla="*/ 161 w 686"/>
                <a:gd name="T13" fmla="*/ 281 h 450"/>
                <a:gd name="T14" fmla="*/ 201 w 686"/>
                <a:gd name="T15" fmla="*/ 244 h 450"/>
                <a:gd name="T16" fmla="*/ 248 w 686"/>
                <a:gd name="T17" fmla="*/ 204 h 450"/>
                <a:gd name="T18" fmla="*/ 288 w 686"/>
                <a:gd name="T19" fmla="*/ 176 h 450"/>
                <a:gd name="T20" fmla="*/ 318 w 686"/>
                <a:gd name="T21" fmla="*/ 164 h 450"/>
                <a:gd name="T22" fmla="*/ 347 w 686"/>
                <a:gd name="T23" fmla="*/ 152 h 450"/>
                <a:gd name="T24" fmla="*/ 377 w 686"/>
                <a:gd name="T25" fmla="*/ 143 h 450"/>
                <a:gd name="T26" fmla="*/ 403 w 686"/>
                <a:gd name="T27" fmla="*/ 133 h 450"/>
                <a:gd name="T28" fmla="*/ 426 w 686"/>
                <a:gd name="T29" fmla="*/ 133 h 450"/>
                <a:gd name="T30" fmla="*/ 452 w 686"/>
                <a:gd name="T31" fmla="*/ 131 h 450"/>
                <a:gd name="T32" fmla="*/ 478 w 686"/>
                <a:gd name="T33" fmla="*/ 136 h 450"/>
                <a:gd name="T34" fmla="*/ 497 w 686"/>
                <a:gd name="T35" fmla="*/ 159 h 450"/>
                <a:gd name="T36" fmla="*/ 525 w 686"/>
                <a:gd name="T37" fmla="*/ 180 h 450"/>
                <a:gd name="T38" fmla="*/ 574 w 686"/>
                <a:gd name="T39" fmla="*/ 180 h 450"/>
                <a:gd name="T40" fmla="*/ 625 w 686"/>
                <a:gd name="T41" fmla="*/ 180 h 450"/>
                <a:gd name="T42" fmla="*/ 670 w 686"/>
                <a:gd name="T43" fmla="*/ 180 h 450"/>
                <a:gd name="T44" fmla="*/ 686 w 686"/>
                <a:gd name="T45" fmla="*/ 147 h 450"/>
                <a:gd name="T46" fmla="*/ 675 w 686"/>
                <a:gd name="T47" fmla="*/ 84 h 450"/>
                <a:gd name="T48" fmla="*/ 644 w 686"/>
                <a:gd name="T49" fmla="*/ 51 h 450"/>
                <a:gd name="T50" fmla="*/ 618 w 686"/>
                <a:gd name="T51" fmla="*/ 30 h 450"/>
                <a:gd name="T52" fmla="*/ 586 w 686"/>
                <a:gd name="T53" fmla="*/ 14 h 450"/>
                <a:gd name="T54" fmla="*/ 548 w 686"/>
                <a:gd name="T55" fmla="*/ 2 h 450"/>
                <a:gd name="T56" fmla="*/ 504 w 686"/>
                <a:gd name="T57" fmla="*/ 0 h 450"/>
                <a:gd name="T58" fmla="*/ 454 w 686"/>
                <a:gd name="T59" fmla="*/ 4 h 450"/>
                <a:gd name="T60" fmla="*/ 400 w 686"/>
                <a:gd name="T61" fmla="*/ 11 h 450"/>
                <a:gd name="T62" fmla="*/ 351 w 686"/>
                <a:gd name="T63" fmla="*/ 23 h 450"/>
                <a:gd name="T64" fmla="*/ 304 w 686"/>
                <a:gd name="T65" fmla="*/ 40 h 450"/>
                <a:gd name="T66" fmla="*/ 248 w 686"/>
                <a:gd name="T67" fmla="*/ 70 h 450"/>
                <a:gd name="T68" fmla="*/ 187 w 686"/>
                <a:gd name="T69" fmla="*/ 108 h 450"/>
                <a:gd name="T70" fmla="*/ 133 w 686"/>
                <a:gd name="T71" fmla="*/ 145 h 450"/>
                <a:gd name="T72" fmla="*/ 98 w 686"/>
                <a:gd name="T73" fmla="*/ 171 h 450"/>
                <a:gd name="T74" fmla="*/ 68 w 686"/>
                <a:gd name="T75" fmla="*/ 187 h 450"/>
                <a:gd name="T76" fmla="*/ 42 w 686"/>
                <a:gd name="T77" fmla="*/ 204 h 450"/>
                <a:gd name="T78" fmla="*/ 14 w 686"/>
                <a:gd name="T79" fmla="*/ 225 h 45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86"/>
                <a:gd name="T121" fmla="*/ 0 h 450"/>
                <a:gd name="T122" fmla="*/ 686 w 686"/>
                <a:gd name="T123" fmla="*/ 450 h 45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86" h="450">
                  <a:moveTo>
                    <a:pt x="0" y="237"/>
                  </a:moveTo>
                  <a:lnTo>
                    <a:pt x="0" y="288"/>
                  </a:lnTo>
                  <a:lnTo>
                    <a:pt x="0" y="347"/>
                  </a:lnTo>
                  <a:lnTo>
                    <a:pt x="0" y="406"/>
                  </a:lnTo>
                  <a:lnTo>
                    <a:pt x="0" y="450"/>
                  </a:lnTo>
                  <a:lnTo>
                    <a:pt x="23" y="424"/>
                  </a:lnTo>
                  <a:lnTo>
                    <a:pt x="44" y="403"/>
                  </a:lnTo>
                  <a:lnTo>
                    <a:pt x="63" y="382"/>
                  </a:lnTo>
                  <a:lnTo>
                    <a:pt x="82" y="361"/>
                  </a:lnTo>
                  <a:lnTo>
                    <a:pt x="101" y="345"/>
                  </a:lnTo>
                  <a:lnTo>
                    <a:pt x="117" y="326"/>
                  </a:lnTo>
                  <a:lnTo>
                    <a:pt x="131" y="312"/>
                  </a:lnTo>
                  <a:lnTo>
                    <a:pt x="145" y="298"/>
                  </a:lnTo>
                  <a:lnTo>
                    <a:pt x="161" y="281"/>
                  </a:lnTo>
                  <a:lnTo>
                    <a:pt x="180" y="262"/>
                  </a:lnTo>
                  <a:lnTo>
                    <a:pt x="201" y="244"/>
                  </a:lnTo>
                  <a:lnTo>
                    <a:pt x="225" y="223"/>
                  </a:lnTo>
                  <a:lnTo>
                    <a:pt x="248" y="204"/>
                  </a:lnTo>
                  <a:lnTo>
                    <a:pt x="269" y="187"/>
                  </a:lnTo>
                  <a:lnTo>
                    <a:pt x="288" y="176"/>
                  </a:lnTo>
                  <a:lnTo>
                    <a:pt x="304" y="169"/>
                  </a:lnTo>
                  <a:lnTo>
                    <a:pt x="318" y="164"/>
                  </a:lnTo>
                  <a:lnTo>
                    <a:pt x="333" y="159"/>
                  </a:lnTo>
                  <a:lnTo>
                    <a:pt x="347" y="152"/>
                  </a:lnTo>
                  <a:lnTo>
                    <a:pt x="363" y="147"/>
                  </a:lnTo>
                  <a:lnTo>
                    <a:pt x="377" y="143"/>
                  </a:lnTo>
                  <a:lnTo>
                    <a:pt x="389" y="138"/>
                  </a:lnTo>
                  <a:lnTo>
                    <a:pt x="403" y="133"/>
                  </a:lnTo>
                  <a:lnTo>
                    <a:pt x="415" y="133"/>
                  </a:lnTo>
                  <a:lnTo>
                    <a:pt x="426" y="133"/>
                  </a:lnTo>
                  <a:lnTo>
                    <a:pt x="440" y="131"/>
                  </a:lnTo>
                  <a:lnTo>
                    <a:pt x="452" y="131"/>
                  </a:lnTo>
                  <a:lnTo>
                    <a:pt x="466" y="131"/>
                  </a:lnTo>
                  <a:lnTo>
                    <a:pt x="478" y="136"/>
                  </a:lnTo>
                  <a:lnTo>
                    <a:pt x="490" y="145"/>
                  </a:lnTo>
                  <a:lnTo>
                    <a:pt x="497" y="159"/>
                  </a:lnTo>
                  <a:lnTo>
                    <a:pt x="504" y="180"/>
                  </a:lnTo>
                  <a:lnTo>
                    <a:pt x="525" y="180"/>
                  </a:lnTo>
                  <a:lnTo>
                    <a:pt x="548" y="180"/>
                  </a:lnTo>
                  <a:lnTo>
                    <a:pt x="574" y="180"/>
                  </a:lnTo>
                  <a:lnTo>
                    <a:pt x="600" y="180"/>
                  </a:lnTo>
                  <a:lnTo>
                    <a:pt x="625" y="180"/>
                  </a:lnTo>
                  <a:lnTo>
                    <a:pt x="649" y="180"/>
                  </a:lnTo>
                  <a:lnTo>
                    <a:pt x="670" y="180"/>
                  </a:lnTo>
                  <a:lnTo>
                    <a:pt x="686" y="180"/>
                  </a:lnTo>
                  <a:lnTo>
                    <a:pt x="686" y="147"/>
                  </a:lnTo>
                  <a:lnTo>
                    <a:pt x="682" y="115"/>
                  </a:lnTo>
                  <a:lnTo>
                    <a:pt x="675" y="84"/>
                  </a:lnTo>
                  <a:lnTo>
                    <a:pt x="656" y="61"/>
                  </a:lnTo>
                  <a:lnTo>
                    <a:pt x="644" y="51"/>
                  </a:lnTo>
                  <a:lnTo>
                    <a:pt x="632" y="42"/>
                  </a:lnTo>
                  <a:lnTo>
                    <a:pt x="618" y="30"/>
                  </a:lnTo>
                  <a:lnTo>
                    <a:pt x="602" y="21"/>
                  </a:lnTo>
                  <a:lnTo>
                    <a:pt x="586" y="14"/>
                  </a:lnTo>
                  <a:lnTo>
                    <a:pt x="569" y="7"/>
                  </a:lnTo>
                  <a:lnTo>
                    <a:pt x="548" y="2"/>
                  </a:lnTo>
                  <a:lnTo>
                    <a:pt x="527" y="0"/>
                  </a:lnTo>
                  <a:lnTo>
                    <a:pt x="504" y="0"/>
                  </a:lnTo>
                  <a:lnTo>
                    <a:pt x="478" y="2"/>
                  </a:lnTo>
                  <a:lnTo>
                    <a:pt x="454" y="4"/>
                  </a:lnTo>
                  <a:lnTo>
                    <a:pt x="429" y="7"/>
                  </a:lnTo>
                  <a:lnTo>
                    <a:pt x="400" y="11"/>
                  </a:lnTo>
                  <a:lnTo>
                    <a:pt x="377" y="18"/>
                  </a:lnTo>
                  <a:lnTo>
                    <a:pt x="351" y="23"/>
                  </a:lnTo>
                  <a:lnTo>
                    <a:pt x="328" y="30"/>
                  </a:lnTo>
                  <a:lnTo>
                    <a:pt x="304" y="40"/>
                  </a:lnTo>
                  <a:lnTo>
                    <a:pt x="279" y="54"/>
                  </a:lnTo>
                  <a:lnTo>
                    <a:pt x="248" y="70"/>
                  </a:lnTo>
                  <a:lnTo>
                    <a:pt x="218" y="89"/>
                  </a:lnTo>
                  <a:lnTo>
                    <a:pt x="187" y="108"/>
                  </a:lnTo>
                  <a:lnTo>
                    <a:pt x="159" y="126"/>
                  </a:lnTo>
                  <a:lnTo>
                    <a:pt x="133" y="145"/>
                  </a:lnTo>
                  <a:lnTo>
                    <a:pt x="115" y="159"/>
                  </a:lnTo>
                  <a:lnTo>
                    <a:pt x="98" y="171"/>
                  </a:lnTo>
                  <a:lnTo>
                    <a:pt x="82" y="180"/>
                  </a:lnTo>
                  <a:lnTo>
                    <a:pt x="68" y="187"/>
                  </a:lnTo>
                  <a:lnTo>
                    <a:pt x="54" y="197"/>
                  </a:lnTo>
                  <a:lnTo>
                    <a:pt x="42" y="204"/>
                  </a:lnTo>
                  <a:lnTo>
                    <a:pt x="28" y="213"/>
                  </a:lnTo>
                  <a:lnTo>
                    <a:pt x="14" y="225"/>
                  </a:lnTo>
                  <a:lnTo>
                    <a:pt x="0" y="237"/>
                  </a:lnTo>
                  <a:close/>
                </a:path>
              </a:pathLst>
            </a:custGeom>
            <a:solidFill>
              <a:srgbClr val="E8C6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63" name="Rectangle 1043">
              <a:extLst>
                <a:ext uri="{FF2B5EF4-FFF2-40B4-BE49-F238E27FC236}">
                  <a16:creationId xmlns:a16="http://schemas.microsoft.com/office/drawing/2014/main" id="{E75DAEE2-E23F-41F7-B207-5FAF83E9201D}"/>
                </a:ext>
              </a:extLst>
            </p:cNvPr>
            <p:cNvSpPr>
              <a:spLocks noChangeArrowheads="1"/>
            </p:cNvSpPr>
            <p:nvPr/>
          </p:nvSpPr>
          <p:spPr bwMode="auto">
            <a:xfrm>
              <a:off x="5333" y="3302"/>
              <a:ext cx="168" cy="49"/>
            </a:xfrm>
            <a:prstGeom prst="rect">
              <a:avLst/>
            </a:prstGeom>
            <a:solidFill>
              <a:srgbClr val="C1841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31764" name="Freeform 1044">
              <a:extLst>
                <a:ext uri="{FF2B5EF4-FFF2-40B4-BE49-F238E27FC236}">
                  <a16:creationId xmlns:a16="http://schemas.microsoft.com/office/drawing/2014/main" id="{972B81F6-5794-44B1-96F5-D448E271DD83}"/>
                </a:ext>
              </a:extLst>
            </p:cNvPr>
            <p:cNvSpPr>
              <a:spLocks/>
            </p:cNvSpPr>
            <p:nvPr/>
          </p:nvSpPr>
          <p:spPr bwMode="auto">
            <a:xfrm>
              <a:off x="3840" y="3023"/>
              <a:ext cx="933" cy="1053"/>
            </a:xfrm>
            <a:custGeom>
              <a:avLst/>
              <a:gdLst>
                <a:gd name="T0" fmla="*/ 19 w 933"/>
                <a:gd name="T1" fmla="*/ 0 h 1053"/>
                <a:gd name="T2" fmla="*/ 68 w 933"/>
                <a:gd name="T3" fmla="*/ 7 h 1053"/>
                <a:gd name="T4" fmla="*/ 122 w 933"/>
                <a:gd name="T5" fmla="*/ 18 h 1053"/>
                <a:gd name="T6" fmla="*/ 176 w 933"/>
                <a:gd name="T7" fmla="*/ 37 h 1053"/>
                <a:gd name="T8" fmla="*/ 225 w 933"/>
                <a:gd name="T9" fmla="*/ 65 h 1053"/>
                <a:gd name="T10" fmla="*/ 267 w 933"/>
                <a:gd name="T11" fmla="*/ 108 h 1053"/>
                <a:gd name="T12" fmla="*/ 300 w 933"/>
                <a:gd name="T13" fmla="*/ 157 h 1053"/>
                <a:gd name="T14" fmla="*/ 321 w 933"/>
                <a:gd name="T15" fmla="*/ 206 h 1053"/>
                <a:gd name="T16" fmla="*/ 335 w 933"/>
                <a:gd name="T17" fmla="*/ 262 h 1053"/>
                <a:gd name="T18" fmla="*/ 340 w 933"/>
                <a:gd name="T19" fmla="*/ 330 h 1053"/>
                <a:gd name="T20" fmla="*/ 333 w 933"/>
                <a:gd name="T21" fmla="*/ 422 h 1053"/>
                <a:gd name="T22" fmla="*/ 328 w 933"/>
                <a:gd name="T23" fmla="*/ 525 h 1053"/>
                <a:gd name="T24" fmla="*/ 323 w 933"/>
                <a:gd name="T25" fmla="*/ 631 h 1053"/>
                <a:gd name="T26" fmla="*/ 337 w 933"/>
                <a:gd name="T27" fmla="*/ 753 h 1053"/>
                <a:gd name="T28" fmla="*/ 391 w 933"/>
                <a:gd name="T29" fmla="*/ 812 h 1053"/>
                <a:gd name="T30" fmla="*/ 436 w 933"/>
                <a:gd name="T31" fmla="*/ 835 h 1053"/>
                <a:gd name="T32" fmla="*/ 478 w 933"/>
                <a:gd name="T33" fmla="*/ 849 h 1053"/>
                <a:gd name="T34" fmla="*/ 518 w 933"/>
                <a:gd name="T35" fmla="*/ 849 h 1053"/>
                <a:gd name="T36" fmla="*/ 560 w 933"/>
                <a:gd name="T37" fmla="*/ 842 h 1053"/>
                <a:gd name="T38" fmla="*/ 602 w 933"/>
                <a:gd name="T39" fmla="*/ 828 h 1053"/>
                <a:gd name="T40" fmla="*/ 635 w 933"/>
                <a:gd name="T41" fmla="*/ 807 h 1053"/>
                <a:gd name="T42" fmla="*/ 661 w 933"/>
                <a:gd name="T43" fmla="*/ 779 h 1053"/>
                <a:gd name="T44" fmla="*/ 708 w 933"/>
                <a:gd name="T45" fmla="*/ 762 h 1053"/>
                <a:gd name="T46" fmla="*/ 783 w 933"/>
                <a:gd name="T47" fmla="*/ 762 h 1053"/>
                <a:gd name="T48" fmla="*/ 853 w 933"/>
                <a:gd name="T49" fmla="*/ 762 h 1053"/>
                <a:gd name="T50" fmla="*/ 912 w 933"/>
                <a:gd name="T51" fmla="*/ 762 h 1053"/>
                <a:gd name="T52" fmla="*/ 930 w 933"/>
                <a:gd name="T53" fmla="*/ 788 h 1053"/>
                <a:gd name="T54" fmla="*/ 914 w 933"/>
                <a:gd name="T55" fmla="*/ 835 h 1053"/>
                <a:gd name="T56" fmla="*/ 888 w 933"/>
                <a:gd name="T57" fmla="*/ 875 h 1053"/>
                <a:gd name="T58" fmla="*/ 858 w 933"/>
                <a:gd name="T59" fmla="*/ 915 h 1053"/>
                <a:gd name="T60" fmla="*/ 822 w 933"/>
                <a:gd name="T61" fmla="*/ 952 h 1053"/>
                <a:gd name="T62" fmla="*/ 773 w 933"/>
                <a:gd name="T63" fmla="*/ 988 h 1053"/>
                <a:gd name="T64" fmla="*/ 717 w 933"/>
                <a:gd name="T65" fmla="*/ 1016 h 1053"/>
                <a:gd name="T66" fmla="*/ 663 w 933"/>
                <a:gd name="T67" fmla="*/ 1037 h 1053"/>
                <a:gd name="T68" fmla="*/ 616 w 933"/>
                <a:gd name="T69" fmla="*/ 1049 h 1053"/>
                <a:gd name="T70" fmla="*/ 551 w 933"/>
                <a:gd name="T71" fmla="*/ 1053 h 1053"/>
                <a:gd name="T72" fmla="*/ 471 w 933"/>
                <a:gd name="T73" fmla="*/ 1053 h 1053"/>
                <a:gd name="T74" fmla="*/ 398 w 933"/>
                <a:gd name="T75" fmla="*/ 1049 h 1053"/>
                <a:gd name="T76" fmla="*/ 344 w 933"/>
                <a:gd name="T77" fmla="*/ 1037 h 1053"/>
                <a:gd name="T78" fmla="*/ 295 w 933"/>
                <a:gd name="T79" fmla="*/ 1018 h 1053"/>
                <a:gd name="T80" fmla="*/ 248 w 933"/>
                <a:gd name="T81" fmla="*/ 997 h 1053"/>
                <a:gd name="T82" fmla="*/ 213 w 933"/>
                <a:gd name="T83" fmla="*/ 971 h 1053"/>
                <a:gd name="T84" fmla="*/ 187 w 933"/>
                <a:gd name="T85" fmla="*/ 941 h 1053"/>
                <a:gd name="T86" fmla="*/ 157 w 933"/>
                <a:gd name="T87" fmla="*/ 903 h 1053"/>
                <a:gd name="T88" fmla="*/ 127 w 933"/>
                <a:gd name="T89" fmla="*/ 849 h 1053"/>
                <a:gd name="T90" fmla="*/ 103 w 933"/>
                <a:gd name="T91" fmla="*/ 776 h 1053"/>
                <a:gd name="T92" fmla="*/ 91 w 933"/>
                <a:gd name="T93" fmla="*/ 671 h 1053"/>
                <a:gd name="T94" fmla="*/ 91 w 933"/>
                <a:gd name="T95" fmla="*/ 572 h 1053"/>
                <a:gd name="T96" fmla="*/ 91 w 933"/>
                <a:gd name="T97" fmla="*/ 476 h 1053"/>
                <a:gd name="T98" fmla="*/ 91 w 933"/>
                <a:gd name="T99" fmla="*/ 406 h 1053"/>
                <a:gd name="T100" fmla="*/ 91 w 933"/>
                <a:gd name="T101" fmla="*/ 349 h 1053"/>
                <a:gd name="T102" fmla="*/ 84 w 933"/>
                <a:gd name="T103" fmla="*/ 302 h 1053"/>
                <a:gd name="T104" fmla="*/ 63 w 933"/>
                <a:gd name="T105" fmla="*/ 279 h 1053"/>
                <a:gd name="T106" fmla="*/ 42 w 933"/>
                <a:gd name="T107" fmla="*/ 267 h 1053"/>
                <a:gd name="T108" fmla="*/ 23 w 933"/>
                <a:gd name="T109" fmla="*/ 258 h 1053"/>
                <a:gd name="T110" fmla="*/ 7 w 933"/>
                <a:gd name="T111" fmla="*/ 253 h 1053"/>
                <a:gd name="T112" fmla="*/ 0 w 933"/>
                <a:gd name="T113" fmla="*/ 192 h 1053"/>
                <a:gd name="T114" fmla="*/ 0 w 933"/>
                <a:gd name="T115" fmla="*/ 32 h 105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33"/>
                <a:gd name="T175" fmla="*/ 0 h 1053"/>
                <a:gd name="T176" fmla="*/ 933 w 933"/>
                <a:gd name="T177" fmla="*/ 1053 h 105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33" h="1053">
                  <a:moveTo>
                    <a:pt x="0" y="0"/>
                  </a:moveTo>
                  <a:lnTo>
                    <a:pt x="19" y="0"/>
                  </a:lnTo>
                  <a:lnTo>
                    <a:pt x="42" y="2"/>
                  </a:lnTo>
                  <a:lnTo>
                    <a:pt x="68" y="7"/>
                  </a:lnTo>
                  <a:lnTo>
                    <a:pt x="96" y="11"/>
                  </a:lnTo>
                  <a:lnTo>
                    <a:pt x="122" y="18"/>
                  </a:lnTo>
                  <a:lnTo>
                    <a:pt x="150" y="28"/>
                  </a:lnTo>
                  <a:lnTo>
                    <a:pt x="176" y="37"/>
                  </a:lnTo>
                  <a:lnTo>
                    <a:pt x="199" y="49"/>
                  </a:lnTo>
                  <a:lnTo>
                    <a:pt x="225" y="65"/>
                  </a:lnTo>
                  <a:lnTo>
                    <a:pt x="248" y="86"/>
                  </a:lnTo>
                  <a:lnTo>
                    <a:pt x="267" y="108"/>
                  </a:lnTo>
                  <a:lnTo>
                    <a:pt x="286" y="131"/>
                  </a:lnTo>
                  <a:lnTo>
                    <a:pt x="300" y="157"/>
                  </a:lnTo>
                  <a:lnTo>
                    <a:pt x="314" y="180"/>
                  </a:lnTo>
                  <a:lnTo>
                    <a:pt x="321" y="206"/>
                  </a:lnTo>
                  <a:lnTo>
                    <a:pt x="328" y="227"/>
                  </a:lnTo>
                  <a:lnTo>
                    <a:pt x="335" y="262"/>
                  </a:lnTo>
                  <a:lnTo>
                    <a:pt x="340" y="295"/>
                  </a:lnTo>
                  <a:lnTo>
                    <a:pt x="340" y="330"/>
                  </a:lnTo>
                  <a:lnTo>
                    <a:pt x="337" y="373"/>
                  </a:lnTo>
                  <a:lnTo>
                    <a:pt x="333" y="422"/>
                  </a:lnTo>
                  <a:lnTo>
                    <a:pt x="330" y="474"/>
                  </a:lnTo>
                  <a:lnTo>
                    <a:pt x="328" y="525"/>
                  </a:lnTo>
                  <a:lnTo>
                    <a:pt x="326" y="575"/>
                  </a:lnTo>
                  <a:lnTo>
                    <a:pt x="323" y="631"/>
                  </a:lnTo>
                  <a:lnTo>
                    <a:pt x="326" y="694"/>
                  </a:lnTo>
                  <a:lnTo>
                    <a:pt x="337" y="753"/>
                  </a:lnTo>
                  <a:lnTo>
                    <a:pt x="366" y="793"/>
                  </a:lnTo>
                  <a:lnTo>
                    <a:pt x="391" y="812"/>
                  </a:lnTo>
                  <a:lnTo>
                    <a:pt x="415" y="826"/>
                  </a:lnTo>
                  <a:lnTo>
                    <a:pt x="436" y="835"/>
                  </a:lnTo>
                  <a:lnTo>
                    <a:pt x="457" y="844"/>
                  </a:lnTo>
                  <a:lnTo>
                    <a:pt x="478" y="849"/>
                  </a:lnTo>
                  <a:lnTo>
                    <a:pt x="497" y="849"/>
                  </a:lnTo>
                  <a:lnTo>
                    <a:pt x="518" y="849"/>
                  </a:lnTo>
                  <a:lnTo>
                    <a:pt x="537" y="847"/>
                  </a:lnTo>
                  <a:lnTo>
                    <a:pt x="560" y="842"/>
                  </a:lnTo>
                  <a:lnTo>
                    <a:pt x="581" y="835"/>
                  </a:lnTo>
                  <a:lnTo>
                    <a:pt x="602" y="828"/>
                  </a:lnTo>
                  <a:lnTo>
                    <a:pt x="619" y="819"/>
                  </a:lnTo>
                  <a:lnTo>
                    <a:pt x="635" y="807"/>
                  </a:lnTo>
                  <a:lnTo>
                    <a:pt x="649" y="795"/>
                  </a:lnTo>
                  <a:lnTo>
                    <a:pt x="661" y="779"/>
                  </a:lnTo>
                  <a:lnTo>
                    <a:pt x="670" y="762"/>
                  </a:lnTo>
                  <a:lnTo>
                    <a:pt x="708" y="762"/>
                  </a:lnTo>
                  <a:lnTo>
                    <a:pt x="745" y="762"/>
                  </a:lnTo>
                  <a:lnTo>
                    <a:pt x="783" y="762"/>
                  </a:lnTo>
                  <a:lnTo>
                    <a:pt x="820" y="762"/>
                  </a:lnTo>
                  <a:lnTo>
                    <a:pt x="853" y="762"/>
                  </a:lnTo>
                  <a:lnTo>
                    <a:pt x="886" y="762"/>
                  </a:lnTo>
                  <a:lnTo>
                    <a:pt x="912" y="762"/>
                  </a:lnTo>
                  <a:lnTo>
                    <a:pt x="933" y="762"/>
                  </a:lnTo>
                  <a:lnTo>
                    <a:pt x="930" y="788"/>
                  </a:lnTo>
                  <a:lnTo>
                    <a:pt x="923" y="812"/>
                  </a:lnTo>
                  <a:lnTo>
                    <a:pt x="914" y="835"/>
                  </a:lnTo>
                  <a:lnTo>
                    <a:pt x="902" y="854"/>
                  </a:lnTo>
                  <a:lnTo>
                    <a:pt x="888" y="875"/>
                  </a:lnTo>
                  <a:lnTo>
                    <a:pt x="872" y="894"/>
                  </a:lnTo>
                  <a:lnTo>
                    <a:pt x="858" y="915"/>
                  </a:lnTo>
                  <a:lnTo>
                    <a:pt x="841" y="934"/>
                  </a:lnTo>
                  <a:lnTo>
                    <a:pt x="822" y="952"/>
                  </a:lnTo>
                  <a:lnTo>
                    <a:pt x="799" y="971"/>
                  </a:lnTo>
                  <a:lnTo>
                    <a:pt x="773" y="988"/>
                  </a:lnTo>
                  <a:lnTo>
                    <a:pt x="745" y="1002"/>
                  </a:lnTo>
                  <a:lnTo>
                    <a:pt x="717" y="1016"/>
                  </a:lnTo>
                  <a:lnTo>
                    <a:pt x="689" y="1027"/>
                  </a:lnTo>
                  <a:lnTo>
                    <a:pt x="663" y="1037"/>
                  </a:lnTo>
                  <a:lnTo>
                    <a:pt x="640" y="1044"/>
                  </a:lnTo>
                  <a:lnTo>
                    <a:pt x="616" y="1049"/>
                  </a:lnTo>
                  <a:lnTo>
                    <a:pt x="586" y="1051"/>
                  </a:lnTo>
                  <a:lnTo>
                    <a:pt x="551" y="1053"/>
                  </a:lnTo>
                  <a:lnTo>
                    <a:pt x="511" y="1053"/>
                  </a:lnTo>
                  <a:lnTo>
                    <a:pt x="471" y="1053"/>
                  </a:lnTo>
                  <a:lnTo>
                    <a:pt x="433" y="1051"/>
                  </a:lnTo>
                  <a:lnTo>
                    <a:pt x="398" y="1049"/>
                  </a:lnTo>
                  <a:lnTo>
                    <a:pt x="370" y="1044"/>
                  </a:lnTo>
                  <a:lnTo>
                    <a:pt x="344" y="1037"/>
                  </a:lnTo>
                  <a:lnTo>
                    <a:pt x="321" y="1030"/>
                  </a:lnTo>
                  <a:lnTo>
                    <a:pt x="295" y="1018"/>
                  </a:lnTo>
                  <a:lnTo>
                    <a:pt x="272" y="1009"/>
                  </a:lnTo>
                  <a:lnTo>
                    <a:pt x="248" y="997"/>
                  </a:lnTo>
                  <a:lnTo>
                    <a:pt x="230" y="985"/>
                  </a:lnTo>
                  <a:lnTo>
                    <a:pt x="213" y="971"/>
                  </a:lnTo>
                  <a:lnTo>
                    <a:pt x="199" y="957"/>
                  </a:lnTo>
                  <a:lnTo>
                    <a:pt x="187" y="941"/>
                  </a:lnTo>
                  <a:lnTo>
                    <a:pt x="171" y="924"/>
                  </a:lnTo>
                  <a:lnTo>
                    <a:pt x="157" y="903"/>
                  </a:lnTo>
                  <a:lnTo>
                    <a:pt x="141" y="877"/>
                  </a:lnTo>
                  <a:lnTo>
                    <a:pt x="127" y="849"/>
                  </a:lnTo>
                  <a:lnTo>
                    <a:pt x="112" y="816"/>
                  </a:lnTo>
                  <a:lnTo>
                    <a:pt x="103" y="776"/>
                  </a:lnTo>
                  <a:lnTo>
                    <a:pt x="96" y="732"/>
                  </a:lnTo>
                  <a:lnTo>
                    <a:pt x="91" y="671"/>
                  </a:lnTo>
                  <a:lnTo>
                    <a:pt x="91" y="619"/>
                  </a:lnTo>
                  <a:lnTo>
                    <a:pt x="91" y="572"/>
                  </a:lnTo>
                  <a:lnTo>
                    <a:pt x="91" y="523"/>
                  </a:lnTo>
                  <a:lnTo>
                    <a:pt x="91" y="476"/>
                  </a:lnTo>
                  <a:lnTo>
                    <a:pt x="91" y="436"/>
                  </a:lnTo>
                  <a:lnTo>
                    <a:pt x="91" y="406"/>
                  </a:lnTo>
                  <a:lnTo>
                    <a:pt x="91" y="377"/>
                  </a:lnTo>
                  <a:lnTo>
                    <a:pt x="91" y="349"/>
                  </a:lnTo>
                  <a:lnTo>
                    <a:pt x="91" y="323"/>
                  </a:lnTo>
                  <a:lnTo>
                    <a:pt x="84" y="302"/>
                  </a:lnTo>
                  <a:lnTo>
                    <a:pt x="73" y="286"/>
                  </a:lnTo>
                  <a:lnTo>
                    <a:pt x="63" y="279"/>
                  </a:lnTo>
                  <a:lnTo>
                    <a:pt x="54" y="272"/>
                  </a:lnTo>
                  <a:lnTo>
                    <a:pt x="42" y="267"/>
                  </a:lnTo>
                  <a:lnTo>
                    <a:pt x="33" y="260"/>
                  </a:lnTo>
                  <a:lnTo>
                    <a:pt x="23" y="258"/>
                  </a:lnTo>
                  <a:lnTo>
                    <a:pt x="14" y="255"/>
                  </a:lnTo>
                  <a:lnTo>
                    <a:pt x="7" y="253"/>
                  </a:lnTo>
                  <a:lnTo>
                    <a:pt x="0" y="255"/>
                  </a:lnTo>
                  <a:lnTo>
                    <a:pt x="0" y="192"/>
                  </a:lnTo>
                  <a:lnTo>
                    <a:pt x="0" y="108"/>
                  </a:lnTo>
                  <a:lnTo>
                    <a:pt x="0" y="32"/>
                  </a:lnTo>
                  <a:lnTo>
                    <a:pt x="0" y="0"/>
                  </a:lnTo>
                  <a:close/>
                </a:path>
              </a:pathLst>
            </a:custGeom>
            <a:solidFill>
              <a:srgbClr val="C1841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65" name="Rectangle 1045">
              <a:extLst>
                <a:ext uri="{FF2B5EF4-FFF2-40B4-BE49-F238E27FC236}">
                  <a16:creationId xmlns:a16="http://schemas.microsoft.com/office/drawing/2014/main" id="{6FF3639C-587A-449A-8A12-4461703A8DF6}"/>
                </a:ext>
              </a:extLst>
            </p:cNvPr>
            <p:cNvSpPr>
              <a:spLocks noChangeArrowheads="1"/>
            </p:cNvSpPr>
            <p:nvPr/>
          </p:nvSpPr>
          <p:spPr bwMode="auto">
            <a:xfrm>
              <a:off x="3863" y="3396"/>
              <a:ext cx="396" cy="98"/>
            </a:xfrm>
            <a:prstGeom prst="rect">
              <a:avLst/>
            </a:prstGeom>
            <a:solidFill>
              <a:srgbClr val="E8C64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31766" name="Freeform 1046">
              <a:extLst>
                <a:ext uri="{FF2B5EF4-FFF2-40B4-BE49-F238E27FC236}">
                  <a16:creationId xmlns:a16="http://schemas.microsoft.com/office/drawing/2014/main" id="{AE1C906B-9E7A-46B6-9B58-AC04A7CA4DA6}"/>
                </a:ext>
              </a:extLst>
            </p:cNvPr>
            <p:cNvSpPr>
              <a:spLocks/>
            </p:cNvSpPr>
            <p:nvPr/>
          </p:nvSpPr>
          <p:spPr bwMode="auto">
            <a:xfrm>
              <a:off x="4250" y="3386"/>
              <a:ext cx="19" cy="108"/>
            </a:xfrm>
            <a:custGeom>
              <a:avLst/>
              <a:gdLst>
                <a:gd name="T0" fmla="*/ 9 w 19"/>
                <a:gd name="T1" fmla="*/ 19 h 108"/>
                <a:gd name="T2" fmla="*/ 0 w 19"/>
                <a:gd name="T3" fmla="*/ 10 h 108"/>
                <a:gd name="T4" fmla="*/ 0 w 19"/>
                <a:gd name="T5" fmla="*/ 108 h 108"/>
                <a:gd name="T6" fmla="*/ 19 w 19"/>
                <a:gd name="T7" fmla="*/ 108 h 108"/>
                <a:gd name="T8" fmla="*/ 19 w 19"/>
                <a:gd name="T9" fmla="*/ 10 h 108"/>
                <a:gd name="T10" fmla="*/ 9 w 19"/>
                <a:gd name="T11" fmla="*/ 0 h 108"/>
                <a:gd name="T12" fmla="*/ 19 w 19"/>
                <a:gd name="T13" fmla="*/ 10 h 108"/>
                <a:gd name="T14" fmla="*/ 16 w 19"/>
                <a:gd name="T15" fmla="*/ 3 h 108"/>
                <a:gd name="T16" fmla="*/ 9 w 19"/>
                <a:gd name="T17" fmla="*/ 0 h 108"/>
                <a:gd name="T18" fmla="*/ 2 w 19"/>
                <a:gd name="T19" fmla="*/ 3 h 108"/>
                <a:gd name="T20" fmla="*/ 0 w 19"/>
                <a:gd name="T21" fmla="*/ 10 h 108"/>
                <a:gd name="T22" fmla="*/ 9 w 19"/>
                <a:gd name="T23" fmla="*/ 19 h 10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108"/>
                <a:gd name="T38" fmla="*/ 19 w 19"/>
                <a:gd name="T39" fmla="*/ 108 h 10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108">
                  <a:moveTo>
                    <a:pt x="9" y="19"/>
                  </a:moveTo>
                  <a:lnTo>
                    <a:pt x="0" y="10"/>
                  </a:lnTo>
                  <a:lnTo>
                    <a:pt x="0" y="108"/>
                  </a:lnTo>
                  <a:lnTo>
                    <a:pt x="19" y="108"/>
                  </a:lnTo>
                  <a:lnTo>
                    <a:pt x="19" y="10"/>
                  </a:lnTo>
                  <a:lnTo>
                    <a:pt x="9" y="0"/>
                  </a:lnTo>
                  <a:lnTo>
                    <a:pt x="19" y="10"/>
                  </a:lnTo>
                  <a:lnTo>
                    <a:pt x="16" y="3"/>
                  </a:lnTo>
                  <a:lnTo>
                    <a:pt x="9" y="0"/>
                  </a:lnTo>
                  <a:lnTo>
                    <a:pt x="2" y="3"/>
                  </a:lnTo>
                  <a:lnTo>
                    <a:pt x="0" y="10"/>
                  </a:lnTo>
                  <a:lnTo>
                    <a:pt x="9"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67" name="Freeform 1047">
              <a:extLst>
                <a:ext uri="{FF2B5EF4-FFF2-40B4-BE49-F238E27FC236}">
                  <a16:creationId xmlns:a16="http://schemas.microsoft.com/office/drawing/2014/main" id="{CCA6C7FC-AFAD-4307-BDBC-FD09B931EE91}"/>
                </a:ext>
              </a:extLst>
            </p:cNvPr>
            <p:cNvSpPr>
              <a:spLocks/>
            </p:cNvSpPr>
            <p:nvPr/>
          </p:nvSpPr>
          <p:spPr bwMode="auto">
            <a:xfrm>
              <a:off x="3854" y="3386"/>
              <a:ext cx="405" cy="19"/>
            </a:xfrm>
            <a:custGeom>
              <a:avLst/>
              <a:gdLst>
                <a:gd name="T0" fmla="*/ 19 w 405"/>
                <a:gd name="T1" fmla="*/ 10 h 19"/>
                <a:gd name="T2" fmla="*/ 9 w 405"/>
                <a:gd name="T3" fmla="*/ 19 h 19"/>
                <a:gd name="T4" fmla="*/ 405 w 405"/>
                <a:gd name="T5" fmla="*/ 19 h 19"/>
                <a:gd name="T6" fmla="*/ 405 w 405"/>
                <a:gd name="T7" fmla="*/ 0 h 19"/>
                <a:gd name="T8" fmla="*/ 9 w 405"/>
                <a:gd name="T9" fmla="*/ 0 h 19"/>
                <a:gd name="T10" fmla="*/ 0 w 405"/>
                <a:gd name="T11" fmla="*/ 10 h 19"/>
                <a:gd name="T12" fmla="*/ 9 w 405"/>
                <a:gd name="T13" fmla="*/ 0 h 19"/>
                <a:gd name="T14" fmla="*/ 2 w 405"/>
                <a:gd name="T15" fmla="*/ 3 h 19"/>
                <a:gd name="T16" fmla="*/ 0 w 405"/>
                <a:gd name="T17" fmla="*/ 10 h 19"/>
                <a:gd name="T18" fmla="*/ 2 w 405"/>
                <a:gd name="T19" fmla="*/ 17 h 19"/>
                <a:gd name="T20" fmla="*/ 9 w 405"/>
                <a:gd name="T21" fmla="*/ 19 h 19"/>
                <a:gd name="T22" fmla="*/ 19 w 405"/>
                <a:gd name="T23" fmla="*/ 1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5"/>
                <a:gd name="T37" fmla="*/ 0 h 19"/>
                <a:gd name="T38" fmla="*/ 405 w 405"/>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5" h="19">
                  <a:moveTo>
                    <a:pt x="19" y="10"/>
                  </a:moveTo>
                  <a:lnTo>
                    <a:pt x="9" y="19"/>
                  </a:lnTo>
                  <a:lnTo>
                    <a:pt x="405" y="19"/>
                  </a:lnTo>
                  <a:lnTo>
                    <a:pt x="405" y="0"/>
                  </a:lnTo>
                  <a:lnTo>
                    <a:pt x="9" y="0"/>
                  </a:lnTo>
                  <a:lnTo>
                    <a:pt x="0" y="10"/>
                  </a:lnTo>
                  <a:lnTo>
                    <a:pt x="9" y="0"/>
                  </a:lnTo>
                  <a:lnTo>
                    <a:pt x="2" y="3"/>
                  </a:lnTo>
                  <a:lnTo>
                    <a:pt x="0" y="10"/>
                  </a:lnTo>
                  <a:lnTo>
                    <a:pt x="2" y="17"/>
                  </a:lnTo>
                  <a:lnTo>
                    <a:pt x="9" y="19"/>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68" name="Freeform 1048">
              <a:extLst>
                <a:ext uri="{FF2B5EF4-FFF2-40B4-BE49-F238E27FC236}">
                  <a16:creationId xmlns:a16="http://schemas.microsoft.com/office/drawing/2014/main" id="{51AF62D2-2D97-4A8D-BE0F-C83B30CBAE6C}"/>
                </a:ext>
              </a:extLst>
            </p:cNvPr>
            <p:cNvSpPr>
              <a:spLocks/>
            </p:cNvSpPr>
            <p:nvPr/>
          </p:nvSpPr>
          <p:spPr bwMode="auto">
            <a:xfrm>
              <a:off x="3854" y="3396"/>
              <a:ext cx="19" cy="108"/>
            </a:xfrm>
            <a:custGeom>
              <a:avLst/>
              <a:gdLst>
                <a:gd name="T0" fmla="*/ 9 w 19"/>
                <a:gd name="T1" fmla="*/ 89 h 108"/>
                <a:gd name="T2" fmla="*/ 19 w 19"/>
                <a:gd name="T3" fmla="*/ 98 h 108"/>
                <a:gd name="T4" fmla="*/ 19 w 19"/>
                <a:gd name="T5" fmla="*/ 0 h 108"/>
                <a:gd name="T6" fmla="*/ 0 w 19"/>
                <a:gd name="T7" fmla="*/ 0 h 108"/>
                <a:gd name="T8" fmla="*/ 0 w 19"/>
                <a:gd name="T9" fmla="*/ 98 h 108"/>
                <a:gd name="T10" fmla="*/ 9 w 19"/>
                <a:gd name="T11" fmla="*/ 108 h 108"/>
                <a:gd name="T12" fmla="*/ 0 w 19"/>
                <a:gd name="T13" fmla="*/ 98 h 108"/>
                <a:gd name="T14" fmla="*/ 2 w 19"/>
                <a:gd name="T15" fmla="*/ 105 h 108"/>
                <a:gd name="T16" fmla="*/ 9 w 19"/>
                <a:gd name="T17" fmla="*/ 108 h 108"/>
                <a:gd name="T18" fmla="*/ 16 w 19"/>
                <a:gd name="T19" fmla="*/ 105 h 108"/>
                <a:gd name="T20" fmla="*/ 19 w 19"/>
                <a:gd name="T21" fmla="*/ 98 h 108"/>
                <a:gd name="T22" fmla="*/ 9 w 19"/>
                <a:gd name="T23" fmla="*/ 89 h 10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108"/>
                <a:gd name="T38" fmla="*/ 19 w 19"/>
                <a:gd name="T39" fmla="*/ 108 h 10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108">
                  <a:moveTo>
                    <a:pt x="9" y="89"/>
                  </a:moveTo>
                  <a:lnTo>
                    <a:pt x="19" y="98"/>
                  </a:lnTo>
                  <a:lnTo>
                    <a:pt x="19" y="0"/>
                  </a:lnTo>
                  <a:lnTo>
                    <a:pt x="0" y="0"/>
                  </a:lnTo>
                  <a:lnTo>
                    <a:pt x="0" y="98"/>
                  </a:lnTo>
                  <a:lnTo>
                    <a:pt x="9" y="108"/>
                  </a:lnTo>
                  <a:lnTo>
                    <a:pt x="0" y="98"/>
                  </a:lnTo>
                  <a:lnTo>
                    <a:pt x="2" y="105"/>
                  </a:lnTo>
                  <a:lnTo>
                    <a:pt x="9" y="108"/>
                  </a:lnTo>
                  <a:lnTo>
                    <a:pt x="16" y="105"/>
                  </a:lnTo>
                  <a:lnTo>
                    <a:pt x="19" y="98"/>
                  </a:lnTo>
                  <a:lnTo>
                    <a:pt x="9" y="8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69" name="Freeform 1049">
              <a:extLst>
                <a:ext uri="{FF2B5EF4-FFF2-40B4-BE49-F238E27FC236}">
                  <a16:creationId xmlns:a16="http://schemas.microsoft.com/office/drawing/2014/main" id="{B53625CD-166F-41B6-A039-5F112B36EDFF}"/>
                </a:ext>
              </a:extLst>
            </p:cNvPr>
            <p:cNvSpPr>
              <a:spLocks/>
            </p:cNvSpPr>
            <p:nvPr/>
          </p:nvSpPr>
          <p:spPr bwMode="auto">
            <a:xfrm>
              <a:off x="3863" y="3485"/>
              <a:ext cx="406" cy="19"/>
            </a:xfrm>
            <a:custGeom>
              <a:avLst/>
              <a:gdLst>
                <a:gd name="T0" fmla="*/ 387 w 406"/>
                <a:gd name="T1" fmla="*/ 9 h 19"/>
                <a:gd name="T2" fmla="*/ 396 w 406"/>
                <a:gd name="T3" fmla="*/ 0 h 19"/>
                <a:gd name="T4" fmla="*/ 0 w 406"/>
                <a:gd name="T5" fmla="*/ 0 h 19"/>
                <a:gd name="T6" fmla="*/ 0 w 406"/>
                <a:gd name="T7" fmla="*/ 19 h 19"/>
                <a:gd name="T8" fmla="*/ 396 w 406"/>
                <a:gd name="T9" fmla="*/ 19 h 19"/>
                <a:gd name="T10" fmla="*/ 406 w 406"/>
                <a:gd name="T11" fmla="*/ 9 h 19"/>
                <a:gd name="T12" fmla="*/ 396 w 406"/>
                <a:gd name="T13" fmla="*/ 19 h 19"/>
                <a:gd name="T14" fmla="*/ 403 w 406"/>
                <a:gd name="T15" fmla="*/ 16 h 19"/>
                <a:gd name="T16" fmla="*/ 406 w 406"/>
                <a:gd name="T17" fmla="*/ 9 h 19"/>
                <a:gd name="T18" fmla="*/ 403 w 406"/>
                <a:gd name="T19" fmla="*/ 2 h 19"/>
                <a:gd name="T20" fmla="*/ 396 w 406"/>
                <a:gd name="T21" fmla="*/ 0 h 19"/>
                <a:gd name="T22" fmla="*/ 387 w 406"/>
                <a:gd name="T23" fmla="*/ 9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06"/>
                <a:gd name="T37" fmla="*/ 0 h 19"/>
                <a:gd name="T38" fmla="*/ 406 w 406"/>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06" h="19">
                  <a:moveTo>
                    <a:pt x="387" y="9"/>
                  </a:moveTo>
                  <a:lnTo>
                    <a:pt x="396" y="0"/>
                  </a:lnTo>
                  <a:lnTo>
                    <a:pt x="0" y="0"/>
                  </a:lnTo>
                  <a:lnTo>
                    <a:pt x="0" y="19"/>
                  </a:lnTo>
                  <a:lnTo>
                    <a:pt x="396" y="19"/>
                  </a:lnTo>
                  <a:lnTo>
                    <a:pt x="406" y="9"/>
                  </a:lnTo>
                  <a:lnTo>
                    <a:pt x="396" y="19"/>
                  </a:lnTo>
                  <a:lnTo>
                    <a:pt x="403" y="16"/>
                  </a:lnTo>
                  <a:lnTo>
                    <a:pt x="406" y="9"/>
                  </a:lnTo>
                  <a:lnTo>
                    <a:pt x="403" y="2"/>
                  </a:lnTo>
                  <a:lnTo>
                    <a:pt x="396" y="0"/>
                  </a:lnTo>
                  <a:lnTo>
                    <a:pt x="387"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70" name="Freeform 1050">
              <a:extLst>
                <a:ext uri="{FF2B5EF4-FFF2-40B4-BE49-F238E27FC236}">
                  <a16:creationId xmlns:a16="http://schemas.microsoft.com/office/drawing/2014/main" id="{443D7DD5-725F-4C02-8B36-B19242BA1101}"/>
                </a:ext>
              </a:extLst>
            </p:cNvPr>
            <p:cNvSpPr>
              <a:spLocks/>
            </p:cNvSpPr>
            <p:nvPr/>
          </p:nvSpPr>
          <p:spPr bwMode="auto">
            <a:xfrm>
              <a:off x="3870" y="3537"/>
              <a:ext cx="380" cy="110"/>
            </a:xfrm>
            <a:custGeom>
              <a:avLst/>
              <a:gdLst>
                <a:gd name="T0" fmla="*/ 0 w 380"/>
                <a:gd name="T1" fmla="*/ 0 h 110"/>
                <a:gd name="T2" fmla="*/ 10 w 380"/>
                <a:gd name="T3" fmla="*/ 0 h 110"/>
                <a:gd name="T4" fmla="*/ 24 w 380"/>
                <a:gd name="T5" fmla="*/ 0 h 110"/>
                <a:gd name="T6" fmla="*/ 43 w 380"/>
                <a:gd name="T7" fmla="*/ 0 h 110"/>
                <a:gd name="T8" fmla="*/ 68 w 380"/>
                <a:gd name="T9" fmla="*/ 0 h 110"/>
                <a:gd name="T10" fmla="*/ 97 w 380"/>
                <a:gd name="T11" fmla="*/ 0 h 110"/>
                <a:gd name="T12" fmla="*/ 127 w 380"/>
                <a:gd name="T13" fmla="*/ 0 h 110"/>
                <a:gd name="T14" fmla="*/ 160 w 380"/>
                <a:gd name="T15" fmla="*/ 0 h 110"/>
                <a:gd name="T16" fmla="*/ 193 w 380"/>
                <a:gd name="T17" fmla="*/ 0 h 110"/>
                <a:gd name="T18" fmla="*/ 225 w 380"/>
                <a:gd name="T19" fmla="*/ 0 h 110"/>
                <a:gd name="T20" fmla="*/ 258 w 380"/>
                <a:gd name="T21" fmla="*/ 0 h 110"/>
                <a:gd name="T22" fmla="*/ 289 w 380"/>
                <a:gd name="T23" fmla="*/ 0 h 110"/>
                <a:gd name="T24" fmla="*/ 317 w 380"/>
                <a:gd name="T25" fmla="*/ 0 h 110"/>
                <a:gd name="T26" fmla="*/ 340 w 380"/>
                <a:gd name="T27" fmla="*/ 0 h 110"/>
                <a:gd name="T28" fmla="*/ 359 w 380"/>
                <a:gd name="T29" fmla="*/ 0 h 110"/>
                <a:gd name="T30" fmla="*/ 373 w 380"/>
                <a:gd name="T31" fmla="*/ 0 h 110"/>
                <a:gd name="T32" fmla="*/ 380 w 380"/>
                <a:gd name="T33" fmla="*/ 0 h 110"/>
                <a:gd name="T34" fmla="*/ 296 w 380"/>
                <a:gd name="T35" fmla="*/ 110 h 110"/>
                <a:gd name="T36" fmla="*/ 61 w 380"/>
                <a:gd name="T37" fmla="*/ 110 h 110"/>
                <a:gd name="T38" fmla="*/ 0 w 380"/>
                <a:gd name="T39" fmla="*/ 0 h 11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80"/>
                <a:gd name="T61" fmla="*/ 0 h 110"/>
                <a:gd name="T62" fmla="*/ 380 w 380"/>
                <a:gd name="T63" fmla="*/ 110 h 11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80" h="110">
                  <a:moveTo>
                    <a:pt x="0" y="0"/>
                  </a:moveTo>
                  <a:lnTo>
                    <a:pt x="10" y="0"/>
                  </a:lnTo>
                  <a:lnTo>
                    <a:pt x="24" y="0"/>
                  </a:lnTo>
                  <a:lnTo>
                    <a:pt x="43" y="0"/>
                  </a:lnTo>
                  <a:lnTo>
                    <a:pt x="68" y="0"/>
                  </a:lnTo>
                  <a:lnTo>
                    <a:pt x="97" y="0"/>
                  </a:lnTo>
                  <a:lnTo>
                    <a:pt x="127" y="0"/>
                  </a:lnTo>
                  <a:lnTo>
                    <a:pt x="160" y="0"/>
                  </a:lnTo>
                  <a:lnTo>
                    <a:pt x="193" y="0"/>
                  </a:lnTo>
                  <a:lnTo>
                    <a:pt x="225" y="0"/>
                  </a:lnTo>
                  <a:lnTo>
                    <a:pt x="258" y="0"/>
                  </a:lnTo>
                  <a:lnTo>
                    <a:pt x="289" y="0"/>
                  </a:lnTo>
                  <a:lnTo>
                    <a:pt x="317" y="0"/>
                  </a:lnTo>
                  <a:lnTo>
                    <a:pt x="340" y="0"/>
                  </a:lnTo>
                  <a:lnTo>
                    <a:pt x="359" y="0"/>
                  </a:lnTo>
                  <a:lnTo>
                    <a:pt x="373" y="0"/>
                  </a:lnTo>
                  <a:lnTo>
                    <a:pt x="380" y="0"/>
                  </a:lnTo>
                  <a:lnTo>
                    <a:pt x="296" y="110"/>
                  </a:lnTo>
                  <a:lnTo>
                    <a:pt x="61" y="110"/>
                  </a:lnTo>
                  <a:lnTo>
                    <a:pt x="0" y="0"/>
                  </a:lnTo>
                  <a:close/>
                </a:path>
              </a:pathLst>
            </a:custGeom>
            <a:solidFill>
              <a:srgbClr val="E8C6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71" name="Freeform 1051">
              <a:extLst>
                <a:ext uri="{FF2B5EF4-FFF2-40B4-BE49-F238E27FC236}">
                  <a16:creationId xmlns:a16="http://schemas.microsoft.com/office/drawing/2014/main" id="{9D5374C1-C4C7-44E6-995F-61F70BD0350A}"/>
                </a:ext>
              </a:extLst>
            </p:cNvPr>
            <p:cNvSpPr>
              <a:spLocks/>
            </p:cNvSpPr>
            <p:nvPr/>
          </p:nvSpPr>
          <p:spPr bwMode="auto">
            <a:xfrm>
              <a:off x="3870" y="3527"/>
              <a:ext cx="389" cy="19"/>
            </a:xfrm>
            <a:custGeom>
              <a:avLst/>
              <a:gdLst>
                <a:gd name="T0" fmla="*/ 387 w 389"/>
                <a:gd name="T1" fmla="*/ 14 h 19"/>
                <a:gd name="T2" fmla="*/ 380 w 389"/>
                <a:gd name="T3" fmla="*/ 0 h 19"/>
                <a:gd name="T4" fmla="*/ 373 w 389"/>
                <a:gd name="T5" fmla="*/ 0 h 19"/>
                <a:gd name="T6" fmla="*/ 359 w 389"/>
                <a:gd name="T7" fmla="*/ 0 h 19"/>
                <a:gd name="T8" fmla="*/ 340 w 389"/>
                <a:gd name="T9" fmla="*/ 0 h 19"/>
                <a:gd name="T10" fmla="*/ 317 w 389"/>
                <a:gd name="T11" fmla="*/ 0 h 19"/>
                <a:gd name="T12" fmla="*/ 289 w 389"/>
                <a:gd name="T13" fmla="*/ 0 h 19"/>
                <a:gd name="T14" fmla="*/ 258 w 389"/>
                <a:gd name="T15" fmla="*/ 0 h 19"/>
                <a:gd name="T16" fmla="*/ 225 w 389"/>
                <a:gd name="T17" fmla="*/ 0 h 19"/>
                <a:gd name="T18" fmla="*/ 193 w 389"/>
                <a:gd name="T19" fmla="*/ 0 h 19"/>
                <a:gd name="T20" fmla="*/ 160 w 389"/>
                <a:gd name="T21" fmla="*/ 0 h 19"/>
                <a:gd name="T22" fmla="*/ 127 w 389"/>
                <a:gd name="T23" fmla="*/ 0 h 19"/>
                <a:gd name="T24" fmla="*/ 97 w 389"/>
                <a:gd name="T25" fmla="*/ 0 h 19"/>
                <a:gd name="T26" fmla="*/ 68 w 389"/>
                <a:gd name="T27" fmla="*/ 0 h 19"/>
                <a:gd name="T28" fmla="*/ 43 w 389"/>
                <a:gd name="T29" fmla="*/ 0 h 19"/>
                <a:gd name="T30" fmla="*/ 24 w 389"/>
                <a:gd name="T31" fmla="*/ 0 h 19"/>
                <a:gd name="T32" fmla="*/ 10 w 389"/>
                <a:gd name="T33" fmla="*/ 0 h 19"/>
                <a:gd name="T34" fmla="*/ 0 w 389"/>
                <a:gd name="T35" fmla="*/ 0 h 19"/>
                <a:gd name="T36" fmla="*/ 0 w 389"/>
                <a:gd name="T37" fmla="*/ 19 h 19"/>
                <a:gd name="T38" fmla="*/ 10 w 389"/>
                <a:gd name="T39" fmla="*/ 19 h 19"/>
                <a:gd name="T40" fmla="*/ 24 w 389"/>
                <a:gd name="T41" fmla="*/ 19 h 19"/>
                <a:gd name="T42" fmla="*/ 43 w 389"/>
                <a:gd name="T43" fmla="*/ 19 h 19"/>
                <a:gd name="T44" fmla="*/ 68 w 389"/>
                <a:gd name="T45" fmla="*/ 19 h 19"/>
                <a:gd name="T46" fmla="*/ 97 w 389"/>
                <a:gd name="T47" fmla="*/ 19 h 19"/>
                <a:gd name="T48" fmla="*/ 127 w 389"/>
                <a:gd name="T49" fmla="*/ 19 h 19"/>
                <a:gd name="T50" fmla="*/ 160 w 389"/>
                <a:gd name="T51" fmla="*/ 19 h 19"/>
                <a:gd name="T52" fmla="*/ 193 w 389"/>
                <a:gd name="T53" fmla="*/ 19 h 19"/>
                <a:gd name="T54" fmla="*/ 225 w 389"/>
                <a:gd name="T55" fmla="*/ 19 h 19"/>
                <a:gd name="T56" fmla="*/ 258 w 389"/>
                <a:gd name="T57" fmla="*/ 19 h 19"/>
                <a:gd name="T58" fmla="*/ 289 w 389"/>
                <a:gd name="T59" fmla="*/ 19 h 19"/>
                <a:gd name="T60" fmla="*/ 317 w 389"/>
                <a:gd name="T61" fmla="*/ 19 h 19"/>
                <a:gd name="T62" fmla="*/ 340 w 389"/>
                <a:gd name="T63" fmla="*/ 19 h 19"/>
                <a:gd name="T64" fmla="*/ 359 w 389"/>
                <a:gd name="T65" fmla="*/ 19 h 19"/>
                <a:gd name="T66" fmla="*/ 373 w 389"/>
                <a:gd name="T67" fmla="*/ 19 h 19"/>
                <a:gd name="T68" fmla="*/ 380 w 389"/>
                <a:gd name="T69" fmla="*/ 19 h 19"/>
                <a:gd name="T70" fmla="*/ 373 w 389"/>
                <a:gd name="T71" fmla="*/ 5 h 19"/>
                <a:gd name="T72" fmla="*/ 380 w 389"/>
                <a:gd name="T73" fmla="*/ 19 h 19"/>
                <a:gd name="T74" fmla="*/ 387 w 389"/>
                <a:gd name="T75" fmla="*/ 17 h 19"/>
                <a:gd name="T76" fmla="*/ 389 w 389"/>
                <a:gd name="T77" fmla="*/ 10 h 19"/>
                <a:gd name="T78" fmla="*/ 387 w 389"/>
                <a:gd name="T79" fmla="*/ 2 h 19"/>
                <a:gd name="T80" fmla="*/ 380 w 389"/>
                <a:gd name="T81" fmla="*/ 0 h 19"/>
                <a:gd name="T82" fmla="*/ 387 w 389"/>
                <a:gd name="T83" fmla="*/ 14 h 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89"/>
                <a:gd name="T127" fmla="*/ 0 h 19"/>
                <a:gd name="T128" fmla="*/ 389 w 389"/>
                <a:gd name="T129" fmla="*/ 19 h 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89" h="19">
                  <a:moveTo>
                    <a:pt x="387" y="14"/>
                  </a:moveTo>
                  <a:lnTo>
                    <a:pt x="380" y="0"/>
                  </a:lnTo>
                  <a:lnTo>
                    <a:pt x="373" y="0"/>
                  </a:lnTo>
                  <a:lnTo>
                    <a:pt x="359" y="0"/>
                  </a:lnTo>
                  <a:lnTo>
                    <a:pt x="340" y="0"/>
                  </a:lnTo>
                  <a:lnTo>
                    <a:pt x="317" y="0"/>
                  </a:lnTo>
                  <a:lnTo>
                    <a:pt x="289" y="0"/>
                  </a:lnTo>
                  <a:lnTo>
                    <a:pt x="258" y="0"/>
                  </a:lnTo>
                  <a:lnTo>
                    <a:pt x="225" y="0"/>
                  </a:lnTo>
                  <a:lnTo>
                    <a:pt x="193" y="0"/>
                  </a:lnTo>
                  <a:lnTo>
                    <a:pt x="160" y="0"/>
                  </a:lnTo>
                  <a:lnTo>
                    <a:pt x="127" y="0"/>
                  </a:lnTo>
                  <a:lnTo>
                    <a:pt x="97" y="0"/>
                  </a:lnTo>
                  <a:lnTo>
                    <a:pt x="68" y="0"/>
                  </a:lnTo>
                  <a:lnTo>
                    <a:pt x="43" y="0"/>
                  </a:lnTo>
                  <a:lnTo>
                    <a:pt x="24" y="0"/>
                  </a:lnTo>
                  <a:lnTo>
                    <a:pt x="10" y="0"/>
                  </a:lnTo>
                  <a:lnTo>
                    <a:pt x="0" y="0"/>
                  </a:lnTo>
                  <a:lnTo>
                    <a:pt x="0" y="19"/>
                  </a:lnTo>
                  <a:lnTo>
                    <a:pt x="10" y="19"/>
                  </a:lnTo>
                  <a:lnTo>
                    <a:pt x="24" y="19"/>
                  </a:lnTo>
                  <a:lnTo>
                    <a:pt x="43" y="19"/>
                  </a:lnTo>
                  <a:lnTo>
                    <a:pt x="68" y="19"/>
                  </a:lnTo>
                  <a:lnTo>
                    <a:pt x="97" y="19"/>
                  </a:lnTo>
                  <a:lnTo>
                    <a:pt x="127" y="19"/>
                  </a:lnTo>
                  <a:lnTo>
                    <a:pt x="160" y="19"/>
                  </a:lnTo>
                  <a:lnTo>
                    <a:pt x="193" y="19"/>
                  </a:lnTo>
                  <a:lnTo>
                    <a:pt x="225" y="19"/>
                  </a:lnTo>
                  <a:lnTo>
                    <a:pt x="258" y="19"/>
                  </a:lnTo>
                  <a:lnTo>
                    <a:pt x="289" y="19"/>
                  </a:lnTo>
                  <a:lnTo>
                    <a:pt x="317" y="19"/>
                  </a:lnTo>
                  <a:lnTo>
                    <a:pt x="340" y="19"/>
                  </a:lnTo>
                  <a:lnTo>
                    <a:pt x="359" y="19"/>
                  </a:lnTo>
                  <a:lnTo>
                    <a:pt x="373" y="19"/>
                  </a:lnTo>
                  <a:lnTo>
                    <a:pt x="380" y="19"/>
                  </a:lnTo>
                  <a:lnTo>
                    <a:pt x="373" y="5"/>
                  </a:lnTo>
                  <a:lnTo>
                    <a:pt x="380" y="19"/>
                  </a:lnTo>
                  <a:lnTo>
                    <a:pt x="387" y="17"/>
                  </a:lnTo>
                  <a:lnTo>
                    <a:pt x="389" y="10"/>
                  </a:lnTo>
                  <a:lnTo>
                    <a:pt x="387" y="2"/>
                  </a:lnTo>
                  <a:lnTo>
                    <a:pt x="380" y="0"/>
                  </a:lnTo>
                  <a:lnTo>
                    <a:pt x="387"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72" name="Freeform 1052">
              <a:extLst>
                <a:ext uri="{FF2B5EF4-FFF2-40B4-BE49-F238E27FC236}">
                  <a16:creationId xmlns:a16="http://schemas.microsoft.com/office/drawing/2014/main" id="{65E9F1B1-DEB0-46EB-B817-97BF89CB30F2}"/>
                </a:ext>
              </a:extLst>
            </p:cNvPr>
            <p:cNvSpPr>
              <a:spLocks/>
            </p:cNvSpPr>
            <p:nvPr/>
          </p:nvSpPr>
          <p:spPr bwMode="auto">
            <a:xfrm>
              <a:off x="4159" y="3532"/>
              <a:ext cx="98" cy="124"/>
            </a:xfrm>
            <a:custGeom>
              <a:avLst/>
              <a:gdLst>
                <a:gd name="T0" fmla="*/ 7 w 98"/>
                <a:gd name="T1" fmla="*/ 124 h 124"/>
                <a:gd name="T2" fmla="*/ 14 w 98"/>
                <a:gd name="T3" fmla="*/ 120 h 124"/>
                <a:gd name="T4" fmla="*/ 98 w 98"/>
                <a:gd name="T5" fmla="*/ 9 h 124"/>
                <a:gd name="T6" fmla="*/ 84 w 98"/>
                <a:gd name="T7" fmla="*/ 0 h 124"/>
                <a:gd name="T8" fmla="*/ 0 w 98"/>
                <a:gd name="T9" fmla="*/ 110 h 124"/>
                <a:gd name="T10" fmla="*/ 7 w 98"/>
                <a:gd name="T11" fmla="*/ 105 h 124"/>
                <a:gd name="T12" fmla="*/ 0 w 98"/>
                <a:gd name="T13" fmla="*/ 110 h 124"/>
                <a:gd name="T14" fmla="*/ 0 w 98"/>
                <a:gd name="T15" fmla="*/ 117 h 124"/>
                <a:gd name="T16" fmla="*/ 4 w 98"/>
                <a:gd name="T17" fmla="*/ 122 h 124"/>
                <a:gd name="T18" fmla="*/ 9 w 98"/>
                <a:gd name="T19" fmla="*/ 124 h 124"/>
                <a:gd name="T20" fmla="*/ 14 w 98"/>
                <a:gd name="T21" fmla="*/ 120 h 124"/>
                <a:gd name="T22" fmla="*/ 7 w 98"/>
                <a:gd name="T23" fmla="*/ 124 h 1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8"/>
                <a:gd name="T37" fmla="*/ 0 h 124"/>
                <a:gd name="T38" fmla="*/ 98 w 98"/>
                <a:gd name="T39" fmla="*/ 124 h 1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8" h="124">
                  <a:moveTo>
                    <a:pt x="7" y="124"/>
                  </a:moveTo>
                  <a:lnTo>
                    <a:pt x="14" y="120"/>
                  </a:lnTo>
                  <a:lnTo>
                    <a:pt x="98" y="9"/>
                  </a:lnTo>
                  <a:lnTo>
                    <a:pt x="84" y="0"/>
                  </a:lnTo>
                  <a:lnTo>
                    <a:pt x="0" y="110"/>
                  </a:lnTo>
                  <a:lnTo>
                    <a:pt x="7" y="105"/>
                  </a:lnTo>
                  <a:lnTo>
                    <a:pt x="0" y="110"/>
                  </a:lnTo>
                  <a:lnTo>
                    <a:pt x="0" y="117"/>
                  </a:lnTo>
                  <a:lnTo>
                    <a:pt x="4" y="122"/>
                  </a:lnTo>
                  <a:lnTo>
                    <a:pt x="9" y="124"/>
                  </a:lnTo>
                  <a:lnTo>
                    <a:pt x="14" y="120"/>
                  </a:lnTo>
                  <a:lnTo>
                    <a:pt x="7" y="1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73" name="Freeform 1053">
              <a:extLst>
                <a:ext uri="{FF2B5EF4-FFF2-40B4-BE49-F238E27FC236}">
                  <a16:creationId xmlns:a16="http://schemas.microsoft.com/office/drawing/2014/main" id="{43C07895-E71C-42B0-9E13-42B3D0E85AFA}"/>
                </a:ext>
              </a:extLst>
            </p:cNvPr>
            <p:cNvSpPr>
              <a:spLocks/>
            </p:cNvSpPr>
            <p:nvPr/>
          </p:nvSpPr>
          <p:spPr bwMode="auto">
            <a:xfrm>
              <a:off x="3922" y="3637"/>
              <a:ext cx="244" cy="19"/>
            </a:xfrm>
            <a:custGeom>
              <a:avLst/>
              <a:gdLst>
                <a:gd name="T0" fmla="*/ 2 w 244"/>
                <a:gd name="T1" fmla="*/ 12 h 19"/>
                <a:gd name="T2" fmla="*/ 9 w 244"/>
                <a:gd name="T3" fmla="*/ 19 h 19"/>
                <a:gd name="T4" fmla="*/ 244 w 244"/>
                <a:gd name="T5" fmla="*/ 19 h 19"/>
                <a:gd name="T6" fmla="*/ 244 w 244"/>
                <a:gd name="T7" fmla="*/ 0 h 19"/>
                <a:gd name="T8" fmla="*/ 9 w 244"/>
                <a:gd name="T9" fmla="*/ 0 h 19"/>
                <a:gd name="T10" fmla="*/ 16 w 244"/>
                <a:gd name="T11" fmla="*/ 7 h 19"/>
                <a:gd name="T12" fmla="*/ 9 w 244"/>
                <a:gd name="T13" fmla="*/ 0 h 19"/>
                <a:gd name="T14" fmla="*/ 2 w 244"/>
                <a:gd name="T15" fmla="*/ 3 h 19"/>
                <a:gd name="T16" fmla="*/ 0 w 244"/>
                <a:gd name="T17" fmla="*/ 10 h 19"/>
                <a:gd name="T18" fmla="*/ 2 w 244"/>
                <a:gd name="T19" fmla="*/ 17 h 19"/>
                <a:gd name="T20" fmla="*/ 9 w 244"/>
                <a:gd name="T21" fmla="*/ 19 h 19"/>
                <a:gd name="T22" fmla="*/ 2 w 244"/>
                <a:gd name="T23" fmla="*/ 12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4"/>
                <a:gd name="T37" fmla="*/ 0 h 19"/>
                <a:gd name="T38" fmla="*/ 244 w 244"/>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4" h="19">
                  <a:moveTo>
                    <a:pt x="2" y="12"/>
                  </a:moveTo>
                  <a:lnTo>
                    <a:pt x="9" y="19"/>
                  </a:lnTo>
                  <a:lnTo>
                    <a:pt x="244" y="19"/>
                  </a:lnTo>
                  <a:lnTo>
                    <a:pt x="244" y="0"/>
                  </a:lnTo>
                  <a:lnTo>
                    <a:pt x="9" y="0"/>
                  </a:lnTo>
                  <a:lnTo>
                    <a:pt x="16" y="7"/>
                  </a:lnTo>
                  <a:lnTo>
                    <a:pt x="9" y="0"/>
                  </a:lnTo>
                  <a:lnTo>
                    <a:pt x="2" y="3"/>
                  </a:lnTo>
                  <a:lnTo>
                    <a:pt x="0" y="10"/>
                  </a:lnTo>
                  <a:lnTo>
                    <a:pt x="2" y="17"/>
                  </a:lnTo>
                  <a:lnTo>
                    <a:pt x="9" y="19"/>
                  </a:lnTo>
                  <a:lnTo>
                    <a:pt x="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74" name="Freeform 1054">
              <a:extLst>
                <a:ext uri="{FF2B5EF4-FFF2-40B4-BE49-F238E27FC236}">
                  <a16:creationId xmlns:a16="http://schemas.microsoft.com/office/drawing/2014/main" id="{27C7AAA8-2E79-48EB-9535-61D78AA079F7}"/>
                </a:ext>
              </a:extLst>
            </p:cNvPr>
            <p:cNvSpPr>
              <a:spLocks/>
            </p:cNvSpPr>
            <p:nvPr/>
          </p:nvSpPr>
          <p:spPr bwMode="auto">
            <a:xfrm>
              <a:off x="3863" y="3527"/>
              <a:ext cx="75" cy="122"/>
            </a:xfrm>
            <a:custGeom>
              <a:avLst/>
              <a:gdLst>
                <a:gd name="T0" fmla="*/ 7 w 75"/>
                <a:gd name="T1" fmla="*/ 0 h 122"/>
                <a:gd name="T2" fmla="*/ 0 w 75"/>
                <a:gd name="T3" fmla="*/ 12 h 122"/>
                <a:gd name="T4" fmla="*/ 61 w 75"/>
                <a:gd name="T5" fmla="*/ 122 h 122"/>
                <a:gd name="T6" fmla="*/ 75 w 75"/>
                <a:gd name="T7" fmla="*/ 117 h 122"/>
                <a:gd name="T8" fmla="*/ 14 w 75"/>
                <a:gd name="T9" fmla="*/ 7 h 122"/>
                <a:gd name="T10" fmla="*/ 7 w 75"/>
                <a:gd name="T11" fmla="*/ 19 h 122"/>
                <a:gd name="T12" fmla="*/ 14 w 75"/>
                <a:gd name="T13" fmla="*/ 7 h 122"/>
                <a:gd name="T14" fmla="*/ 12 w 75"/>
                <a:gd name="T15" fmla="*/ 2 h 122"/>
                <a:gd name="T16" fmla="*/ 5 w 75"/>
                <a:gd name="T17" fmla="*/ 2 h 122"/>
                <a:gd name="T18" fmla="*/ 0 w 75"/>
                <a:gd name="T19" fmla="*/ 5 h 122"/>
                <a:gd name="T20" fmla="*/ 0 w 75"/>
                <a:gd name="T21" fmla="*/ 12 h 122"/>
                <a:gd name="T22" fmla="*/ 7 w 75"/>
                <a:gd name="T23" fmla="*/ 0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
                <a:gd name="T37" fmla="*/ 0 h 122"/>
                <a:gd name="T38" fmla="*/ 75 w 75"/>
                <a:gd name="T39" fmla="*/ 122 h 1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 h="122">
                  <a:moveTo>
                    <a:pt x="7" y="0"/>
                  </a:moveTo>
                  <a:lnTo>
                    <a:pt x="0" y="12"/>
                  </a:lnTo>
                  <a:lnTo>
                    <a:pt x="61" y="122"/>
                  </a:lnTo>
                  <a:lnTo>
                    <a:pt x="75" y="117"/>
                  </a:lnTo>
                  <a:lnTo>
                    <a:pt x="14" y="7"/>
                  </a:lnTo>
                  <a:lnTo>
                    <a:pt x="7" y="19"/>
                  </a:lnTo>
                  <a:lnTo>
                    <a:pt x="14" y="7"/>
                  </a:lnTo>
                  <a:lnTo>
                    <a:pt x="12" y="2"/>
                  </a:lnTo>
                  <a:lnTo>
                    <a:pt x="5" y="2"/>
                  </a:lnTo>
                  <a:lnTo>
                    <a:pt x="0" y="5"/>
                  </a:lnTo>
                  <a:lnTo>
                    <a:pt x="0" y="1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75" name="Freeform 1055">
              <a:extLst>
                <a:ext uri="{FF2B5EF4-FFF2-40B4-BE49-F238E27FC236}">
                  <a16:creationId xmlns:a16="http://schemas.microsoft.com/office/drawing/2014/main" id="{23AB8358-A813-464F-B5B3-3021678C92FE}"/>
                </a:ext>
              </a:extLst>
            </p:cNvPr>
            <p:cNvSpPr>
              <a:spLocks/>
            </p:cNvSpPr>
            <p:nvPr/>
          </p:nvSpPr>
          <p:spPr bwMode="auto">
            <a:xfrm>
              <a:off x="4428" y="3576"/>
              <a:ext cx="448" cy="130"/>
            </a:xfrm>
            <a:custGeom>
              <a:avLst/>
              <a:gdLst>
                <a:gd name="T0" fmla="*/ 61 w 448"/>
                <a:gd name="T1" fmla="*/ 0 h 130"/>
                <a:gd name="T2" fmla="*/ 387 w 448"/>
                <a:gd name="T3" fmla="*/ 0 h 130"/>
                <a:gd name="T4" fmla="*/ 448 w 448"/>
                <a:gd name="T5" fmla="*/ 130 h 130"/>
                <a:gd name="T6" fmla="*/ 0 w 448"/>
                <a:gd name="T7" fmla="*/ 130 h 130"/>
                <a:gd name="T8" fmla="*/ 61 w 448"/>
                <a:gd name="T9" fmla="*/ 0 h 130"/>
                <a:gd name="T10" fmla="*/ 0 60000 65536"/>
                <a:gd name="T11" fmla="*/ 0 60000 65536"/>
                <a:gd name="T12" fmla="*/ 0 60000 65536"/>
                <a:gd name="T13" fmla="*/ 0 60000 65536"/>
                <a:gd name="T14" fmla="*/ 0 60000 65536"/>
                <a:gd name="T15" fmla="*/ 0 w 448"/>
                <a:gd name="T16" fmla="*/ 0 h 130"/>
                <a:gd name="T17" fmla="*/ 448 w 448"/>
                <a:gd name="T18" fmla="*/ 130 h 130"/>
              </a:gdLst>
              <a:ahLst/>
              <a:cxnLst>
                <a:cxn ang="T10">
                  <a:pos x="T0" y="T1"/>
                </a:cxn>
                <a:cxn ang="T11">
                  <a:pos x="T2" y="T3"/>
                </a:cxn>
                <a:cxn ang="T12">
                  <a:pos x="T4" y="T5"/>
                </a:cxn>
                <a:cxn ang="T13">
                  <a:pos x="T6" y="T7"/>
                </a:cxn>
                <a:cxn ang="T14">
                  <a:pos x="T8" y="T9"/>
                </a:cxn>
              </a:cxnLst>
              <a:rect l="T15" t="T16" r="T17" b="T18"/>
              <a:pathLst>
                <a:path w="448" h="130">
                  <a:moveTo>
                    <a:pt x="61" y="0"/>
                  </a:moveTo>
                  <a:lnTo>
                    <a:pt x="387" y="0"/>
                  </a:lnTo>
                  <a:lnTo>
                    <a:pt x="448" y="130"/>
                  </a:lnTo>
                  <a:lnTo>
                    <a:pt x="0" y="130"/>
                  </a:lnTo>
                  <a:lnTo>
                    <a:pt x="61" y="0"/>
                  </a:lnTo>
                  <a:close/>
                </a:path>
              </a:pathLst>
            </a:custGeom>
            <a:solidFill>
              <a:srgbClr val="E8C6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76" name="Rectangle 1056">
              <a:extLst>
                <a:ext uri="{FF2B5EF4-FFF2-40B4-BE49-F238E27FC236}">
                  <a16:creationId xmlns:a16="http://schemas.microsoft.com/office/drawing/2014/main" id="{2A99DFD8-F6F9-4AA6-BE3F-C59973AD436A}"/>
                </a:ext>
              </a:extLst>
            </p:cNvPr>
            <p:cNvSpPr>
              <a:spLocks noChangeArrowheads="1"/>
            </p:cNvSpPr>
            <p:nvPr/>
          </p:nvSpPr>
          <p:spPr bwMode="auto">
            <a:xfrm>
              <a:off x="4562" y="3436"/>
              <a:ext cx="187" cy="115"/>
            </a:xfrm>
            <a:prstGeom prst="rect">
              <a:avLst/>
            </a:prstGeom>
            <a:solidFill>
              <a:srgbClr val="C1841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31777" name="Rectangle 1057">
              <a:extLst>
                <a:ext uri="{FF2B5EF4-FFF2-40B4-BE49-F238E27FC236}">
                  <a16:creationId xmlns:a16="http://schemas.microsoft.com/office/drawing/2014/main" id="{5598491F-0D26-4C5F-9041-8C052743E317}"/>
                </a:ext>
              </a:extLst>
            </p:cNvPr>
            <p:cNvSpPr>
              <a:spLocks noChangeArrowheads="1"/>
            </p:cNvSpPr>
            <p:nvPr/>
          </p:nvSpPr>
          <p:spPr bwMode="auto">
            <a:xfrm>
              <a:off x="4590" y="3213"/>
              <a:ext cx="136" cy="119"/>
            </a:xfrm>
            <a:prstGeom prst="rect">
              <a:avLst/>
            </a:prstGeom>
            <a:solidFill>
              <a:srgbClr val="E8C64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31778" name="Rectangle 1058">
              <a:extLst>
                <a:ext uri="{FF2B5EF4-FFF2-40B4-BE49-F238E27FC236}">
                  <a16:creationId xmlns:a16="http://schemas.microsoft.com/office/drawing/2014/main" id="{2F48FC7A-E46C-499D-9B2B-C8C4E2C18B59}"/>
                </a:ext>
              </a:extLst>
            </p:cNvPr>
            <p:cNvSpPr>
              <a:spLocks noChangeArrowheads="1"/>
            </p:cNvSpPr>
            <p:nvPr/>
          </p:nvSpPr>
          <p:spPr bwMode="auto">
            <a:xfrm>
              <a:off x="4562" y="3318"/>
              <a:ext cx="194" cy="94"/>
            </a:xfrm>
            <a:prstGeom prst="rect">
              <a:avLst/>
            </a:prstGeom>
            <a:solidFill>
              <a:srgbClr val="C1841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31779" name="Freeform 1059">
              <a:extLst>
                <a:ext uri="{FF2B5EF4-FFF2-40B4-BE49-F238E27FC236}">
                  <a16:creationId xmlns:a16="http://schemas.microsoft.com/office/drawing/2014/main" id="{698CD05D-5DB1-4523-84E9-F3E066726E28}"/>
                </a:ext>
              </a:extLst>
            </p:cNvPr>
            <p:cNvSpPr>
              <a:spLocks/>
            </p:cNvSpPr>
            <p:nvPr/>
          </p:nvSpPr>
          <p:spPr bwMode="auto">
            <a:xfrm>
              <a:off x="4747" y="3309"/>
              <a:ext cx="19" cy="103"/>
            </a:xfrm>
            <a:custGeom>
              <a:avLst/>
              <a:gdLst>
                <a:gd name="T0" fmla="*/ 9 w 19"/>
                <a:gd name="T1" fmla="*/ 19 h 103"/>
                <a:gd name="T2" fmla="*/ 0 w 19"/>
                <a:gd name="T3" fmla="*/ 9 h 103"/>
                <a:gd name="T4" fmla="*/ 0 w 19"/>
                <a:gd name="T5" fmla="*/ 103 h 103"/>
                <a:gd name="T6" fmla="*/ 19 w 19"/>
                <a:gd name="T7" fmla="*/ 103 h 103"/>
                <a:gd name="T8" fmla="*/ 19 w 19"/>
                <a:gd name="T9" fmla="*/ 9 h 103"/>
                <a:gd name="T10" fmla="*/ 9 w 19"/>
                <a:gd name="T11" fmla="*/ 0 h 103"/>
                <a:gd name="T12" fmla="*/ 19 w 19"/>
                <a:gd name="T13" fmla="*/ 9 h 103"/>
                <a:gd name="T14" fmla="*/ 16 w 19"/>
                <a:gd name="T15" fmla="*/ 2 h 103"/>
                <a:gd name="T16" fmla="*/ 9 w 19"/>
                <a:gd name="T17" fmla="*/ 0 h 103"/>
                <a:gd name="T18" fmla="*/ 2 w 19"/>
                <a:gd name="T19" fmla="*/ 2 h 103"/>
                <a:gd name="T20" fmla="*/ 0 w 19"/>
                <a:gd name="T21" fmla="*/ 9 h 103"/>
                <a:gd name="T22" fmla="*/ 9 w 19"/>
                <a:gd name="T23" fmla="*/ 19 h 1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103"/>
                <a:gd name="T38" fmla="*/ 19 w 19"/>
                <a:gd name="T39" fmla="*/ 103 h 10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103">
                  <a:moveTo>
                    <a:pt x="9" y="19"/>
                  </a:moveTo>
                  <a:lnTo>
                    <a:pt x="0" y="9"/>
                  </a:lnTo>
                  <a:lnTo>
                    <a:pt x="0" y="103"/>
                  </a:lnTo>
                  <a:lnTo>
                    <a:pt x="19" y="103"/>
                  </a:lnTo>
                  <a:lnTo>
                    <a:pt x="19" y="9"/>
                  </a:lnTo>
                  <a:lnTo>
                    <a:pt x="9" y="0"/>
                  </a:lnTo>
                  <a:lnTo>
                    <a:pt x="19" y="9"/>
                  </a:lnTo>
                  <a:lnTo>
                    <a:pt x="16" y="2"/>
                  </a:lnTo>
                  <a:lnTo>
                    <a:pt x="9" y="0"/>
                  </a:lnTo>
                  <a:lnTo>
                    <a:pt x="2" y="2"/>
                  </a:lnTo>
                  <a:lnTo>
                    <a:pt x="0" y="9"/>
                  </a:lnTo>
                  <a:lnTo>
                    <a:pt x="9"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0" name="Freeform 1060">
              <a:extLst>
                <a:ext uri="{FF2B5EF4-FFF2-40B4-BE49-F238E27FC236}">
                  <a16:creationId xmlns:a16="http://schemas.microsoft.com/office/drawing/2014/main" id="{2C255704-19D7-4AF7-B61F-01D8EA80D6C3}"/>
                </a:ext>
              </a:extLst>
            </p:cNvPr>
            <p:cNvSpPr>
              <a:spLocks/>
            </p:cNvSpPr>
            <p:nvPr/>
          </p:nvSpPr>
          <p:spPr bwMode="auto">
            <a:xfrm>
              <a:off x="4552" y="3309"/>
              <a:ext cx="204" cy="19"/>
            </a:xfrm>
            <a:custGeom>
              <a:avLst/>
              <a:gdLst>
                <a:gd name="T0" fmla="*/ 19 w 204"/>
                <a:gd name="T1" fmla="*/ 9 h 19"/>
                <a:gd name="T2" fmla="*/ 10 w 204"/>
                <a:gd name="T3" fmla="*/ 19 h 19"/>
                <a:gd name="T4" fmla="*/ 204 w 204"/>
                <a:gd name="T5" fmla="*/ 19 h 19"/>
                <a:gd name="T6" fmla="*/ 204 w 204"/>
                <a:gd name="T7" fmla="*/ 0 h 19"/>
                <a:gd name="T8" fmla="*/ 10 w 204"/>
                <a:gd name="T9" fmla="*/ 0 h 19"/>
                <a:gd name="T10" fmla="*/ 0 w 204"/>
                <a:gd name="T11" fmla="*/ 9 h 19"/>
                <a:gd name="T12" fmla="*/ 10 w 204"/>
                <a:gd name="T13" fmla="*/ 0 h 19"/>
                <a:gd name="T14" fmla="*/ 3 w 204"/>
                <a:gd name="T15" fmla="*/ 2 h 19"/>
                <a:gd name="T16" fmla="*/ 0 w 204"/>
                <a:gd name="T17" fmla="*/ 9 h 19"/>
                <a:gd name="T18" fmla="*/ 3 w 204"/>
                <a:gd name="T19" fmla="*/ 16 h 19"/>
                <a:gd name="T20" fmla="*/ 10 w 204"/>
                <a:gd name="T21" fmla="*/ 19 h 19"/>
                <a:gd name="T22" fmla="*/ 19 w 204"/>
                <a:gd name="T23" fmla="*/ 9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9"/>
                <a:gd name="T38" fmla="*/ 204 w 204"/>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9">
                  <a:moveTo>
                    <a:pt x="19" y="9"/>
                  </a:moveTo>
                  <a:lnTo>
                    <a:pt x="10" y="19"/>
                  </a:lnTo>
                  <a:lnTo>
                    <a:pt x="204" y="19"/>
                  </a:lnTo>
                  <a:lnTo>
                    <a:pt x="204" y="0"/>
                  </a:lnTo>
                  <a:lnTo>
                    <a:pt x="10" y="0"/>
                  </a:lnTo>
                  <a:lnTo>
                    <a:pt x="0" y="9"/>
                  </a:lnTo>
                  <a:lnTo>
                    <a:pt x="10" y="0"/>
                  </a:lnTo>
                  <a:lnTo>
                    <a:pt x="3" y="2"/>
                  </a:lnTo>
                  <a:lnTo>
                    <a:pt x="0" y="9"/>
                  </a:lnTo>
                  <a:lnTo>
                    <a:pt x="3" y="16"/>
                  </a:lnTo>
                  <a:lnTo>
                    <a:pt x="10" y="19"/>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1" name="Freeform 1061">
              <a:extLst>
                <a:ext uri="{FF2B5EF4-FFF2-40B4-BE49-F238E27FC236}">
                  <a16:creationId xmlns:a16="http://schemas.microsoft.com/office/drawing/2014/main" id="{7D97388B-0FE9-461D-A937-E55B13515C10}"/>
                </a:ext>
              </a:extLst>
            </p:cNvPr>
            <p:cNvSpPr>
              <a:spLocks/>
            </p:cNvSpPr>
            <p:nvPr/>
          </p:nvSpPr>
          <p:spPr bwMode="auto">
            <a:xfrm>
              <a:off x="4552" y="3318"/>
              <a:ext cx="19" cy="104"/>
            </a:xfrm>
            <a:custGeom>
              <a:avLst/>
              <a:gdLst>
                <a:gd name="T0" fmla="*/ 10 w 19"/>
                <a:gd name="T1" fmla="*/ 85 h 104"/>
                <a:gd name="T2" fmla="*/ 19 w 19"/>
                <a:gd name="T3" fmla="*/ 94 h 104"/>
                <a:gd name="T4" fmla="*/ 19 w 19"/>
                <a:gd name="T5" fmla="*/ 0 h 104"/>
                <a:gd name="T6" fmla="*/ 0 w 19"/>
                <a:gd name="T7" fmla="*/ 0 h 104"/>
                <a:gd name="T8" fmla="*/ 0 w 19"/>
                <a:gd name="T9" fmla="*/ 94 h 104"/>
                <a:gd name="T10" fmla="*/ 10 w 19"/>
                <a:gd name="T11" fmla="*/ 104 h 104"/>
                <a:gd name="T12" fmla="*/ 0 w 19"/>
                <a:gd name="T13" fmla="*/ 94 h 104"/>
                <a:gd name="T14" fmla="*/ 3 w 19"/>
                <a:gd name="T15" fmla="*/ 101 h 104"/>
                <a:gd name="T16" fmla="*/ 10 w 19"/>
                <a:gd name="T17" fmla="*/ 104 h 104"/>
                <a:gd name="T18" fmla="*/ 17 w 19"/>
                <a:gd name="T19" fmla="*/ 101 h 104"/>
                <a:gd name="T20" fmla="*/ 19 w 19"/>
                <a:gd name="T21" fmla="*/ 94 h 104"/>
                <a:gd name="T22" fmla="*/ 10 w 19"/>
                <a:gd name="T23" fmla="*/ 85 h 10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104"/>
                <a:gd name="T38" fmla="*/ 19 w 19"/>
                <a:gd name="T39" fmla="*/ 104 h 10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104">
                  <a:moveTo>
                    <a:pt x="10" y="85"/>
                  </a:moveTo>
                  <a:lnTo>
                    <a:pt x="19" y="94"/>
                  </a:lnTo>
                  <a:lnTo>
                    <a:pt x="19" y="0"/>
                  </a:lnTo>
                  <a:lnTo>
                    <a:pt x="0" y="0"/>
                  </a:lnTo>
                  <a:lnTo>
                    <a:pt x="0" y="94"/>
                  </a:lnTo>
                  <a:lnTo>
                    <a:pt x="10" y="104"/>
                  </a:lnTo>
                  <a:lnTo>
                    <a:pt x="0" y="94"/>
                  </a:lnTo>
                  <a:lnTo>
                    <a:pt x="3" y="101"/>
                  </a:lnTo>
                  <a:lnTo>
                    <a:pt x="10" y="104"/>
                  </a:lnTo>
                  <a:lnTo>
                    <a:pt x="17" y="101"/>
                  </a:lnTo>
                  <a:lnTo>
                    <a:pt x="19" y="94"/>
                  </a:lnTo>
                  <a:lnTo>
                    <a:pt x="1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2" name="Freeform 1062">
              <a:extLst>
                <a:ext uri="{FF2B5EF4-FFF2-40B4-BE49-F238E27FC236}">
                  <a16:creationId xmlns:a16="http://schemas.microsoft.com/office/drawing/2014/main" id="{7E09CCE7-1599-48C6-B1E5-3230CFB7CC3E}"/>
                </a:ext>
              </a:extLst>
            </p:cNvPr>
            <p:cNvSpPr>
              <a:spLocks/>
            </p:cNvSpPr>
            <p:nvPr/>
          </p:nvSpPr>
          <p:spPr bwMode="auto">
            <a:xfrm>
              <a:off x="4562" y="3403"/>
              <a:ext cx="204" cy="19"/>
            </a:xfrm>
            <a:custGeom>
              <a:avLst/>
              <a:gdLst>
                <a:gd name="T0" fmla="*/ 185 w 204"/>
                <a:gd name="T1" fmla="*/ 9 h 19"/>
                <a:gd name="T2" fmla="*/ 194 w 204"/>
                <a:gd name="T3" fmla="*/ 0 h 19"/>
                <a:gd name="T4" fmla="*/ 0 w 204"/>
                <a:gd name="T5" fmla="*/ 0 h 19"/>
                <a:gd name="T6" fmla="*/ 0 w 204"/>
                <a:gd name="T7" fmla="*/ 19 h 19"/>
                <a:gd name="T8" fmla="*/ 194 w 204"/>
                <a:gd name="T9" fmla="*/ 19 h 19"/>
                <a:gd name="T10" fmla="*/ 204 w 204"/>
                <a:gd name="T11" fmla="*/ 9 h 19"/>
                <a:gd name="T12" fmla="*/ 194 w 204"/>
                <a:gd name="T13" fmla="*/ 19 h 19"/>
                <a:gd name="T14" fmla="*/ 201 w 204"/>
                <a:gd name="T15" fmla="*/ 16 h 19"/>
                <a:gd name="T16" fmla="*/ 204 w 204"/>
                <a:gd name="T17" fmla="*/ 9 h 19"/>
                <a:gd name="T18" fmla="*/ 201 w 204"/>
                <a:gd name="T19" fmla="*/ 2 h 19"/>
                <a:gd name="T20" fmla="*/ 194 w 204"/>
                <a:gd name="T21" fmla="*/ 0 h 19"/>
                <a:gd name="T22" fmla="*/ 185 w 204"/>
                <a:gd name="T23" fmla="*/ 9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4"/>
                <a:gd name="T37" fmla="*/ 0 h 19"/>
                <a:gd name="T38" fmla="*/ 204 w 204"/>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4" h="19">
                  <a:moveTo>
                    <a:pt x="185" y="9"/>
                  </a:moveTo>
                  <a:lnTo>
                    <a:pt x="194" y="0"/>
                  </a:lnTo>
                  <a:lnTo>
                    <a:pt x="0" y="0"/>
                  </a:lnTo>
                  <a:lnTo>
                    <a:pt x="0" y="19"/>
                  </a:lnTo>
                  <a:lnTo>
                    <a:pt x="194" y="19"/>
                  </a:lnTo>
                  <a:lnTo>
                    <a:pt x="204" y="9"/>
                  </a:lnTo>
                  <a:lnTo>
                    <a:pt x="194" y="19"/>
                  </a:lnTo>
                  <a:lnTo>
                    <a:pt x="201" y="16"/>
                  </a:lnTo>
                  <a:lnTo>
                    <a:pt x="204" y="9"/>
                  </a:lnTo>
                  <a:lnTo>
                    <a:pt x="201" y="2"/>
                  </a:lnTo>
                  <a:lnTo>
                    <a:pt x="194" y="0"/>
                  </a:lnTo>
                  <a:lnTo>
                    <a:pt x="18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3" name="Freeform 1063">
              <a:extLst>
                <a:ext uri="{FF2B5EF4-FFF2-40B4-BE49-F238E27FC236}">
                  <a16:creationId xmlns:a16="http://schemas.microsoft.com/office/drawing/2014/main" id="{E3C1EBDC-C7E2-4C42-BE1B-C1DFE552AE5A}"/>
                </a:ext>
              </a:extLst>
            </p:cNvPr>
            <p:cNvSpPr>
              <a:spLocks/>
            </p:cNvSpPr>
            <p:nvPr/>
          </p:nvSpPr>
          <p:spPr bwMode="auto">
            <a:xfrm>
              <a:off x="5328" y="3400"/>
              <a:ext cx="169" cy="491"/>
            </a:xfrm>
            <a:custGeom>
              <a:avLst/>
              <a:gdLst>
                <a:gd name="T0" fmla="*/ 84 w 169"/>
                <a:gd name="T1" fmla="*/ 0 h 491"/>
                <a:gd name="T2" fmla="*/ 103 w 169"/>
                <a:gd name="T3" fmla="*/ 90 h 491"/>
                <a:gd name="T4" fmla="*/ 124 w 169"/>
                <a:gd name="T5" fmla="*/ 174 h 491"/>
                <a:gd name="T6" fmla="*/ 145 w 169"/>
                <a:gd name="T7" fmla="*/ 256 h 491"/>
                <a:gd name="T8" fmla="*/ 162 w 169"/>
                <a:gd name="T9" fmla="*/ 329 h 491"/>
                <a:gd name="T10" fmla="*/ 169 w 169"/>
                <a:gd name="T11" fmla="*/ 392 h 491"/>
                <a:gd name="T12" fmla="*/ 159 w 169"/>
                <a:gd name="T13" fmla="*/ 444 h 491"/>
                <a:gd name="T14" fmla="*/ 133 w 169"/>
                <a:gd name="T15" fmla="*/ 477 h 491"/>
                <a:gd name="T16" fmla="*/ 82 w 169"/>
                <a:gd name="T17" fmla="*/ 491 h 491"/>
                <a:gd name="T18" fmla="*/ 33 w 169"/>
                <a:gd name="T19" fmla="*/ 482 h 491"/>
                <a:gd name="T20" fmla="*/ 7 w 169"/>
                <a:gd name="T21" fmla="*/ 444 h 491"/>
                <a:gd name="T22" fmla="*/ 0 w 169"/>
                <a:gd name="T23" fmla="*/ 390 h 491"/>
                <a:gd name="T24" fmla="*/ 7 w 169"/>
                <a:gd name="T25" fmla="*/ 320 h 491"/>
                <a:gd name="T26" fmla="*/ 23 w 169"/>
                <a:gd name="T27" fmla="*/ 240 h 491"/>
                <a:gd name="T28" fmla="*/ 44 w 169"/>
                <a:gd name="T29" fmla="*/ 155 h 491"/>
                <a:gd name="T30" fmla="*/ 66 w 169"/>
                <a:gd name="T31" fmla="*/ 76 h 491"/>
                <a:gd name="T32" fmla="*/ 84 w 169"/>
                <a:gd name="T33" fmla="*/ 0 h 49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9"/>
                <a:gd name="T52" fmla="*/ 0 h 491"/>
                <a:gd name="T53" fmla="*/ 169 w 169"/>
                <a:gd name="T54" fmla="*/ 491 h 49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9" h="491">
                  <a:moveTo>
                    <a:pt x="84" y="0"/>
                  </a:moveTo>
                  <a:lnTo>
                    <a:pt x="103" y="90"/>
                  </a:lnTo>
                  <a:lnTo>
                    <a:pt x="124" y="174"/>
                  </a:lnTo>
                  <a:lnTo>
                    <a:pt x="145" y="256"/>
                  </a:lnTo>
                  <a:lnTo>
                    <a:pt x="162" y="329"/>
                  </a:lnTo>
                  <a:lnTo>
                    <a:pt x="169" y="392"/>
                  </a:lnTo>
                  <a:lnTo>
                    <a:pt x="159" y="444"/>
                  </a:lnTo>
                  <a:lnTo>
                    <a:pt x="133" y="477"/>
                  </a:lnTo>
                  <a:lnTo>
                    <a:pt x="82" y="491"/>
                  </a:lnTo>
                  <a:lnTo>
                    <a:pt x="33" y="482"/>
                  </a:lnTo>
                  <a:lnTo>
                    <a:pt x="7" y="444"/>
                  </a:lnTo>
                  <a:lnTo>
                    <a:pt x="0" y="390"/>
                  </a:lnTo>
                  <a:lnTo>
                    <a:pt x="7" y="320"/>
                  </a:lnTo>
                  <a:lnTo>
                    <a:pt x="23" y="240"/>
                  </a:lnTo>
                  <a:lnTo>
                    <a:pt x="44" y="155"/>
                  </a:lnTo>
                  <a:lnTo>
                    <a:pt x="66" y="76"/>
                  </a:lnTo>
                  <a:lnTo>
                    <a:pt x="84" y="0"/>
                  </a:lnTo>
                  <a:close/>
                </a:path>
              </a:pathLst>
            </a:custGeom>
            <a:solidFill>
              <a:srgbClr val="1E99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4" name="Freeform 1064">
              <a:extLst>
                <a:ext uri="{FF2B5EF4-FFF2-40B4-BE49-F238E27FC236}">
                  <a16:creationId xmlns:a16="http://schemas.microsoft.com/office/drawing/2014/main" id="{C709E8DF-6789-4934-BB12-D74675BB851D}"/>
                </a:ext>
              </a:extLst>
            </p:cNvPr>
            <p:cNvSpPr>
              <a:spLocks/>
            </p:cNvSpPr>
            <p:nvPr/>
          </p:nvSpPr>
          <p:spPr bwMode="auto">
            <a:xfrm>
              <a:off x="4327" y="3062"/>
              <a:ext cx="185" cy="188"/>
            </a:xfrm>
            <a:custGeom>
              <a:avLst/>
              <a:gdLst>
                <a:gd name="T0" fmla="*/ 94 w 185"/>
                <a:gd name="T1" fmla="*/ 188 h 188"/>
                <a:gd name="T2" fmla="*/ 113 w 185"/>
                <a:gd name="T3" fmla="*/ 186 h 188"/>
                <a:gd name="T4" fmla="*/ 129 w 185"/>
                <a:gd name="T5" fmla="*/ 181 h 188"/>
                <a:gd name="T6" fmla="*/ 146 w 185"/>
                <a:gd name="T7" fmla="*/ 172 h 188"/>
                <a:gd name="T8" fmla="*/ 157 w 185"/>
                <a:gd name="T9" fmla="*/ 160 h 188"/>
                <a:gd name="T10" fmla="*/ 169 w 185"/>
                <a:gd name="T11" fmla="*/ 146 h 188"/>
                <a:gd name="T12" fmla="*/ 178 w 185"/>
                <a:gd name="T13" fmla="*/ 132 h 188"/>
                <a:gd name="T14" fmla="*/ 183 w 185"/>
                <a:gd name="T15" fmla="*/ 113 h 188"/>
                <a:gd name="T16" fmla="*/ 185 w 185"/>
                <a:gd name="T17" fmla="*/ 94 h 188"/>
                <a:gd name="T18" fmla="*/ 183 w 185"/>
                <a:gd name="T19" fmla="*/ 76 h 188"/>
                <a:gd name="T20" fmla="*/ 178 w 185"/>
                <a:gd name="T21" fmla="*/ 57 h 188"/>
                <a:gd name="T22" fmla="*/ 169 w 185"/>
                <a:gd name="T23" fmla="*/ 43 h 188"/>
                <a:gd name="T24" fmla="*/ 157 w 185"/>
                <a:gd name="T25" fmla="*/ 29 h 188"/>
                <a:gd name="T26" fmla="*/ 146 w 185"/>
                <a:gd name="T27" fmla="*/ 17 h 188"/>
                <a:gd name="T28" fmla="*/ 129 w 185"/>
                <a:gd name="T29" fmla="*/ 8 h 188"/>
                <a:gd name="T30" fmla="*/ 113 w 185"/>
                <a:gd name="T31" fmla="*/ 3 h 188"/>
                <a:gd name="T32" fmla="*/ 94 w 185"/>
                <a:gd name="T33" fmla="*/ 0 h 188"/>
                <a:gd name="T34" fmla="*/ 75 w 185"/>
                <a:gd name="T35" fmla="*/ 3 h 188"/>
                <a:gd name="T36" fmla="*/ 57 w 185"/>
                <a:gd name="T37" fmla="*/ 8 h 188"/>
                <a:gd name="T38" fmla="*/ 43 w 185"/>
                <a:gd name="T39" fmla="*/ 17 h 188"/>
                <a:gd name="T40" fmla="*/ 29 w 185"/>
                <a:gd name="T41" fmla="*/ 29 h 188"/>
                <a:gd name="T42" fmla="*/ 17 w 185"/>
                <a:gd name="T43" fmla="*/ 43 h 188"/>
                <a:gd name="T44" fmla="*/ 7 w 185"/>
                <a:gd name="T45" fmla="*/ 57 h 188"/>
                <a:gd name="T46" fmla="*/ 3 w 185"/>
                <a:gd name="T47" fmla="*/ 76 h 188"/>
                <a:gd name="T48" fmla="*/ 0 w 185"/>
                <a:gd name="T49" fmla="*/ 94 h 188"/>
                <a:gd name="T50" fmla="*/ 3 w 185"/>
                <a:gd name="T51" fmla="*/ 113 h 188"/>
                <a:gd name="T52" fmla="*/ 7 w 185"/>
                <a:gd name="T53" fmla="*/ 132 h 188"/>
                <a:gd name="T54" fmla="*/ 17 w 185"/>
                <a:gd name="T55" fmla="*/ 146 h 188"/>
                <a:gd name="T56" fmla="*/ 29 w 185"/>
                <a:gd name="T57" fmla="*/ 160 h 188"/>
                <a:gd name="T58" fmla="*/ 43 w 185"/>
                <a:gd name="T59" fmla="*/ 172 h 188"/>
                <a:gd name="T60" fmla="*/ 57 w 185"/>
                <a:gd name="T61" fmla="*/ 181 h 188"/>
                <a:gd name="T62" fmla="*/ 75 w 185"/>
                <a:gd name="T63" fmla="*/ 186 h 188"/>
                <a:gd name="T64" fmla="*/ 94 w 185"/>
                <a:gd name="T65" fmla="*/ 188 h 1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88"/>
                <a:gd name="T101" fmla="*/ 185 w 185"/>
                <a:gd name="T102" fmla="*/ 188 h 18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88">
                  <a:moveTo>
                    <a:pt x="94" y="188"/>
                  </a:moveTo>
                  <a:lnTo>
                    <a:pt x="113" y="186"/>
                  </a:lnTo>
                  <a:lnTo>
                    <a:pt x="129" y="181"/>
                  </a:lnTo>
                  <a:lnTo>
                    <a:pt x="146" y="172"/>
                  </a:lnTo>
                  <a:lnTo>
                    <a:pt x="157" y="160"/>
                  </a:lnTo>
                  <a:lnTo>
                    <a:pt x="169" y="146"/>
                  </a:lnTo>
                  <a:lnTo>
                    <a:pt x="178" y="132"/>
                  </a:lnTo>
                  <a:lnTo>
                    <a:pt x="183" y="113"/>
                  </a:lnTo>
                  <a:lnTo>
                    <a:pt x="185" y="94"/>
                  </a:lnTo>
                  <a:lnTo>
                    <a:pt x="183" y="76"/>
                  </a:lnTo>
                  <a:lnTo>
                    <a:pt x="178" y="57"/>
                  </a:lnTo>
                  <a:lnTo>
                    <a:pt x="169" y="43"/>
                  </a:lnTo>
                  <a:lnTo>
                    <a:pt x="157" y="29"/>
                  </a:lnTo>
                  <a:lnTo>
                    <a:pt x="146" y="17"/>
                  </a:lnTo>
                  <a:lnTo>
                    <a:pt x="129" y="8"/>
                  </a:lnTo>
                  <a:lnTo>
                    <a:pt x="113" y="3"/>
                  </a:lnTo>
                  <a:lnTo>
                    <a:pt x="94" y="0"/>
                  </a:lnTo>
                  <a:lnTo>
                    <a:pt x="75" y="3"/>
                  </a:lnTo>
                  <a:lnTo>
                    <a:pt x="57" y="8"/>
                  </a:lnTo>
                  <a:lnTo>
                    <a:pt x="43" y="17"/>
                  </a:lnTo>
                  <a:lnTo>
                    <a:pt x="29" y="29"/>
                  </a:lnTo>
                  <a:lnTo>
                    <a:pt x="17" y="43"/>
                  </a:lnTo>
                  <a:lnTo>
                    <a:pt x="7" y="57"/>
                  </a:lnTo>
                  <a:lnTo>
                    <a:pt x="3" y="76"/>
                  </a:lnTo>
                  <a:lnTo>
                    <a:pt x="0" y="94"/>
                  </a:lnTo>
                  <a:lnTo>
                    <a:pt x="3" y="113"/>
                  </a:lnTo>
                  <a:lnTo>
                    <a:pt x="7" y="132"/>
                  </a:lnTo>
                  <a:lnTo>
                    <a:pt x="17" y="146"/>
                  </a:lnTo>
                  <a:lnTo>
                    <a:pt x="29" y="160"/>
                  </a:lnTo>
                  <a:lnTo>
                    <a:pt x="43" y="172"/>
                  </a:lnTo>
                  <a:lnTo>
                    <a:pt x="57" y="181"/>
                  </a:lnTo>
                  <a:lnTo>
                    <a:pt x="75" y="186"/>
                  </a:lnTo>
                  <a:lnTo>
                    <a:pt x="94" y="188"/>
                  </a:lnTo>
                  <a:close/>
                </a:path>
              </a:pathLst>
            </a:custGeom>
            <a:solidFill>
              <a:srgbClr val="E8C6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5" name="Freeform 1065">
              <a:extLst>
                <a:ext uri="{FF2B5EF4-FFF2-40B4-BE49-F238E27FC236}">
                  <a16:creationId xmlns:a16="http://schemas.microsoft.com/office/drawing/2014/main" id="{8B9E091E-8680-4A44-BFCE-DE21792E5D9E}"/>
                </a:ext>
              </a:extLst>
            </p:cNvPr>
            <p:cNvSpPr>
              <a:spLocks/>
            </p:cNvSpPr>
            <p:nvPr/>
          </p:nvSpPr>
          <p:spPr bwMode="auto">
            <a:xfrm>
              <a:off x="4421" y="3156"/>
              <a:ext cx="101" cy="104"/>
            </a:xfrm>
            <a:custGeom>
              <a:avLst/>
              <a:gdLst>
                <a:gd name="T0" fmla="*/ 82 w 101"/>
                <a:gd name="T1" fmla="*/ 0 h 104"/>
                <a:gd name="T2" fmla="*/ 82 w 101"/>
                <a:gd name="T3" fmla="*/ 0 h 104"/>
                <a:gd name="T4" fmla="*/ 82 w 101"/>
                <a:gd name="T5" fmla="*/ 19 h 104"/>
                <a:gd name="T6" fmla="*/ 77 w 101"/>
                <a:gd name="T7" fmla="*/ 36 h 104"/>
                <a:gd name="T8" fmla="*/ 68 w 101"/>
                <a:gd name="T9" fmla="*/ 47 h 104"/>
                <a:gd name="T10" fmla="*/ 59 w 101"/>
                <a:gd name="T11" fmla="*/ 61 h 104"/>
                <a:gd name="T12" fmla="*/ 47 w 101"/>
                <a:gd name="T13" fmla="*/ 71 h 104"/>
                <a:gd name="T14" fmla="*/ 33 w 101"/>
                <a:gd name="T15" fmla="*/ 80 h 104"/>
                <a:gd name="T16" fmla="*/ 19 w 101"/>
                <a:gd name="T17" fmla="*/ 85 h 104"/>
                <a:gd name="T18" fmla="*/ 0 w 101"/>
                <a:gd name="T19" fmla="*/ 85 h 104"/>
                <a:gd name="T20" fmla="*/ 0 w 101"/>
                <a:gd name="T21" fmla="*/ 104 h 104"/>
                <a:gd name="T22" fmla="*/ 19 w 101"/>
                <a:gd name="T23" fmla="*/ 99 h 104"/>
                <a:gd name="T24" fmla="*/ 38 w 101"/>
                <a:gd name="T25" fmla="*/ 94 h 104"/>
                <a:gd name="T26" fmla="*/ 56 w 101"/>
                <a:gd name="T27" fmla="*/ 85 h 104"/>
                <a:gd name="T28" fmla="*/ 68 w 101"/>
                <a:gd name="T29" fmla="*/ 71 h 104"/>
                <a:gd name="T30" fmla="*/ 82 w 101"/>
                <a:gd name="T31" fmla="*/ 57 h 104"/>
                <a:gd name="T32" fmla="*/ 91 w 101"/>
                <a:gd name="T33" fmla="*/ 40 h 104"/>
                <a:gd name="T34" fmla="*/ 96 w 101"/>
                <a:gd name="T35" fmla="*/ 19 h 104"/>
                <a:gd name="T36" fmla="*/ 101 w 101"/>
                <a:gd name="T37" fmla="*/ 0 h 104"/>
                <a:gd name="T38" fmla="*/ 101 w 101"/>
                <a:gd name="T39" fmla="*/ 0 h 104"/>
                <a:gd name="T40" fmla="*/ 82 w 101"/>
                <a:gd name="T41" fmla="*/ 0 h 10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1"/>
                <a:gd name="T64" fmla="*/ 0 h 104"/>
                <a:gd name="T65" fmla="*/ 101 w 101"/>
                <a:gd name="T66" fmla="*/ 104 h 10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1" h="104">
                  <a:moveTo>
                    <a:pt x="82" y="0"/>
                  </a:moveTo>
                  <a:lnTo>
                    <a:pt x="82" y="0"/>
                  </a:lnTo>
                  <a:lnTo>
                    <a:pt x="82" y="19"/>
                  </a:lnTo>
                  <a:lnTo>
                    <a:pt x="77" y="36"/>
                  </a:lnTo>
                  <a:lnTo>
                    <a:pt x="68" y="47"/>
                  </a:lnTo>
                  <a:lnTo>
                    <a:pt x="59" y="61"/>
                  </a:lnTo>
                  <a:lnTo>
                    <a:pt x="47" y="71"/>
                  </a:lnTo>
                  <a:lnTo>
                    <a:pt x="33" y="80"/>
                  </a:lnTo>
                  <a:lnTo>
                    <a:pt x="19" y="85"/>
                  </a:lnTo>
                  <a:lnTo>
                    <a:pt x="0" y="85"/>
                  </a:lnTo>
                  <a:lnTo>
                    <a:pt x="0" y="104"/>
                  </a:lnTo>
                  <a:lnTo>
                    <a:pt x="19" y="99"/>
                  </a:lnTo>
                  <a:lnTo>
                    <a:pt x="38" y="94"/>
                  </a:lnTo>
                  <a:lnTo>
                    <a:pt x="56" y="85"/>
                  </a:lnTo>
                  <a:lnTo>
                    <a:pt x="68" y="71"/>
                  </a:lnTo>
                  <a:lnTo>
                    <a:pt x="82" y="57"/>
                  </a:lnTo>
                  <a:lnTo>
                    <a:pt x="91" y="40"/>
                  </a:lnTo>
                  <a:lnTo>
                    <a:pt x="96" y="19"/>
                  </a:lnTo>
                  <a:lnTo>
                    <a:pt x="101" y="0"/>
                  </a:lnTo>
                  <a:lnTo>
                    <a:pt x="8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6" name="Freeform 1066">
              <a:extLst>
                <a:ext uri="{FF2B5EF4-FFF2-40B4-BE49-F238E27FC236}">
                  <a16:creationId xmlns:a16="http://schemas.microsoft.com/office/drawing/2014/main" id="{8F41E143-0382-4CB1-941F-D2CD9AE43D52}"/>
                </a:ext>
              </a:extLst>
            </p:cNvPr>
            <p:cNvSpPr>
              <a:spLocks/>
            </p:cNvSpPr>
            <p:nvPr/>
          </p:nvSpPr>
          <p:spPr bwMode="auto">
            <a:xfrm>
              <a:off x="4421" y="3053"/>
              <a:ext cx="101" cy="103"/>
            </a:xfrm>
            <a:custGeom>
              <a:avLst/>
              <a:gdLst>
                <a:gd name="T0" fmla="*/ 0 w 101"/>
                <a:gd name="T1" fmla="*/ 19 h 103"/>
                <a:gd name="T2" fmla="*/ 0 w 101"/>
                <a:gd name="T3" fmla="*/ 19 h 103"/>
                <a:gd name="T4" fmla="*/ 19 w 101"/>
                <a:gd name="T5" fmla="*/ 19 h 103"/>
                <a:gd name="T6" fmla="*/ 33 w 101"/>
                <a:gd name="T7" fmla="*/ 24 h 103"/>
                <a:gd name="T8" fmla="*/ 47 w 101"/>
                <a:gd name="T9" fmla="*/ 33 h 103"/>
                <a:gd name="T10" fmla="*/ 59 w 101"/>
                <a:gd name="T11" fmla="*/ 42 h 103"/>
                <a:gd name="T12" fmla="*/ 68 w 101"/>
                <a:gd name="T13" fmla="*/ 56 h 103"/>
                <a:gd name="T14" fmla="*/ 77 w 101"/>
                <a:gd name="T15" fmla="*/ 68 h 103"/>
                <a:gd name="T16" fmla="*/ 82 w 101"/>
                <a:gd name="T17" fmla="*/ 85 h 103"/>
                <a:gd name="T18" fmla="*/ 82 w 101"/>
                <a:gd name="T19" fmla="*/ 103 h 103"/>
                <a:gd name="T20" fmla="*/ 101 w 101"/>
                <a:gd name="T21" fmla="*/ 103 h 103"/>
                <a:gd name="T22" fmla="*/ 96 w 101"/>
                <a:gd name="T23" fmla="*/ 85 h 103"/>
                <a:gd name="T24" fmla="*/ 91 w 101"/>
                <a:gd name="T25" fmla="*/ 63 h 103"/>
                <a:gd name="T26" fmla="*/ 82 w 101"/>
                <a:gd name="T27" fmla="*/ 47 h 103"/>
                <a:gd name="T28" fmla="*/ 68 w 101"/>
                <a:gd name="T29" fmla="*/ 33 h 103"/>
                <a:gd name="T30" fmla="*/ 56 w 101"/>
                <a:gd name="T31" fmla="*/ 19 h 103"/>
                <a:gd name="T32" fmla="*/ 38 w 101"/>
                <a:gd name="T33" fmla="*/ 9 h 103"/>
                <a:gd name="T34" fmla="*/ 19 w 101"/>
                <a:gd name="T35" fmla="*/ 5 h 103"/>
                <a:gd name="T36" fmla="*/ 0 w 101"/>
                <a:gd name="T37" fmla="*/ 0 h 103"/>
                <a:gd name="T38" fmla="*/ 0 w 101"/>
                <a:gd name="T39" fmla="*/ 0 h 103"/>
                <a:gd name="T40" fmla="*/ 0 w 101"/>
                <a:gd name="T41" fmla="*/ 19 h 1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1"/>
                <a:gd name="T64" fmla="*/ 0 h 103"/>
                <a:gd name="T65" fmla="*/ 101 w 101"/>
                <a:gd name="T66" fmla="*/ 103 h 1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1" h="103">
                  <a:moveTo>
                    <a:pt x="0" y="19"/>
                  </a:moveTo>
                  <a:lnTo>
                    <a:pt x="0" y="19"/>
                  </a:lnTo>
                  <a:lnTo>
                    <a:pt x="19" y="19"/>
                  </a:lnTo>
                  <a:lnTo>
                    <a:pt x="33" y="24"/>
                  </a:lnTo>
                  <a:lnTo>
                    <a:pt x="47" y="33"/>
                  </a:lnTo>
                  <a:lnTo>
                    <a:pt x="59" y="42"/>
                  </a:lnTo>
                  <a:lnTo>
                    <a:pt x="68" y="56"/>
                  </a:lnTo>
                  <a:lnTo>
                    <a:pt x="77" y="68"/>
                  </a:lnTo>
                  <a:lnTo>
                    <a:pt x="82" y="85"/>
                  </a:lnTo>
                  <a:lnTo>
                    <a:pt x="82" y="103"/>
                  </a:lnTo>
                  <a:lnTo>
                    <a:pt x="101" y="103"/>
                  </a:lnTo>
                  <a:lnTo>
                    <a:pt x="96" y="85"/>
                  </a:lnTo>
                  <a:lnTo>
                    <a:pt x="91" y="63"/>
                  </a:lnTo>
                  <a:lnTo>
                    <a:pt x="82" y="47"/>
                  </a:lnTo>
                  <a:lnTo>
                    <a:pt x="68" y="33"/>
                  </a:lnTo>
                  <a:lnTo>
                    <a:pt x="56" y="19"/>
                  </a:lnTo>
                  <a:lnTo>
                    <a:pt x="38" y="9"/>
                  </a:lnTo>
                  <a:lnTo>
                    <a:pt x="19" y="5"/>
                  </a:lnTo>
                  <a:lnTo>
                    <a:pt x="0"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7" name="Freeform 1067">
              <a:extLst>
                <a:ext uri="{FF2B5EF4-FFF2-40B4-BE49-F238E27FC236}">
                  <a16:creationId xmlns:a16="http://schemas.microsoft.com/office/drawing/2014/main" id="{51736337-14AF-4CDB-91D2-DC62AE733B0D}"/>
                </a:ext>
              </a:extLst>
            </p:cNvPr>
            <p:cNvSpPr>
              <a:spLocks/>
            </p:cNvSpPr>
            <p:nvPr/>
          </p:nvSpPr>
          <p:spPr bwMode="auto">
            <a:xfrm>
              <a:off x="4318" y="3053"/>
              <a:ext cx="103" cy="103"/>
            </a:xfrm>
            <a:custGeom>
              <a:avLst/>
              <a:gdLst>
                <a:gd name="T0" fmla="*/ 19 w 103"/>
                <a:gd name="T1" fmla="*/ 103 h 103"/>
                <a:gd name="T2" fmla="*/ 19 w 103"/>
                <a:gd name="T3" fmla="*/ 103 h 103"/>
                <a:gd name="T4" fmla="*/ 19 w 103"/>
                <a:gd name="T5" fmla="*/ 85 h 103"/>
                <a:gd name="T6" fmla="*/ 23 w 103"/>
                <a:gd name="T7" fmla="*/ 68 h 103"/>
                <a:gd name="T8" fmla="*/ 33 w 103"/>
                <a:gd name="T9" fmla="*/ 56 h 103"/>
                <a:gd name="T10" fmla="*/ 42 w 103"/>
                <a:gd name="T11" fmla="*/ 42 h 103"/>
                <a:gd name="T12" fmla="*/ 56 w 103"/>
                <a:gd name="T13" fmla="*/ 33 h 103"/>
                <a:gd name="T14" fmla="*/ 68 w 103"/>
                <a:gd name="T15" fmla="*/ 24 h 103"/>
                <a:gd name="T16" fmla="*/ 84 w 103"/>
                <a:gd name="T17" fmla="*/ 19 h 103"/>
                <a:gd name="T18" fmla="*/ 103 w 103"/>
                <a:gd name="T19" fmla="*/ 19 h 103"/>
                <a:gd name="T20" fmla="*/ 103 w 103"/>
                <a:gd name="T21" fmla="*/ 0 h 103"/>
                <a:gd name="T22" fmla="*/ 84 w 103"/>
                <a:gd name="T23" fmla="*/ 5 h 103"/>
                <a:gd name="T24" fmla="*/ 63 w 103"/>
                <a:gd name="T25" fmla="*/ 9 h 103"/>
                <a:gd name="T26" fmla="*/ 47 w 103"/>
                <a:gd name="T27" fmla="*/ 19 h 103"/>
                <a:gd name="T28" fmla="*/ 33 w 103"/>
                <a:gd name="T29" fmla="*/ 33 h 103"/>
                <a:gd name="T30" fmla="*/ 19 w 103"/>
                <a:gd name="T31" fmla="*/ 47 h 103"/>
                <a:gd name="T32" fmla="*/ 9 w 103"/>
                <a:gd name="T33" fmla="*/ 63 h 103"/>
                <a:gd name="T34" fmla="*/ 5 w 103"/>
                <a:gd name="T35" fmla="*/ 85 h 103"/>
                <a:gd name="T36" fmla="*/ 0 w 103"/>
                <a:gd name="T37" fmla="*/ 103 h 103"/>
                <a:gd name="T38" fmla="*/ 0 w 103"/>
                <a:gd name="T39" fmla="*/ 103 h 103"/>
                <a:gd name="T40" fmla="*/ 19 w 103"/>
                <a:gd name="T41" fmla="*/ 103 h 1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3"/>
                <a:gd name="T64" fmla="*/ 0 h 103"/>
                <a:gd name="T65" fmla="*/ 103 w 103"/>
                <a:gd name="T66" fmla="*/ 103 h 1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3" h="103">
                  <a:moveTo>
                    <a:pt x="19" y="103"/>
                  </a:moveTo>
                  <a:lnTo>
                    <a:pt x="19" y="103"/>
                  </a:lnTo>
                  <a:lnTo>
                    <a:pt x="19" y="85"/>
                  </a:lnTo>
                  <a:lnTo>
                    <a:pt x="23" y="68"/>
                  </a:lnTo>
                  <a:lnTo>
                    <a:pt x="33" y="56"/>
                  </a:lnTo>
                  <a:lnTo>
                    <a:pt x="42" y="42"/>
                  </a:lnTo>
                  <a:lnTo>
                    <a:pt x="56" y="33"/>
                  </a:lnTo>
                  <a:lnTo>
                    <a:pt x="68" y="24"/>
                  </a:lnTo>
                  <a:lnTo>
                    <a:pt x="84" y="19"/>
                  </a:lnTo>
                  <a:lnTo>
                    <a:pt x="103" y="19"/>
                  </a:lnTo>
                  <a:lnTo>
                    <a:pt x="103" y="0"/>
                  </a:lnTo>
                  <a:lnTo>
                    <a:pt x="84" y="5"/>
                  </a:lnTo>
                  <a:lnTo>
                    <a:pt x="63" y="9"/>
                  </a:lnTo>
                  <a:lnTo>
                    <a:pt x="47" y="19"/>
                  </a:lnTo>
                  <a:lnTo>
                    <a:pt x="33" y="33"/>
                  </a:lnTo>
                  <a:lnTo>
                    <a:pt x="19" y="47"/>
                  </a:lnTo>
                  <a:lnTo>
                    <a:pt x="9" y="63"/>
                  </a:lnTo>
                  <a:lnTo>
                    <a:pt x="5" y="85"/>
                  </a:lnTo>
                  <a:lnTo>
                    <a:pt x="0" y="103"/>
                  </a:lnTo>
                  <a:lnTo>
                    <a:pt x="19"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8" name="Freeform 1068">
              <a:extLst>
                <a:ext uri="{FF2B5EF4-FFF2-40B4-BE49-F238E27FC236}">
                  <a16:creationId xmlns:a16="http://schemas.microsoft.com/office/drawing/2014/main" id="{0FF28610-7E2D-47CC-921C-E0B366277785}"/>
                </a:ext>
              </a:extLst>
            </p:cNvPr>
            <p:cNvSpPr>
              <a:spLocks/>
            </p:cNvSpPr>
            <p:nvPr/>
          </p:nvSpPr>
          <p:spPr bwMode="auto">
            <a:xfrm>
              <a:off x="4318" y="3156"/>
              <a:ext cx="103" cy="104"/>
            </a:xfrm>
            <a:custGeom>
              <a:avLst/>
              <a:gdLst>
                <a:gd name="T0" fmla="*/ 103 w 103"/>
                <a:gd name="T1" fmla="*/ 85 h 104"/>
                <a:gd name="T2" fmla="*/ 103 w 103"/>
                <a:gd name="T3" fmla="*/ 85 h 104"/>
                <a:gd name="T4" fmla="*/ 84 w 103"/>
                <a:gd name="T5" fmla="*/ 85 h 104"/>
                <a:gd name="T6" fmla="*/ 68 w 103"/>
                <a:gd name="T7" fmla="*/ 80 h 104"/>
                <a:gd name="T8" fmla="*/ 56 w 103"/>
                <a:gd name="T9" fmla="*/ 71 h 104"/>
                <a:gd name="T10" fmla="*/ 42 w 103"/>
                <a:gd name="T11" fmla="*/ 61 h 104"/>
                <a:gd name="T12" fmla="*/ 33 w 103"/>
                <a:gd name="T13" fmla="*/ 47 h 104"/>
                <a:gd name="T14" fmla="*/ 23 w 103"/>
                <a:gd name="T15" fmla="*/ 36 h 104"/>
                <a:gd name="T16" fmla="*/ 19 w 103"/>
                <a:gd name="T17" fmla="*/ 19 h 104"/>
                <a:gd name="T18" fmla="*/ 19 w 103"/>
                <a:gd name="T19" fmla="*/ 0 h 104"/>
                <a:gd name="T20" fmla="*/ 0 w 103"/>
                <a:gd name="T21" fmla="*/ 0 h 104"/>
                <a:gd name="T22" fmla="*/ 5 w 103"/>
                <a:gd name="T23" fmla="*/ 19 h 104"/>
                <a:gd name="T24" fmla="*/ 9 w 103"/>
                <a:gd name="T25" fmla="*/ 40 h 104"/>
                <a:gd name="T26" fmla="*/ 19 w 103"/>
                <a:gd name="T27" fmla="*/ 57 h 104"/>
                <a:gd name="T28" fmla="*/ 33 w 103"/>
                <a:gd name="T29" fmla="*/ 71 h 104"/>
                <a:gd name="T30" fmla="*/ 47 w 103"/>
                <a:gd name="T31" fmla="*/ 85 h 104"/>
                <a:gd name="T32" fmla="*/ 63 w 103"/>
                <a:gd name="T33" fmla="*/ 94 h 104"/>
                <a:gd name="T34" fmla="*/ 84 w 103"/>
                <a:gd name="T35" fmla="*/ 99 h 104"/>
                <a:gd name="T36" fmla="*/ 103 w 103"/>
                <a:gd name="T37" fmla="*/ 104 h 104"/>
                <a:gd name="T38" fmla="*/ 103 w 103"/>
                <a:gd name="T39" fmla="*/ 104 h 104"/>
                <a:gd name="T40" fmla="*/ 103 w 103"/>
                <a:gd name="T41" fmla="*/ 85 h 10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3"/>
                <a:gd name="T64" fmla="*/ 0 h 104"/>
                <a:gd name="T65" fmla="*/ 103 w 103"/>
                <a:gd name="T66" fmla="*/ 104 h 10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3" h="104">
                  <a:moveTo>
                    <a:pt x="103" y="85"/>
                  </a:moveTo>
                  <a:lnTo>
                    <a:pt x="103" y="85"/>
                  </a:lnTo>
                  <a:lnTo>
                    <a:pt x="84" y="85"/>
                  </a:lnTo>
                  <a:lnTo>
                    <a:pt x="68" y="80"/>
                  </a:lnTo>
                  <a:lnTo>
                    <a:pt x="56" y="71"/>
                  </a:lnTo>
                  <a:lnTo>
                    <a:pt x="42" y="61"/>
                  </a:lnTo>
                  <a:lnTo>
                    <a:pt x="33" y="47"/>
                  </a:lnTo>
                  <a:lnTo>
                    <a:pt x="23" y="36"/>
                  </a:lnTo>
                  <a:lnTo>
                    <a:pt x="19" y="19"/>
                  </a:lnTo>
                  <a:lnTo>
                    <a:pt x="19" y="0"/>
                  </a:lnTo>
                  <a:lnTo>
                    <a:pt x="0" y="0"/>
                  </a:lnTo>
                  <a:lnTo>
                    <a:pt x="5" y="19"/>
                  </a:lnTo>
                  <a:lnTo>
                    <a:pt x="9" y="40"/>
                  </a:lnTo>
                  <a:lnTo>
                    <a:pt x="19" y="57"/>
                  </a:lnTo>
                  <a:lnTo>
                    <a:pt x="33" y="71"/>
                  </a:lnTo>
                  <a:lnTo>
                    <a:pt x="47" y="85"/>
                  </a:lnTo>
                  <a:lnTo>
                    <a:pt x="63" y="94"/>
                  </a:lnTo>
                  <a:lnTo>
                    <a:pt x="84" y="99"/>
                  </a:lnTo>
                  <a:lnTo>
                    <a:pt x="103" y="104"/>
                  </a:lnTo>
                  <a:lnTo>
                    <a:pt x="103"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89" name="Freeform 1069">
              <a:extLst>
                <a:ext uri="{FF2B5EF4-FFF2-40B4-BE49-F238E27FC236}">
                  <a16:creationId xmlns:a16="http://schemas.microsoft.com/office/drawing/2014/main" id="{098CBE63-D15D-411C-9FB3-F3968ADA61E9}"/>
                </a:ext>
              </a:extLst>
            </p:cNvPr>
            <p:cNvSpPr>
              <a:spLocks/>
            </p:cNvSpPr>
            <p:nvPr/>
          </p:nvSpPr>
          <p:spPr bwMode="auto">
            <a:xfrm>
              <a:off x="4770" y="3053"/>
              <a:ext cx="185" cy="188"/>
            </a:xfrm>
            <a:custGeom>
              <a:avLst/>
              <a:gdLst>
                <a:gd name="T0" fmla="*/ 92 w 185"/>
                <a:gd name="T1" fmla="*/ 188 h 188"/>
                <a:gd name="T2" fmla="*/ 110 w 185"/>
                <a:gd name="T3" fmla="*/ 185 h 188"/>
                <a:gd name="T4" fmla="*/ 129 w 185"/>
                <a:gd name="T5" fmla="*/ 181 h 188"/>
                <a:gd name="T6" fmla="*/ 143 w 185"/>
                <a:gd name="T7" fmla="*/ 171 h 188"/>
                <a:gd name="T8" fmla="*/ 157 w 185"/>
                <a:gd name="T9" fmla="*/ 160 h 188"/>
                <a:gd name="T10" fmla="*/ 169 w 185"/>
                <a:gd name="T11" fmla="*/ 146 h 188"/>
                <a:gd name="T12" fmla="*/ 178 w 185"/>
                <a:gd name="T13" fmla="*/ 132 h 188"/>
                <a:gd name="T14" fmla="*/ 183 w 185"/>
                <a:gd name="T15" fmla="*/ 113 h 188"/>
                <a:gd name="T16" fmla="*/ 185 w 185"/>
                <a:gd name="T17" fmla="*/ 94 h 188"/>
                <a:gd name="T18" fmla="*/ 183 w 185"/>
                <a:gd name="T19" fmla="*/ 75 h 188"/>
                <a:gd name="T20" fmla="*/ 178 w 185"/>
                <a:gd name="T21" fmla="*/ 56 h 188"/>
                <a:gd name="T22" fmla="*/ 169 w 185"/>
                <a:gd name="T23" fmla="*/ 42 h 188"/>
                <a:gd name="T24" fmla="*/ 157 w 185"/>
                <a:gd name="T25" fmla="*/ 28 h 188"/>
                <a:gd name="T26" fmla="*/ 143 w 185"/>
                <a:gd name="T27" fmla="*/ 17 h 188"/>
                <a:gd name="T28" fmla="*/ 129 w 185"/>
                <a:gd name="T29" fmla="*/ 7 h 188"/>
                <a:gd name="T30" fmla="*/ 110 w 185"/>
                <a:gd name="T31" fmla="*/ 2 h 188"/>
                <a:gd name="T32" fmla="*/ 92 w 185"/>
                <a:gd name="T33" fmla="*/ 0 h 188"/>
                <a:gd name="T34" fmla="*/ 73 w 185"/>
                <a:gd name="T35" fmla="*/ 2 h 188"/>
                <a:gd name="T36" fmla="*/ 56 w 185"/>
                <a:gd name="T37" fmla="*/ 7 h 188"/>
                <a:gd name="T38" fmla="*/ 40 w 185"/>
                <a:gd name="T39" fmla="*/ 17 h 188"/>
                <a:gd name="T40" fmla="*/ 26 w 185"/>
                <a:gd name="T41" fmla="*/ 28 h 188"/>
                <a:gd name="T42" fmla="*/ 17 w 185"/>
                <a:gd name="T43" fmla="*/ 42 h 188"/>
                <a:gd name="T44" fmla="*/ 7 w 185"/>
                <a:gd name="T45" fmla="*/ 56 h 188"/>
                <a:gd name="T46" fmla="*/ 3 w 185"/>
                <a:gd name="T47" fmla="*/ 75 h 188"/>
                <a:gd name="T48" fmla="*/ 0 w 185"/>
                <a:gd name="T49" fmla="*/ 94 h 188"/>
                <a:gd name="T50" fmla="*/ 3 w 185"/>
                <a:gd name="T51" fmla="*/ 113 h 188"/>
                <a:gd name="T52" fmla="*/ 7 w 185"/>
                <a:gd name="T53" fmla="*/ 132 h 188"/>
                <a:gd name="T54" fmla="*/ 17 w 185"/>
                <a:gd name="T55" fmla="*/ 146 h 188"/>
                <a:gd name="T56" fmla="*/ 26 w 185"/>
                <a:gd name="T57" fmla="*/ 160 h 188"/>
                <a:gd name="T58" fmla="*/ 40 w 185"/>
                <a:gd name="T59" fmla="*/ 171 h 188"/>
                <a:gd name="T60" fmla="*/ 56 w 185"/>
                <a:gd name="T61" fmla="*/ 181 h 188"/>
                <a:gd name="T62" fmla="*/ 73 w 185"/>
                <a:gd name="T63" fmla="*/ 185 h 188"/>
                <a:gd name="T64" fmla="*/ 92 w 185"/>
                <a:gd name="T65" fmla="*/ 188 h 1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88"/>
                <a:gd name="T101" fmla="*/ 185 w 185"/>
                <a:gd name="T102" fmla="*/ 188 h 18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88">
                  <a:moveTo>
                    <a:pt x="92" y="188"/>
                  </a:moveTo>
                  <a:lnTo>
                    <a:pt x="110" y="185"/>
                  </a:lnTo>
                  <a:lnTo>
                    <a:pt x="129" y="181"/>
                  </a:lnTo>
                  <a:lnTo>
                    <a:pt x="143" y="171"/>
                  </a:lnTo>
                  <a:lnTo>
                    <a:pt x="157" y="160"/>
                  </a:lnTo>
                  <a:lnTo>
                    <a:pt x="169" y="146"/>
                  </a:lnTo>
                  <a:lnTo>
                    <a:pt x="178" y="132"/>
                  </a:lnTo>
                  <a:lnTo>
                    <a:pt x="183" y="113"/>
                  </a:lnTo>
                  <a:lnTo>
                    <a:pt x="185" y="94"/>
                  </a:lnTo>
                  <a:lnTo>
                    <a:pt x="183" y="75"/>
                  </a:lnTo>
                  <a:lnTo>
                    <a:pt x="178" y="56"/>
                  </a:lnTo>
                  <a:lnTo>
                    <a:pt x="169" y="42"/>
                  </a:lnTo>
                  <a:lnTo>
                    <a:pt x="157" y="28"/>
                  </a:lnTo>
                  <a:lnTo>
                    <a:pt x="143" y="17"/>
                  </a:lnTo>
                  <a:lnTo>
                    <a:pt x="129" y="7"/>
                  </a:lnTo>
                  <a:lnTo>
                    <a:pt x="110" y="2"/>
                  </a:lnTo>
                  <a:lnTo>
                    <a:pt x="92" y="0"/>
                  </a:lnTo>
                  <a:lnTo>
                    <a:pt x="73" y="2"/>
                  </a:lnTo>
                  <a:lnTo>
                    <a:pt x="56" y="7"/>
                  </a:lnTo>
                  <a:lnTo>
                    <a:pt x="40" y="17"/>
                  </a:lnTo>
                  <a:lnTo>
                    <a:pt x="26" y="28"/>
                  </a:lnTo>
                  <a:lnTo>
                    <a:pt x="17" y="42"/>
                  </a:lnTo>
                  <a:lnTo>
                    <a:pt x="7" y="56"/>
                  </a:lnTo>
                  <a:lnTo>
                    <a:pt x="3" y="75"/>
                  </a:lnTo>
                  <a:lnTo>
                    <a:pt x="0" y="94"/>
                  </a:lnTo>
                  <a:lnTo>
                    <a:pt x="3" y="113"/>
                  </a:lnTo>
                  <a:lnTo>
                    <a:pt x="7" y="132"/>
                  </a:lnTo>
                  <a:lnTo>
                    <a:pt x="17" y="146"/>
                  </a:lnTo>
                  <a:lnTo>
                    <a:pt x="26" y="160"/>
                  </a:lnTo>
                  <a:lnTo>
                    <a:pt x="40" y="171"/>
                  </a:lnTo>
                  <a:lnTo>
                    <a:pt x="56" y="181"/>
                  </a:lnTo>
                  <a:lnTo>
                    <a:pt x="73" y="185"/>
                  </a:lnTo>
                  <a:lnTo>
                    <a:pt x="92" y="188"/>
                  </a:lnTo>
                  <a:close/>
                </a:path>
              </a:pathLst>
            </a:custGeom>
            <a:solidFill>
              <a:srgbClr val="E8C6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90" name="Freeform 1070">
              <a:extLst>
                <a:ext uri="{FF2B5EF4-FFF2-40B4-BE49-F238E27FC236}">
                  <a16:creationId xmlns:a16="http://schemas.microsoft.com/office/drawing/2014/main" id="{6A32EE87-D236-4A88-95FD-11FB52F31E59}"/>
                </a:ext>
              </a:extLst>
            </p:cNvPr>
            <p:cNvSpPr>
              <a:spLocks/>
            </p:cNvSpPr>
            <p:nvPr/>
          </p:nvSpPr>
          <p:spPr bwMode="auto">
            <a:xfrm>
              <a:off x="4862" y="3147"/>
              <a:ext cx="103" cy="103"/>
            </a:xfrm>
            <a:custGeom>
              <a:avLst/>
              <a:gdLst>
                <a:gd name="T0" fmla="*/ 84 w 103"/>
                <a:gd name="T1" fmla="*/ 0 h 103"/>
                <a:gd name="T2" fmla="*/ 84 w 103"/>
                <a:gd name="T3" fmla="*/ 0 h 103"/>
                <a:gd name="T4" fmla="*/ 84 w 103"/>
                <a:gd name="T5" fmla="*/ 19 h 103"/>
                <a:gd name="T6" fmla="*/ 79 w 103"/>
                <a:gd name="T7" fmla="*/ 35 h 103"/>
                <a:gd name="T8" fmla="*/ 70 w 103"/>
                <a:gd name="T9" fmla="*/ 47 h 103"/>
                <a:gd name="T10" fmla="*/ 61 w 103"/>
                <a:gd name="T11" fmla="*/ 61 h 103"/>
                <a:gd name="T12" fmla="*/ 47 w 103"/>
                <a:gd name="T13" fmla="*/ 70 h 103"/>
                <a:gd name="T14" fmla="*/ 35 w 103"/>
                <a:gd name="T15" fmla="*/ 80 h 103"/>
                <a:gd name="T16" fmla="*/ 18 w 103"/>
                <a:gd name="T17" fmla="*/ 84 h 103"/>
                <a:gd name="T18" fmla="*/ 0 w 103"/>
                <a:gd name="T19" fmla="*/ 84 h 103"/>
                <a:gd name="T20" fmla="*/ 0 w 103"/>
                <a:gd name="T21" fmla="*/ 103 h 103"/>
                <a:gd name="T22" fmla="*/ 18 w 103"/>
                <a:gd name="T23" fmla="*/ 99 h 103"/>
                <a:gd name="T24" fmla="*/ 39 w 103"/>
                <a:gd name="T25" fmla="*/ 94 h 103"/>
                <a:gd name="T26" fmla="*/ 56 w 103"/>
                <a:gd name="T27" fmla="*/ 84 h 103"/>
                <a:gd name="T28" fmla="*/ 70 w 103"/>
                <a:gd name="T29" fmla="*/ 70 h 103"/>
                <a:gd name="T30" fmla="*/ 84 w 103"/>
                <a:gd name="T31" fmla="*/ 56 h 103"/>
                <a:gd name="T32" fmla="*/ 93 w 103"/>
                <a:gd name="T33" fmla="*/ 40 h 103"/>
                <a:gd name="T34" fmla="*/ 98 w 103"/>
                <a:gd name="T35" fmla="*/ 19 h 103"/>
                <a:gd name="T36" fmla="*/ 103 w 103"/>
                <a:gd name="T37" fmla="*/ 0 h 103"/>
                <a:gd name="T38" fmla="*/ 103 w 103"/>
                <a:gd name="T39" fmla="*/ 0 h 103"/>
                <a:gd name="T40" fmla="*/ 84 w 103"/>
                <a:gd name="T41" fmla="*/ 0 h 1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3"/>
                <a:gd name="T64" fmla="*/ 0 h 103"/>
                <a:gd name="T65" fmla="*/ 103 w 103"/>
                <a:gd name="T66" fmla="*/ 103 h 1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3" h="103">
                  <a:moveTo>
                    <a:pt x="84" y="0"/>
                  </a:moveTo>
                  <a:lnTo>
                    <a:pt x="84" y="0"/>
                  </a:lnTo>
                  <a:lnTo>
                    <a:pt x="84" y="19"/>
                  </a:lnTo>
                  <a:lnTo>
                    <a:pt x="79" y="35"/>
                  </a:lnTo>
                  <a:lnTo>
                    <a:pt x="70" y="47"/>
                  </a:lnTo>
                  <a:lnTo>
                    <a:pt x="61" y="61"/>
                  </a:lnTo>
                  <a:lnTo>
                    <a:pt x="47" y="70"/>
                  </a:lnTo>
                  <a:lnTo>
                    <a:pt x="35" y="80"/>
                  </a:lnTo>
                  <a:lnTo>
                    <a:pt x="18" y="84"/>
                  </a:lnTo>
                  <a:lnTo>
                    <a:pt x="0" y="84"/>
                  </a:lnTo>
                  <a:lnTo>
                    <a:pt x="0" y="103"/>
                  </a:lnTo>
                  <a:lnTo>
                    <a:pt x="18" y="99"/>
                  </a:lnTo>
                  <a:lnTo>
                    <a:pt x="39" y="94"/>
                  </a:lnTo>
                  <a:lnTo>
                    <a:pt x="56" y="84"/>
                  </a:lnTo>
                  <a:lnTo>
                    <a:pt x="70" y="70"/>
                  </a:lnTo>
                  <a:lnTo>
                    <a:pt x="84" y="56"/>
                  </a:lnTo>
                  <a:lnTo>
                    <a:pt x="93" y="40"/>
                  </a:lnTo>
                  <a:lnTo>
                    <a:pt x="98" y="19"/>
                  </a:lnTo>
                  <a:lnTo>
                    <a:pt x="103" y="0"/>
                  </a:lnTo>
                  <a:lnTo>
                    <a:pt x="8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91" name="Freeform 1071">
              <a:extLst>
                <a:ext uri="{FF2B5EF4-FFF2-40B4-BE49-F238E27FC236}">
                  <a16:creationId xmlns:a16="http://schemas.microsoft.com/office/drawing/2014/main" id="{4B6BA814-680D-4E82-8517-F68EC7C3C2B0}"/>
                </a:ext>
              </a:extLst>
            </p:cNvPr>
            <p:cNvSpPr>
              <a:spLocks/>
            </p:cNvSpPr>
            <p:nvPr/>
          </p:nvSpPr>
          <p:spPr bwMode="auto">
            <a:xfrm>
              <a:off x="4862" y="3044"/>
              <a:ext cx="103" cy="103"/>
            </a:xfrm>
            <a:custGeom>
              <a:avLst/>
              <a:gdLst>
                <a:gd name="T0" fmla="*/ 0 w 103"/>
                <a:gd name="T1" fmla="*/ 18 h 103"/>
                <a:gd name="T2" fmla="*/ 0 w 103"/>
                <a:gd name="T3" fmla="*/ 18 h 103"/>
                <a:gd name="T4" fmla="*/ 18 w 103"/>
                <a:gd name="T5" fmla="*/ 18 h 103"/>
                <a:gd name="T6" fmla="*/ 35 w 103"/>
                <a:gd name="T7" fmla="*/ 23 h 103"/>
                <a:gd name="T8" fmla="*/ 47 w 103"/>
                <a:gd name="T9" fmla="*/ 33 h 103"/>
                <a:gd name="T10" fmla="*/ 61 w 103"/>
                <a:gd name="T11" fmla="*/ 42 h 103"/>
                <a:gd name="T12" fmla="*/ 70 w 103"/>
                <a:gd name="T13" fmla="*/ 56 h 103"/>
                <a:gd name="T14" fmla="*/ 79 w 103"/>
                <a:gd name="T15" fmla="*/ 68 h 103"/>
                <a:gd name="T16" fmla="*/ 84 w 103"/>
                <a:gd name="T17" fmla="*/ 84 h 103"/>
                <a:gd name="T18" fmla="*/ 84 w 103"/>
                <a:gd name="T19" fmla="*/ 103 h 103"/>
                <a:gd name="T20" fmla="*/ 103 w 103"/>
                <a:gd name="T21" fmla="*/ 103 h 103"/>
                <a:gd name="T22" fmla="*/ 98 w 103"/>
                <a:gd name="T23" fmla="*/ 84 h 103"/>
                <a:gd name="T24" fmla="*/ 93 w 103"/>
                <a:gd name="T25" fmla="*/ 63 h 103"/>
                <a:gd name="T26" fmla="*/ 84 w 103"/>
                <a:gd name="T27" fmla="*/ 47 h 103"/>
                <a:gd name="T28" fmla="*/ 70 w 103"/>
                <a:gd name="T29" fmla="*/ 33 h 103"/>
                <a:gd name="T30" fmla="*/ 56 w 103"/>
                <a:gd name="T31" fmla="*/ 18 h 103"/>
                <a:gd name="T32" fmla="*/ 39 w 103"/>
                <a:gd name="T33" fmla="*/ 9 h 103"/>
                <a:gd name="T34" fmla="*/ 18 w 103"/>
                <a:gd name="T35" fmla="*/ 4 h 103"/>
                <a:gd name="T36" fmla="*/ 0 w 103"/>
                <a:gd name="T37" fmla="*/ 0 h 103"/>
                <a:gd name="T38" fmla="*/ 0 w 103"/>
                <a:gd name="T39" fmla="*/ 0 h 103"/>
                <a:gd name="T40" fmla="*/ 0 w 103"/>
                <a:gd name="T41" fmla="*/ 18 h 1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3"/>
                <a:gd name="T64" fmla="*/ 0 h 103"/>
                <a:gd name="T65" fmla="*/ 103 w 103"/>
                <a:gd name="T66" fmla="*/ 103 h 1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3" h="103">
                  <a:moveTo>
                    <a:pt x="0" y="18"/>
                  </a:moveTo>
                  <a:lnTo>
                    <a:pt x="0" y="18"/>
                  </a:lnTo>
                  <a:lnTo>
                    <a:pt x="18" y="18"/>
                  </a:lnTo>
                  <a:lnTo>
                    <a:pt x="35" y="23"/>
                  </a:lnTo>
                  <a:lnTo>
                    <a:pt x="47" y="33"/>
                  </a:lnTo>
                  <a:lnTo>
                    <a:pt x="61" y="42"/>
                  </a:lnTo>
                  <a:lnTo>
                    <a:pt x="70" y="56"/>
                  </a:lnTo>
                  <a:lnTo>
                    <a:pt x="79" y="68"/>
                  </a:lnTo>
                  <a:lnTo>
                    <a:pt x="84" y="84"/>
                  </a:lnTo>
                  <a:lnTo>
                    <a:pt x="84" y="103"/>
                  </a:lnTo>
                  <a:lnTo>
                    <a:pt x="103" y="103"/>
                  </a:lnTo>
                  <a:lnTo>
                    <a:pt x="98" y="84"/>
                  </a:lnTo>
                  <a:lnTo>
                    <a:pt x="93" y="63"/>
                  </a:lnTo>
                  <a:lnTo>
                    <a:pt x="84" y="47"/>
                  </a:lnTo>
                  <a:lnTo>
                    <a:pt x="70" y="33"/>
                  </a:lnTo>
                  <a:lnTo>
                    <a:pt x="56" y="18"/>
                  </a:lnTo>
                  <a:lnTo>
                    <a:pt x="39" y="9"/>
                  </a:lnTo>
                  <a:lnTo>
                    <a:pt x="18" y="4"/>
                  </a:lnTo>
                  <a:lnTo>
                    <a:pt x="0" y="0"/>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92" name="Freeform 1072">
              <a:extLst>
                <a:ext uri="{FF2B5EF4-FFF2-40B4-BE49-F238E27FC236}">
                  <a16:creationId xmlns:a16="http://schemas.microsoft.com/office/drawing/2014/main" id="{C1775BE6-B165-42A5-AA20-FD1EFD32530A}"/>
                </a:ext>
              </a:extLst>
            </p:cNvPr>
            <p:cNvSpPr>
              <a:spLocks/>
            </p:cNvSpPr>
            <p:nvPr/>
          </p:nvSpPr>
          <p:spPr bwMode="auto">
            <a:xfrm>
              <a:off x="4761" y="3044"/>
              <a:ext cx="101" cy="103"/>
            </a:xfrm>
            <a:custGeom>
              <a:avLst/>
              <a:gdLst>
                <a:gd name="T0" fmla="*/ 19 w 101"/>
                <a:gd name="T1" fmla="*/ 103 h 103"/>
                <a:gd name="T2" fmla="*/ 19 w 101"/>
                <a:gd name="T3" fmla="*/ 103 h 103"/>
                <a:gd name="T4" fmla="*/ 19 w 101"/>
                <a:gd name="T5" fmla="*/ 84 h 103"/>
                <a:gd name="T6" fmla="*/ 23 w 101"/>
                <a:gd name="T7" fmla="*/ 68 h 103"/>
                <a:gd name="T8" fmla="*/ 33 w 101"/>
                <a:gd name="T9" fmla="*/ 56 h 103"/>
                <a:gd name="T10" fmla="*/ 40 w 101"/>
                <a:gd name="T11" fmla="*/ 42 h 103"/>
                <a:gd name="T12" fmla="*/ 54 w 101"/>
                <a:gd name="T13" fmla="*/ 33 h 103"/>
                <a:gd name="T14" fmla="*/ 68 w 101"/>
                <a:gd name="T15" fmla="*/ 23 h 103"/>
                <a:gd name="T16" fmla="*/ 82 w 101"/>
                <a:gd name="T17" fmla="*/ 18 h 103"/>
                <a:gd name="T18" fmla="*/ 101 w 101"/>
                <a:gd name="T19" fmla="*/ 18 h 103"/>
                <a:gd name="T20" fmla="*/ 101 w 101"/>
                <a:gd name="T21" fmla="*/ 0 h 103"/>
                <a:gd name="T22" fmla="*/ 82 w 101"/>
                <a:gd name="T23" fmla="*/ 4 h 103"/>
                <a:gd name="T24" fmla="*/ 63 w 101"/>
                <a:gd name="T25" fmla="*/ 9 h 103"/>
                <a:gd name="T26" fmla="*/ 44 w 101"/>
                <a:gd name="T27" fmla="*/ 18 h 103"/>
                <a:gd name="T28" fmla="*/ 30 w 101"/>
                <a:gd name="T29" fmla="*/ 33 h 103"/>
                <a:gd name="T30" fmla="*/ 19 w 101"/>
                <a:gd name="T31" fmla="*/ 47 h 103"/>
                <a:gd name="T32" fmla="*/ 9 w 101"/>
                <a:gd name="T33" fmla="*/ 63 h 103"/>
                <a:gd name="T34" fmla="*/ 5 w 101"/>
                <a:gd name="T35" fmla="*/ 84 h 103"/>
                <a:gd name="T36" fmla="*/ 0 w 101"/>
                <a:gd name="T37" fmla="*/ 103 h 103"/>
                <a:gd name="T38" fmla="*/ 0 w 101"/>
                <a:gd name="T39" fmla="*/ 103 h 103"/>
                <a:gd name="T40" fmla="*/ 19 w 101"/>
                <a:gd name="T41" fmla="*/ 103 h 1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1"/>
                <a:gd name="T64" fmla="*/ 0 h 103"/>
                <a:gd name="T65" fmla="*/ 101 w 101"/>
                <a:gd name="T66" fmla="*/ 103 h 1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1" h="103">
                  <a:moveTo>
                    <a:pt x="19" y="103"/>
                  </a:moveTo>
                  <a:lnTo>
                    <a:pt x="19" y="103"/>
                  </a:lnTo>
                  <a:lnTo>
                    <a:pt x="19" y="84"/>
                  </a:lnTo>
                  <a:lnTo>
                    <a:pt x="23" y="68"/>
                  </a:lnTo>
                  <a:lnTo>
                    <a:pt x="33" y="56"/>
                  </a:lnTo>
                  <a:lnTo>
                    <a:pt x="40" y="42"/>
                  </a:lnTo>
                  <a:lnTo>
                    <a:pt x="54" y="33"/>
                  </a:lnTo>
                  <a:lnTo>
                    <a:pt x="68" y="23"/>
                  </a:lnTo>
                  <a:lnTo>
                    <a:pt x="82" y="18"/>
                  </a:lnTo>
                  <a:lnTo>
                    <a:pt x="101" y="18"/>
                  </a:lnTo>
                  <a:lnTo>
                    <a:pt x="101" y="0"/>
                  </a:lnTo>
                  <a:lnTo>
                    <a:pt x="82" y="4"/>
                  </a:lnTo>
                  <a:lnTo>
                    <a:pt x="63" y="9"/>
                  </a:lnTo>
                  <a:lnTo>
                    <a:pt x="44" y="18"/>
                  </a:lnTo>
                  <a:lnTo>
                    <a:pt x="30" y="33"/>
                  </a:lnTo>
                  <a:lnTo>
                    <a:pt x="19" y="47"/>
                  </a:lnTo>
                  <a:lnTo>
                    <a:pt x="9" y="63"/>
                  </a:lnTo>
                  <a:lnTo>
                    <a:pt x="5" y="84"/>
                  </a:lnTo>
                  <a:lnTo>
                    <a:pt x="0" y="103"/>
                  </a:lnTo>
                  <a:lnTo>
                    <a:pt x="19"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93" name="Freeform 1073">
              <a:extLst>
                <a:ext uri="{FF2B5EF4-FFF2-40B4-BE49-F238E27FC236}">
                  <a16:creationId xmlns:a16="http://schemas.microsoft.com/office/drawing/2014/main" id="{3DF80CB6-20FD-4565-8F19-7B32FFC9E700}"/>
                </a:ext>
              </a:extLst>
            </p:cNvPr>
            <p:cNvSpPr>
              <a:spLocks/>
            </p:cNvSpPr>
            <p:nvPr/>
          </p:nvSpPr>
          <p:spPr bwMode="auto">
            <a:xfrm>
              <a:off x="4761" y="3147"/>
              <a:ext cx="101" cy="103"/>
            </a:xfrm>
            <a:custGeom>
              <a:avLst/>
              <a:gdLst>
                <a:gd name="T0" fmla="*/ 101 w 101"/>
                <a:gd name="T1" fmla="*/ 84 h 103"/>
                <a:gd name="T2" fmla="*/ 101 w 101"/>
                <a:gd name="T3" fmla="*/ 84 h 103"/>
                <a:gd name="T4" fmla="*/ 82 w 101"/>
                <a:gd name="T5" fmla="*/ 84 h 103"/>
                <a:gd name="T6" fmla="*/ 68 w 101"/>
                <a:gd name="T7" fmla="*/ 80 h 103"/>
                <a:gd name="T8" fmla="*/ 54 w 101"/>
                <a:gd name="T9" fmla="*/ 70 h 103"/>
                <a:gd name="T10" fmla="*/ 40 w 101"/>
                <a:gd name="T11" fmla="*/ 61 h 103"/>
                <a:gd name="T12" fmla="*/ 33 w 101"/>
                <a:gd name="T13" fmla="*/ 47 h 103"/>
                <a:gd name="T14" fmla="*/ 23 w 101"/>
                <a:gd name="T15" fmla="*/ 35 h 103"/>
                <a:gd name="T16" fmla="*/ 19 w 101"/>
                <a:gd name="T17" fmla="*/ 19 h 103"/>
                <a:gd name="T18" fmla="*/ 19 w 101"/>
                <a:gd name="T19" fmla="*/ 0 h 103"/>
                <a:gd name="T20" fmla="*/ 0 w 101"/>
                <a:gd name="T21" fmla="*/ 0 h 103"/>
                <a:gd name="T22" fmla="*/ 5 w 101"/>
                <a:gd name="T23" fmla="*/ 19 h 103"/>
                <a:gd name="T24" fmla="*/ 9 w 101"/>
                <a:gd name="T25" fmla="*/ 40 h 103"/>
                <a:gd name="T26" fmla="*/ 19 w 101"/>
                <a:gd name="T27" fmla="*/ 56 h 103"/>
                <a:gd name="T28" fmla="*/ 30 w 101"/>
                <a:gd name="T29" fmla="*/ 70 h 103"/>
                <a:gd name="T30" fmla="*/ 44 w 101"/>
                <a:gd name="T31" fmla="*/ 84 h 103"/>
                <a:gd name="T32" fmla="*/ 63 w 101"/>
                <a:gd name="T33" fmla="*/ 94 h 103"/>
                <a:gd name="T34" fmla="*/ 82 w 101"/>
                <a:gd name="T35" fmla="*/ 99 h 103"/>
                <a:gd name="T36" fmla="*/ 101 w 101"/>
                <a:gd name="T37" fmla="*/ 103 h 103"/>
                <a:gd name="T38" fmla="*/ 101 w 101"/>
                <a:gd name="T39" fmla="*/ 103 h 103"/>
                <a:gd name="T40" fmla="*/ 101 w 101"/>
                <a:gd name="T41" fmla="*/ 84 h 1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1"/>
                <a:gd name="T64" fmla="*/ 0 h 103"/>
                <a:gd name="T65" fmla="*/ 101 w 101"/>
                <a:gd name="T66" fmla="*/ 103 h 1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1" h="103">
                  <a:moveTo>
                    <a:pt x="101" y="84"/>
                  </a:moveTo>
                  <a:lnTo>
                    <a:pt x="101" y="84"/>
                  </a:lnTo>
                  <a:lnTo>
                    <a:pt x="82" y="84"/>
                  </a:lnTo>
                  <a:lnTo>
                    <a:pt x="68" y="80"/>
                  </a:lnTo>
                  <a:lnTo>
                    <a:pt x="54" y="70"/>
                  </a:lnTo>
                  <a:lnTo>
                    <a:pt x="40" y="61"/>
                  </a:lnTo>
                  <a:lnTo>
                    <a:pt x="33" y="47"/>
                  </a:lnTo>
                  <a:lnTo>
                    <a:pt x="23" y="35"/>
                  </a:lnTo>
                  <a:lnTo>
                    <a:pt x="19" y="19"/>
                  </a:lnTo>
                  <a:lnTo>
                    <a:pt x="19" y="0"/>
                  </a:lnTo>
                  <a:lnTo>
                    <a:pt x="0" y="0"/>
                  </a:lnTo>
                  <a:lnTo>
                    <a:pt x="5" y="19"/>
                  </a:lnTo>
                  <a:lnTo>
                    <a:pt x="9" y="40"/>
                  </a:lnTo>
                  <a:lnTo>
                    <a:pt x="19" y="56"/>
                  </a:lnTo>
                  <a:lnTo>
                    <a:pt x="30" y="70"/>
                  </a:lnTo>
                  <a:lnTo>
                    <a:pt x="44" y="84"/>
                  </a:lnTo>
                  <a:lnTo>
                    <a:pt x="63" y="94"/>
                  </a:lnTo>
                  <a:lnTo>
                    <a:pt x="82" y="99"/>
                  </a:lnTo>
                  <a:lnTo>
                    <a:pt x="101" y="103"/>
                  </a:lnTo>
                  <a:lnTo>
                    <a:pt x="10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94" name="Freeform 1074">
              <a:extLst>
                <a:ext uri="{FF2B5EF4-FFF2-40B4-BE49-F238E27FC236}">
                  <a16:creationId xmlns:a16="http://schemas.microsoft.com/office/drawing/2014/main" id="{856FF94F-09C8-454E-ADE2-86697E8B30F8}"/>
                </a:ext>
              </a:extLst>
            </p:cNvPr>
            <p:cNvSpPr>
              <a:spLocks/>
            </p:cNvSpPr>
            <p:nvPr/>
          </p:nvSpPr>
          <p:spPr bwMode="auto">
            <a:xfrm>
              <a:off x="4559" y="3060"/>
              <a:ext cx="195" cy="195"/>
            </a:xfrm>
            <a:custGeom>
              <a:avLst/>
              <a:gdLst>
                <a:gd name="T0" fmla="*/ 96 w 195"/>
                <a:gd name="T1" fmla="*/ 195 h 195"/>
                <a:gd name="T2" fmla="*/ 115 w 195"/>
                <a:gd name="T3" fmla="*/ 193 h 195"/>
                <a:gd name="T4" fmla="*/ 134 w 195"/>
                <a:gd name="T5" fmla="*/ 188 h 195"/>
                <a:gd name="T6" fmla="*/ 150 w 195"/>
                <a:gd name="T7" fmla="*/ 178 h 195"/>
                <a:gd name="T8" fmla="*/ 167 w 195"/>
                <a:gd name="T9" fmla="*/ 167 h 195"/>
                <a:gd name="T10" fmla="*/ 178 w 195"/>
                <a:gd name="T11" fmla="*/ 150 h 195"/>
                <a:gd name="T12" fmla="*/ 188 w 195"/>
                <a:gd name="T13" fmla="*/ 134 h 195"/>
                <a:gd name="T14" fmla="*/ 193 w 195"/>
                <a:gd name="T15" fmla="*/ 115 h 195"/>
                <a:gd name="T16" fmla="*/ 195 w 195"/>
                <a:gd name="T17" fmla="*/ 96 h 195"/>
                <a:gd name="T18" fmla="*/ 193 w 195"/>
                <a:gd name="T19" fmla="*/ 78 h 195"/>
                <a:gd name="T20" fmla="*/ 188 w 195"/>
                <a:gd name="T21" fmla="*/ 59 h 195"/>
                <a:gd name="T22" fmla="*/ 178 w 195"/>
                <a:gd name="T23" fmla="*/ 42 h 195"/>
                <a:gd name="T24" fmla="*/ 167 w 195"/>
                <a:gd name="T25" fmla="*/ 28 h 195"/>
                <a:gd name="T26" fmla="*/ 150 w 195"/>
                <a:gd name="T27" fmla="*/ 17 h 195"/>
                <a:gd name="T28" fmla="*/ 134 w 195"/>
                <a:gd name="T29" fmla="*/ 7 h 195"/>
                <a:gd name="T30" fmla="*/ 115 w 195"/>
                <a:gd name="T31" fmla="*/ 2 h 195"/>
                <a:gd name="T32" fmla="*/ 96 w 195"/>
                <a:gd name="T33" fmla="*/ 0 h 195"/>
                <a:gd name="T34" fmla="*/ 78 w 195"/>
                <a:gd name="T35" fmla="*/ 2 h 195"/>
                <a:gd name="T36" fmla="*/ 59 w 195"/>
                <a:gd name="T37" fmla="*/ 7 h 195"/>
                <a:gd name="T38" fmla="*/ 43 w 195"/>
                <a:gd name="T39" fmla="*/ 17 h 195"/>
                <a:gd name="T40" fmla="*/ 28 w 195"/>
                <a:gd name="T41" fmla="*/ 28 h 195"/>
                <a:gd name="T42" fmla="*/ 17 w 195"/>
                <a:gd name="T43" fmla="*/ 42 h 195"/>
                <a:gd name="T44" fmla="*/ 7 w 195"/>
                <a:gd name="T45" fmla="*/ 59 h 195"/>
                <a:gd name="T46" fmla="*/ 3 w 195"/>
                <a:gd name="T47" fmla="*/ 78 h 195"/>
                <a:gd name="T48" fmla="*/ 0 w 195"/>
                <a:gd name="T49" fmla="*/ 96 h 195"/>
                <a:gd name="T50" fmla="*/ 3 w 195"/>
                <a:gd name="T51" fmla="*/ 115 h 195"/>
                <a:gd name="T52" fmla="*/ 7 w 195"/>
                <a:gd name="T53" fmla="*/ 134 h 195"/>
                <a:gd name="T54" fmla="*/ 17 w 195"/>
                <a:gd name="T55" fmla="*/ 150 h 195"/>
                <a:gd name="T56" fmla="*/ 28 w 195"/>
                <a:gd name="T57" fmla="*/ 167 h 195"/>
                <a:gd name="T58" fmla="*/ 43 w 195"/>
                <a:gd name="T59" fmla="*/ 178 h 195"/>
                <a:gd name="T60" fmla="*/ 59 w 195"/>
                <a:gd name="T61" fmla="*/ 188 h 195"/>
                <a:gd name="T62" fmla="*/ 78 w 195"/>
                <a:gd name="T63" fmla="*/ 193 h 195"/>
                <a:gd name="T64" fmla="*/ 96 w 195"/>
                <a:gd name="T65" fmla="*/ 195 h 1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95"/>
                <a:gd name="T101" fmla="*/ 195 w 195"/>
                <a:gd name="T102" fmla="*/ 195 h 1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95">
                  <a:moveTo>
                    <a:pt x="96" y="195"/>
                  </a:moveTo>
                  <a:lnTo>
                    <a:pt x="115" y="193"/>
                  </a:lnTo>
                  <a:lnTo>
                    <a:pt x="134" y="188"/>
                  </a:lnTo>
                  <a:lnTo>
                    <a:pt x="150" y="178"/>
                  </a:lnTo>
                  <a:lnTo>
                    <a:pt x="167" y="167"/>
                  </a:lnTo>
                  <a:lnTo>
                    <a:pt x="178" y="150"/>
                  </a:lnTo>
                  <a:lnTo>
                    <a:pt x="188" y="134"/>
                  </a:lnTo>
                  <a:lnTo>
                    <a:pt x="193" y="115"/>
                  </a:lnTo>
                  <a:lnTo>
                    <a:pt x="195" y="96"/>
                  </a:lnTo>
                  <a:lnTo>
                    <a:pt x="193" y="78"/>
                  </a:lnTo>
                  <a:lnTo>
                    <a:pt x="188" y="59"/>
                  </a:lnTo>
                  <a:lnTo>
                    <a:pt x="178" y="42"/>
                  </a:lnTo>
                  <a:lnTo>
                    <a:pt x="167" y="28"/>
                  </a:lnTo>
                  <a:lnTo>
                    <a:pt x="150" y="17"/>
                  </a:lnTo>
                  <a:lnTo>
                    <a:pt x="134" y="7"/>
                  </a:lnTo>
                  <a:lnTo>
                    <a:pt x="115" y="2"/>
                  </a:lnTo>
                  <a:lnTo>
                    <a:pt x="96" y="0"/>
                  </a:lnTo>
                  <a:lnTo>
                    <a:pt x="78" y="2"/>
                  </a:lnTo>
                  <a:lnTo>
                    <a:pt x="59" y="7"/>
                  </a:lnTo>
                  <a:lnTo>
                    <a:pt x="43" y="17"/>
                  </a:lnTo>
                  <a:lnTo>
                    <a:pt x="28" y="28"/>
                  </a:lnTo>
                  <a:lnTo>
                    <a:pt x="17" y="42"/>
                  </a:lnTo>
                  <a:lnTo>
                    <a:pt x="7" y="59"/>
                  </a:lnTo>
                  <a:lnTo>
                    <a:pt x="3" y="78"/>
                  </a:lnTo>
                  <a:lnTo>
                    <a:pt x="0" y="96"/>
                  </a:lnTo>
                  <a:lnTo>
                    <a:pt x="3" y="115"/>
                  </a:lnTo>
                  <a:lnTo>
                    <a:pt x="7" y="134"/>
                  </a:lnTo>
                  <a:lnTo>
                    <a:pt x="17" y="150"/>
                  </a:lnTo>
                  <a:lnTo>
                    <a:pt x="28" y="167"/>
                  </a:lnTo>
                  <a:lnTo>
                    <a:pt x="43" y="178"/>
                  </a:lnTo>
                  <a:lnTo>
                    <a:pt x="59" y="188"/>
                  </a:lnTo>
                  <a:lnTo>
                    <a:pt x="78" y="193"/>
                  </a:lnTo>
                  <a:lnTo>
                    <a:pt x="96" y="195"/>
                  </a:lnTo>
                  <a:close/>
                </a:path>
              </a:pathLst>
            </a:custGeom>
            <a:solidFill>
              <a:srgbClr val="E8C64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95" name="Freeform 1075">
              <a:extLst>
                <a:ext uri="{FF2B5EF4-FFF2-40B4-BE49-F238E27FC236}">
                  <a16:creationId xmlns:a16="http://schemas.microsoft.com/office/drawing/2014/main" id="{FF25DD2B-7435-42A2-B3A1-2A82DC1F8701}"/>
                </a:ext>
              </a:extLst>
            </p:cNvPr>
            <p:cNvSpPr>
              <a:spLocks/>
            </p:cNvSpPr>
            <p:nvPr/>
          </p:nvSpPr>
          <p:spPr bwMode="auto">
            <a:xfrm>
              <a:off x="4655" y="3156"/>
              <a:ext cx="108" cy="108"/>
            </a:xfrm>
            <a:custGeom>
              <a:avLst/>
              <a:gdLst>
                <a:gd name="T0" fmla="*/ 89 w 108"/>
                <a:gd name="T1" fmla="*/ 0 h 108"/>
                <a:gd name="T2" fmla="*/ 89 w 108"/>
                <a:gd name="T3" fmla="*/ 0 h 108"/>
                <a:gd name="T4" fmla="*/ 89 w 108"/>
                <a:gd name="T5" fmla="*/ 19 h 108"/>
                <a:gd name="T6" fmla="*/ 85 w 108"/>
                <a:gd name="T7" fmla="*/ 36 h 108"/>
                <a:gd name="T8" fmla="*/ 75 w 108"/>
                <a:gd name="T9" fmla="*/ 50 h 108"/>
                <a:gd name="T10" fmla="*/ 66 w 108"/>
                <a:gd name="T11" fmla="*/ 66 h 108"/>
                <a:gd name="T12" fmla="*/ 50 w 108"/>
                <a:gd name="T13" fmla="*/ 75 h 108"/>
                <a:gd name="T14" fmla="*/ 36 w 108"/>
                <a:gd name="T15" fmla="*/ 85 h 108"/>
                <a:gd name="T16" fmla="*/ 19 w 108"/>
                <a:gd name="T17" fmla="*/ 90 h 108"/>
                <a:gd name="T18" fmla="*/ 0 w 108"/>
                <a:gd name="T19" fmla="*/ 90 h 108"/>
                <a:gd name="T20" fmla="*/ 0 w 108"/>
                <a:gd name="T21" fmla="*/ 108 h 108"/>
                <a:gd name="T22" fmla="*/ 19 w 108"/>
                <a:gd name="T23" fmla="*/ 104 h 108"/>
                <a:gd name="T24" fmla="*/ 40 w 108"/>
                <a:gd name="T25" fmla="*/ 99 h 108"/>
                <a:gd name="T26" fmla="*/ 59 w 108"/>
                <a:gd name="T27" fmla="*/ 90 h 108"/>
                <a:gd name="T28" fmla="*/ 75 w 108"/>
                <a:gd name="T29" fmla="*/ 75 h 108"/>
                <a:gd name="T30" fmla="*/ 89 w 108"/>
                <a:gd name="T31" fmla="*/ 59 h 108"/>
                <a:gd name="T32" fmla="*/ 99 w 108"/>
                <a:gd name="T33" fmla="*/ 40 h 108"/>
                <a:gd name="T34" fmla="*/ 104 w 108"/>
                <a:gd name="T35" fmla="*/ 19 h 108"/>
                <a:gd name="T36" fmla="*/ 108 w 108"/>
                <a:gd name="T37" fmla="*/ 0 h 108"/>
                <a:gd name="T38" fmla="*/ 108 w 108"/>
                <a:gd name="T39" fmla="*/ 0 h 108"/>
                <a:gd name="T40" fmla="*/ 89 w 108"/>
                <a:gd name="T41" fmla="*/ 0 h 10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108"/>
                <a:gd name="T65" fmla="*/ 108 w 108"/>
                <a:gd name="T66" fmla="*/ 108 h 10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108">
                  <a:moveTo>
                    <a:pt x="89" y="0"/>
                  </a:moveTo>
                  <a:lnTo>
                    <a:pt x="89" y="0"/>
                  </a:lnTo>
                  <a:lnTo>
                    <a:pt x="89" y="19"/>
                  </a:lnTo>
                  <a:lnTo>
                    <a:pt x="85" y="36"/>
                  </a:lnTo>
                  <a:lnTo>
                    <a:pt x="75" y="50"/>
                  </a:lnTo>
                  <a:lnTo>
                    <a:pt x="66" y="66"/>
                  </a:lnTo>
                  <a:lnTo>
                    <a:pt x="50" y="75"/>
                  </a:lnTo>
                  <a:lnTo>
                    <a:pt x="36" y="85"/>
                  </a:lnTo>
                  <a:lnTo>
                    <a:pt x="19" y="90"/>
                  </a:lnTo>
                  <a:lnTo>
                    <a:pt x="0" y="90"/>
                  </a:lnTo>
                  <a:lnTo>
                    <a:pt x="0" y="108"/>
                  </a:lnTo>
                  <a:lnTo>
                    <a:pt x="19" y="104"/>
                  </a:lnTo>
                  <a:lnTo>
                    <a:pt x="40" y="99"/>
                  </a:lnTo>
                  <a:lnTo>
                    <a:pt x="59" y="90"/>
                  </a:lnTo>
                  <a:lnTo>
                    <a:pt x="75" y="75"/>
                  </a:lnTo>
                  <a:lnTo>
                    <a:pt x="89" y="59"/>
                  </a:lnTo>
                  <a:lnTo>
                    <a:pt x="99" y="40"/>
                  </a:lnTo>
                  <a:lnTo>
                    <a:pt x="104" y="19"/>
                  </a:lnTo>
                  <a:lnTo>
                    <a:pt x="108" y="0"/>
                  </a:lnTo>
                  <a:lnTo>
                    <a:pt x="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96" name="Freeform 1076">
              <a:extLst>
                <a:ext uri="{FF2B5EF4-FFF2-40B4-BE49-F238E27FC236}">
                  <a16:creationId xmlns:a16="http://schemas.microsoft.com/office/drawing/2014/main" id="{2377284F-9FE5-4B27-A953-DFAC1BA9D44C}"/>
                </a:ext>
              </a:extLst>
            </p:cNvPr>
            <p:cNvSpPr>
              <a:spLocks/>
            </p:cNvSpPr>
            <p:nvPr/>
          </p:nvSpPr>
          <p:spPr bwMode="auto">
            <a:xfrm>
              <a:off x="4655" y="3051"/>
              <a:ext cx="108" cy="105"/>
            </a:xfrm>
            <a:custGeom>
              <a:avLst/>
              <a:gdLst>
                <a:gd name="T0" fmla="*/ 0 w 108"/>
                <a:gd name="T1" fmla="*/ 19 h 105"/>
                <a:gd name="T2" fmla="*/ 0 w 108"/>
                <a:gd name="T3" fmla="*/ 19 h 105"/>
                <a:gd name="T4" fmla="*/ 19 w 108"/>
                <a:gd name="T5" fmla="*/ 19 h 105"/>
                <a:gd name="T6" fmla="*/ 36 w 108"/>
                <a:gd name="T7" fmla="*/ 23 h 105"/>
                <a:gd name="T8" fmla="*/ 50 w 108"/>
                <a:gd name="T9" fmla="*/ 33 h 105"/>
                <a:gd name="T10" fmla="*/ 66 w 108"/>
                <a:gd name="T11" fmla="*/ 42 h 105"/>
                <a:gd name="T12" fmla="*/ 75 w 108"/>
                <a:gd name="T13" fmla="*/ 56 h 105"/>
                <a:gd name="T14" fmla="*/ 85 w 108"/>
                <a:gd name="T15" fmla="*/ 70 h 105"/>
                <a:gd name="T16" fmla="*/ 89 w 108"/>
                <a:gd name="T17" fmla="*/ 87 h 105"/>
                <a:gd name="T18" fmla="*/ 89 w 108"/>
                <a:gd name="T19" fmla="*/ 105 h 105"/>
                <a:gd name="T20" fmla="*/ 108 w 108"/>
                <a:gd name="T21" fmla="*/ 105 h 105"/>
                <a:gd name="T22" fmla="*/ 104 w 108"/>
                <a:gd name="T23" fmla="*/ 87 h 105"/>
                <a:gd name="T24" fmla="*/ 99 w 108"/>
                <a:gd name="T25" fmla="*/ 65 h 105"/>
                <a:gd name="T26" fmla="*/ 89 w 108"/>
                <a:gd name="T27" fmla="*/ 47 h 105"/>
                <a:gd name="T28" fmla="*/ 75 w 108"/>
                <a:gd name="T29" fmla="*/ 33 h 105"/>
                <a:gd name="T30" fmla="*/ 59 w 108"/>
                <a:gd name="T31" fmla="*/ 19 h 105"/>
                <a:gd name="T32" fmla="*/ 40 w 108"/>
                <a:gd name="T33" fmla="*/ 9 h 105"/>
                <a:gd name="T34" fmla="*/ 19 w 108"/>
                <a:gd name="T35" fmla="*/ 4 h 105"/>
                <a:gd name="T36" fmla="*/ 0 w 108"/>
                <a:gd name="T37" fmla="*/ 0 h 105"/>
                <a:gd name="T38" fmla="*/ 0 w 108"/>
                <a:gd name="T39" fmla="*/ 0 h 105"/>
                <a:gd name="T40" fmla="*/ 0 w 108"/>
                <a:gd name="T41" fmla="*/ 19 h 1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105"/>
                <a:gd name="T65" fmla="*/ 108 w 108"/>
                <a:gd name="T66" fmla="*/ 105 h 10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105">
                  <a:moveTo>
                    <a:pt x="0" y="19"/>
                  </a:moveTo>
                  <a:lnTo>
                    <a:pt x="0" y="19"/>
                  </a:lnTo>
                  <a:lnTo>
                    <a:pt x="19" y="19"/>
                  </a:lnTo>
                  <a:lnTo>
                    <a:pt x="36" y="23"/>
                  </a:lnTo>
                  <a:lnTo>
                    <a:pt x="50" y="33"/>
                  </a:lnTo>
                  <a:lnTo>
                    <a:pt x="66" y="42"/>
                  </a:lnTo>
                  <a:lnTo>
                    <a:pt x="75" y="56"/>
                  </a:lnTo>
                  <a:lnTo>
                    <a:pt x="85" y="70"/>
                  </a:lnTo>
                  <a:lnTo>
                    <a:pt x="89" y="87"/>
                  </a:lnTo>
                  <a:lnTo>
                    <a:pt x="89" y="105"/>
                  </a:lnTo>
                  <a:lnTo>
                    <a:pt x="108" y="105"/>
                  </a:lnTo>
                  <a:lnTo>
                    <a:pt x="104" y="87"/>
                  </a:lnTo>
                  <a:lnTo>
                    <a:pt x="99" y="65"/>
                  </a:lnTo>
                  <a:lnTo>
                    <a:pt x="89" y="47"/>
                  </a:lnTo>
                  <a:lnTo>
                    <a:pt x="75" y="33"/>
                  </a:lnTo>
                  <a:lnTo>
                    <a:pt x="59" y="19"/>
                  </a:lnTo>
                  <a:lnTo>
                    <a:pt x="40" y="9"/>
                  </a:lnTo>
                  <a:lnTo>
                    <a:pt x="19" y="4"/>
                  </a:lnTo>
                  <a:lnTo>
                    <a:pt x="0"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97" name="Freeform 1077">
              <a:extLst>
                <a:ext uri="{FF2B5EF4-FFF2-40B4-BE49-F238E27FC236}">
                  <a16:creationId xmlns:a16="http://schemas.microsoft.com/office/drawing/2014/main" id="{B5F2AE8D-2063-4B13-A7C1-E1FC55F1F3A4}"/>
                </a:ext>
              </a:extLst>
            </p:cNvPr>
            <p:cNvSpPr>
              <a:spLocks/>
            </p:cNvSpPr>
            <p:nvPr/>
          </p:nvSpPr>
          <p:spPr bwMode="auto">
            <a:xfrm>
              <a:off x="4550" y="3051"/>
              <a:ext cx="105" cy="105"/>
            </a:xfrm>
            <a:custGeom>
              <a:avLst/>
              <a:gdLst>
                <a:gd name="T0" fmla="*/ 19 w 105"/>
                <a:gd name="T1" fmla="*/ 105 h 105"/>
                <a:gd name="T2" fmla="*/ 19 w 105"/>
                <a:gd name="T3" fmla="*/ 105 h 105"/>
                <a:gd name="T4" fmla="*/ 19 w 105"/>
                <a:gd name="T5" fmla="*/ 87 h 105"/>
                <a:gd name="T6" fmla="*/ 23 w 105"/>
                <a:gd name="T7" fmla="*/ 70 h 105"/>
                <a:gd name="T8" fmla="*/ 33 w 105"/>
                <a:gd name="T9" fmla="*/ 56 h 105"/>
                <a:gd name="T10" fmla="*/ 42 w 105"/>
                <a:gd name="T11" fmla="*/ 42 h 105"/>
                <a:gd name="T12" fmla="*/ 56 w 105"/>
                <a:gd name="T13" fmla="*/ 33 h 105"/>
                <a:gd name="T14" fmla="*/ 70 w 105"/>
                <a:gd name="T15" fmla="*/ 23 h 105"/>
                <a:gd name="T16" fmla="*/ 87 w 105"/>
                <a:gd name="T17" fmla="*/ 19 h 105"/>
                <a:gd name="T18" fmla="*/ 105 w 105"/>
                <a:gd name="T19" fmla="*/ 19 h 105"/>
                <a:gd name="T20" fmla="*/ 105 w 105"/>
                <a:gd name="T21" fmla="*/ 0 h 105"/>
                <a:gd name="T22" fmla="*/ 87 w 105"/>
                <a:gd name="T23" fmla="*/ 4 h 105"/>
                <a:gd name="T24" fmla="*/ 66 w 105"/>
                <a:gd name="T25" fmla="*/ 9 h 105"/>
                <a:gd name="T26" fmla="*/ 47 w 105"/>
                <a:gd name="T27" fmla="*/ 19 h 105"/>
                <a:gd name="T28" fmla="*/ 33 w 105"/>
                <a:gd name="T29" fmla="*/ 33 h 105"/>
                <a:gd name="T30" fmla="*/ 19 w 105"/>
                <a:gd name="T31" fmla="*/ 47 h 105"/>
                <a:gd name="T32" fmla="*/ 9 w 105"/>
                <a:gd name="T33" fmla="*/ 65 h 105"/>
                <a:gd name="T34" fmla="*/ 5 w 105"/>
                <a:gd name="T35" fmla="*/ 87 h 105"/>
                <a:gd name="T36" fmla="*/ 0 w 105"/>
                <a:gd name="T37" fmla="*/ 105 h 105"/>
                <a:gd name="T38" fmla="*/ 0 w 105"/>
                <a:gd name="T39" fmla="*/ 105 h 105"/>
                <a:gd name="T40" fmla="*/ 19 w 105"/>
                <a:gd name="T41" fmla="*/ 105 h 1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105"/>
                <a:gd name="T65" fmla="*/ 105 w 105"/>
                <a:gd name="T66" fmla="*/ 105 h 10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105">
                  <a:moveTo>
                    <a:pt x="19" y="105"/>
                  </a:moveTo>
                  <a:lnTo>
                    <a:pt x="19" y="105"/>
                  </a:lnTo>
                  <a:lnTo>
                    <a:pt x="19" y="87"/>
                  </a:lnTo>
                  <a:lnTo>
                    <a:pt x="23" y="70"/>
                  </a:lnTo>
                  <a:lnTo>
                    <a:pt x="33" y="56"/>
                  </a:lnTo>
                  <a:lnTo>
                    <a:pt x="42" y="42"/>
                  </a:lnTo>
                  <a:lnTo>
                    <a:pt x="56" y="33"/>
                  </a:lnTo>
                  <a:lnTo>
                    <a:pt x="70" y="23"/>
                  </a:lnTo>
                  <a:lnTo>
                    <a:pt x="87" y="19"/>
                  </a:lnTo>
                  <a:lnTo>
                    <a:pt x="105" y="19"/>
                  </a:lnTo>
                  <a:lnTo>
                    <a:pt x="105" y="0"/>
                  </a:lnTo>
                  <a:lnTo>
                    <a:pt x="87" y="4"/>
                  </a:lnTo>
                  <a:lnTo>
                    <a:pt x="66" y="9"/>
                  </a:lnTo>
                  <a:lnTo>
                    <a:pt x="47" y="19"/>
                  </a:lnTo>
                  <a:lnTo>
                    <a:pt x="33" y="33"/>
                  </a:lnTo>
                  <a:lnTo>
                    <a:pt x="19" y="47"/>
                  </a:lnTo>
                  <a:lnTo>
                    <a:pt x="9" y="65"/>
                  </a:lnTo>
                  <a:lnTo>
                    <a:pt x="5" y="87"/>
                  </a:lnTo>
                  <a:lnTo>
                    <a:pt x="0" y="105"/>
                  </a:lnTo>
                  <a:lnTo>
                    <a:pt x="19" y="1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1798" name="Freeform 1078">
              <a:extLst>
                <a:ext uri="{FF2B5EF4-FFF2-40B4-BE49-F238E27FC236}">
                  <a16:creationId xmlns:a16="http://schemas.microsoft.com/office/drawing/2014/main" id="{8B13FD71-CEAB-4A03-AB26-C4A17018BE27}"/>
                </a:ext>
              </a:extLst>
            </p:cNvPr>
            <p:cNvSpPr>
              <a:spLocks/>
            </p:cNvSpPr>
            <p:nvPr/>
          </p:nvSpPr>
          <p:spPr bwMode="auto">
            <a:xfrm>
              <a:off x="4550" y="3156"/>
              <a:ext cx="105" cy="108"/>
            </a:xfrm>
            <a:custGeom>
              <a:avLst/>
              <a:gdLst>
                <a:gd name="T0" fmla="*/ 105 w 105"/>
                <a:gd name="T1" fmla="*/ 90 h 108"/>
                <a:gd name="T2" fmla="*/ 105 w 105"/>
                <a:gd name="T3" fmla="*/ 90 h 108"/>
                <a:gd name="T4" fmla="*/ 87 w 105"/>
                <a:gd name="T5" fmla="*/ 90 h 108"/>
                <a:gd name="T6" fmla="*/ 70 w 105"/>
                <a:gd name="T7" fmla="*/ 85 h 108"/>
                <a:gd name="T8" fmla="*/ 56 w 105"/>
                <a:gd name="T9" fmla="*/ 75 h 108"/>
                <a:gd name="T10" fmla="*/ 42 w 105"/>
                <a:gd name="T11" fmla="*/ 66 h 108"/>
                <a:gd name="T12" fmla="*/ 33 w 105"/>
                <a:gd name="T13" fmla="*/ 50 h 108"/>
                <a:gd name="T14" fmla="*/ 23 w 105"/>
                <a:gd name="T15" fmla="*/ 36 h 108"/>
                <a:gd name="T16" fmla="*/ 19 w 105"/>
                <a:gd name="T17" fmla="*/ 19 h 108"/>
                <a:gd name="T18" fmla="*/ 19 w 105"/>
                <a:gd name="T19" fmla="*/ 0 h 108"/>
                <a:gd name="T20" fmla="*/ 0 w 105"/>
                <a:gd name="T21" fmla="*/ 0 h 108"/>
                <a:gd name="T22" fmla="*/ 5 w 105"/>
                <a:gd name="T23" fmla="*/ 19 h 108"/>
                <a:gd name="T24" fmla="*/ 9 w 105"/>
                <a:gd name="T25" fmla="*/ 40 h 108"/>
                <a:gd name="T26" fmla="*/ 19 w 105"/>
                <a:gd name="T27" fmla="*/ 59 h 108"/>
                <a:gd name="T28" fmla="*/ 33 w 105"/>
                <a:gd name="T29" fmla="*/ 75 h 108"/>
                <a:gd name="T30" fmla="*/ 47 w 105"/>
                <a:gd name="T31" fmla="*/ 90 h 108"/>
                <a:gd name="T32" fmla="*/ 66 w 105"/>
                <a:gd name="T33" fmla="*/ 99 h 108"/>
                <a:gd name="T34" fmla="*/ 87 w 105"/>
                <a:gd name="T35" fmla="*/ 104 h 108"/>
                <a:gd name="T36" fmla="*/ 105 w 105"/>
                <a:gd name="T37" fmla="*/ 108 h 108"/>
                <a:gd name="T38" fmla="*/ 105 w 105"/>
                <a:gd name="T39" fmla="*/ 108 h 108"/>
                <a:gd name="T40" fmla="*/ 105 w 105"/>
                <a:gd name="T41" fmla="*/ 90 h 10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108"/>
                <a:gd name="T65" fmla="*/ 105 w 105"/>
                <a:gd name="T66" fmla="*/ 108 h 10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108">
                  <a:moveTo>
                    <a:pt x="105" y="90"/>
                  </a:moveTo>
                  <a:lnTo>
                    <a:pt x="105" y="90"/>
                  </a:lnTo>
                  <a:lnTo>
                    <a:pt x="87" y="90"/>
                  </a:lnTo>
                  <a:lnTo>
                    <a:pt x="70" y="85"/>
                  </a:lnTo>
                  <a:lnTo>
                    <a:pt x="56" y="75"/>
                  </a:lnTo>
                  <a:lnTo>
                    <a:pt x="42" y="66"/>
                  </a:lnTo>
                  <a:lnTo>
                    <a:pt x="33" y="50"/>
                  </a:lnTo>
                  <a:lnTo>
                    <a:pt x="23" y="36"/>
                  </a:lnTo>
                  <a:lnTo>
                    <a:pt x="19" y="19"/>
                  </a:lnTo>
                  <a:lnTo>
                    <a:pt x="19" y="0"/>
                  </a:lnTo>
                  <a:lnTo>
                    <a:pt x="0" y="0"/>
                  </a:lnTo>
                  <a:lnTo>
                    <a:pt x="5" y="19"/>
                  </a:lnTo>
                  <a:lnTo>
                    <a:pt x="9" y="40"/>
                  </a:lnTo>
                  <a:lnTo>
                    <a:pt x="19" y="59"/>
                  </a:lnTo>
                  <a:lnTo>
                    <a:pt x="33" y="75"/>
                  </a:lnTo>
                  <a:lnTo>
                    <a:pt x="47" y="90"/>
                  </a:lnTo>
                  <a:lnTo>
                    <a:pt x="66" y="99"/>
                  </a:lnTo>
                  <a:lnTo>
                    <a:pt x="87" y="104"/>
                  </a:lnTo>
                  <a:lnTo>
                    <a:pt x="105" y="108"/>
                  </a:lnTo>
                  <a:lnTo>
                    <a:pt x="105"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sp>
        <p:nvSpPr>
          <p:cNvPr id="31753" name="Text Box 1080">
            <a:extLst>
              <a:ext uri="{FF2B5EF4-FFF2-40B4-BE49-F238E27FC236}">
                <a16:creationId xmlns:a16="http://schemas.microsoft.com/office/drawing/2014/main" id="{20F96744-0992-4944-AF89-C4EAA3751075}"/>
              </a:ext>
            </a:extLst>
          </p:cNvPr>
          <p:cNvSpPr txBox="1">
            <a:spLocks noChangeArrowheads="1"/>
          </p:cNvSpPr>
          <p:nvPr/>
        </p:nvSpPr>
        <p:spPr bwMode="auto">
          <a:xfrm>
            <a:off x="2286001" y="4724400"/>
            <a:ext cx="526891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49263" fontAlgn="base">
              <a:spcBef>
                <a:spcPct val="0"/>
              </a:spcBef>
              <a:spcAft>
                <a:spcPct val="0"/>
              </a:spcAft>
            </a:pPr>
            <a:r>
              <a:rPr lang="es-ES_tradnl" altLang="es-CO" sz="3200">
                <a:solidFill>
                  <a:srgbClr val="000000"/>
                </a:solidFill>
                <a:latin typeface="Arial" panose="020B0604020202020204" pitchFamily="34" charset="0"/>
                <a:ea typeface="ＭＳ Ｐゴシック" panose="020B0600070205080204" pitchFamily="34" charset="-128"/>
              </a:rPr>
              <a:t>3.) Guardar en sitios limpios y secos</a:t>
            </a:r>
            <a:endParaRPr lang="es-ES_tradnl" altLang="es-CO" sz="2400">
              <a:solidFill>
                <a:srgbClr val="000000"/>
              </a:solidFill>
              <a:latin typeface="Arial" panose="020B0604020202020204" pitchFamily="34" charset="0"/>
              <a:ea typeface="ＭＳ Ｐゴシック" panose="020B0600070205080204" pitchFamily="34" charset="-128"/>
            </a:endParaRPr>
          </a:p>
        </p:txBody>
      </p:sp>
      <p:sp>
        <p:nvSpPr>
          <p:cNvPr id="31754" name="Text Box 1081">
            <a:extLst>
              <a:ext uri="{FF2B5EF4-FFF2-40B4-BE49-F238E27FC236}">
                <a16:creationId xmlns:a16="http://schemas.microsoft.com/office/drawing/2014/main" id="{8BCF72B6-9A82-4A6F-928D-B21328084D79}"/>
              </a:ext>
            </a:extLst>
          </p:cNvPr>
          <p:cNvSpPr txBox="1">
            <a:spLocks noChangeArrowheads="1"/>
          </p:cNvSpPr>
          <p:nvPr/>
        </p:nvSpPr>
        <p:spPr bwMode="auto">
          <a:xfrm>
            <a:off x="3803650" y="3352800"/>
            <a:ext cx="55324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49263" fontAlgn="base">
              <a:spcBef>
                <a:spcPct val="0"/>
              </a:spcBef>
              <a:spcAft>
                <a:spcPct val="0"/>
              </a:spcAft>
            </a:pPr>
            <a:r>
              <a:rPr lang="es-ES_tradnl" altLang="es-CO" sz="3200">
                <a:solidFill>
                  <a:srgbClr val="000000"/>
                </a:solidFill>
                <a:latin typeface="Arial" panose="020B0604020202020204" pitchFamily="34" charset="0"/>
                <a:ea typeface="ＭＳ Ｐゴシック" panose="020B0600070205080204" pitchFamily="34" charset="-128"/>
              </a:rPr>
              <a:t>2.) Asear con agua limpia y jabón suave</a:t>
            </a:r>
            <a:endParaRPr lang="es-ES_tradnl" altLang="es-CO" sz="2400">
              <a:solidFill>
                <a:srgbClr val="000000"/>
              </a:solidFill>
              <a:latin typeface="Arial" panose="020B0604020202020204" pitchFamily="34" charset="0"/>
              <a:ea typeface="ＭＳ Ｐゴシック" panose="020B0600070205080204" pitchFamily="34"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4AF3E11A-DD32-4777-A552-07962C2A33BF}"/>
              </a:ext>
            </a:extLst>
          </p:cNvPr>
          <p:cNvSpPr>
            <a:spLocks noGrp="1"/>
          </p:cNvSpPr>
          <p:nvPr>
            <p:ph idx="1"/>
          </p:nvPr>
        </p:nvSpPr>
        <p:spPr>
          <a:xfrm>
            <a:off x="1905001" y="1600200"/>
            <a:ext cx="6278563" cy="4133850"/>
          </a:xfrm>
        </p:spPr>
        <p:txBody>
          <a:bodyPr/>
          <a:lstStyle/>
          <a:p>
            <a:pPr marL="0" indent="0">
              <a:buNone/>
              <a:defRPr/>
            </a:pPr>
            <a:r>
              <a:rPr lang="es-CO" sz="2000" b="1" kern="1200" dirty="0">
                <a:ea typeface="+mn-ea"/>
              </a:rPr>
              <a:t>Mascarilla desechable: </a:t>
            </a:r>
            <a:r>
              <a:rPr lang="es-CO" sz="2000" kern="1200" dirty="0">
                <a:ea typeface="+mn-ea"/>
              </a:rPr>
              <a:t>Cuando esté en ambientes donde hay partículas suspendidas en el aire tales como el polvo de algodón o cemento y otras partículas derivadas del pulido de piezas.</a:t>
            </a:r>
          </a:p>
          <a:p>
            <a:pPr marL="0" indent="0">
              <a:buNone/>
              <a:defRPr/>
            </a:pPr>
            <a:br>
              <a:rPr lang="es-CO" sz="2000" kern="1200" dirty="0">
                <a:ea typeface="+mn-ea"/>
              </a:rPr>
            </a:br>
            <a:r>
              <a:rPr lang="es-CO" sz="2000" kern="1200" dirty="0">
                <a:ea typeface="+mn-ea"/>
              </a:rPr>
              <a:t>• </a:t>
            </a:r>
            <a:r>
              <a:rPr lang="es-CO" sz="2000" b="1" kern="1200" dirty="0">
                <a:ea typeface="+mn-ea"/>
              </a:rPr>
              <a:t>Respirador purificante </a:t>
            </a:r>
            <a:r>
              <a:rPr lang="es-CO" sz="2000" kern="1200" dirty="0">
                <a:ea typeface="+mn-ea"/>
              </a:rPr>
              <a:t>(con material filtrante o cartuchos): Cuando en su ambiente tenga gases, vapores, humos y neblinas. Solicite cambio de filtro cuando sienta olores penetrantes de gases y vapores.</a:t>
            </a:r>
          </a:p>
          <a:p>
            <a:pPr marL="0" indent="0">
              <a:buNone/>
              <a:defRPr/>
            </a:pPr>
            <a:br>
              <a:rPr lang="es-CO" dirty="0">
                <a:ea typeface="+mn-ea"/>
              </a:rPr>
            </a:br>
            <a:r>
              <a:rPr lang="es-CO" sz="2000" kern="1200" dirty="0">
                <a:ea typeface="+mn-ea"/>
              </a:rPr>
              <a:t>• </a:t>
            </a:r>
            <a:r>
              <a:rPr lang="es-CO" sz="2000" b="1" kern="1200" dirty="0">
                <a:ea typeface="+mn-ea"/>
              </a:rPr>
              <a:t>Respiradores auto contenidos: </a:t>
            </a:r>
            <a:r>
              <a:rPr lang="es-CO" sz="2000" kern="1200" dirty="0">
                <a:ea typeface="+mn-ea"/>
              </a:rPr>
              <a:t>Cuando exista peligro inminente para la vida por falta de oxigeno, como en la limpieza de tanques o el manejo de emergencias por derrames químicos.</a:t>
            </a:r>
          </a:p>
        </p:txBody>
      </p:sp>
      <p:sp>
        <p:nvSpPr>
          <p:cNvPr id="4" name="1 Título">
            <a:extLst>
              <a:ext uri="{FF2B5EF4-FFF2-40B4-BE49-F238E27FC236}">
                <a16:creationId xmlns:a16="http://schemas.microsoft.com/office/drawing/2014/main" id="{77F3C3AF-2FF4-45E2-904A-2CD7C884069C}"/>
              </a:ext>
            </a:extLst>
          </p:cNvPr>
          <p:cNvSpPr>
            <a:spLocks noGrp="1"/>
          </p:cNvSpPr>
          <p:nvPr>
            <p:ph type="title"/>
          </p:nvPr>
        </p:nvSpPr>
        <p:spPr/>
        <p:txBody>
          <a:bodyPr/>
          <a:lstStyle/>
          <a:p>
            <a:pPr algn="ctr">
              <a:defRPr/>
            </a:pPr>
            <a:r>
              <a:rPr lang="es-CO" b="1" kern="1200" dirty="0">
                <a:latin typeface="Bookman Old Style" pitchFamily="18" charset="0"/>
                <a:ea typeface="+mj-ea"/>
              </a:rPr>
              <a:t>PROTECCIÓN PARA EL APARATO RESPIRATORIO</a:t>
            </a:r>
          </a:p>
        </p:txBody>
      </p:sp>
      <p:pic>
        <p:nvPicPr>
          <p:cNvPr id="32772" name="Picture 2">
            <a:extLst>
              <a:ext uri="{FF2B5EF4-FFF2-40B4-BE49-F238E27FC236}">
                <a16:creationId xmlns:a16="http://schemas.microsoft.com/office/drawing/2014/main" id="{9CBCD7E6-87BC-4180-BF54-F4C000D9B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0463" y="1673225"/>
            <a:ext cx="13335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Picture 5" descr="http://t0.gstatic.com/images?q=tbn:ANd9GcTOnb908QEHwy_FCAeJC-Ri1J_DgqVcxQLvZnscJbgmxkNJlzHj-2uy">
            <a:hlinkClick r:id="rId3"/>
            <a:extLst>
              <a:ext uri="{FF2B5EF4-FFF2-40B4-BE49-F238E27FC236}">
                <a16:creationId xmlns:a16="http://schemas.microsoft.com/office/drawing/2014/main" id="{AA60F098-C289-4CA3-8EE3-7C437EB324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80463" y="3217864"/>
            <a:ext cx="1503362" cy="12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Picture 6">
            <a:extLst>
              <a:ext uri="{FF2B5EF4-FFF2-40B4-BE49-F238E27FC236}">
                <a16:creationId xmlns:a16="http://schemas.microsoft.com/office/drawing/2014/main" id="{2062988D-DEDD-4C92-8E7F-FDC4C13C28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50325" y="5143501"/>
            <a:ext cx="1333500"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6043543" descr="S23Picture 6043543">
            <a:extLst>
              <a:ext uri="{FF2B5EF4-FFF2-40B4-BE49-F238E27FC236}">
                <a16:creationId xmlns:a16="http://schemas.microsoft.com/office/drawing/2014/main" id="{4135EAC2-008E-4748-BF40-12B54BAB0BC8}"/>
              </a:ext>
            </a:extLst>
          </p:cNvPr>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2997201" y="1450975"/>
            <a:ext cx="2733675"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3795" name="Line 9">
            <a:extLst>
              <a:ext uri="{FF2B5EF4-FFF2-40B4-BE49-F238E27FC236}">
                <a16:creationId xmlns:a16="http://schemas.microsoft.com/office/drawing/2014/main" id="{8F854ED3-E520-48EF-9267-E9835911473E}"/>
              </a:ext>
            </a:extLst>
          </p:cNvPr>
          <p:cNvSpPr>
            <a:spLocks noChangeShapeType="1"/>
          </p:cNvSpPr>
          <p:nvPr/>
        </p:nvSpPr>
        <p:spPr bwMode="auto">
          <a:xfrm>
            <a:off x="5232401" y="3286126"/>
            <a:ext cx="1439863" cy="1871663"/>
          </a:xfrm>
          <a:prstGeom prst="line">
            <a:avLst/>
          </a:prstGeom>
          <a:noFill/>
          <a:ln w="28575">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3796" name="Text Box 10">
            <a:extLst>
              <a:ext uri="{FF2B5EF4-FFF2-40B4-BE49-F238E27FC236}">
                <a16:creationId xmlns:a16="http://schemas.microsoft.com/office/drawing/2014/main" id="{1DFC9F4B-9A74-4EF8-B68D-9D0D0C8091ED}"/>
              </a:ext>
            </a:extLst>
          </p:cNvPr>
          <p:cNvSpPr txBox="1">
            <a:spLocks noChangeArrowheads="1"/>
          </p:cNvSpPr>
          <p:nvPr/>
        </p:nvSpPr>
        <p:spPr bwMode="auto">
          <a:xfrm>
            <a:off x="4938714" y="5145089"/>
            <a:ext cx="33242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defTabSz="903288">
              <a:spcAft>
                <a:spcPts val="1200"/>
              </a:spcAft>
              <a:buClr>
                <a:srgbClr val="000000"/>
              </a:buClr>
              <a:buSzPct val="100000"/>
              <a:buFont typeface="Times New Roman" panose="02020603050405020304" pitchFamily="18" charset="0"/>
              <a:buChar char="•"/>
              <a:defRPr sz="3200">
                <a:solidFill>
                  <a:srgbClr val="1B418B"/>
                </a:solidFill>
                <a:latin typeface="Arial" panose="020B0604020202020204" pitchFamily="34" charset="0"/>
                <a:ea typeface="ＭＳ Ｐゴシック" panose="020B0600070205080204" pitchFamily="34" charset="-128"/>
              </a:defRPr>
            </a:lvl1pPr>
            <a:lvl2pPr defTabSz="903288">
              <a:spcAft>
                <a:spcPts val="1200"/>
              </a:spcAft>
              <a:buClr>
                <a:srgbClr val="000000"/>
              </a:buClr>
              <a:buSzPct val="100000"/>
              <a:buFont typeface="Times New Roman" panose="02020603050405020304" pitchFamily="18" charset="0"/>
              <a:buChar char="–"/>
              <a:defRPr sz="1600">
                <a:solidFill>
                  <a:srgbClr val="1B418B"/>
                </a:solidFill>
                <a:latin typeface="Arial" panose="020B0604020202020204" pitchFamily="34" charset="0"/>
                <a:ea typeface="ＭＳ Ｐゴシック" panose="020B0600070205080204" pitchFamily="34" charset="-128"/>
              </a:defRPr>
            </a:lvl2pPr>
            <a:lvl3pPr defTabSz="903288">
              <a:spcAft>
                <a:spcPts val="1200"/>
              </a:spcAft>
              <a:buClr>
                <a:srgbClr val="000000"/>
              </a:buClr>
              <a:buSzPct val="100000"/>
              <a:buFont typeface="Times New Roman" panose="02020603050405020304" pitchFamily="18" charset="0"/>
              <a:buChar char="•"/>
              <a:defRPr sz="1400">
                <a:solidFill>
                  <a:srgbClr val="1B418B"/>
                </a:solidFill>
                <a:latin typeface="Arial" panose="020B0604020202020204" pitchFamily="34" charset="0"/>
                <a:ea typeface="ＭＳ Ｐゴシック" panose="020B0600070205080204" pitchFamily="34" charset="-128"/>
              </a:defRPr>
            </a:lvl3pPr>
            <a:lvl4pPr defTabSz="903288">
              <a:spcAft>
                <a:spcPts val="1200"/>
              </a:spcAft>
              <a:buClr>
                <a:srgbClr val="000000"/>
              </a:buClr>
              <a:buSzPct val="100000"/>
              <a:buFont typeface="Times New Roman" panose="02020603050405020304" pitchFamily="18" charset="0"/>
              <a:buChar char="–"/>
              <a:defRPr sz="1200">
                <a:solidFill>
                  <a:srgbClr val="1B418B"/>
                </a:solidFill>
                <a:latin typeface="Arial" panose="020B0604020202020204" pitchFamily="34" charset="0"/>
                <a:ea typeface="ＭＳ Ｐゴシック" panose="020B0600070205080204" pitchFamily="34" charset="-128"/>
              </a:defRPr>
            </a:lvl4pPr>
            <a:lvl5pPr defTabSz="903288">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5pPr>
            <a:lvl6pPr marL="25146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6pPr>
            <a:lvl7pPr marL="29718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7pPr>
            <a:lvl8pPr marL="34290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8pPr>
            <a:lvl9pPr marL="38862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9pPr>
          </a:lstStyle>
          <a:p>
            <a:pPr fontAlgn="base">
              <a:spcBef>
                <a:spcPct val="0"/>
              </a:spcBef>
              <a:spcAft>
                <a:spcPct val="0"/>
              </a:spcAft>
              <a:buClrTx/>
              <a:buSzTx/>
              <a:buNone/>
            </a:pPr>
            <a:r>
              <a:rPr lang="es-SV" altLang="es-CO" sz="2000">
                <a:solidFill>
                  <a:srgbClr val="000000"/>
                </a:solidFill>
              </a:rPr>
              <a:t>Modelo 8210 Respirador contra Partículas de Polvo</a:t>
            </a:r>
            <a:r>
              <a:rPr lang="es-ES" altLang="es-CO" sz="2000">
                <a:solidFill>
                  <a:srgbClr val="000000"/>
                </a:solidFill>
              </a:rPr>
              <a:t> </a:t>
            </a:r>
          </a:p>
        </p:txBody>
      </p:sp>
      <p:sp>
        <p:nvSpPr>
          <p:cNvPr id="33797" name="Line 11">
            <a:extLst>
              <a:ext uri="{FF2B5EF4-FFF2-40B4-BE49-F238E27FC236}">
                <a16:creationId xmlns:a16="http://schemas.microsoft.com/office/drawing/2014/main" id="{62B928FC-91F5-4DD9-AA5D-9B20DA59F158}"/>
              </a:ext>
            </a:extLst>
          </p:cNvPr>
          <p:cNvSpPr>
            <a:spLocks noChangeShapeType="1"/>
          </p:cNvSpPr>
          <p:nvPr/>
        </p:nvSpPr>
        <p:spPr bwMode="auto">
          <a:xfrm flipV="1">
            <a:off x="5519739" y="2133600"/>
            <a:ext cx="2160587" cy="503238"/>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3798" name="Text Box 12">
            <a:extLst>
              <a:ext uri="{FF2B5EF4-FFF2-40B4-BE49-F238E27FC236}">
                <a16:creationId xmlns:a16="http://schemas.microsoft.com/office/drawing/2014/main" id="{B08B0CA2-2C3E-481A-8E1F-394C6F7B2C32}"/>
              </a:ext>
            </a:extLst>
          </p:cNvPr>
          <p:cNvSpPr txBox="1">
            <a:spLocks noChangeArrowheads="1"/>
          </p:cNvSpPr>
          <p:nvPr/>
        </p:nvSpPr>
        <p:spPr bwMode="auto">
          <a:xfrm>
            <a:off x="7680326" y="1844676"/>
            <a:ext cx="251936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defTabSz="903288">
              <a:spcAft>
                <a:spcPts val="1200"/>
              </a:spcAft>
              <a:buClr>
                <a:srgbClr val="000000"/>
              </a:buClr>
              <a:buSzPct val="100000"/>
              <a:buFont typeface="Times New Roman" panose="02020603050405020304" pitchFamily="18" charset="0"/>
              <a:buChar char="•"/>
              <a:defRPr sz="3200">
                <a:solidFill>
                  <a:srgbClr val="1B418B"/>
                </a:solidFill>
                <a:latin typeface="Arial" panose="020B0604020202020204" pitchFamily="34" charset="0"/>
                <a:ea typeface="ＭＳ Ｐゴシック" panose="020B0600070205080204" pitchFamily="34" charset="-128"/>
              </a:defRPr>
            </a:lvl1pPr>
            <a:lvl2pPr defTabSz="903288">
              <a:spcAft>
                <a:spcPts val="1200"/>
              </a:spcAft>
              <a:buClr>
                <a:srgbClr val="000000"/>
              </a:buClr>
              <a:buSzPct val="100000"/>
              <a:buFont typeface="Times New Roman" panose="02020603050405020304" pitchFamily="18" charset="0"/>
              <a:buChar char="–"/>
              <a:defRPr sz="1600">
                <a:solidFill>
                  <a:srgbClr val="1B418B"/>
                </a:solidFill>
                <a:latin typeface="Arial" panose="020B0604020202020204" pitchFamily="34" charset="0"/>
                <a:ea typeface="ＭＳ Ｐゴシック" panose="020B0600070205080204" pitchFamily="34" charset="-128"/>
              </a:defRPr>
            </a:lvl2pPr>
            <a:lvl3pPr defTabSz="903288">
              <a:spcAft>
                <a:spcPts val="1200"/>
              </a:spcAft>
              <a:buClr>
                <a:srgbClr val="000000"/>
              </a:buClr>
              <a:buSzPct val="100000"/>
              <a:buFont typeface="Times New Roman" panose="02020603050405020304" pitchFamily="18" charset="0"/>
              <a:buChar char="•"/>
              <a:defRPr sz="1400">
                <a:solidFill>
                  <a:srgbClr val="1B418B"/>
                </a:solidFill>
                <a:latin typeface="Arial" panose="020B0604020202020204" pitchFamily="34" charset="0"/>
                <a:ea typeface="ＭＳ Ｐゴシック" panose="020B0600070205080204" pitchFamily="34" charset="-128"/>
              </a:defRPr>
            </a:lvl3pPr>
            <a:lvl4pPr defTabSz="903288">
              <a:spcAft>
                <a:spcPts val="1200"/>
              </a:spcAft>
              <a:buClr>
                <a:srgbClr val="000000"/>
              </a:buClr>
              <a:buSzPct val="100000"/>
              <a:buFont typeface="Times New Roman" panose="02020603050405020304" pitchFamily="18" charset="0"/>
              <a:buChar char="–"/>
              <a:defRPr sz="1200">
                <a:solidFill>
                  <a:srgbClr val="1B418B"/>
                </a:solidFill>
                <a:latin typeface="Arial" panose="020B0604020202020204" pitchFamily="34" charset="0"/>
                <a:ea typeface="ＭＳ Ｐゴシック" panose="020B0600070205080204" pitchFamily="34" charset="-128"/>
              </a:defRPr>
            </a:lvl4pPr>
            <a:lvl5pPr defTabSz="903288">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5pPr>
            <a:lvl6pPr marL="25146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6pPr>
            <a:lvl7pPr marL="29718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7pPr>
            <a:lvl8pPr marL="34290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8pPr>
            <a:lvl9pPr marL="38862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9pPr>
          </a:lstStyle>
          <a:p>
            <a:pPr algn="just" fontAlgn="base">
              <a:spcBef>
                <a:spcPct val="0"/>
              </a:spcBef>
              <a:spcAft>
                <a:spcPct val="0"/>
              </a:spcAft>
              <a:buClrTx/>
              <a:buSzTx/>
              <a:buNone/>
            </a:pPr>
            <a:r>
              <a:rPr lang="es-SV" altLang="es-CO" sz="1800" b="1">
                <a:solidFill>
                  <a:srgbClr val="000000"/>
                </a:solidFill>
              </a:rPr>
              <a:t>Código de seguridad N95, que significa: “</a:t>
            </a:r>
            <a:r>
              <a:rPr lang="es-SV" altLang="es-CO" sz="1800" b="1">
                <a:solidFill>
                  <a:srgbClr val="FF0000"/>
                </a:solidFill>
              </a:rPr>
              <a:t>N</a:t>
            </a:r>
            <a:r>
              <a:rPr lang="es-SV" altLang="es-CO" sz="1800" b="1">
                <a:solidFill>
                  <a:srgbClr val="000000"/>
                </a:solidFill>
              </a:rPr>
              <a:t>” no resistente a las partículas con residuos de aceite; y “</a:t>
            </a:r>
            <a:r>
              <a:rPr lang="es-SV" altLang="es-CO" sz="1800" b="1">
                <a:solidFill>
                  <a:srgbClr val="FF0000"/>
                </a:solidFill>
              </a:rPr>
              <a:t>95</a:t>
            </a:r>
            <a:r>
              <a:rPr lang="es-SV" altLang="es-CO" sz="1800" b="1">
                <a:solidFill>
                  <a:srgbClr val="000000"/>
                </a:solidFill>
              </a:rPr>
              <a:t>” es el nivel de eficiencia de filtración para partículas iguales y mayores a 3µm</a:t>
            </a:r>
            <a:r>
              <a:rPr lang="es-ES" altLang="es-CO" sz="1800" b="1">
                <a:solidFill>
                  <a:srgbClr val="000000"/>
                </a:solidFill>
              </a:rPr>
              <a:t> </a:t>
            </a:r>
          </a:p>
        </p:txBody>
      </p:sp>
      <p:pic>
        <p:nvPicPr>
          <p:cNvPr id="33799" name="Picture 5471631" descr="S23Picture 5471631">
            <a:extLst>
              <a:ext uri="{FF2B5EF4-FFF2-40B4-BE49-F238E27FC236}">
                <a16:creationId xmlns:a16="http://schemas.microsoft.com/office/drawing/2014/main" id="{C53F1CDC-F8F0-405F-BB92-CF9606917A8A}"/>
              </a:ext>
            </a:extLst>
          </p:cNvPr>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2133600" y="3886200"/>
            <a:ext cx="2235200"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3917103" descr="S24Picture 3917103">
            <a:extLst>
              <a:ext uri="{FF2B5EF4-FFF2-40B4-BE49-F238E27FC236}">
                <a16:creationId xmlns:a16="http://schemas.microsoft.com/office/drawing/2014/main" id="{E2FCE0C4-4500-45E6-A0EC-050DE750CC56}"/>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2243139" y="1679576"/>
            <a:ext cx="2809875" cy="282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4819" name="Line 7">
            <a:extLst>
              <a:ext uri="{FF2B5EF4-FFF2-40B4-BE49-F238E27FC236}">
                <a16:creationId xmlns:a16="http://schemas.microsoft.com/office/drawing/2014/main" id="{44E07423-CB8D-4061-84B4-FD01147DDC73}"/>
              </a:ext>
            </a:extLst>
          </p:cNvPr>
          <p:cNvSpPr>
            <a:spLocks noChangeShapeType="1"/>
          </p:cNvSpPr>
          <p:nvPr/>
        </p:nvSpPr>
        <p:spPr bwMode="auto">
          <a:xfrm flipV="1">
            <a:off x="4872039" y="1989139"/>
            <a:ext cx="2160587" cy="503237"/>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4820" name="Text Box 8">
            <a:extLst>
              <a:ext uri="{FF2B5EF4-FFF2-40B4-BE49-F238E27FC236}">
                <a16:creationId xmlns:a16="http://schemas.microsoft.com/office/drawing/2014/main" id="{2A9D7620-89E5-4DCC-821A-76A42CD54734}"/>
              </a:ext>
            </a:extLst>
          </p:cNvPr>
          <p:cNvSpPr txBox="1">
            <a:spLocks noChangeArrowheads="1"/>
          </p:cNvSpPr>
          <p:nvPr/>
        </p:nvSpPr>
        <p:spPr bwMode="auto">
          <a:xfrm>
            <a:off x="7032625" y="1700214"/>
            <a:ext cx="2808288"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defTabSz="903288">
              <a:spcAft>
                <a:spcPts val="1200"/>
              </a:spcAft>
              <a:buClr>
                <a:srgbClr val="000000"/>
              </a:buClr>
              <a:buSzPct val="100000"/>
              <a:buFont typeface="Times New Roman" panose="02020603050405020304" pitchFamily="18" charset="0"/>
              <a:buChar char="•"/>
              <a:defRPr sz="3200">
                <a:solidFill>
                  <a:srgbClr val="1B418B"/>
                </a:solidFill>
                <a:latin typeface="Arial" panose="020B0604020202020204" pitchFamily="34" charset="0"/>
                <a:ea typeface="ＭＳ Ｐゴシック" panose="020B0600070205080204" pitchFamily="34" charset="-128"/>
              </a:defRPr>
            </a:lvl1pPr>
            <a:lvl2pPr defTabSz="903288">
              <a:spcAft>
                <a:spcPts val="1200"/>
              </a:spcAft>
              <a:buClr>
                <a:srgbClr val="000000"/>
              </a:buClr>
              <a:buSzPct val="100000"/>
              <a:buFont typeface="Times New Roman" panose="02020603050405020304" pitchFamily="18" charset="0"/>
              <a:buChar char="–"/>
              <a:defRPr sz="1600">
                <a:solidFill>
                  <a:srgbClr val="1B418B"/>
                </a:solidFill>
                <a:latin typeface="Arial" panose="020B0604020202020204" pitchFamily="34" charset="0"/>
                <a:ea typeface="ＭＳ Ｐゴシック" panose="020B0600070205080204" pitchFamily="34" charset="-128"/>
              </a:defRPr>
            </a:lvl2pPr>
            <a:lvl3pPr defTabSz="903288">
              <a:spcAft>
                <a:spcPts val="1200"/>
              </a:spcAft>
              <a:buClr>
                <a:srgbClr val="000000"/>
              </a:buClr>
              <a:buSzPct val="100000"/>
              <a:buFont typeface="Times New Roman" panose="02020603050405020304" pitchFamily="18" charset="0"/>
              <a:buChar char="•"/>
              <a:defRPr sz="1400">
                <a:solidFill>
                  <a:srgbClr val="1B418B"/>
                </a:solidFill>
                <a:latin typeface="Arial" panose="020B0604020202020204" pitchFamily="34" charset="0"/>
                <a:ea typeface="ＭＳ Ｐゴシック" panose="020B0600070205080204" pitchFamily="34" charset="-128"/>
              </a:defRPr>
            </a:lvl3pPr>
            <a:lvl4pPr defTabSz="903288">
              <a:spcAft>
                <a:spcPts val="1200"/>
              </a:spcAft>
              <a:buClr>
                <a:srgbClr val="000000"/>
              </a:buClr>
              <a:buSzPct val="100000"/>
              <a:buFont typeface="Times New Roman" panose="02020603050405020304" pitchFamily="18" charset="0"/>
              <a:buChar char="–"/>
              <a:defRPr sz="1200">
                <a:solidFill>
                  <a:srgbClr val="1B418B"/>
                </a:solidFill>
                <a:latin typeface="Arial" panose="020B0604020202020204" pitchFamily="34" charset="0"/>
                <a:ea typeface="ＭＳ Ｐゴシック" panose="020B0600070205080204" pitchFamily="34" charset="-128"/>
              </a:defRPr>
            </a:lvl4pPr>
            <a:lvl5pPr defTabSz="903288">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5pPr>
            <a:lvl6pPr marL="25146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6pPr>
            <a:lvl7pPr marL="29718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7pPr>
            <a:lvl8pPr marL="34290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8pPr>
            <a:lvl9pPr marL="38862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9pPr>
          </a:lstStyle>
          <a:p>
            <a:pPr algn="just" fontAlgn="base">
              <a:spcBef>
                <a:spcPct val="0"/>
              </a:spcBef>
              <a:spcAft>
                <a:spcPct val="0"/>
              </a:spcAft>
              <a:buClrTx/>
              <a:buSzTx/>
              <a:buNone/>
            </a:pPr>
            <a:r>
              <a:rPr lang="es-SV" altLang="es-CO" sz="1800" b="1">
                <a:solidFill>
                  <a:srgbClr val="000000"/>
                </a:solidFill>
              </a:rPr>
              <a:t>Código de seguridad R95, que significa: “</a:t>
            </a:r>
            <a:r>
              <a:rPr lang="es-SV" altLang="es-CO" sz="1800" b="1">
                <a:solidFill>
                  <a:srgbClr val="FF0000"/>
                </a:solidFill>
              </a:rPr>
              <a:t>R</a:t>
            </a:r>
            <a:r>
              <a:rPr lang="es-SV" altLang="es-CO" sz="1800" b="1">
                <a:solidFill>
                  <a:srgbClr val="000000"/>
                </a:solidFill>
              </a:rPr>
              <a:t>” resistente a las partículas con residuos de aceite evitando el deterioro prematuro del respirador; y “</a:t>
            </a:r>
            <a:r>
              <a:rPr lang="es-SV" altLang="es-CO" sz="1800" b="1">
                <a:solidFill>
                  <a:srgbClr val="FF0000"/>
                </a:solidFill>
              </a:rPr>
              <a:t>95</a:t>
            </a:r>
            <a:r>
              <a:rPr lang="es-SV" altLang="es-CO" sz="1800" b="1">
                <a:solidFill>
                  <a:srgbClr val="000000"/>
                </a:solidFill>
              </a:rPr>
              <a:t>” es el nivel de eficiencia de filtración para partículas iguales y mayores a 3µm</a:t>
            </a:r>
            <a:r>
              <a:rPr lang="es-ES" altLang="es-CO" sz="1800" b="1">
                <a:solidFill>
                  <a:srgbClr val="000000"/>
                </a:solidFill>
              </a:rPr>
              <a:t> </a:t>
            </a:r>
          </a:p>
        </p:txBody>
      </p:sp>
      <p:sp>
        <p:nvSpPr>
          <p:cNvPr id="34821" name="Line 9">
            <a:extLst>
              <a:ext uri="{FF2B5EF4-FFF2-40B4-BE49-F238E27FC236}">
                <a16:creationId xmlns:a16="http://schemas.microsoft.com/office/drawing/2014/main" id="{55DC8A95-037D-49FB-A6AA-C451E9CA502D}"/>
              </a:ext>
            </a:extLst>
          </p:cNvPr>
          <p:cNvSpPr>
            <a:spLocks noChangeShapeType="1"/>
          </p:cNvSpPr>
          <p:nvPr/>
        </p:nvSpPr>
        <p:spPr bwMode="auto">
          <a:xfrm>
            <a:off x="4440238" y="3213101"/>
            <a:ext cx="1439862" cy="1871663"/>
          </a:xfrm>
          <a:prstGeom prst="line">
            <a:avLst/>
          </a:prstGeom>
          <a:noFill/>
          <a:ln w="28575">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4822" name="Text Box 10">
            <a:extLst>
              <a:ext uri="{FF2B5EF4-FFF2-40B4-BE49-F238E27FC236}">
                <a16:creationId xmlns:a16="http://schemas.microsoft.com/office/drawing/2014/main" id="{498EFD92-9C42-41AE-A82B-ACE4E3D882D2}"/>
              </a:ext>
            </a:extLst>
          </p:cNvPr>
          <p:cNvSpPr txBox="1">
            <a:spLocks noChangeArrowheads="1"/>
          </p:cNvSpPr>
          <p:nvPr/>
        </p:nvSpPr>
        <p:spPr bwMode="auto">
          <a:xfrm>
            <a:off x="4938714" y="5145088"/>
            <a:ext cx="35337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defTabSz="903288">
              <a:spcAft>
                <a:spcPts val="1200"/>
              </a:spcAft>
              <a:buClr>
                <a:srgbClr val="000000"/>
              </a:buClr>
              <a:buSzPct val="100000"/>
              <a:buFont typeface="Times New Roman" panose="02020603050405020304" pitchFamily="18" charset="0"/>
              <a:buChar char="•"/>
              <a:defRPr sz="3200">
                <a:solidFill>
                  <a:srgbClr val="1B418B"/>
                </a:solidFill>
                <a:latin typeface="Arial" panose="020B0604020202020204" pitchFamily="34" charset="0"/>
                <a:ea typeface="ＭＳ Ｐゴシック" panose="020B0600070205080204" pitchFamily="34" charset="-128"/>
              </a:defRPr>
            </a:lvl1pPr>
            <a:lvl2pPr defTabSz="903288">
              <a:spcAft>
                <a:spcPts val="1200"/>
              </a:spcAft>
              <a:buClr>
                <a:srgbClr val="000000"/>
              </a:buClr>
              <a:buSzPct val="100000"/>
              <a:buFont typeface="Times New Roman" panose="02020603050405020304" pitchFamily="18" charset="0"/>
              <a:buChar char="–"/>
              <a:defRPr sz="1600">
                <a:solidFill>
                  <a:srgbClr val="1B418B"/>
                </a:solidFill>
                <a:latin typeface="Arial" panose="020B0604020202020204" pitchFamily="34" charset="0"/>
                <a:ea typeface="ＭＳ Ｐゴシック" panose="020B0600070205080204" pitchFamily="34" charset="-128"/>
              </a:defRPr>
            </a:lvl2pPr>
            <a:lvl3pPr defTabSz="903288">
              <a:spcAft>
                <a:spcPts val="1200"/>
              </a:spcAft>
              <a:buClr>
                <a:srgbClr val="000000"/>
              </a:buClr>
              <a:buSzPct val="100000"/>
              <a:buFont typeface="Times New Roman" panose="02020603050405020304" pitchFamily="18" charset="0"/>
              <a:buChar char="•"/>
              <a:defRPr sz="1400">
                <a:solidFill>
                  <a:srgbClr val="1B418B"/>
                </a:solidFill>
                <a:latin typeface="Arial" panose="020B0604020202020204" pitchFamily="34" charset="0"/>
                <a:ea typeface="ＭＳ Ｐゴシック" panose="020B0600070205080204" pitchFamily="34" charset="-128"/>
              </a:defRPr>
            </a:lvl3pPr>
            <a:lvl4pPr defTabSz="903288">
              <a:spcAft>
                <a:spcPts val="1200"/>
              </a:spcAft>
              <a:buClr>
                <a:srgbClr val="000000"/>
              </a:buClr>
              <a:buSzPct val="100000"/>
              <a:buFont typeface="Times New Roman" panose="02020603050405020304" pitchFamily="18" charset="0"/>
              <a:buChar char="–"/>
              <a:defRPr sz="1200">
                <a:solidFill>
                  <a:srgbClr val="1B418B"/>
                </a:solidFill>
                <a:latin typeface="Arial" panose="020B0604020202020204" pitchFamily="34" charset="0"/>
                <a:ea typeface="ＭＳ Ｐゴシック" panose="020B0600070205080204" pitchFamily="34" charset="-128"/>
              </a:defRPr>
            </a:lvl4pPr>
            <a:lvl5pPr defTabSz="903288">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5pPr>
            <a:lvl6pPr marL="25146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6pPr>
            <a:lvl7pPr marL="29718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7pPr>
            <a:lvl8pPr marL="34290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8pPr>
            <a:lvl9pPr marL="3886200" indent="-228600" defTabSz="903288"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9pPr>
          </a:lstStyle>
          <a:p>
            <a:pPr fontAlgn="base">
              <a:spcBef>
                <a:spcPct val="0"/>
              </a:spcBef>
              <a:spcAft>
                <a:spcPct val="0"/>
              </a:spcAft>
              <a:buClrTx/>
              <a:buSzTx/>
              <a:buNone/>
            </a:pPr>
            <a:r>
              <a:rPr lang="es-SV" altLang="es-CO" sz="2400" b="1">
                <a:solidFill>
                  <a:srgbClr val="000000"/>
                </a:solidFill>
              </a:rPr>
              <a:t>Modelo 8246 Respirador contra Partículas Aceitosas</a:t>
            </a:r>
            <a:endParaRPr lang="es-ES" altLang="es-CO" sz="2400" b="1">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633268" descr="S25Picture 2633268">
            <a:extLst>
              <a:ext uri="{FF2B5EF4-FFF2-40B4-BE49-F238E27FC236}">
                <a16:creationId xmlns:a16="http://schemas.microsoft.com/office/drawing/2014/main" id="{65882487-806C-489F-B01E-FB7C25F0419F}"/>
              </a:ext>
            </a:extLst>
          </p:cNvPr>
          <p:cNvPicPr>
            <a:picLocks noChangeAspect="1" noChangeArrowheads="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2133600" y="469900"/>
            <a:ext cx="19939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5843" name="Picture 2360932" descr="S25Picture 2360932">
            <a:extLst>
              <a:ext uri="{FF2B5EF4-FFF2-40B4-BE49-F238E27FC236}">
                <a16:creationId xmlns:a16="http://schemas.microsoft.com/office/drawing/2014/main" id="{0835522B-6D4C-4A82-99B3-0095E791018E}"/>
              </a:ext>
            </a:extLst>
          </p:cNvPr>
          <p:cNvPicPr>
            <a:picLocks noChangeAspect="1" noChangeArrowheads="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3784600" y="3784600"/>
            <a:ext cx="2095500"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5844" name="Picture 4821771" descr="S25Picture 4821771">
            <a:extLst>
              <a:ext uri="{FF2B5EF4-FFF2-40B4-BE49-F238E27FC236}">
                <a16:creationId xmlns:a16="http://schemas.microsoft.com/office/drawing/2014/main" id="{F14D550A-1854-4BAA-8B4C-682502793AD5}"/>
              </a:ext>
            </a:extLst>
          </p:cNvPr>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5943600" y="825500"/>
            <a:ext cx="21209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5845" name="Picture 5072463" descr="S25Picture 5072463">
            <a:extLst>
              <a:ext uri="{FF2B5EF4-FFF2-40B4-BE49-F238E27FC236}">
                <a16:creationId xmlns:a16="http://schemas.microsoft.com/office/drawing/2014/main" id="{95E5055D-0D63-4842-B0FA-FB8387FB292C}"/>
              </a:ext>
            </a:extLst>
          </p:cNvPr>
          <p:cNvPicPr>
            <a:picLocks noChangeAspect="1" noChangeArrowheads="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8140700" y="3708400"/>
            <a:ext cx="22733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5846" name="Oval 8">
            <a:extLst>
              <a:ext uri="{FF2B5EF4-FFF2-40B4-BE49-F238E27FC236}">
                <a16:creationId xmlns:a16="http://schemas.microsoft.com/office/drawing/2014/main" id="{E9C2858E-D368-463D-81F3-71C244BA56E9}"/>
              </a:ext>
            </a:extLst>
          </p:cNvPr>
          <p:cNvSpPr>
            <a:spLocks noChangeArrowheads="1"/>
          </p:cNvSpPr>
          <p:nvPr/>
        </p:nvSpPr>
        <p:spPr bwMode="auto">
          <a:xfrm>
            <a:off x="3863975" y="908050"/>
            <a:ext cx="719138" cy="719138"/>
          </a:xfrm>
          <a:prstGeom prst="ellipse">
            <a:avLst/>
          </a:prstGeom>
          <a:solidFill>
            <a:srgbClr val="FF3300"/>
          </a:solidFill>
          <a:ln w="9525">
            <a:solidFill>
              <a:schemeClr val="tx2"/>
            </a:solidFill>
            <a:round/>
            <a:headEnd/>
            <a:tailEnd/>
          </a:ln>
        </p:spPr>
        <p:txBody>
          <a:bodyPr wrap="none" anchor="ctr"/>
          <a:lstStyle/>
          <a:p>
            <a:pPr defTabSz="449263" fontAlgn="base">
              <a:spcBef>
                <a:spcPct val="0"/>
              </a:spcBef>
              <a:spcAft>
                <a:spcPct val="0"/>
              </a:spcAft>
            </a:pPr>
            <a:r>
              <a:rPr lang="es-SV" altLang="es-CO" sz="3200">
                <a:solidFill>
                  <a:srgbClr val="FFFFFF"/>
                </a:solidFill>
                <a:latin typeface="Arial" panose="020B0604020202020204" pitchFamily="34" charset="0"/>
                <a:ea typeface="ＭＳ Ｐゴシック" panose="020B0600070205080204" pitchFamily="34" charset="-128"/>
              </a:rPr>
              <a:t>1</a:t>
            </a:r>
          </a:p>
        </p:txBody>
      </p:sp>
      <p:sp>
        <p:nvSpPr>
          <p:cNvPr id="35847" name="Oval 9">
            <a:extLst>
              <a:ext uri="{FF2B5EF4-FFF2-40B4-BE49-F238E27FC236}">
                <a16:creationId xmlns:a16="http://schemas.microsoft.com/office/drawing/2014/main" id="{E2A03A81-DFD2-4325-8827-F7FB483FDDBC}"/>
              </a:ext>
            </a:extLst>
          </p:cNvPr>
          <p:cNvSpPr>
            <a:spLocks noChangeArrowheads="1"/>
          </p:cNvSpPr>
          <p:nvPr/>
        </p:nvSpPr>
        <p:spPr bwMode="auto">
          <a:xfrm>
            <a:off x="3000375" y="5805489"/>
            <a:ext cx="719138" cy="719137"/>
          </a:xfrm>
          <a:prstGeom prst="ellipse">
            <a:avLst/>
          </a:prstGeom>
          <a:solidFill>
            <a:srgbClr val="FF3300"/>
          </a:solidFill>
          <a:ln w="9525">
            <a:solidFill>
              <a:schemeClr val="tx2"/>
            </a:solidFill>
            <a:round/>
            <a:headEnd/>
            <a:tailEnd/>
          </a:ln>
        </p:spPr>
        <p:txBody>
          <a:bodyPr wrap="none" anchor="ctr"/>
          <a:lstStyle/>
          <a:p>
            <a:pPr defTabSz="449263" fontAlgn="base">
              <a:spcBef>
                <a:spcPct val="0"/>
              </a:spcBef>
              <a:spcAft>
                <a:spcPct val="0"/>
              </a:spcAft>
            </a:pPr>
            <a:r>
              <a:rPr lang="es-SV" altLang="es-CO" sz="3200">
                <a:solidFill>
                  <a:srgbClr val="FFFFFF"/>
                </a:solidFill>
                <a:latin typeface="Arial" panose="020B0604020202020204" pitchFamily="34" charset="0"/>
                <a:ea typeface="ＭＳ Ｐゴシック" panose="020B0600070205080204" pitchFamily="34" charset="-128"/>
              </a:rPr>
              <a:t>2</a:t>
            </a:r>
          </a:p>
        </p:txBody>
      </p:sp>
      <p:sp>
        <p:nvSpPr>
          <p:cNvPr id="35848" name="Oval 10">
            <a:extLst>
              <a:ext uri="{FF2B5EF4-FFF2-40B4-BE49-F238E27FC236}">
                <a16:creationId xmlns:a16="http://schemas.microsoft.com/office/drawing/2014/main" id="{053E79A8-A75E-40C5-8D7A-F87D1BA6280F}"/>
              </a:ext>
            </a:extLst>
          </p:cNvPr>
          <p:cNvSpPr>
            <a:spLocks noChangeArrowheads="1"/>
          </p:cNvSpPr>
          <p:nvPr/>
        </p:nvSpPr>
        <p:spPr bwMode="auto">
          <a:xfrm>
            <a:off x="8183564" y="836614"/>
            <a:ext cx="719137" cy="719137"/>
          </a:xfrm>
          <a:prstGeom prst="ellipse">
            <a:avLst/>
          </a:prstGeom>
          <a:solidFill>
            <a:srgbClr val="FF3300"/>
          </a:solidFill>
          <a:ln w="9525">
            <a:solidFill>
              <a:schemeClr val="tx2"/>
            </a:solidFill>
            <a:round/>
            <a:headEnd/>
            <a:tailEnd/>
          </a:ln>
        </p:spPr>
        <p:txBody>
          <a:bodyPr wrap="none" anchor="ctr"/>
          <a:lstStyle/>
          <a:p>
            <a:pPr defTabSz="449263" fontAlgn="base">
              <a:spcBef>
                <a:spcPct val="0"/>
              </a:spcBef>
              <a:spcAft>
                <a:spcPct val="0"/>
              </a:spcAft>
            </a:pPr>
            <a:r>
              <a:rPr lang="es-SV" altLang="es-CO" sz="3200">
                <a:solidFill>
                  <a:srgbClr val="FFFFFF"/>
                </a:solidFill>
                <a:latin typeface="Arial" panose="020B0604020202020204" pitchFamily="34" charset="0"/>
                <a:ea typeface="ＭＳ Ｐゴシック" panose="020B0600070205080204" pitchFamily="34" charset="-128"/>
              </a:rPr>
              <a:t>3</a:t>
            </a:r>
          </a:p>
        </p:txBody>
      </p:sp>
      <p:sp>
        <p:nvSpPr>
          <p:cNvPr id="35849" name="Oval 11">
            <a:extLst>
              <a:ext uri="{FF2B5EF4-FFF2-40B4-BE49-F238E27FC236}">
                <a16:creationId xmlns:a16="http://schemas.microsoft.com/office/drawing/2014/main" id="{0083987A-6DE1-4695-AC5E-523CCC7F9C7E}"/>
              </a:ext>
            </a:extLst>
          </p:cNvPr>
          <p:cNvSpPr>
            <a:spLocks noChangeArrowheads="1"/>
          </p:cNvSpPr>
          <p:nvPr/>
        </p:nvSpPr>
        <p:spPr bwMode="auto">
          <a:xfrm>
            <a:off x="7248525" y="5734050"/>
            <a:ext cx="719138" cy="719138"/>
          </a:xfrm>
          <a:prstGeom prst="ellipse">
            <a:avLst/>
          </a:prstGeom>
          <a:solidFill>
            <a:srgbClr val="FF3300"/>
          </a:solidFill>
          <a:ln w="9525">
            <a:solidFill>
              <a:schemeClr val="tx2"/>
            </a:solidFill>
            <a:round/>
            <a:headEnd/>
            <a:tailEnd/>
          </a:ln>
        </p:spPr>
        <p:txBody>
          <a:bodyPr wrap="none" anchor="ctr"/>
          <a:lstStyle/>
          <a:p>
            <a:pPr defTabSz="449263" fontAlgn="base">
              <a:spcBef>
                <a:spcPct val="0"/>
              </a:spcBef>
              <a:spcAft>
                <a:spcPct val="0"/>
              </a:spcAft>
            </a:pPr>
            <a:r>
              <a:rPr lang="es-SV" altLang="es-CO" sz="3200">
                <a:solidFill>
                  <a:srgbClr val="FFFFFF"/>
                </a:solidFill>
                <a:latin typeface="Arial" panose="020B0604020202020204" pitchFamily="34" charset="0"/>
                <a:ea typeface="ＭＳ Ｐゴシック" panose="020B0600070205080204" pitchFamily="34" charset="-128"/>
              </a:rPr>
              <a:t>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9972762" descr="S26Picture 9972762">
            <a:extLst>
              <a:ext uri="{FF2B5EF4-FFF2-40B4-BE49-F238E27FC236}">
                <a16:creationId xmlns:a16="http://schemas.microsoft.com/office/drawing/2014/main" id="{DFC1BCE0-2929-4ADC-9955-3485979295EC}"/>
              </a:ext>
            </a:extLst>
          </p:cNvPr>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575050" y="2492375"/>
            <a:ext cx="53848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6867" name="CuadroTexto 1">
            <a:extLst>
              <a:ext uri="{FF2B5EF4-FFF2-40B4-BE49-F238E27FC236}">
                <a16:creationId xmlns:a16="http://schemas.microsoft.com/office/drawing/2014/main" id="{C4FAE323-D1B1-4F4C-98EB-C370C2017975}"/>
              </a:ext>
            </a:extLst>
          </p:cNvPr>
          <p:cNvSpPr txBox="1">
            <a:spLocks noChangeArrowheads="1"/>
          </p:cNvSpPr>
          <p:nvPr/>
        </p:nvSpPr>
        <p:spPr bwMode="auto">
          <a:xfrm>
            <a:off x="3216275" y="333376"/>
            <a:ext cx="53848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449263" fontAlgn="base">
              <a:spcBef>
                <a:spcPct val="0"/>
              </a:spcBef>
              <a:spcAft>
                <a:spcPct val="0"/>
              </a:spcAft>
            </a:pPr>
            <a:r>
              <a:rPr lang="es-ES" altLang="es-CO" sz="2400">
                <a:solidFill>
                  <a:srgbClr val="FFFFFF"/>
                </a:solidFill>
                <a:latin typeface="Arial" panose="020B0604020202020204" pitchFamily="34" charset="0"/>
                <a:ea typeface="ＭＳ Ｐゴシック" panose="020B0600070205080204" pitchFamily="34" charset="-128"/>
              </a:rPr>
              <a:t>PULMÓN DETERIORADO/PULMÓN EN BUEN ESTADO</a:t>
            </a:r>
            <a:endParaRPr lang="es-CO" altLang="es-CO" sz="2400">
              <a:solidFill>
                <a:srgbClr val="FFFFFF"/>
              </a:solidFill>
              <a:latin typeface="Arial" panose="020B0604020202020204" pitchFamily="34" charset="0"/>
              <a:ea typeface="ＭＳ Ｐゴシック" panose="020B0600070205080204" pitchFamily="34" charset="-128"/>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80BC0E31-737D-4E16-9E77-0B6B9AA87653}"/>
              </a:ext>
            </a:extLst>
          </p:cNvPr>
          <p:cNvSpPr>
            <a:spLocks noChangeArrowheads="1"/>
          </p:cNvSpPr>
          <p:nvPr/>
        </p:nvSpPr>
        <p:spPr bwMode="auto">
          <a:xfrm>
            <a:off x="3733800" y="115888"/>
            <a:ext cx="4800600" cy="10668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37891" name="WordArt 5">
            <a:extLst>
              <a:ext uri="{FF2B5EF4-FFF2-40B4-BE49-F238E27FC236}">
                <a16:creationId xmlns:a16="http://schemas.microsoft.com/office/drawing/2014/main" id="{6E4AE4ED-F4AB-4A37-B3EA-EF29B2E67D37}"/>
              </a:ext>
            </a:extLst>
          </p:cNvPr>
          <p:cNvSpPr>
            <a:spLocks noChangeArrowheads="1" noChangeShapeType="1" noTextEdit="1"/>
          </p:cNvSpPr>
          <p:nvPr/>
        </p:nvSpPr>
        <p:spPr bwMode="auto">
          <a:xfrm>
            <a:off x="4724400" y="188914"/>
            <a:ext cx="3124200" cy="941387"/>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CUIDADOS</a:t>
            </a:r>
          </a:p>
        </p:txBody>
      </p:sp>
      <p:sp>
        <p:nvSpPr>
          <p:cNvPr id="37892" name="Text Box 6">
            <a:extLst>
              <a:ext uri="{FF2B5EF4-FFF2-40B4-BE49-F238E27FC236}">
                <a16:creationId xmlns:a16="http://schemas.microsoft.com/office/drawing/2014/main" id="{5E6978CA-720C-4A43-BB49-904100059A3F}"/>
              </a:ext>
            </a:extLst>
          </p:cNvPr>
          <p:cNvSpPr txBox="1">
            <a:spLocks noChangeArrowheads="1"/>
          </p:cNvSpPr>
          <p:nvPr/>
        </p:nvSpPr>
        <p:spPr bwMode="auto">
          <a:xfrm>
            <a:off x="2743200" y="4724400"/>
            <a:ext cx="6858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49263" fontAlgn="base">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4.  Guardar en sitios frescos y secos</a:t>
            </a:r>
          </a:p>
          <a:p>
            <a:pPr defTabSz="449263" fontAlgn="base">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5, Ubicar mangueras de líneas de aire </a:t>
            </a:r>
          </a:p>
          <a:p>
            <a:pPr defTabSz="449263" fontAlgn="base">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lejos de riesgos de aplastamiento</a:t>
            </a:r>
          </a:p>
        </p:txBody>
      </p:sp>
      <p:grpSp>
        <p:nvGrpSpPr>
          <p:cNvPr id="37893" name="Group 69">
            <a:extLst>
              <a:ext uri="{FF2B5EF4-FFF2-40B4-BE49-F238E27FC236}">
                <a16:creationId xmlns:a16="http://schemas.microsoft.com/office/drawing/2014/main" id="{1A8BB9A5-5408-4350-A0CA-CC10D1C45DE4}"/>
              </a:ext>
            </a:extLst>
          </p:cNvPr>
          <p:cNvGrpSpPr>
            <a:grpSpLocks/>
          </p:cNvGrpSpPr>
          <p:nvPr/>
        </p:nvGrpSpPr>
        <p:grpSpPr bwMode="auto">
          <a:xfrm flipH="1">
            <a:off x="8382001" y="1524000"/>
            <a:ext cx="1566863" cy="1689100"/>
            <a:chOff x="4228" y="1204"/>
            <a:chExt cx="987" cy="1064"/>
          </a:xfrm>
        </p:grpSpPr>
        <p:grpSp>
          <p:nvGrpSpPr>
            <p:cNvPr id="37897" name="Group 24">
              <a:extLst>
                <a:ext uri="{FF2B5EF4-FFF2-40B4-BE49-F238E27FC236}">
                  <a16:creationId xmlns:a16="http://schemas.microsoft.com/office/drawing/2014/main" id="{3DF395CC-E183-4507-A733-E826B5D2E559}"/>
                </a:ext>
              </a:extLst>
            </p:cNvPr>
            <p:cNvGrpSpPr>
              <a:grpSpLocks/>
            </p:cNvGrpSpPr>
            <p:nvPr/>
          </p:nvGrpSpPr>
          <p:grpSpPr bwMode="auto">
            <a:xfrm>
              <a:off x="4762" y="1457"/>
              <a:ext cx="453" cy="303"/>
              <a:chOff x="4762" y="1457"/>
              <a:chExt cx="453" cy="303"/>
            </a:xfrm>
          </p:grpSpPr>
          <p:grpSp>
            <p:nvGrpSpPr>
              <p:cNvPr id="37942" name="Group 12">
                <a:extLst>
                  <a:ext uri="{FF2B5EF4-FFF2-40B4-BE49-F238E27FC236}">
                    <a16:creationId xmlns:a16="http://schemas.microsoft.com/office/drawing/2014/main" id="{9E3699EF-71F1-4242-BAFC-4BB870A528A9}"/>
                  </a:ext>
                </a:extLst>
              </p:cNvPr>
              <p:cNvGrpSpPr>
                <a:grpSpLocks/>
              </p:cNvGrpSpPr>
              <p:nvPr/>
            </p:nvGrpSpPr>
            <p:grpSpPr bwMode="auto">
              <a:xfrm>
                <a:off x="4762" y="1579"/>
                <a:ext cx="209" cy="181"/>
                <a:chOff x="4762" y="1579"/>
                <a:chExt cx="209" cy="181"/>
              </a:xfrm>
            </p:grpSpPr>
            <p:sp>
              <p:nvSpPr>
                <p:cNvPr id="37954" name="Freeform 9">
                  <a:extLst>
                    <a:ext uri="{FF2B5EF4-FFF2-40B4-BE49-F238E27FC236}">
                      <a16:creationId xmlns:a16="http://schemas.microsoft.com/office/drawing/2014/main" id="{7B7C95F2-EB6D-41CA-8E36-1E81005CCF79}"/>
                    </a:ext>
                  </a:extLst>
                </p:cNvPr>
                <p:cNvSpPr>
                  <a:spLocks/>
                </p:cNvSpPr>
                <p:nvPr/>
              </p:nvSpPr>
              <p:spPr bwMode="auto">
                <a:xfrm>
                  <a:off x="4762" y="1579"/>
                  <a:ext cx="209" cy="181"/>
                </a:xfrm>
                <a:custGeom>
                  <a:avLst/>
                  <a:gdLst>
                    <a:gd name="T0" fmla="*/ 0 w 419"/>
                    <a:gd name="T1" fmla="*/ 0 h 362"/>
                    <a:gd name="T2" fmla="*/ 0 w 419"/>
                    <a:gd name="T3" fmla="*/ 1 h 362"/>
                    <a:gd name="T4" fmla="*/ 0 w 419"/>
                    <a:gd name="T5" fmla="*/ 1 h 362"/>
                    <a:gd name="T6" fmla="*/ 0 w 419"/>
                    <a:gd name="T7" fmla="*/ 1 h 362"/>
                    <a:gd name="T8" fmla="*/ 0 w 419"/>
                    <a:gd name="T9" fmla="*/ 1 h 362"/>
                    <a:gd name="T10" fmla="*/ 0 w 419"/>
                    <a:gd name="T11" fmla="*/ 1 h 362"/>
                    <a:gd name="T12" fmla="*/ 0 w 419"/>
                    <a:gd name="T13" fmla="*/ 1 h 362"/>
                    <a:gd name="T14" fmla="*/ 0 w 419"/>
                    <a:gd name="T15" fmla="*/ 1 h 362"/>
                    <a:gd name="T16" fmla="*/ 0 w 419"/>
                    <a:gd name="T17" fmla="*/ 1 h 362"/>
                    <a:gd name="T18" fmla="*/ 0 w 419"/>
                    <a:gd name="T19" fmla="*/ 1 h 362"/>
                    <a:gd name="T20" fmla="*/ 0 w 419"/>
                    <a:gd name="T21" fmla="*/ 1 h 362"/>
                    <a:gd name="T22" fmla="*/ 0 w 419"/>
                    <a:gd name="T23" fmla="*/ 1 h 362"/>
                    <a:gd name="T24" fmla="*/ 0 w 419"/>
                    <a:gd name="T25" fmla="*/ 1 h 362"/>
                    <a:gd name="T26" fmla="*/ 0 w 419"/>
                    <a:gd name="T27" fmla="*/ 1 h 362"/>
                    <a:gd name="T28" fmla="*/ 0 w 419"/>
                    <a:gd name="T29" fmla="*/ 1 h 362"/>
                    <a:gd name="T30" fmla="*/ 0 w 419"/>
                    <a:gd name="T31" fmla="*/ 1 h 362"/>
                    <a:gd name="T32" fmla="*/ 0 w 419"/>
                    <a:gd name="T33" fmla="*/ 1 h 362"/>
                    <a:gd name="T34" fmla="*/ 0 w 419"/>
                    <a:gd name="T35" fmla="*/ 0 h 3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9"/>
                    <a:gd name="T55" fmla="*/ 0 h 362"/>
                    <a:gd name="T56" fmla="*/ 419 w 419"/>
                    <a:gd name="T57" fmla="*/ 362 h 3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9" h="362">
                      <a:moveTo>
                        <a:pt x="174" y="0"/>
                      </a:moveTo>
                      <a:lnTo>
                        <a:pt x="313" y="62"/>
                      </a:lnTo>
                      <a:lnTo>
                        <a:pt x="378" y="100"/>
                      </a:lnTo>
                      <a:lnTo>
                        <a:pt x="408" y="131"/>
                      </a:lnTo>
                      <a:lnTo>
                        <a:pt x="419" y="187"/>
                      </a:lnTo>
                      <a:lnTo>
                        <a:pt x="412" y="243"/>
                      </a:lnTo>
                      <a:lnTo>
                        <a:pt x="384" y="300"/>
                      </a:lnTo>
                      <a:lnTo>
                        <a:pt x="339" y="333"/>
                      </a:lnTo>
                      <a:lnTo>
                        <a:pt x="320" y="362"/>
                      </a:lnTo>
                      <a:lnTo>
                        <a:pt x="248" y="323"/>
                      </a:lnTo>
                      <a:lnTo>
                        <a:pt x="195" y="303"/>
                      </a:lnTo>
                      <a:lnTo>
                        <a:pt x="147" y="275"/>
                      </a:lnTo>
                      <a:lnTo>
                        <a:pt x="103" y="237"/>
                      </a:lnTo>
                      <a:lnTo>
                        <a:pt x="62" y="203"/>
                      </a:lnTo>
                      <a:lnTo>
                        <a:pt x="31" y="162"/>
                      </a:lnTo>
                      <a:lnTo>
                        <a:pt x="0" y="125"/>
                      </a:lnTo>
                      <a:lnTo>
                        <a:pt x="106" y="62"/>
                      </a:lnTo>
                      <a:lnTo>
                        <a:pt x="174" y="0"/>
                      </a:lnTo>
                      <a:close/>
                    </a:path>
                  </a:pathLst>
                </a:custGeom>
                <a:solidFill>
                  <a:srgbClr val="0000FF"/>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55" name="Freeform 10">
                  <a:extLst>
                    <a:ext uri="{FF2B5EF4-FFF2-40B4-BE49-F238E27FC236}">
                      <a16:creationId xmlns:a16="http://schemas.microsoft.com/office/drawing/2014/main" id="{B15C509D-77A6-4A6A-A461-3478CF82BBEE}"/>
                    </a:ext>
                  </a:extLst>
                </p:cNvPr>
                <p:cNvSpPr>
                  <a:spLocks/>
                </p:cNvSpPr>
                <p:nvPr/>
              </p:nvSpPr>
              <p:spPr bwMode="auto">
                <a:xfrm>
                  <a:off x="4909" y="1646"/>
                  <a:ext cx="58" cy="91"/>
                </a:xfrm>
                <a:custGeom>
                  <a:avLst/>
                  <a:gdLst>
                    <a:gd name="T0" fmla="*/ 0 w 118"/>
                    <a:gd name="T1" fmla="*/ 1 h 182"/>
                    <a:gd name="T2" fmla="*/ 0 w 118"/>
                    <a:gd name="T3" fmla="*/ 1 h 182"/>
                    <a:gd name="T4" fmla="*/ 0 w 118"/>
                    <a:gd name="T5" fmla="*/ 0 h 182"/>
                    <a:gd name="T6" fmla="*/ 0 w 118"/>
                    <a:gd name="T7" fmla="*/ 1 h 182"/>
                    <a:gd name="T8" fmla="*/ 0 w 118"/>
                    <a:gd name="T9" fmla="*/ 1 h 182"/>
                    <a:gd name="T10" fmla="*/ 0 w 118"/>
                    <a:gd name="T11" fmla="*/ 1 h 182"/>
                    <a:gd name="T12" fmla="*/ 0 w 118"/>
                    <a:gd name="T13" fmla="*/ 1 h 182"/>
                    <a:gd name="T14" fmla="*/ 0 w 118"/>
                    <a:gd name="T15" fmla="*/ 1 h 182"/>
                    <a:gd name="T16" fmla="*/ 0 w 118"/>
                    <a:gd name="T17" fmla="*/ 1 h 182"/>
                    <a:gd name="T18" fmla="*/ 0 w 118"/>
                    <a:gd name="T19" fmla="*/ 1 h 182"/>
                    <a:gd name="T20" fmla="*/ 0 w 118"/>
                    <a:gd name="T21" fmla="*/ 1 h 182"/>
                    <a:gd name="T22" fmla="*/ 0 w 118"/>
                    <a:gd name="T23" fmla="*/ 1 h 182"/>
                    <a:gd name="T24" fmla="*/ 0 w 118"/>
                    <a:gd name="T25" fmla="*/ 1 h 182"/>
                    <a:gd name="T26" fmla="*/ 0 w 118"/>
                    <a:gd name="T27" fmla="*/ 1 h 182"/>
                    <a:gd name="T28" fmla="*/ 0 w 118"/>
                    <a:gd name="T29" fmla="*/ 1 h 182"/>
                    <a:gd name="T30" fmla="*/ 0 w 118"/>
                    <a:gd name="T31" fmla="*/ 1 h 18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8"/>
                    <a:gd name="T49" fmla="*/ 0 h 182"/>
                    <a:gd name="T50" fmla="*/ 118 w 118"/>
                    <a:gd name="T51" fmla="*/ 182 h 18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8" h="182">
                      <a:moveTo>
                        <a:pt x="50" y="25"/>
                      </a:moveTo>
                      <a:lnTo>
                        <a:pt x="79" y="4"/>
                      </a:lnTo>
                      <a:lnTo>
                        <a:pt x="104" y="0"/>
                      </a:lnTo>
                      <a:lnTo>
                        <a:pt x="118" y="5"/>
                      </a:lnTo>
                      <a:lnTo>
                        <a:pt x="88" y="39"/>
                      </a:lnTo>
                      <a:lnTo>
                        <a:pt x="73" y="72"/>
                      </a:lnTo>
                      <a:lnTo>
                        <a:pt x="64" y="110"/>
                      </a:lnTo>
                      <a:lnTo>
                        <a:pt x="69" y="128"/>
                      </a:lnTo>
                      <a:lnTo>
                        <a:pt x="94" y="153"/>
                      </a:lnTo>
                      <a:lnTo>
                        <a:pt x="62" y="171"/>
                      </a:lnTo>
                      <a:lnTo>
                        <a:pt x="35" y="170"/>
                      </a:lnTo>
                      <a:lnTo>
                        <a:pt x="5" y="182"/>
                      </a:lnTo>
                      <a:lnTo>
                        <a:pt x="0" y="142"/>
                      </a:lnTo>
                      <a:lnTo>
                        <a:pt x="7" y="108"/>
                      </a:lnTo>
                      <a:lnTo>
                        <a:pt x="27" y="61"/>
                      </a:lnTo>
                      <a:lnTo>
                        <a:pt x="50" y="25"/>
                      </a:lnTo>
                      <a:close/>
                    </a:path>
                  </a:pathLst>
                </a:custGeom>
                <a:solidFill>
                  <a:srgbClr val="E0E0FF"/>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56" name="Freeform 11">
                  <a:extLst>
                    <a:ext uri="{FF2B5EF4-FFF2-40B4-BE49-F238E27FC236}">
                      <a16:creationId xmlns:a16="http://schemas.microsoft.com/office/drawing/2014/main" id="{2A605D99-643B-4E5A-A2D5-40BCE9BC1DD3}"/>
                    </a:ext>
                  </a:extLst>
                </p:cNvPr>
                <p:cNvSpPr>
                  <a:spLocks/>
                </p:cNvSpPr>
                <p:nvPr/>
              </p:nvSpPr>
              <p:spPr bwMode="auto">
                <a:xfrm>
                  <a:off x="4907" y="1644"/>
                  <a:ext cx="59" cy="116"/>
                </a:xfrm>
                <a:custGeom>
                  <a:avLst/>
                  <a:gdLst>
                    <a:gd name="T0" fmla="*/ 1 w 117"/>
                    <a:gd name="T1" fmla="*/ 0 h 234"/>
                    <a:gd name="T2" fmla="*/ 1 w 117"/>
                    <a:gd name="T3" fmla="*/ 0 h 234"/>
                    <a:gd name="T4" fmla="*/ 0 w 117"/>
                    <a:gd name="T5" fmla="*/ 0 h 234"/>
                    <a:gd name="T6" fmla="*/ 1 w 117"/>
                    <a:gd name="T7" fmla="*/ 0 h 234"/>
                    <a:gd name="T8" fmla="*/ 1 w 117"/>
                    <a:gd name="T9" fmla="*/ 0 h 234"/>
                    <a:gd name="T10" fmla="*/ 1 w 117"/>
                    <a:gd name="T11" fmla="*/ 0 h 234"/>
                    <a:gd name="T12" fmla="*/ 1 w 117"/>
                    <a:gd name="T13" fmla="*/ 0 h 234"/>
                    <a:gd name="T14" fmla="*/ 1 w 117"/>
                    <a:gd name="T15" fmla="*/ 0 h 234"/>
                    <a:gd name="T16" fmla="*/ 0 60000 65536"/>
                    <a:gd name="T17" fmla="*/ 0 60000 65536"/>
                    <a:gd name="T18" fmla="*/ 0 60000 65536"/>
                    <a:gd name="T19" fmla="*/ 0 60000 65536"/>
                    <a:gd name="T20" fmla="*/ 0 60000 65536"/>
                    <a:gd name="T21" fmla="*/ 0 60000 65536"/>
                    <a:gd name="T22" fmla="*/ 0 60000 65536"/>
                    <a:gd name="T23" fmla="*/ 0 60000 65536"/>
                    <a:gd name="T24" fmla="*/ 0 w 117"/>
                    <a:gd name="T25" fmla="*/ 0 h 234"/>
                    <a:gd name="T26" fmla="*/ 117 w 117"/>
                    <a:gd name="T27" fmla="*/ 234 h 23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 h="234">
                      <a:moveTo>
                        <a:pt x="27" y="234"/>
                      </a:moveTo>
                      <a:lnTo>
                        <a:pt x="12" y="206"/>
                      </a:lnTo>
                      <a:lnTo>
                        <a:pt x="0" y="161"/>
                      </a:lnTo>
                      <a:lnTo>
                        <a:pt x="9" y="112"/>
                      </a:lnTo>
                      <a:lnTo>
                        <a:pt x="27" y="63"/>
                      </a:lnTo>
                      <a:lnTo>
                        <a:pt x="56" y="25"/>
                      </a:lnTo>
                      <a:lnTo>
                        <a:pt x="85" y="5"/>
                      </a:lnTo>
                      <a:lnTo>
                        <a:pt x="117"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grpSp>
            <p:nvGrpSpPr>
              <p:cNvPr id="37943" name="Group 23">
                <a:extLst>
                  <a:ext uri="{FF2B5EF4-FFF2-40B4-BE49-F238E27FC236}">
                    <a16:creationId xmlns:a16="http://schemas.microsoft.com/office/drawing/2014/main" id="{EF367569-5B1F-4CAE-BD0A-DC7770D267E0}"/>
                  </a:ext>
                </a:extLst>
              </p:cNvPr>
              <p:cNvGrpSpPr>
                <a:grpSpLocks/>
              </p:cNvGrpSpPr>
              <p:nvPr/>
            </p:nvGrpSpPr>
            <p:grpSpPr bwMode="auto">
              <a:xfrm>
                <a:off x="4937" y="1457"/>
                <a:ext cx="278" cy="287"/>
                <a:chOff x="4937" y="1457"/>
                <a:chExt cx="278" cy="287"/>
              </a:xfrm>
            </p:grpSpPr>
            <p:sp>
              <p:nvSpPr>
                <p:cNvPr id="37944" name="Freeform 13">
                  <a:extLst>
                    <a:ext uri="{FF2B5EF4-FFF2-40B4-BE49-F238E27FC236}">
                      <a16:creationId xmlns:a16="http://schemas.microsoft.com/office/drawing/2014/main" id="{ADD81411-DB76-4FB5-9A12-226FA78D7D27}"/>
                    </a:ext>
                  </a:extLst>
                </p:cNvPr>
                <p:cNvSpPr>
                  <a:spLocks/>
                </p:cNvSpPr>
                <p:nvPr/>
              </p:nvSpPr>
              <p:spPr bwMode="auto">
                <a:xfrm>
                  <a:off x="4937" y="1572"/>
                  <a:ext cx="125" cy="162"/>
                </a:xfrm>
                <a:custGeom>
                  <a:avLst/>
                  <a:gdLst>
                    <a:gd name="T0" fmla="*/ 1 w 250"/>
                    <a:gd name="T1" fmla="*/ 1 h 323"/>
                    <a:gd name="T2" fmla="*/ 1 w 250"/>
                    <a:gd name="T3" fmla="*/ 1 h 323"/>
                    <a:gd name="T4" fmla="*/ 1 w 250"/>
                    <a:gd name="T5" fmla="*/ 1 h 323"/>
                    <a:gd name="T6" fmla="*/ 1 w 250"/>
                    <a:gd name="T7" fmla="*/ 1 h 323"/>
                    <a:gd name="T8" fmla="*/ 1 w 250"/>
                    <a:gd name="T9" fmla="*/ 1 h 323"/>
                    <a:gd name="T10" fmla="*/ 1 w 250"/>
                    <a:gd name="T11" fmla="*/ 1 h 323"/>
                    <a:gd name="T12" fmla="*/ 1 w 250"/>
                    <a:gd name="T13" fmla="*/ 1 h 323"/>
                    <a:gd name="T14" fmla="*/ 1 w 250"/>
                    <a:gd name="T15" fmla="*/ 1 h 323"/>
                    <a:gd name="T16" fmla="*/ 1 w 250"/>
                    <a:gd name="T17" fmla="*/ 1 h 323"/>
                    <a:gd name="T18" fmla="*/ 1 w 250"/>
                    <a:gd name="T19" fmla="*/ 1 h 323"/>
                    <a:gd name="T20" fmla="*/ 1 w 250"/>
                    <a:gd name="T21" fmla="*/ 1 h 323"/>
                    <a:gd name="T22" fmla="*/ 1 w 250"/>
                    <a:gd name="T23" fmla="*/ 1 h 323"/>
                    <a:gd name="T24" fmla="*/ 1 w 250"/>
                    <a:gd name="T25" fmla="*/ 1 h 323"/>
                    <a:gd name="T26" fmla="*/ 1 w 250"/>
                    <a:gd name="T27" fmla="*/ 1 h 323"/>
                    <a:gd name="T28" fmla="*/ 1 w 250"/>
                    <a:gd name="T29" fmla="*/ 0 h 323"/>
                    <a:gd name="T30" fmla="*/ 1 w 250"/>
                    <a:gd name="T31" fmla="*/ 1 h 323"/>
                    <a:gd name="T32" fmla="*/ 1 w 250"/>
                    <a:gd name="T33" fmla="*/ 1 h 323"/>
                    <a:gd name="T34" fmla="*/ 1 w 250"/>
                    <a:gd name="T35" fmla="*/ 1 h 323"/>
                    <a:gd name="T36" fmla="*/ 1 w 250"/>
                    <a:gd name="T37" fmla="*/ 1 h 323"/>
                    <a:gd name="T38" fmla="*/ 1 w 250"/>
                    <a:gd name="T39" fmla="*/ 1 h 323"/>
                    <a:gd name="T40" fmla="*/ 1 w 250"/>
                    <a:gd name="T41" fmla="*/ 1 h 323"/>
                    <a:gd name="T42" fmla="*/ 1 w 250"/>
                    <a:gd name="T43" fmla="*/ 1 h 323"/>
                    <a:gd name="T44" fmla="*/ 1 w 250"/>
                    <a:gd name="T45" fmla="*/ 1 h 323"/>
                    <a:gd name="T46" fmla="*/ 1 w 250"/>
                    <a:gd name="T47" fmla="*/ 1 h 323"/>
                    <a:gd name="T48" fmla="*/ 1 w 250"/>
                    <a:gd name="T49" fmla="*/ 1 h 323"/>
                    <a:gd name="T50" fmla="*/ 1 w 250"/>
                    <a:gd name="T51" fmla="*/ 1 h 323"/>
                    <a:gd name="T52" fmla="*/ 1 w 250"/>
                    <a:gd name="T53" fmla="*/ 1 h 323"/>
                    <a:gd name="T54" fmla="*/ 1 w 250"/>
                    <a:gd name="T55" fmla="*/ 1 h 323"/>
                    <a:gd name="T56" fmla="*/ 1 w 250"/>
                    <a:gd name="T57" fmla="*/ 1 h 323"/>
                    <a:gd name="T58" fmla="*/ 1 w 250"/>
                    <a:gd name="T59" fmla="*/ 1 h 323"/>
                    <a:gd name="T60" fmla="*/ 1 w 250"/>
                    <a:gd name="T61" fmla="*/ 1 h 323"/>
                    <a:gd name="T62" fmla="*/ 1 w 250"/>
                    <a:gd name="T63" fmla="*/ 1 h 323"/>
                    <a:gd name="T64" fmla="*/ 1 w 250"/>
                    <a:gd name="T65" fmla="*/ 1 h 323"/>
                    <a:gd name="T66" fmla="*/ 1 w 250"/>
                    <a:gd name="T67" fmla="*/ 1 h 323"/>
                    <a:gd name="T68" fmla="*/ 1 w 250"/>
                    <a:gd name="T69" fmla="*/ 1 h 323"/>
                    <a:gd name="T70" fmla="*/ 1 w 250"/>
                    <a:gd name="T71" fmla="*/ 1 h 323"/>
                    <a:gd name="T72" fmla="*/ 1 w 250"/>
                    <a:gd name="T73" fmla="*/ 1 h 323"/>
                    <a:gd name="T74" fmla="*/ 1 w 250"/>
                    <a:gd name="T75" fmla="*/ 1 h 323"/>
                    <a:gd name="T76" fmla="*/ 1 w 250"/>
                    <a:gd name="T77" fmla="*/ 1 h 323"/>
                    <a:gd name="T78" fmla="*/ 1 w 250"/>
                    <a:gd name="T79" fmla="*/ 1 h 323"/>
                    <a:gd name="T80" fmla="*/ 1 w 250"/>
                    <a:gd name="T81" fmla="*/ 1 h 323"/>
                    <a:gd name="T82" fmla="*/ 1 w 250"/>
                    <a:gd name="T83" fmla="*/ 1 h 323"/>
                    <a:gd name="T84" fmla="*/ 1 w 250"/>
                    <a:gd name="T85" fmla="*/ 1 h 323"/>
                    <a:gd name="T86" fmla="*/ 1 w 250"/>
                    <a:gd name="T87" fmla="*/ 1 h 323"/>
                    <a:gd name="T88" fmla="*/ 1 w 250"/>
                    <a:gd name="T89" fmla="*/ 1 h 323"/>
                    <a:gd name="T90" fmla="*/ 0 w 250"/>
                    <a:gd name="T91" fmla="*/ 1 h 323"/>
                    <a:gd name="T92" fmla="*/ 1 w 250"/>
                    <a:gd name="T93" fmla="*/ 1 h 323"/>
                    <a:gd name="T94" fmla="*/ 1 w 250"/>
                    <a:gd name="T95" fmla="*/ 1 h 32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50"/>
                    <a:gd name="T145" fmla="*/ 0 h 323"/>
                    <a:gd name="T146" fmla="*/ 250 w 250"/>
                    <a:gd name="T147" fmla="*/ 323 h 32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50" h="323">
                      <a:moveTo>
                        <a:pt x="10" y="210"/>
                      </a:moveTo>
                      <a:lnTo>
                        <a:pt x="20" y="191"/>
                      </a:lnTo>
                      <a:lnTo>
                        <a:pt x="29" y="177"/>
                      </a:lnTo>
                      <a:lnTo>
                        <a:pt x="42" y="168"/>
                      </a:lnTo>
                      <a:lnTo>
                        <a:pt x="60" y="156"/>
                      </a:lnTo>
                      <a:lnTo>
                        <a:pt x="73" y="143"/>
                      </a:lnTo>
                      <a:lnTo>
                        <a:pt x="86" y="130"/>
                      </a:lnTo>
                      <a:lnTo>
                        <a:pt x="95" y="116"/>
                      </a:lnTo>
                      <a:lnTo>
                        <a:pt x="111" y="105"/>
                      </a:lnTo>
                      <a:lnTo>
                        <a:pt x="132" y="96"/>
                      </a:lnTo>
                      <a:lnTo>
                        <a:pt x="147" y="84"/>
                      </a:lnTo>
                      <a:lnTo>
                        <a:pt x="155" y="60"/>
                      </a:lnTo>
                      <a:lnTo>
                        <a:pt x="169" y="43"/>
                      </a:lnTo>
                      <a:lnTo>
                        <a:pt x="189" y="2"/>
                      </a:lnTo>
                      <a:lnTo>
                        <a:pt x="201" y="0"/>
                      </a:lnTo>
                      <a:lnTo>
                        <a:pt x="212" y="7"/>
                      </a:lnTo>
                      <a:lnTo>
                        <a:pt x="219" y="18"/>
                      </a:lnTo>
                      <a:lnTo>
                        <a:pt x="221" y="37"/>
                      </a:lnTo>
                      <a:lnTo>
                        <a:pt x="213" y="61"/>
                      </a:lnTo>
                      <a:lnTo>
                        <a:pt x="204" y="71"/>
                      </a:lnTo>
                      <a:lnTo>
                        <a:pt x="196" y="84"/>
                      </a:lnTo>
                      <a:lnTo>
                        <a:pt x="186" y="105"/>
                      </a:lnTo>
                      <a:lnTo>
                        <a:pt x="198" y="100"/>
                      </a:lnTo>
                      <a:lnTo>
                        <a:pt x="215" y="100"/>
                      </a:lnTo>
                      <a:lnTo>
                        <a:pt x="223" y="105"/>
                      </a:lnTo>
                      <a:lnTo>
                        <a:pt x="243" y="117"/>
                      </a:lnTo>
                      <a:lnTo>
                        <a:pt x="249" y="138"/>
                      </a:lnTo>
                      <a:lnTo>
                        <a:pt x="250" y="168"/>
                      </a:lnTo>
                      <a:lnTo>
                        <a:pt x="246" y="205"/>
                      </a:lnTo>
                      <a:lnTo>
                        <a:pt x="234" y="229"/>
                      </a:lnTo>
                      <a:lnTo>
                        <a:pt x="222" y="259"/>
                      </a:lnTo>
                      <a:lnTo>
                        <a:pt x="201" y="292"/>
                      </a:lnTo>
                      <a:lnTo>
                        <a:pt x="188" y="311"/>
                      </a:lnTo>
                      <a:lnTo>
                        <a:pt x="174" y="320"/>
                      </a:lnTo>
                      <a:lnTo>
                        <a:pt x="155" y="323"/>
                      </a:lnTo>
                      <a:lnTo>
                        <a:pt x="134" y="320"/>
                      </a:lnTo>
                      <a:lnTo>
                        <a:pt x="116" y="314"/>
                      </a:lnTo>
                      <a:lnTo>
                        <a:pt x="105" y="307"/>
                      </a:lnTo>
                      <a:lnTo>
                        <a:pt x="94" y="299"/>
                      </a:lnTo>
                      <a:lnTo>
                        <a:pt x="84" y="303"/>
                      </a:lnTo>
                      <a:lnTo>
                        <a:pt x="68" y="306"/>
                      </a:lnTo>
                      <a:lnTo>
                        <a:pt x="52" y="308"/>
                      </a:lnTo>
                      <a:lnTo>
                        <a:pt x="30" y="303"/>
                      </a:lnTo>
                      <a:lnTo>
                        <a:pt x="18" y="293"/>
                      </a:lnTo>
                      <a:lnTo>
                        <a:pt x="5" y="274"/>
                      </a:lnTo>
                      <a:lnTo>
                        <a:pt x="0" y="246"/>
                      </a:lnTo>
                      <a:lnTo>
                        <a:pt x="6" y="216"/>
                      </a:lnTo>
                      <a:lnTo>
                        <a:pt x="10" y="210"/>
                      </a:lnTo>
                      <a:close/>
                    </a:path>
                  </a:pathLst>
                </a:custGeom>
                <a:solidFill>
                  <a:srgbClr val="E0A08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nvGrpSpPr>
                <p:cNvPr id="37945" name="Group 22">
                  <a:extLst>
                    <a:ext uri="{FF2B5EF4-FFF2-40B4-BE49-F238E27FC236}">
                      <a16:creationId xmlns:a16="http://schemas.microsoft.com/office/drawing/2014/main" id="{FC38C892-24BD-4001-8469-384508FED75C}"/>
                    </a:ext>
                  </a:extLst>
                </p:cNvPr>
                <p:cNvGrpSpPr>
                  <a:grpSpLocks/>
                </p:cNvGrpSpPr>
                <p:nvPr/>
              </p:nvGrpSpPr>
              <p:grpSpPr bwMode="auto">
                <a:xfrm>
                  <a:off x="4965" y="1457"/>
                  <a:ext cx="250" cy="287"/>
                  <a:chOff x="4965" y="1457"/>
                  <a:chExt cx="250" cy="287"/>
                </a:xfrm>
              </p:grpSpPr>
              <p:grpSp>
                <p:nvGrpSpPr>
                  <p:cNvPr id="37946" name="Group 16">
                    <a:extLst>
                      <a:ext uri="{FF2B5EF4-FFF2-40B4-BE49-F238E27FC236}">
                        <a16:creationId xmlns:a16="http://schemas.microsoft.com/office/drawing/2014/main" id="{EF91B00D-7C04-4ACD-8C74-CF4944A6D558}"/>
                      </a:ext>
                    </a:extLst>
                  </p:cNvPr>
                  <p:cNvGrpSpPr>
                    <a:grpSpLocks/>
                  </p:cNvGrpSpPr>
                  <p:nvPr/>
                </p:nvGrpSpPr>
                <p:grpSpPr bwMode="auto">
                  <a:xfrm>
                    <a:off x="4965" y="1457"/>
                    <a:ext cx="250" cy="250"/>
                    <a:chOff x="4965" y="1457"/>
                    <a:chExt cx="250" cy="250"/>
                  </a:xfrm>
                </p:grpSpPr>
                <p:sp>
                  <p:nvSpPr>
                    <p:cNvPr id="37952" name="Freeform 14">
                      <a:extLst>
                        <a:ext uri="{FF2B5EF4-FFF2-40B4-BE49-F238E27FC236}">
                          <a16:creationId xmlns:a16="http://schemas.microsoft.com/office/drawing/2014/main" id="{297F70A8-1CCC-4540-9FF4-2FCD25546BFE}"/>
                        </a:ext>
                      </a:extLst>
                    </p:cNvPr>
                    <p:cNvSpPr>
                      <a:spLocks/>
                    </p:cNvSpPr>
                    <p:nvPr/>
                  </p:nvSpPr>
                  <p:spPr bwMode="auto">
                    <a:xfrm>
                      <a:off x="4965" y="1457"/>
                      <a:ext cx="250" cy="250"/>
                    </a:xfrm>
                    <a:custGeom>
                      <a:avLst/>
                      <a:gdLst>
                        <a:gd name="T0" fmla="*/ 1 w 500"/>
                        <a:gd name="T1" fmla="*/ 1 h 500"/>
                        <a:gd name="T2" fmla="*/ 1 w 500"/>
                        <a:gd name="T3" fmla="*/ 1 h 500"/>
                        <a:gd name="T4" fmla="*/ 1 w 500"/>
                        <a:gd name="T5" fmla="*/ 1 h 500"/>
                        <a:gd name="T6" fmla="*/ 1 w 500"/>
                        <a:gd name="T7" fmla="*/ 1 h 500"/>
                        <a:gd name="T8" fmla="*/ 1 w 500"/>
                        <a:gd name="T9" fmla="*/ 1 h 500"/>
                        <a:gd name="T10" fmla="*/ 1 w 500"/>
                        <a:gd name="T11" fmla="*/ 1 h 500"/>
                        <a:gd name="T12" fmla="*/ 1 w 500"/>
                        <a:gd name="T13" fmla="*/ 1 h 500"/>
                        <a:gd name="T14" fmla="*/ 1 w 500"/>
                        <a:gd name="T15" fmla="*/ 1 h 500"/>
                        <a:gd name="T16" fmla="*/ 1 w 500"/>
                        <a:gd name="T17" fmla="*/ 1 h 500"/>
                        <a:gd name="T18" fmla="*/ 1 w 500"/>
                        <a:gd name="T19" fmla="*/ 1 h 500"/>
                        <a:gd name="T20" fmla="*/ 1 w 500"/>
                        <a:gd name="T21" fmla="*/ 1 h 500"/>
                        <a:gd name="T22" fmla="*/ 1 w 500"/>
                        <a:gd name="T23" fmla="*/ 1 h 500"/>
                        <a:gd name="T24" fmla="*/ 1 w 500"/>
                        <a:gd name="T25" fmla="*/ 1 h 500"/>
                        <a:gd name="T26" fmla="*/ 1 w 500"/>
                        <a:gd name="T27" fmla="*/ 1 h 500"/>
                        <a:gd name="T28" fmla="*/ 1 w 500"/>
                        <a:gd name="T29" fmla="*/ 1 h 500"/>
                        <a:gd name="T30" fmla="*/ 1 w 500"/>
                        <a:gd name="T31" fmla="*/ 1 h 500"/>
                        <a:gd name="T32" fmla="*/ 1 w 500"/>
                        <a:gd name="T33" fmla="*/ 0 h 500"/>
                        <a:gd name="T34" fmla="*/ 1 w 500"/>
                        <a:gd name="T35" fmla="*/ 1 h 500"/>
                        <a:gd name="T36" fmla="*/ 1 w 500"/>
                        <a:gd name="T37" fmla="*/ 1 h 500"/>
                        <a:gd name="T38" fmla="*/ 1 w 500"/>
                        <a:gd name="T39" fmla="*/ 1 h 500"/>
                        <a:gd name="T40" fmla="*/ 1 w 500"/>
                        <a:gd name="T41" fmla="*/ 1 h 500"/>
                        <a:gd name="T42" fmla="*/ 1 w 500"/>
                        <a:gd name="T43" fmla="*/ 1 h 500"/>
                        <a:gd name="T44" fmla="*/ 1 w 500"/>
                        <a:gd name="T45" fmla="*/ 1 h 500"/>
                        <a:gd name="T46" fmla="*/ 1 w 500"/>
                        <a:gd name="T47" fmla="*/ 1 h 500"/>
                        <a:gd name="T48" fmla="*/ 1 w 500"/>
                        <a:gd name="T49" fmla="*/ 1 h 500"/>
                        <a:gd name="T50" fmla="*/ 1 w 500"/>
                        <a:gd name="T51" fmla="*/ 1 h 500"/>
                        <a:gd name="T52" fmla="*/ 1 w 500"/>
                        <a:gd name="T53" fmla="*/ 1 h 500"/>
                        <a:gd name="T54" fmla="*/ 1 w 500"/>
                        <a:gd name="T55" fmla="*/ 1 h 500"/>
                        <a:gd name="T56" fmla="*/ 1 w 500"/>
                        <a:gd name="T57" fmla="*/ 1 h 500"/>
                        <a:gd name="T58" fmla="*/ 1 w 500"/>
                        <a:gd name="T59" fmla="*/ 1 h 500"/>
                        <a:gd name="T60" fmla="*/ 1 w 500"/>
                        <a:gd name="T61" fmla="*/ 1 h 500"/>
                        <a:gd name="T62" fmla="*/ 1 w 500"/>
                        <a:gd name="T63" fmla="*/ 1 h 500"/>
                        <a:gd name="T64" fmla="*/ 1 w 500"/>
                        <a:gd name="T65" fmla="*/ 1 h 500"/>
                        <a:gd name="T66" fmla="*/ 1 w 500"/>
                        <a:gd name="T67" fmla="*/ 1 h 500"/>
                        <a:gd name="T68" fmla="*/ 1 w 500"/>
                        <a:gd name="T69" fmla="*/ 1 h 500"/>
                        <a:gd name="T70" fmla="*/ 1 w 500"/>
                        <a:gd name="T71" fmla="*/ 1 h 500"/>
                        <a:gd name="T72" fmla="*/ 1 w 500"/>
                        <a:gd name="T73" fmla="*/ 1 h 500"/>
                        <a:gd name="T74" fmla="*/ 1 w 500"/>
                        <a:gd name="T75" fmla="*/ 1 h 500"/>
                        <a:gd name="T76" fmla="*/ 1 w 500"/>
                        <a:gd name="T77" fmla="*/ 1 h 500"/>
                        <a:gd name="T78" fmla="*/ 1 w 500"/>
                        <a:gd name="T79" fmla="*/ 1 h 500"/>
                        <a:gd name="T80" fmla="*/ 1 w 500"/>
                        <a:gd name="T81" fmla="*/ 1 h 500"/>
                        <a:gd name="T82" fmla="*/ 0 w 500"/>
                        <a:gd name="T83" fmla="*/ 1 h 500"/>
                        <a:gd name="T84" fmla="*/ 1 w 500"/>
                        <a:gd name="T85" fmla="*/ 1 h 50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00"/>
                        <a:gd name="T130" fmla="*/ 0 h 500"/>
                        <a:gd name="T131" fmla="*/ 500 w 500"/>
                        <a:gd name="T132" fmla="*/ 500 h 50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00" h="500">
                          <a:moveTo>
                            <a:pt x="7" y="444"/>
                          </a:moveTo>
                          <a:lnTo>
                            <a:pt x="32" y="411"/>
                          </a:lnTo>
                          <a:lnTo>
                            <a:pt x="69" y="365"/>
                          </a:lnTo>
                          <a:lnTo>
                            <a:pt x="114" y="321"/>
                          </a:lnTo>
                          <a:lnTo>
                            <a:pt x="149" y="294"/>
                          </a:lnTo>
                          <a:lnTo>
                            <a:pt x="176" y="283"/>
                          </a:lnTo>
                          <a:lnTo>
                            <a:pt x="195" y="278"/>
                          </a:lnTo>
                          <a:lnTo>
                            <a:pt x="208" y="264"/>
                          </a:lnTo>
                          <a:lnTo>
                            <a:pt x="203" y="233"/>
                          </a:lnTo>
                          <a:lnTo>
                            <a:pt x="211" y="199"/>
                          </a:lnTo>
                          <a:lnTo>
                            <a:pt x="228" y="165"/>
                          </a:lnTo>
                          <a:lnTo>
                            <a:pt x="255" y="128"/>
                          </a:lnTo>
                          <a:lnTo>
                            <a:pt x="294" y="90"/>
                          </a:lnTo>
                          <a:lnTo>
                            <a:pt x="336" y="54"/>
                          </a:lnTo>
                          <a:lnTo>
                            <a:pt x="376" y="25"/>
                          </a:lnTo>
                          <a:lnTo>
                            <a:pt x="420" y="5"/>
                          </a:lnTo>
                          <a:lnTo>
                            <a:pt x="450" y="0"/>
                          </a:lnTo>
                          <a:lnTo>
                            <a:pt x="477" y="9"/>
                          </a:lnTo>
                          <a:lnTo>
                            <a:pt x="493" y="27"/>
                          </a:lnTo>
                          <a:lnTo>
                            <a:pt x="500" y="51"/>
                          </a:lnTo>
                          <a:lnTo>
                            <a:pt x="497" y="86"/>
                          </a:lnTo>
                          <a:lnTo>
                            <a:pt x="484" y="123"/>
                          </a:lnTo>
                          <a:lnTo>
                            <a:pt x="466" y="156"/>
                          </a:lnTo>
                          <a:lnTo>
                            <a:pt x="440" y="191"/>
                          </a:lnTo>
                          <a:lnTo>
                            <a:pt x="411" y="221"/>
                          </a:lnTo>
                          <a:lnTo>
                            <a:pt x="370" y="254"/>
                          </a:lnTo>
                          <a:lnTo>
                            <a:pt x="332" y="281"/>
                          </a:lnTo>
                          <a:lnTo>
                            <a:pt x="300" y="297"/>
                          </a:lnTo>
                          <a:lnTo>
                            <a:pt x="270" y="299"/>
                          </a:lnTo>
                          <a:lnTo>
                            <a:pt x="243" y="296"/>
                          </a:lnTo>
                          <a:lnTo>
                            <a:pt x="225" y="302"/>
                          </a:lnTo>
                          <a:lnTo>
                            <a:pt x="214" y="319"/>
                          </a:lnTo>
                          <a:lnTo>
                            <a:pt x="204" y="348"/>
                          </a:lnTo>
                          <a:lnTo>
                            <a:pt x="180" y="381"/>
                          </a:lnTo>
                          <a:lnTo>
                            <a:pt x="144" y="416"/>
                          </a:lnTo>
                          <a:lnTo>
                            <a:pt x="116" y="447"/>
                          </a:lnTo>
                          <a:lnTo>
                            <a:pt x="89" y="474"/>
                          </a:lnTo>
                          <a:lnTo>
                            <a:pt x="66" y="491"/>
                          </a:lnTo>
                          <a:lnTo>
                            <a:pt x="41" y="499"/>
                          </a:lnTo>
                          <a:lnTo>
                            <a:pt x="19" y="500"/>
                          </a:lnTo>
                          <a:lnTo>
                            <a:pt x="1" y="491"/>
                          </a:lnTo>
                          <a:lnTo>
                            <a:pt x="0" y="467"/>
                          </a:lnTo>
                          <a:lnTo>
                            <a:pt x="7" y="444"/>
                          </a:lnTo>
                          <a:close/>
                        </a:path>
                      </a:pathLst>
                    </a:custGeom>
                    <a:solidFill>
                      <a:srgbClr val="A0A0C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53" name="Freeform 15">
                      <a:extLst>
                        <a:ext uri="{FF2B5EF4-FFF2-40B4-BE49-F238E27FC236}">
                          <a16:creationId xmlns:a16="http://schemas.microsoft.com/office/drawing/2014/main" id="{8E63FEA0-297C-4201-8C59-95375E335417}"/>
                        </a:ext>
                      </a:extLst>
                    </p:cNvPr>
                    <p:cNvSpPr>
                      <a:spLocks/>
                    </p:cNvSpPr>
                    <p:nvPr/>
                  </p:nvSpPr>
                  <p:spPr bwMode="auto">
                    <a:xfrm>
                      <a:off x="5082" y="1473"/>
                      <a:ext cx="120" cy="119"/>
                    </a:xfrm>
                    <a:custGeom>
                      <a:avLst/>
                      <a:gdLst>
                        <a:gd name="T0" fmla="*/ 0 w 239"/>
                        <a:gd name="T1" fmla="*/ 0 h 239"/>
                        <a:gd name="T2" fmla="*/ 1 w 239"/>
                        <a:gd name="T3" fmla="*/ 0 h 239"/>
                        <a:gd name="T4" fmla="*/ 1 w 239"/>
                        <a:gd name="T5" fmla="*/ 0 h 239"/>
                        <a:gd name="T6" fmla="*/ 1 w 239"/>
                        <a:gd name="T7" fmla="*/ 0 h 239"/>
                        <a:gd name="T8" fmla="*/ 1 w 239"/>
                        <a:gd name="T9" fmla="*/ 0 h 239"/>
                        <a:gd name="T10" fmla="*/ 1 w 239"/>
                        <a:gd name="T11" fmla="*/ 0 h 239"/>
                        <a:gd name="T12" fmla="*/ 1 w 239"/>
                        <a:gd name="T13" fmla="*/ 0 h 239"/>
                        <a:gd name="T14" fmla="*/ 1 w 239"/>
                        <a:gd name="T15" fmla="*/ 0 h 239"/>
                        <a:gd name="T16" fmla="*/ 1 w 239"/>
                        <a:gd name="T17" fmla="*/ 0 h 239"/>
                        <a:gd name="T18" fmla="*/ 1 w 239"/>
                        <a:gd name="T19" fmla="*/ 0 h 239"/>
                        <a:gd name="T20" fmla="*/ 1 w 239"/>
                        <a:gd name="T21" fmla="*/ 0 h 239"/>
                        <a:gd name="T22" fmla="*/ 1 w 239"/>
                        <a:gd name="T23" fmla="*/ 0 h 239"/>
                        <a:gd name="T24" fmla="*/ 1 w 239"/>
                        <a:gd name="T25" fmla="*/ 0 h 239"/>
                        <a:gd name="T26" fmla="*/ 1 w 239"/>
                        <a:gd name="T27" fmla="*/ 0 h 239"/>
                        <a:gd name="T28" fmla="*/ 1 w 239"/>
                        <a:gd name="T29" fmla="*/ 0 h 239"/>
                        <a:gd name="T30" fmla="*/ 1 w 239"/>
                        <a:gd name="T31" fmla="*/ 0 h 239"/>
                        <a:gd name="T32" fmla="*/ 1 w 239"/>
                        <a:gd name="T33" fmla="*/ 0 h 239"/>
                        <a:gd name="T34" fmla="*/ 1 w 239"/>
                        <a:gd name="T35" fmla="*/ 0 h 239"/>
                        <a:gd name="T36" fmla="*/ 1 w 239"/>
                        <a:gd name="T37" fmla="*/ 0 h 239"/>
                        <a:gd name="T38" fmla="*/ 1 w 239"/>
                        <a:gd name="T39" fmla="*/ 0 h 239"/>
                        <a:gd name="T40" fmla="*/ 0 w 239"/>
                        <a:gd name="T41" fmla="*/ 0 h 23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9"/>
                        <a:gd name="T64" fmla="*/ 0 h 239"/>
                        <a:gd name="T65" fmla="*/ 239 w 239"/>
                        <a:gd name="T66" fmla="*/ 239 h 23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9" h="239">
                          <a:moveTo>
                            <a:pt x="0" y="194"/>
                          </a:moveTo>
                          <a:lnTo>
                            <a:pt x="9" y="165"/>
                          </a:lnTo>
                          <a:lnTo>
                            <a:pt x="25" y="139"/>
                          </a:lnTo>
                          <a:lnTo>
                            <a:pt x="56" y="103"/>
                          </a:lnTo>
                          <a:lnTo>
                            <a:pt x="86" y="73"/>
                          </a:lnTo>
                          <a:lnTo>
                            <a:pt x="123" y="44"/>
                          </a:lnTo>
                          <a:lnTo>
                            <a:pt x="160" y="20"/>
                          </a:lnTo>
                          <a:lnTo>
                            <a:pt x="190" y="3"/>
                          </a:lnTo>
                          <a:lnTo>
                            <a:pt x="215" y="0"/>
                          </a:lnTo>
                          <a:lnTo>
                            <a:pt x="234" y="7"/>
                          </a:lnTo>
                          <a:lnTo>
                            <a:pt x="239" y="32"/>
                          </a:lnTo>
                          <a:lnTo>
                            <a:pt x="231" y="59"/>
                          </a:lnTo>
                          <a:lnTo>
                            <a:pt x="215" y="90"/>
                          </a:lnTo>
                          <a:lnTo>
                            <a:pt x="185" y="130"/>
                          </a:lnTo>
                          <a:lnTo>
                            <a:pt x="156" y="159"/>
                          </a:lnTo>
                          <a:lnTo>
                            <a:pt x="123" y="187"/>
                          </a:lnTo>
                          <a:lnTo>
                            <a:pt x="90" y="216"/>
                          </a:lnTo>
                          <a:lnTo>
                            <a:pt x="47" y="239"/>
                          </a:lnTo>
                          <a:lnTo>
                            <a:pt x="19" y="236"/>
                          </a:lnTo>
                          <a:lnTo>
                            <a:pt x="3" y="222"/>
                          </a:lnTo>
                          <a:lnTo>
                            <a:pt x="0" y="194"/>
                          </a:lnTo>
                          <a:close/>
                        </a:path>
                      </a:pathLst>
                    </a:custGeom>
                    <a:solidFill>
                      <a:srgbClr val="E0E0FF"/>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sp>
                <p:nvSpPr>
                  <p:cNvPr id="37947" name="Freeform 17">
                    <a:extLst>
                      <a:ext uri="{FF2B5EF4-FFF2-40B4-BE49-F238E27FC236}">
                        <a16:creationId xmlns:a16="http://schemas.microsoft.com/office/drawing/2014/main" id="{7D85E761-AA4D-424B-8BC8-74C5D714DB97}"/>
                      </a:ext>
                    </a:extLst>
                  </p:cNvPr>
                  <p:cNvSpPr>
                    <a:spLocks/>
                  </p:cNvSpPr>
                  <p:nvPr/>
                </p:nvSpPr>
                <p:spPr bwMode="auto">
                  <a:xfrm>
                    <a:off x="5001" y="1636"/>
                    <a:ext cx="81" cy="108"/>
                  </a:xfrm>
                  <a:custGeom>
                    <a:avLst/>
                    <a:gdLst>
                      <a:gd name="T0" fmla="*/ 1 w 161"/>
                      <a:gd name="T1" fmla="*/ 0 h 214"/>
                      <a:gd name="T2" fmla="*/ 1 w 161"/>
                      <a:gd name="T3" fmla="*/ 1 h 214"/>
                      <a:gd name="T4" fmla="*/ 1 w 161"/>
                      <a:gd name="T5" fmla="*/ 1 h 214"/>
                      <a:gd name="T6" fmla="*/ 1 w 161"/>
                      <a:gd name="T7" fmla="*/ 1 h 214"/>
                      <a:gd name="T8" fmla="*/ 1 w 161"/>
                      <a:gd name="T9" fmla="*/ 1 h 214"/>
                      <a:gd name="T10" fmla="*/ 1 w 161"/>
                      <a:gd name="T11" fmla="*/ 1 h 214"/>
                      <a:gd name="T12" fmla="*/ 1 w 161"/>
                      <a:gd name="T13" fmla="*/ 1 h 214"/>
                      <a:gd name="T14" fmla="*/ 1 w 161"/>
                      <a:gd name="T15" fmla="*/ 1 h 214"/>
                      <a:gd name="T16" fmla="*/ 1 w 161"/>
                      <a:gd name="T17" fmla="*/ 1 h 214"/>
                      <a:gd name="T18" fmla="*/ 1 w 161"/>
                      <a:gd name="T19" fmla="*/ 1 h 214"/>
                      <a:gd name="T20" fmla="*/ 1 w 161"/>
                      <a:gd name="T21" fmla="*/ 1 h 214"/>
                      <a:gd name="T22" fmla="*/ 1 w 161"/>
                      <a:gd name="T23" fmla="*/ 1 h 214"/>
                      <a:gd name="T24" fmla="*/ 1 w 161"/>
                      <a:gd name="T25" fmla="*/ 1 h 214"/>
                      <a:gd name="T26" fmla="*/ 1 w 161"/>
                      <a:gd name="T27" fmla="*/ 1 h 214"/>
                      <a:gd name="T28" fmla="*/ 1 w 161"/>
                      <a:gd name="T29" fmla="*/ 1 h 214"/>
                      <a:gd name="T30" fmla="*/ 1 w 161"/>
                      <a:gd name="T31" fmla="*/ 1 h 214"/>
                      <a:gd name="T32" fmla="*/ 1 w 161"/>
                      <a:gd name="T33" fmla="*/ 1 h 214"/>
                      <a:gd name="T34" fmla="*/ 1 w 161"/>
                      <a:gd name="T35" fmla="*/ 1 h 214"/>
                      <a:gd name="T36" fmla="*/ 1 w 161"/>
                      <a:gd name="T37" fmla="*/ 1 h 214"/>
                      <a:gd name="T38" fmla="*/ 1 w 161"/>
                      <a:gd name="T39" fmla="*/ 1 h 214"/>
                      <a:gd name="T40" fmla="*/ 1 w 161"/>
                      <a:gd name="T41" fmla="*/ 1 h 214"/>
                      <a:gd name="T42" fmla="*/ 1 w 161"/>
                      <a:gd name="T43" fmla="*/ 1 h 214"/>
                      <a:gd name="T44" fmla="*/ 1 w 161"/>
                      <a:gd name="T45" fmla="*/ 1 h 214"/>
                      <a:gd name="T46" fmla="*/ 1 w 161"/>
                      <a:gd name="T47" fmla="*/ 1 h 214"/>
                      <a:gd name="T48" fmla="*/ 0 w 161"/>
                      <a:gd name="T49" fmla="*/ 1 h 214"/>
                      <a:gd name="T50" fmla="*/ 1 w 161"/>
                      <a:gd name="T51" fmla="*/ 1 h 214"/>
                      <a:gd name="T52" fmla="*/ 1 w 161"/>
                      <a:gd name="T53" fmla="*/ 1 h 214"/>
                      <a:gd name="T54" fmla="*/ 1 w 161"/>
                      <a:gd name="T55" fmla="*/ 1 h 214"/>
                      <a:gd name="T56" fmla="*/ 1 w 161"/>
                      <a:gd name="T57" fmla="*/ 1 h 214"/>
                      <a:gd name="T58" fmla="*/ 1 w 161"/>
                      <a:gd name="T59" fmla="*/ 1 h 214"/>
                      <a:gd name="T60" fmla="*/ 1 w 161"/>
                      <a:gd name="T61" fmla="*/ 1 h 214"/>
                      <a:gd name="T62" fmla="*/ 1 w 161"/>
                      <a:gd name="T63" fmla="*/ 1 h 214"/>
                      <a:gd name="T64" fmla="*/ 1 w 161"/>
                      <a:gd name="T65" fmla="*/ 1 h 214"/>
                      <a:gd name="T66" fmla="*/ 1 w 161"/>
                      <a:gd name="T67" fmla="*/ 1 h 214"/>
                      <a:gd name="T68" fmla="*/ 1 w 161"/>
                      <a:gd name="T69" fmla="*/ 1 h 214"/>
                      <a:gd name="T70" fmla="*/ 1 w 161"/>
                      <a:gd name="T71" fmla="*/ 1 h 214"/>
                      <a:gd name="T72" fmla="*/ 1 w 161"/>
                      <a:gd name="T73" fmla="*/ 1 h 214"/>
                      <a:gd name="T74" fmla="*/ 1 w 161"/>
                      <a:gd name="T75" fmla="*/ 1 h 214"/>
                      <a:gd name="T76" fmla="*/ 1 w 161"/>
                      <a:gd name="T77" fmla="*/ 1 h 214"/>
                      <a:gd name="T78" fmla="*/ 1 w 161"/>
                      <a:gd name="T79" fmla="*/ 1 h 214"/>
                      <a:gd name="T80" fmla="*/ 1 w 161"/>
                      <a:gd name="T81" fmla="*/ 1 h 214"/>
                      <a:gd name="T82" fmla="*/ 1 w 161"/>
                      <a:gd name="T83" fmla="*/ 1 h 214"/>
                      <a:gd name="T84" fmla="*/ 1 w 161"/>
                      <a:gd name="T85" fmla="*/ 1 h 214"/>
                      <a:gd name="T86" fmla="*/ 1 w 161"/>
                      <a:gd name="T87" fmla="*/ 0 h 21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214"/>
                      <a:gd name="T134" fmla="*/ 161 w 161"/>
                      <a:gd name="T135" fmla="*/ 214 h 21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214">
                        <a:moveTo>
                          <a:pt x="121" y="0"/>
                        </a:moveTo>
                        <a:lnTo>
                          <a:pt x="137" y="4"/>
                        </a:lnTo>
                        <a:lnTo>
                          <a:pt x="146" y="16"/>
                        </a:lnTo>
                        <a:lnTo>
                          <a:pt x="147" y="29"/>
                        </a:lnTo>
                        <a:lnTo>
                          <a:pt x="142" y="39"/>
                        </a:lnTo>
                        <a:lnTo>
                          <a:pt x="150" y="45"/>
                        </a:lnTo>
                        <a:lnTo>
                          <a:pt x="160" y="58"/>
                        </a:lnTo>
                        <a:lnTo>
                          <a:pt x="161" y="74"/>
                        </a:lnTo>
                        <a:lnTo>
                          <a:pt x="151" y="84"/>
                        </a:lnTo>
                        <a:lnTo>
                          <a:pt x="137" y="92"/>
                        </a:lnTo>
                        <a:lnTo>
                          <a:pt x="146" y="107"/>
                        </a:lnTo>
                        <a:lnTo>
                          <a:pt x="147" y="125"/>
                        </a:lnTo>
                        <a:lnTo>
                          <a:pt x="138" y="139"/>
                        </a:lnTo>
                        <a:lnTo>
                          <a:pt x="119" y="145"/>
                        </a:lnTo>
                        <a:lnTo>
                          <a:pt x="90" y="141"/>
                        </a:lnTo>
                        <a:lnTo>
                          <a:pt x="91" y="156"/>
                        </a:lnTo>
                        <a:lnTo>
                          <a:pt x="90" y="178"/>
                        </a:lnTo>
                        <a:lnTo>
                          <a:pt x="84" y="194"/>
                        </a:lnTo>
                        <a:lnTo>
                          <a:pt x="76" y="206"/>
                        </a:lnTo>
                        <a:lnTo>
                          <a:pt x="64" y="213"/>
                        </a:lnTo>
                        <a:lnTo>
                          <a:pt x="48" y="214"/>
                        </a:lnTo>
                        <a:lnTo>
                          <a:pt x="28" y="207"/>
                        </a:lnTo>
                        <a:lnTo>
                          <a:pt x="16" y="193"/>
                        </a:lnTo>
                        <a:lnTo>
                          <a:pt x="3" y="169"/>
                        </a:lnTo>
                        <a:lnTo>
                          <a:pt x="0" y="151"/>
                        </a:lnTo>
                        <a:lnTo>
                          <a:pt x="6" y="141"/>
                        </a:lnTo>
                        <a:lnTo>
                          <a:pt x="16" y="136"/>
                        </a:lnTo>
                        <a:lnTo>
                          <a:pt x="25" y="134"/>
                        </a:lnTo>
                        <a:lnTo>
                          <a:pt x="22" y="121"/>
                        </a:lnTo>
                        <a:lnTo>
                          <a:pt x="10" y="112"/>
                        </a:lnTo>
                        <a:lnTo>
                          <a:pt x="6" y="100"/>
                        </a:lnTo>
                        <a:lnTo>
                          <a:pt x="11" y="88"/>
                        </a:lnTo>
                        <a:lnTo>
                          <a:pt x="27" y="80"/>
                        </a:lnTo>
                        <a:lnTo>
                          <a:pt x="19" y="71"/>
                        </a:lnTo>
                        <a:lnTo>
                          <a:pt x="19" y="57"/>
                        </a:lnTo>
                        <a:lnTo>
                          <a:pt x="31" y="50"/>
                        </a:lnTo>
                        <a:lnTo>
                          <a:pt x="26" y="37"/>
                        </a:lnTo>
                        <a:lnTo>
                          <a:pt x="33" y="23"/>
                        </a:lnTo>
                        <a:lnTo>
                          <a:pt x="44" y="15"/>
                        </a:lnTo>
                        <a:lnTo>
                          <a:pt x="60" y="13"/>
                        </a:lnTo>
                        <a:lnTo>
                          <a:pt x="69" y="15"/>
                        </a:lnTo>
                        <a:lnTo>
                          <a:pt x="78" y="16"/>
                        </a:lnTo>
                        <a:lnTo>
                          <a:pt x="94" y="10"/>
                        </a:lnTo>
                        <a:lnTo>
                          <a:pt x="121" y="0"/>
                        </a:lnTo>
                        <a:close/>
                      </a:path>
                    </a:pathLst>
                  </a:custGeom>
                  <a:solidFill>
                    <a:srgbClr val="E0A08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48" name="Freeform 18">
                    <a:extLst>
                      <a:ext uri="{FF2B5EF4-FFF2-40B4-BE49-F238E27FC236}">
                        <a16:creationId xmlns:a16="http://schemas.microsoft.com/office/drawing/2014/main" id="{7FA44C11-FE4F-455D-A1B2-1A429236B545}"/>
                      </a:ext>
                    </a:extLst>
                  </p:cNvPr>
                  <p:cNvSpPr>
                    <a:spLocks/>
                  </p:cNvSpPr>
                  <p:nvPr/>
                </p:nvSpPr>
                <p:spPr bwMode="auto">
                  <a:xfrm>
                    <a:off x="5030" y="1681"/>
                    <a:ext cx="40" cy="8"/>
                  </a:xfrm>
                  <a:custGeom>
                    <a:avLst/>
                    <a:gdLst>
                      <a:gd name="T0" fmla="*/ 0 w 82"/>
                      <a:gd name="T1" fmla="*/ 1 h 14"/>
                      <a:gd name="T2" fmla="*/ 0 w 82"/>
                      <a:gd name="T3" fmla="*/ 1 h 14"/>
                      <a:gd name="T4" fmla="*/ 0 w 82"/>
                      <a:gd name="T5" fmla="*/ 1 h 14"/>
                      <a:gd name="T6" fmla="*/ 0 w 82"/>
                      <a:gd name="T7" fmla="*/ 1 h 14"/>
                      <a:gd name="T8" fmla="*/ 0 w 82"/>
                      <a:gd name="T9" fmla="*/ 1 h 14"/>
                      <a:gd name="T10" fmla="*/ 0 w 82"/>
                      <a:gd name="T11" fmla="*/ 0 h 14"/>
                      <a:gd name="T12" fmla="*/ 0 60000 65536"/>
                      <a:gd name="T13" fmla="*/ 0 60000 65536"/>
                      <a:gd name="T14" fmla="*/ 0 60000 65536"/>
                      <a:gd name="T15" fmla="*/ 0 60000 65536"/>
                      <a:gd name="T16" fmla="*/ 0 60000 65536"/>
                      <a:gd name="T17" fmla="*/ 0 60000 65536"/>
                      <a:gd name="T18" fmla="*/ 0 w 82"/>
                      <a:gd name="T19" fmla="*/ 0 h 14"/>
                      <a:gd name="T20" fmla="*/ 82 w 82"/>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82" h="14">
                        <a:moveTo>
                          <a:pt x="0" y="3"/>
                        </a:moveTo>
                        <a:lnTo>
                          <a:pt x="13" y="9"/>
                        </a:lnTo>
                        <a:lnTo>
                          <a:pt x="33" y="14"/>
                        </a:lnTo>
                        <a:lnTo>
                          <a:pt x="51" y="11"/>
                        </a:lnTo>
                        <a:lnTo>
                          <a:pt x="70" y="6"/>
                        </a:lnTo>
                        <a:lnTo>
                          <a:pt x="82"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49" name="Freeform 19">
                    <a:extLst>
                      <a:ext uri="{FF2B5EF4-FFF2-40B4-BE49-F238E27FC236}">
                        <a16:creationId xmlns:a16="http://schemas.microsoft.com/office/drawing/2014/main" id="{32C4E6BA-EDF4-4770-8BDF-9FF8B66A4A3B}"/>
                      </a:ext>
                    </a:extLst>
                  </p:cNvPr>
                  <p:cNvSpPr>
                    <a:spLocks/>
                  </p:cNvSpPr>
                  <p:nvPr/>
                </p:nvSpPr>
                <p:spPr bwMode="auto">
                  <a:xfrm>
                    <a:off x="5022" y="1700"/>
                    <a:ext cx="24" cy="7"/>
                  </a:xfrm>
                  <a:custGeom>
                    <a:avLst/>
                    <a:gdLst>
                      <a:gd name="T0" fmla="*/ 0 w 50"/>
                      <a:gd name="T1" fmla="*/ 0 h 15"/>
                      <a:gd name="T2" fmla="*/ 0 w 50"/>
                      <a:gd name="T3" fmla="*/ 0 h 15"/>
                      <a:gd name="T4" fmla="*/ 0 w 50"/>
                      <a:gd name="T5" fmla="*/ 0 h 15"/>
                      <a:gd name="T6" fmla="*/ 0 w 50"/>
                      <a:gd name="T7" fmla="*/ 0 h 15"/>
                      <a:gd name="T8" fmla="*/ 0 60000 65536"/>
                      <a:gd name="T9" fmla="*/ 0 60000 65536"/>
                      <a:gd name="T10" fmla="*/ 0 60000 65536"/>
                      <a:gd name="T11" fmla="*/ 0 60000 65536"/>
                      <a:gd name="T12" fmla="*/ 0 w 50"/>
                      <a:gd name="T13" fmla="*/ 0 h 15"/>
                      <a:gd name="T14" fmla="*/ 50 w 50"/>
                      <a:gd name="T15" fmla="*/ 15 h 15"/>
                    </a:gdLst>
                    <a:ahLst/>
                    <a:cxnLst>
                      <a:cxn ang="T8">
                        <a:pos x="T0" y="T1"/>
                      </a:cxn>
                      <a:cxn ang="T9">
                        <a:pos x="T2" y="T3"/>
                      </a:cxn>
                      <a:cxn ang="T10">
                        <a:pos x="T4" y="T5"/>
                      </a:cxn>
                      <a:cxn ang="T11">
                        <a:pos x="T6" y="T7"/>
                      </a:cxn>
                    </a:cxnLst>
                    <a:rect l="T12" t="T13" r="T14" b="T15"/>
                    <a:pathLst>
                      <a:path w="50" h="15">
                        <a:moveTo>
                          <a:pt x="50" y="15"/>
                        </a:moveTo>
                        <a:lnTo>
                          <a:pt x="35" y="14"/>
                        </a:lnTo>
                        <a:lnTo>
                          <a:pt x="18" y="10"/>
                        </a:lnTo>
                        <a:lnTo>
                          <a:pt x="0"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50" name="Freeform 20">
                    <a:extLst>
                      <a:ext uri="{FF2B5EF4-FFF2-40B4-BE49-F238E27FC236}">
                        <a16:creationId xmlns:a16="http://schemas.microsoft.com/office/drawing/2014/main" id="{5183ABC9-FF4A-4E75-AB6E-714E75D456C8}"/>
                      </a:ext>
                    </a:extLst>
                  </p:cNvPr>
                  <p:cNvSpPr>
                    <a:spLocks/>
                  </p:cNvSpPr>
                  <p:nvPr/>
                </p:nvSpPr>
                <p:spPr bwMode="auto">
                  <a:xfrm>
                    <a:off x="5020" y="1709"/>
                    <a:ext cx="22" cy="10"/>
                  </a:xfrm>
                  <a:custGeom>
                    <a:avLst/>
                    <a:gdLst>
                      <a:gd name="T0" fmla="*/ 0 w 45"/>
                      <a:gd name="T1" fmla="*/ 0 h 21"/>
                      <a:gd name="T2" fmla="*/ 0 w 45"/>
                      <a:gd name="T3" fmla="*/ 0 h 21"/>
                      <a:gd name="T4" fmla="*/ 0 w 45"/>
                      <a:gd name="T5" fmla="*/ 0 h 21"/>
                      <a:gd name="T6" fmla="*/ 0 w 45"/>
                      <a:gd name="T7" fmla="*/ 0 h 21"/>
                      <a:gd name="T8" fmla="*/ 0 w 45"/>
                      <a:gd name="T9" fmla="*/ 0 h 21"/>
                      <a:gd name="T10" fmla="*/ 0 w 45"/>
                      <a:gd name="T11" fmla="*/ 0 h 21"/>
                      <a:gd name="T12" fmla="*/ 0 60000 65536"/>
                      <a:gd name="T13" fmla="*/ 0 60000 65536"/>
                      <a:gd name="T14" fmla="*/ 0 60000 65536"/>
                      <a:gd name="T15" fmla="*/ 0 60000 65536"/>
                      <a:gd name="T16" fmla="*/ 0 60000 65536"/>
                      <a:gd name="T17" fmla="*/ 0 60000 65536"/>
                      <a:gd name="T18" fmla="*/ 0 w 45"/>
                      <a:gd name="T19" fmla="*/ 0 h 21"/>
                      <a:gd name="T20" fmla="*/ 45 w 45"/>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45" h="21">
                        <a:moveTo>
                          <a:pt x="45" y="21"/>
                        </a:moveTo>
                        <a:lnTo>
                          <a:pt x="33" y="15"/>
                        </a:lnTo>
                        <a:lnTo>
                          <a:pt x="21" y="15"/>
                        </a:lnTo>
                        <a:lnTo>
                          <a:pt x="10" y="21"/>
                        </a:lnTo>
                        <a:lnTo>
                          <a:pt x="7" y="11"/>
                        </a:lnTo>
                        <a:lnTo>
                          <a:pt x="0"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51" name="Freeform 21">
                    <a:extLst>
                      <a:ext uri="{FF2B5EF4-FFF2-40B4-BE49-F238E27FC236}">
                        <a16:creationId xmlns:a16="http://schemas.microsoft.com/office/drawing/2014/main" id="{D15C378D-E795-44E1-984A-53C104BD9373}"/>
                      </a:ext>
                    </a:extLst>
                  </p:cNvPr>
                  <p:cNvSpPr>
                    <a:spLocks/>
                  </p:cNvSpPr>
                  <p:nvPr/>
                </p:nvSpPr>
                <p:spPr bwMode="auto">
                  <a:xfrm>
                    <a:off x="5030" y="1658"/>
                    <a:ext cx="41" cy="9"/>
                  </a:xfrm>
                  <a:custGeom>
                    <a:avLst/>
                    <a:gdLst>
                      <a:gd name="T0" fmla="*/ 1 w 82"/>
                      <a:gd name="T1" fmla="*/ 0 h 18"/>
                      <a:gd name="T2" fmla="*/ 1 w 82"/>
                      <a:gd name="T3" fmla="*/ 1 h 18"/>
                      <a:gd name="T4" fmla="*/ 1 w 82"/>
                      <a:gd name="T5" fmla="*/ 1 h 18"/>
                      <a:gd name="T6" fmla="*/ 1 w 82"/>
                      <a:gd name="T7" fmla="*/ 1 h 18"/>
                      <a:gd name="T8" fmla="*/ 1 w 82"/>
                      <a:gd name="T9" fmla="*/ 1 h 18"/>
                      <a:gd name="T10" fmla="*/ 1 w 82"/>
                      <a:gd name="T11" fmla="*/ 1 h 18"/>
                      <a:gd name="T12" fmla="*/ 1 w 82"/>
                      <a:gd name="T13" fmla="*/ 1 h 18"/>
                      <a:gd name="T14" fmla="*/ 1 w 82"/>
                      <a:gd name="T15" fmla="*/ 1 h 18"/>
                      <a:gd name="T16" fmla="*/ 0 w 82"/>
                      <a:gd name="T17" fmla="*/ 1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2"/>
                      <a:gd name="T28" fmla="*/ 0 h 18"/>
                      <a:gd name="T29" fmla="*/ 82 w 82"/>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2" h="18">
                        <a:moveTo>
                          <a:pt x="82" y="0"/>
                        </a:moveTo>
                        <a:lnTo>
                          <a:pt x="70" y="3"/>
                        </a:lnTo>
                        <a:lnTo>
                          <a:pt x="59" y="6"/>
                        </a:lnTo>
                        <a:lnTo>
                          <a:pt x="50" y="10"/>
                        </a:lnTo>
                        <a:lnTo>
                          <a:pt x="41" y="15"/>
                        </a:lnTo>
                        <a:lnTo>
                          <a:pt x="29" y="18"/>
                        </a:lnTo>
                        <a:lnTo>
                          <a:pt x="19" y="16"/>
                        </a:lnTo>
                        <a:lnTo>
                          <a:pt x="9" y="12"/>
                        </a:lnTo>
                        <a:lnTo>
                          <a:pt x="0" y="8"/>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grpSp>
        </p:grpSp>
        <p:grpSp>
          <p:nvGrpSpPr>
            <p:cNvPr id="37898" name="Group 38">
              <a:extLst>
                <a:ext uri="{FF2B5EF4-FFF2-40B4-BE49-F238E27FC236}">
                  <a16:creationId xmlns:a16="http://schemas.microsoft.com/office/drawing/2014/main" id="{467A5961-62F7-497C-9C0F-485A39E1FD53}"/>
                </a:ext>
              </a:extLst>
            </p:cNvPr>
            <p:cNvGrpSpPr>
              <a:grpSpLocks/>
            </p:cNvGrpSpPr>
            <p:nvPr/>
          </p:nvGrpSpPr>
          <p:grpSpPr bwMode="auto">
            <a:xfrm>
              <a:off x="4929" y="1283"/>
              <a:ext cx="199" cy="325"/>
              <a:chOff x="4929" y="1283"/>
              <a:chExt cx="199" cy="325"/>
            </a:xfrm>
          </p:grpSpPr>
          <p:grpSp>
            <p:nvGrpSpPr>
              <p:cNvPr id="37929" name="Group 36">
                <a:extLst>
                  <a:ext uri="{FF2B5EF4-FFF2-40B4-BE49-F238E27FC236}">
                    <a16:creationId xmlns:a16="http://schemas.microsoft.com/office/drawing/2014/main" id="{C7F9B2F0-B0A2-4D96-9A07-BFB658F9EADB}"/>
                  </a:ext>
                </a:extLst>
              </p:cNvPr>
              <p:cNvGrpSpPr>
                <a:grpSpLocks/>
              </p:cNvGrpSpPr>
              <p:nvPr/>
            </p:nvGrpSpPr>
            <p:grpSpPr bwMode="auto">
              <a:xfrm>
                <a:off x="4929" y="1334"/>
                <a:ext cx="168" cy="274"/>
                <a:chOff x="4929" y="1334"/>
                <a:chExt cx="168" cy="274"/>
              </a:xfrm>
            </p:grpSpPr>
            <p:sp>
              <p:nvSpPr>
                <p:cNvPr id="37931" name="Freeform 25">
                  <a:extLst>
                    <a:ext uri="{FF2B5EF4-FFF2-40B4-BE49-F238E27FC236}">
                      <a16:creationId xmlns:a16="http://schemas.microsoft.com/office/drawing/2014/main" id="{F9D3C938-C1F7-4688-9052-36965DE4EABC}"/>
                    </a:ext>
                  </a:extLst>
                </p:cNvPr>
                <p:cNvSpPr>
                  <a:spLocks/>
                </p:cNvSpPr>
                <p:nvPr/>
              </p:nvSpPr>
              <p:spPr bwMode="auto">
                <a:xfrm>
                  <a:off x="4929" y="1334"/>
                  <a:ext cx="168" cy="274"/>
                </a:xfrm>
                <a:custGeom>
                  <a:avLst/>
                  <a:gdLst>
                    <a:gd name="T0" fmla="*/ 0 w 337"/>
                    <a:gd name="T1" fmla="*/ 1 h 548"/>
                    <a:gd name="T2" fmla="*/ 0 w 337"/>
                    <a:gd name="T3" fmla="*/ 1 h 548"/>
                    <a:gd name="T4" fmla="*/ 0 w 337"/>
                    <a:gd name="T5" fmla="*/ 1 h 548"/>
                    <a:gd name="T6" fmla="*/ 0 w 337"/>
                    <a:gd name="T7" fmla="*/ 1 h 548"/>
                    <a:gd name="T8" fmla="*/ 0 w 337"/>
                    <a:gd name="T9" fmla="*/ 1 h 548"/>
                    <a:gd name="T10" fmla="*/ 0 w 337"/>
                    <a:gd name="T11" fmla="*/ 1 h 548"/>
                    <a:gd name="T12" fmla="*/ 0 w 337"/>
                    <a:gd name="T13" fmla="*/ 1 h 548"/>
                    <a:gd name="T14" fmla="*/ 0 w 337"/>
                    <a:gd name="T15" fmla="*/ 1 h 548"/>
                    <a:gd name="T16" fmla="*/ 0 w 337"/>
                    <a:gd name="T17" fmla="*/ 1 h 548"/>
                    <a:gd name="T18" fmla="*/ 0 w 337"/>
                    <a:gd name="T19" fmla="*/ 1 h 548"/>
                    <a:gd name="T20" fmla="*/ 0 w 337"/>
                    <a:gd name="T21" fmla="*/ 1 h 548"/>
                    <a:gd name="T22" fmla="*/ 0 w 337"/>
                    <a:gd name="T23" fmla="*/ 1 h 548"/>
                    <a:gd name="T24" fmla="*/ 0 w 337"/>
                    <a:gd name="T25" fmla="*/ 1 h 548"/>
                    <a:gd name="T26" fmla="*/ 0 w 337"/>
                    <a:gd name="T27" fmla="*/ 1 h 548"/>
                    <a:gd name="T28" fmla="*/ 0 w 337"/>
                    <a:gd name="T29" fmla="*/ 1 h 548"/>
                    <a:gd name="T30" fmla="*/ 0 w 337"/>
                    <a:gd name="T31" fmla="*/ 1 h 548"/>
                    <a:gd name="T32" fmla="*/ 0 w 337"/>
                    <a:gd name="T33" fmla="*/ 1 h 548"/>
                    <a:gd name="T34" fmla="*/ 0 w 337"/>
                    <a:gd name="T35" fmla="*/ 1 h 548"/>
                    <a:gd name="T36" fmla="*/ 0 w 337"/>
                    <a:gd name="T37" fmla="*/ 1 h 548"/>
                    <a:gd name="T38" fmla="*/ 0 w 337"/>
                    <a:gd name="T39" fmla="*/ 1 h 548"/>
                    <a:gd name="T40" fmla="*/ 0 w 337"/>
                    <a:gd name="T41" fmla="*/ 1 h 548"/>
                    <a:gd name="T42" fmla="*/ 0 w 337"/>
                    <a:gd name="T43" fmla="*/ 1 h 548"/>
                    <a:gd name="T44" fmla="*/ 0 w 337"/>
                    <a:gd name="T45" fmla="*/ 1 h 548"/>
                    <a:gd name="T46" fmla="*/ 0 w 337"/>
                    <a:gd name="T47" fmla="*/ 1 h 548"/>
                    <a:gd name="T48" fmla="*/ 0 w 337"/>
                    <a:gd name="T49" fmla="*/ 1 h 548"/>
                    <a:gd name="T50" fmla="*/ 0 w 337"/>
                    <a:gd name="T51" fmla="*/ 1 h 548"/>
                    <a:gd name="T52" fmla="*/ 0 w 337"/>
                    <a:gd name="T53" fmla="*/ 1 h 548"/>
                    <a:gd name="T54" fmla="*/ 0 w 337"/>
                    <a:gd name="T55" fmla="*/ 1 h 548"/>
                    <a:gd name="T56" fmla="*/ 0 w 337"/>
                    <a:gd name="T57" fmla="*/ 1 h 548"/>
                    <a:gd name="T58" fmla="*/ 0 w 337"/>
                    <a:gd name="T59" fmla="*/ 1 h 548"/>
                    <a:gd name="T60" fmla="*/ 0 w 337"/>
                    <a:gd name="T61" fmla="*/ 1 h 548"/>
                    <a:gd name="T62" fmla="*/ 0 w 337"/>
                    <a:gd name="T63" fmla="*/ 1 h 548"/>
                    <a:gd name="T64" fmla="*/ 0 w 337"/>
                    <a:gd name="T65" fmla="*/ 1 h 548"/>
                    <a:gd name="T66" fmla="*/ 0 w 337"/>
                    <a:gd name="T67" fmla="*/ 1 h 548"/>
                    <a:gd name="T68" fmla="*/ 0 w 337"/>
                    <a:gd name="T69" fmla="*/ 1 h 548"/>
                    <a:gd name="T70" fmla="*/ 0 w 337"/>
                    <a:gd name="T71" fmla="*/ 1 h 548"/>
                    <a:gd name="T72" fmla="*/ 0 w 337"/>
                    <a:gd name="T73" fmla="*/ 1 h 548"/>
                    <a:gd name="T74" fmla="*/ 0 w 337"/>
                    <a:gd name="T75" fmla="*/ 1 h 548"/>
                    <a:gd name="T76" fmla="*/ 0 w 337"/>
                    <a:gd name="T77" fmla="*/ 1 h 548"/>
                    <a:gd name="T78" fmla="*/ 0 w 337"/>
                    <a:gd name="T79" fmla="*/ 1 h 548"/>
                    <a:gd name="T80" fmla="*/ 0 w 337"/>
                    <a:gd name="T81" fmla="*/ 1 h 548"/>
                    <a:gd name="T82" fmla="*/ 0 w 337"/>
                    <a:gd name="T83" fmla="*/ 1 h 548"/>
                    <a:gd name="T84" fmla="*/ 0 w 337"/>
                    <a:gd name="T85" fmla="*/ 1 h 548"/>
                    <a:gd name="T86" fmla="*/ 0 w 337"/>
                    <a:gd name="T87" fmla="*/ 1 h 548"/>
                    <a:gd name="T88" fmla="*/ 0 w 337"/>
                    <a:gd name="T89" fmla="*/ 1 h 548"/>
                    <a:gd name="T90" fmla="*/ 0 w 337"/>
                    <a:gd name="T91" fmla="*/ 1 h 548"/>
                    <a:gd name="T92" fmla="*/ 0 w 337"/>
                    <a:gd name="T93" fmla="*/ 1 h 548"/>
                    <a:gd name="T94" fmla="*/ 0 w 337"/>
                    <a:gd name="T95" fmla="*/ 1 h 548"/>
                    <a:gd name="T96" fmla="*/ 0 w 337"/>
                    <a:gd name="T97" fmla="*/ 1 h 548"/>
                    <a:gd name="T98" fmla="*/ 0 w 337"/>
                    <a:gd name="T99" fmla="*/ 1 h 548"/>
                    <a:gd name="T100" fmla="*/ 0 w 337"/>
                    <a:gd name="T101" fmla="*/ 0 h 548"/>
                    <a:gd name="T102" fmla="*/ 0 w 337"/>
                    <a:gd name="T103" fmla="*/ 1 h 548"/>
                    <a:gd name="T104" fmla="*/ 0 w 337"/>
                    <a:gd name="T105" fmla="*/ 1 h 548"/>
                    <a:gd name="T106" fmla="*/ 0 w 337"/>
                    <a:gd name="T107" fmla="*/ 1 h 548"/>
                    <a:gd name="T108" fmla="*/ 0 w 337"/>
                    <a:gd name="T109" fmla="*/ 1 h 548"/>
                    <a:gd name="T110" fmla="*/ 0 w 337"/>
                    <a:gd name="T111" fmla="*/ 1 h 548"/>
                    <a:gd name="T112" fmla="*/ 0 w 337"/>
                    <a:gd name="T113" fmla="*/ 1 h 548"/>
                    <a:gd name="T114" fmla="*/ 0 w 337"/>
                    <a:gd name="T115" fmla="*/ 1 h 548"/>
                    <a:gd name="T116" fmla="*/ 0 w 337"/>
                    <a:gd name="T117" fmla="*/ 1 h 548"/>
                    <a:gd name="T118" fmla="*/ 0 w 337"/>
                    <a:gd name="T119" fmla="*/ 1 h 54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37"/>
                    <a:gd name="T181" fmla="*/ 0 h 548"/>
                    <a:gd name="T182" fmla="*/ 337 w 337"/>
                    <a:gd name="T183" fmla="*/ 548 h 54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37" h="548">
                      <a:moveTo>
                        <a:pt x="11" y="148"/>
                      </a:moveTo>
                      <a:lnTo>
                        <a:pt x="3" y="182"/>
                      </a:lnTo>
                      <a:lnTo>
                        <a:pt x="0" y="215"/>
                      </a:lnTo>
                      <a:lnTo>
                        <a:pt x="9" y="290"/>
                      </a:lnTo>
                      <a:lnTo>
                        <a:pt x="15" y="354"/>
                      </a:lnTo>
                      <a:lnTo>
                        <a:pt x="31" y="392"/>
                      </a:lnTo>
                      <a:lnTo>
                        <a:pt x="47" y="439"/>
                      </a:lnTo>
                      <a:lnTo>
                        <a:pt x="58" y="463"/>
                      </a:lnTo>
                      <a:lnTo>
                        <a:pt x="71" y="495"/>
                      </a:lnTo>
                      <a:lnTo>
                        <a:pt x="82" y="520"/>
                      </a:lnTo>
                      <a:lnTo>
                        <a:pt x="93" y="538"/>
                      </a:lnTo>
                      <a:lnTo>
                        <a:pt x="104" y="546"/>
                      </a:lnTo>
                      <a:lnTo>
                        <a:pt x="116" y="548"/>
                      </a:lnTo>
                      <a:lnTo>
                        <a:pt x="129" y="544"/>
                      </a:lnTo>
                      <a:lnTo>
                        <a:pt x="138" y="545"/>
                      </a:lnTo>
                      <a:lnTo>
                        <a:pt x="146" y="542"/>
                      </a:lnTo>
                      <a:lnTo>
                        <a:pt x="156" y="527"/>
                      </a:lnTo>
                      <a:lnTo>
                        <a:pt x="171" y="496"/>
                      </a:lnTo>
                      <a:lnTo>
                        <a:pt x="183" y="458"/>
                      </a:lnTo>
                      <a:lnTo>
                        <a:pt x="193" y="425"/>
                      </a:lnTo>
                      <a:lnTo>
                        <a:pt x="197" y="394"/>
                      </a:lnTo>
                      <a:lnTo>
                        <a:pt x="204" y="372"/>
                      </a:lnTo>
                      <a:lnTo>
                        <a:pt x="217" y="345"/>
                      </a:lnTo>
                      <a:lnTo>
                        <a:pt x="230" y="325"/>
                      </a:lnTo>
                      <a:lnTo>
                        <a:pt x="218" y="313"/>
                      </a:lnTo>
                      <a:lnTo>
                        <a:pt x="202" y="304"/>
                      </a:lnTo>
                      <a:lnTo>
                        <a:pt x="215" y="289"/>
                      </a:lnTo>
                      <a:lnTo>
                        <a:pt x="217" y="273"/>
                      </a:lnTo>
                      <a:lnTo>
                        <a:pt x="221" y="263"/>
                      </a:lnTo>
                      <a:lnTo>
                        <a:pt x="229" y="251"/>
                      </a:lnTo>
                      <a:lnTo>
                        <a:pt x="236" y="256"/>
                      </a:lnTo>
                      <a:lnTo>
                        <a:pt x="243" y="259"/>
                      </a:lnTo>
                      <a:lnTo>
                        <a:pt x="250" y="271"/>
                      </a:lnTo>
                      <a:lnTo>
                        <a:pt x="253" y="286"/>
                      </a:lnTo>
                      <a:lnTo>
                        <a:pt x="259" y="291"/>
                      </a:lnTo>
                      <a:lnTo>
                        <a:pt x="269" y="292"/>
                      </a:lnTo>
                      <a:lnTo>
                        <a:pt x="276" y="288"/>
                      </a:lnTo>
                      <a:lnTo>
                        <a:pt x="282" y="277"/>
                      </a:lnTo>
                      <a:lnTo>
                        <a:pt x="289" y="247"/>
                      </a:lnTo>
                      <a:lnTo>
                        <a:pt x="304" y="228"/>
                      </a:lnTo>
                      <a:lnTo>
                        <a:pt x="313" y="216"/>
                      </a:lnTo>
                      <a:lnTo>
                        <a:pt x="316" y="203"/>
                      </a:lnTo>
                      <a:lnTo>
                        <a:pt x="308" y="174"/>
                      </a:lnTo>
                      <a:lnTo>
                        <a:pt x="301" y="157"/>
                      </a:lnTo>
                      <a:lnTo>
                        <a:pt x="309" y="137"/>
                      </a:lnTo>
                      <a:lnTo>
                        <a:pt x="326" y="119"/>
                      </a:lnTo>
                      <a:lnTo>
                        <a:pt x="337" y="103"/>
                      </a:lnTo>
                      <a:lnTo>
                        <a:pt x="329" y="67"/>
                      </a:lnTo>
                      <a:lnTo>
                        <a:pt x="310" y="36"/>
                      </a:lnTo>
                      <a:lnTo>
                        <a:pt x="264" y="11"/>
                      </a:lnTo>
                      <a:lnTo>
                        <a:pt x="216" y="0"/>
                      </a:lnTo>
                      <a:lnTo>
                        <a:pt x="167" y="4"/>
                      </a:lnTo>
                      <a:lnTo>
                        <a:pt x="112" y="23"/>
                      </a:lnTo>
                      <a:lnTo>
                        <a:pt x="95" y="42"/>
                      </a:lnTo>
                      <a:lnTo>
                        <a:pt x="87" y="61"/>
                      </a:lnTo>
                      <a:lnTo>
                        <a:pt x="80" y="87"/>
                      </a:lnTo>
                      <a:lnTo>
                        <a:pt x="73" y="99"/>
                      </a:lnTo>
                      <a:lnTo>
                        <a:pt x="37" y="120"/>
                      </a:lnTo>
                      <a:lnTo>
                        <a:pt x="21" y="134"/>
                      </a:lnTo>
                      <a:lnTo>
                        <a:pt x="11" y="148"/>
                      </a:lnTo>
                      <a:close/>
                    </a:path>
                  </a:pathLst>
                </a:custGeom>
                <a:solidFill>
                  <a:srgbClr val="E0A08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nvGrpSpPr>
                <p:cNvPr id="37932" name="Group 35">
                  <a:extLst>
                    <a:ext uri="{FF2B5EF4-FFF2-40B4-BE49-F238E27FC236}">
                      <a16:creationId xmlns:a16="http://schemas.microsoft.com/office/drawing/2014/main" id="{FCA00C70-4E41-4BA4-8C8B-D97E7D55D061}"/>
                    </a:ext>
                  </a:extLst>
                </p:cNvPr>
                <p:cNvGrpSpPr>
                  <a:grpSpLocks/>
                </p:cNvGrpSpPr>
                <p:nvPr/>
              </p:nvGrpSpPr>
              <p:grpSpPr bwMode="auto">
                <a:xfrm>
                  <a:off x="4948" y="1375"/>
                  <a:ext cx="131" cy="145"/>
                  <a:chOff x="4948" y="1375"/>
                  <a:chExt cx="131" cy="145"/>
                </a:xfrm>
              </p:grpSpPr>
              <p:grpSp>
                <p:nvGrpSpPr>
                  <p:cNvPr id="37933" name="Group 33">
                    <a:extLst>
                      <a:ext uri="{FF2B5EF4-FFF2-40B4-BE49-F238E27FC236}">
                        <a16:creationId xmlns:a16="http://schemas.microsoft.com/office/drawing/2014/main" id="{39F94DC7-052D-49D2-AEC5-989665794D17}"/>
                      </a:ext>
                    </a:extLst>
                  </p:cNvPr>
                  <p:cNvGrpSpPr>
                    <a:grpSpLocks/>
                  </p:cNvGrpSpPr>
                  <p:nvPr/>
                </p:nvGrpSpPr>
                <p:grpSpPr bwMode="auto">
                  <a:xfrm>
                    <a:off x="4948" y="1375"/>
                    <a:ext cx="131" cy="145"/>
                    <a:chOff x="4948" y="1375"/>
                    <a:chExt cx="131" cy="145"/>
                  </a:xfrm>
                </p:grpSpPr>
                <p:sp>
                  <p:nvSpPr>
                    <p:cNvPr id="37935" name="Freeform 26">
                      <a:extLst>
                        <a:ext uri="{FF2B5EF4-FFF2-40B4-BE49-F238E27FC236}">
                          <a16:creationId xmlns:a16="http://schemas.microsoft.com/office/drawing/2014/main" id="{1C447044-B2CD-4B02-8410-FFCC46C47A83}"/>
                        </a:ext>
                      </a:extLst>
                    </p:cNvPr>
                    <p:cNvSpPr>
                      <a:spLocks/>
                    </p:cNvSpPr>
                    <p:nvPr/>
                  </p:nvSpPr>
                  <p:spPr bwMode="auto">
                    <a:xfrm>
                      <a:off x="4948" y="1390"/>
                      <a:ext cx="40" cy="130"/>
                    </a:xfrm>
                    <a:custGeom>
                      <a:avLst/>
                      <a:gdLst>
                        <a:gd name="T0" fmla="*/ 1 w 78"/>
                        <a:gd name="T1" fmla="*/ 1 h 260"/>
                        <a:gd name="T2" fmla="*/ 1 w 78"/>
                        <a:gd name="T3" fmla="*/ 1 h 260"/>
                        <a:gd name="T4" fmla="*/ 1 w 78"/>
                        <a:gd name="T5" fmla="*/ 1 h 260"/>
                        <a:gd name="T6" fmla="*/ 1 w 78"/>
                        <a:gd name="T7" fmla="*/ 1 h 260"/>
                        <a:gd name="T8" fmla="*/ 1 w 78"/>
                        <a:gd name="T9" fmla="*/ 1 h 260"/>
                        <a:gd name="T10" fmla="*/ 0 w 78"/>
                        <a:gd name="T11" fmla="*/ 1 h 260"/>
                        <a:gd name="T12" fmla="*/ 1 w 78"/>
                        <a:gd name="T13" fmla="*/ 1 h 260"/>
                        <a:gd name="T14" fmla="*/ 1 w 78"/>
                        <a:gd name="T15" fmla="*/ 1 h 260"/>
                        <a:gd name="T16" fmla="*/ 1 w 78"/>
                        <a:gd name="T17" fmla="*/ 1 h 260"/>
                        <a:gd name="T18" fmla="*/ 1 w 78"/>
                        <a:gd name="T19" fmla="*/ 1 h 260"/>
                        <a:gd name="T20" fmla="*/ 1 w 78"/>
                        <a:gd name="T21" fmla="*/ 1 h 260"/>
                        <a:gd name="T22" fmla="*/ 1 w 78"/>
                        <a:gd name="T23" fmla="*/ 1 h 260"/>
                        <a:gd name="T24" fmla="*/ 1 w 78"/>
                        <a:gd name="T25" fmla="*/ 1 h 260"/>
                        <a:gd name="T26" fmla="*/ 1 w 78"/>
                        <a:gd name="T27" fmla="*/ 1 h 260"/>
                        <a:gd name="T28" fmla="*/ 1 w 78"/>
                        <a:gd name="T29" fmla="*/ 1 h 260"/>
                        <a:gd name="T30" fmla="*/ 1 w 78"/>
                        <a:gd name="T31" fmla="*/ 0 h 26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8"/>
                        <a:gd name="T49" fmla="*/ 0 h 260"/>
                        <a:gd name="T50" fmla="*/ 78 w 78"/>
                        <a:gd name="T51" fmla="*/ 260 h 26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8" h="260">
                          <a:moveTo>
                            <a:pt x="2" y="260"/>
                          </a:moveTo>
                          <a:lnTo>
                            <a:pt x="12" y="235"/>
                          </a:lnTo>
                          <a:lnTo>
                            <a:pt x="19" y="217"/>
                          </a:lnTo>
                          <a:lnTo>
                            <a:pt x="16" y="186"/>
                          </a:lnTo>
                          <a:lnTo>
                            <a:pt x="6" y="158"/>
                          </a:lnTo>
                          <a:lnTo>
                            <a:pt x="0" y="125"/>
                          </a:lnTo>
                          <a:lnTo>
                            <a:pt x="2" y="99"/>
                          </a:lnTo>
                          <a:lnTo>
                            <a:pt x="18" y="72"/>
                          </a:lnTo>
                          <a:lnTo>
                            <a:pt x="33" y="54"/>
                          </a:lnTo>
                          <a:lnTo>
                            <a:pt x="56" y="37"/>
                          </a:lnTo>
                          <a:lnTo>
                            <a:pt x="78" y="29"/>
                          </a:lnTo>
                          <a:lnTo>
                            <a:pt x="66" y="28"/>
                          </a:lnTo>
                          <a:lnTo>
                            <a:pt x="57" y="25"/>
                          </a:lnTo>
                          <a:lnTo>
                            <a:pt x="52" y="19"/>
                          </a:lnTo>
                          <a:lnTo>
                            <a:pt x="48" y="7"/>
                          </a:lnTo>
                          <a:lnTo>
                            <a:pt x="50"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36" name="Freeform 27">
                      <a:extLst>
                        <a:ext uri="{FF2B5EF4-FFF2-40B4-BE49-F238E27FC236}">
                          <a16:creationId xmlns:a16="http://schemas.microsoft.com/office/drawing/2014/main" id="{2578E217-BCD9-4DC8-8F92-64EC35A18CAF}"/>
                        </a:ext>
                      </a:extLst>
                    </p:cNvPr>
                    <p:cNvSpPr>
                      <a:spLocks/>
                    </p:cNvSpPr>
                    <p:nvPr/>
                  </p:nvSpPr>
                  <p:spPr bwMode="auto">
                    <a:xfrm>
                      <a:off x="5004" y="1411"/>
                      <a:ext cx="46" cy="19"/>
                    </a:xfrm>
                    <a:custGeom>
                      <a:avLst/>
                      <a:gdLst>
                        <a:gd name="T0" fmla="*/ 0 w 92"/>
                        <a:gd name="T1" fmla="*/ 1 h 36"/>
                        <a:gd name="T2" fmla="*/ 1 w 92"/>
                        <a:gd name="T3" fmla="*/ 1 h 36"/>
                        <a:gd name="T4" fmla="*/ 1 w 92"/>
                        <a:gd name="T5" fmla="*/ 1 h 36"/>
                        <a:gd name="T6" fmla="*/ 1 w 92"/>
                        <a:gd name="T7" fmla="*/ 1 h 36"/>
                        <a:gd name="T8" fmla="*/ 1 w 92"/>
                        <a:gd name="T9" fmla="*/ 1 h 36"/>
                        <a:gd name="T10" fmla="*/ 1 w 92"/>
                        <a:gd name="T11" fmla="*/ 1 h 36"/>
                        <a:gd name="T12" fmla="*/ 1 w 92"/>
                        <a:gd name="T13" fmla="*/ 1 h 36"/>
                        <a:gd name="T14" fmla="*/ 1 w 92"/>
                        <a:gd name="T15" fmla="*/ 1 h 36"/>
                        <a:gd name="T16" fmla="*/ 1 w 92"/>
                        <a:gd name="T17" fmla="*/ 1 h 36"/>
                        <a:gd name="T18" fmla="*/ 1 w 92"/>
                        <a:gd name="T19" fmla="*/ 0 h 36"/>
                        <a:gd name="T20" fmla="*/ 1 w 92"/>
                        <a:gd name="T21" fmla="*/ 1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2"/>
                        <a:gd name="T34" fmla="*/ 0 h 36"/>
                        <a:gd name="T35" fmla="*/ 92 w 92"/>
                        <a:gd name="T36" fmla="*/ 36 h 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2" h="36">
                          <a:moveTo>
                            <a:pt x="0" y="19"/>
                          </a:moveTo>
                          <a:lnTo>
                            <a:pt x="18" y="29"/>
                          </a:lnTo>
                          <a:lnTo>
                            <a:pt x="35" y="35"/>
                          </a:lnTo>
                          <a:lnTo>
                            <a:pt x="55" y="36"/>
                          </a:lnTo>
                          <a:lnTo>
                            <a:pt x="70" y="35"/>
                          </a:lnTo>
                          <a:lnTo>
                            <a:pt x="84" y="31"/>
                          </a:lnTo>
                          <a:lnTo>
                            <a:pt x="92" y="21"/>
                          </a:lnTo>
                          <a:lnTo>
                            <a:pt x="92" y="8"/>
                          </a:lnTo>
                          <a:lnTo>
                            <a:pt x="81" y="2"/>
                          </a:lnTo>
                          <a:lnTo>
                            <a:pt x="69" y="0"/>
                          </a:lnTo>
                          <a:lnTo>
                            <a:pt x="52" y="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37" name="Freeform 28">
                      <a:extLst>
                        <a:ext uri="{FF2B5EF4-FFF2-40B4-BE49-F238E27FC236}">
                          <a16:creationId xmlns:a16="http://schemas.microsoft.com/office/drawing/2014/main" id="{34680E68-91CF-4361-A6DF-7A268B4F5CF1}"/>
                        </a:ext>
                      </a:extLst>
                    </p:cNvPr>
                    <p:cNvSpPr>
                      <a:spLocks/>
                    </p:cNvSpPr>
                    <p:nvPr/>
                  </p:nvSpPr>
                  <p:spPr bwMode="auto">
                    <a:xfrm>
                      <a:off x="4992" y="1453"/>
                      <a:ext cx="21" cy="27"/>
                    </a:xfrm>
                    <a:custGeom>
                      <a:avLst/>
                      <a:gdLst>
                        <a:gd name="T0" fmla="*/ 1 w 42"/>
                        <a:gd name="T1" fmla="*/ 0 h 55"/>
                        <a:gd name="T2" fmla="*/ 1 w 42"/>
                        <a:gd name="T3" fmla="*/ 0 h 55"/>
                        <a:gd name="T4" fmla="*/ 1 w 42"/>
                        <a:gd name="T5" fmla="*/ 0 h 55"/>
                        <a:gd name="T6" fmla="*/ 1 w 42"/>
                        <a:gd name="T7" fmla="*/ 0 h 55"/>
                        <a:gd name="T8" fmla="*/ 0 w 42"/>
                        <a:gd name="T9" fmla="*/ 0 h 55"/>
                        <a:gd name="T10" fmla="*/ 0 60000 65536"/>
                        <a:gd name="T11" fmla="*/ 0 60000 65536"/>
                        <a:gd name="T12" fmla="*/ 0 60000 65536"/>
                        <a:gd name="T13" fmla="*/ 0 60000 65536"/>
                        <a:gd name="T14" fmla="*/ 0 60000 65536"/>
                        <a:gd name="T15" fmla="*/ 0 w 42"/>
                        <a:gd name="T16" fmla="*/ 0 h 55"/>
                        <a:gd name="T17" fmla="*/ 42 w 42"/>
                        <a:gd name="T18" fmla="*/ 55 h 55"/>
                      </a:gdLst>
                      <a:ahLst/>
                      <a:cxnLst>
                        <a:cxn ang="T10">
                          <a:pos x="T0" y="T1"/>
                        </a:cxn>
                        <a:cxn ang="T11">
                          <a:pos x="T2" y="T3"/>
                        </a:cxn>
                        <a:cxn ang="T12">
                          <a:pos x="T4" y="T5"/>
                        </a:cxn>
                        <a:cxn ang="T13">
                          <a:pos x="T6" y="T7"/>
                        </a:cxn>
                        <a:cxn ang="T14">
                          <a:pos x="T8" y="T9"/>
                        </a:cxn>
                      </a:cxnLst>
                      <a:rect l="T15" t="T16" r="T17" b="T18"/>
                      <a:pathLst>
                        <a:path w="42" h="55">
                          <a:moveTo>
                            <a:pt x="42" y="0"/>
                          </a:moveTo>
                          <a:lnTo>
                            <a:pt x="25" y="8"/>
                          </a:lnTo>
                          <a:lnTo>
                            <a:pt x="11" y="20"/>
                          </a:lnTo>
                          <a:lnTo>
                            <a:pt x="3" y="38"/>
                          </a:lnTo>
                          <a:lnTo>
                            <a:pt x="0" y="55"/>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38" name="Freeform 29">
                      <a:extLst>
                        <a:ext uri="{FF2B5EF4-FFF2-40B4-BE49-F238E27FC236}">
                          <a16:creationId xmlns:a16="http://schemas.microsoft.com/office/drawing/2014/main" id="{6F46F501-7E33-47AF-AEE7-9C7AA5748036}"/>
                        </a:ext>
                      </a:extLst>
                    </p:cNvPr>
                    <p:cNvSpPr>
                      <a:spLocks/>
                    </p:cNvSpPr>
                    <p:nvPr/>
                  </p:nvSpPr>
                  <p:spPr bwMode="auto">
                    <a:xfrm>
                      <a:off x="5039" y="1386"/>
                      <a:ext cx="17" cy="21"/>
                    </a:xfrm>
                    <a:custGeom>
                      <a:avLst/>
                      <a:gdLst>
                        <a:gd name="T0" fmla="*/ 0 w 33"/>
                        <a:gd name="T1" fmla="*/ 0 h 41"/>
                        <a:gd name="T2" fmla="*/ 1 w 33"/>
                        <a:gd name="T3" fmla="*/ 1 h 41"/>
                        <a:gd name="T4" fmla="*/ 1 w 33"/>
                        <a:gd name="T5" fmla="*/ 1 h 41"/>
                        <a:gd name="T6" fmla="*/ 1 w 33"/>
                        <a:gd name="T7" fmla="*/ 1 h 41"/>
                        <a:gd name="T8" fmla="*/ 1 w 33"/>
                        <a:gd name="T9" fmla="*/ 1 h 41"/>
                        <a:gd name="T10" fmla="*/ 0 60000 65536"/>
                        <a:gd name="T11" fmla="*/ 0 60000 65536"/>
                        <a:gd name="T12" fmla="*/ 0 60000 65536"/>
                        <a:gd name="T13" fmla="*/ 0 60000 65536"/>
                        <a:gd name="T14" fmla="*/ 0 60000 65536"/>
                        <a:gd name="T15" fmla="*/ 0 w 33"/>
                        <a:gd name="T16" fmla="*/ 0 h 41"/>
                        <a:gd name="T17" fmla="*/ 33 w 33"/>
                        <a:gd name="T18" fmla="*/ 41 h 41"/>
                      </a:gdLst>
                      <a:ahLst/>
                      <a:cxnLst>
                        <a:cxn ang="T10">
                          <a:pos x="T0" y="T1"/>
                        </a:cxn>
                        <a:cxn ang="T11">
                          <a:pos x="T2" y="T3"/>
                        </a:cxn>
                        <a:cxn ang="T12">
                          <a:pos x="T4" y="T5"/>
                        </a:cxn>
                        <a:cxn ang="T13">
                          <a:pos x="T6" y="T7"/>
                        </a:cxn>
                        <a:cxn ang="T14">
                          <a:pos x="T8" y="T9"/>
                        </a:cxn>
                      </a:cxnLst>
                      <a:rect l="T15" t="T16" r="T17" b="T18"/>
                      <a:pathLst>
                        <a:path w="33" h="41">
                          <a:moveTo>
                            <a:pt x="0" y="0"/>
                          </a:moveTo>
                          <a:lnTo>
                            <a:pt x="16" y="41"/>
                          </a:lnTo>
                          <a:lnTo>
                            <a:pt x="18" y="31"/>
                          </a:lnTo>
                          <a:lnTo>
                            <a:pt x="24" y="25"/>
                          </a:lnTo>
                          <a:lnTo>
                            <a:pt x="33" y="26"/>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39" name="Freeform 30">
                      <a:extLst>
                        <a:ext uri="{FF2B5EF4-FFF2-40B4-BE49-F238E27FC236}">
                          <a16:creationId xmlns:a16="http://schemas.microsoft.com/office/drawing/2014/main" id="{C00067CE-392F-40EA-BBBD-A928B42D3833}"/>
                        </a:ext>
                      </a:extLst>
                    </p:cNvPr>
                    <p:cNvSpPr>
                      <a:spLocks/>
                    </p:cNvSpPr>
                    <p:nvPr/>
                  </p:nvSpPr>
                  <p:spPr bwMode="auto">
                    <a:xfrm>
                      <a:off x="5052" y="1404"/>
                      <a:ext cx="7" cy="7"/>
                    </a:xfrm>
                    <a:custGeom>
                      <a:avLst/>
                      <a:gdLst>
                        <a:gd name="T0" fmla="*/ 0 w 16"/>
                        <a:gd name="T1" fmla="*/ 0 h 16"/>
                        <a:gd name="T2" fmla="*/ 0 w 16"/>
                        <a:gd name="T3" fmla="*/ 0 h 16"/>
                        <a:gd name="T4" fmla="*/ 0 w 16"/>
                        <a:gd name="T5" fmla="*/ 0 h 16"/>
                        <a:gd name="T6" fmla="*/ 0 w 16"/>
                        <a:gd name="T7" fmla="*/ 0 h 16"/>
                        <a:gd name="T8" fmla="*/ 0 w 16"/>
                        <a:gd name="T9" fmla="*/ 0 h 16"/>
                        <a:gd name="T10" fmla="*/ 0 w 16"/>
                        <a:gd name="T11" fmla="*/ 0 h 16"/>
                        <a:gd name="T12" fmla="*/ 0 w 16"/>
                        <a:gd name="T13" fmla="*/ 0 h 16"/>
                        <a:gd name="T14" fmla="*/ 0 w 16"/>
                        <a:gd name="T15" fmla="*/ 0 h 16"/>
                        <a:gd name="T16" fmla="*/ 0 w 16"/>
                        <a:gd name="T17" fmla="*/ 0 h 16"/>
                        <a:gd name="T18" fmla="*/ 0 w 16"/>
                        <a:gd name="T19" fmla="*/ 0 h 16"/>
                        <a:gd name="T20" fmla="*/ 0 w 16"/>
                        <a:gd name="T21" fmla="*/ 0 h 16"/>
                        <a:gd name="T22" fmla="*/ 0 w 16"/>
                        <a:gd name="T23" fmla="*/ 0 h 16"/>
                        <a:gd name="T24" fmla="*/ 0 w 16"/>
                        <a:gd name="T25" fmla="*/ 0 h 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6"/>
                        <a:gd name="T41" fmla="*/ 16 w 16"/>
                        <a:gd name="T42" fmla="*/ 16 h 1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6">
                          <a:moveTo>
                            <a:pt x="6" y="14"/>
                          </a:moveTo>
                          <a:lnTo>
                            <a:pt x="2" y="10"/>
                          </a:lnTo>
                          <a:lnTo>
                            <a:pt x="0" y="7"/>
                          </a:lnTo>
                          <a:lnTo>
                            <a:pt x="0" y="3"/>
                          </a:lnTo>
                          <a:lnTo>
                            <a:pt x="3" y="0"/>
                          </a:lnTo>
                          <a:lnTo>
                            <a:pt x="7" y="0"/>
                          </a:lnTo>
                          <a:lnTo>
                            <a:pt x="12" y="2"/>
                          </a:lnTo>
                          <a:lnTo>
                            <a:pt x="14" y="5"/>
                          </a:lnTo>
                          <a:lnTo>
                            <a:pt x="14" y="9"/>
                          </a:lnTo>
                          <a:lnTo>
                            <a:pt x="15" y="14"/>
                          </a:lnTo>
                          <a:lnTo>
                            <a:pt x="16" y="16"/>
                          </a:lnTo>
                          <a:lnTo>
                            <a:pt x="12" y="15"/>
                          </a:lnTo>
                          <a:lnTo>
                            <a:pt x="6" y="14"/>
                          </a:lnTo>
                          <a:close/>
                        </a:path>
                      </a:pathLst>
                    </a:custGeom>
                    <a:solidFill>
                      <a:srgbClr val="C0804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40" name="Freeform 31">
                      <a:extLst>
                        <a:ext uri="{FF2B5EF4-FFF2-40B4-BE49-F238E27FC236}">
                          <a16:creationId xmlns:a16="http://schemas.microsoft.com/office/drawing/2014/main" id="{FD60DA25-40B1-46C9-B1EC-0B4D7440C4D3}"/>
                        </a:ext>
                      </a:extLst>
                    </p:cNvPr>
                    <p:cNvSpPr>
                      <a:spLocks/>
                    </p:cNvSpPr>
                    <p:nvPr/>
                  </p:nvSpPr>
                  <p:spPr bwMode="auto">
                    <a:xfrm>
                      <a:off x="5057" y="1375"/>
                      <a:ext cx="22" cy="36"/>
                    </a:xfrm>
                    <a:custGeom>
                      <a:avLst/>
                      <a:gdLst>
                        <a:gd name="T0" fmla="*/ 1 w 44"/>
                        <a:gd name="T1" fmla="*/ 0 h 74"/>
                        <a:gd name="T2" fmla="*/ 1 w 44"/>
                        <a:gd name="T3" fmla="*/ 0 h 74"/>
                        <a:gd name="T4" fmla="*/ 1 w 44"/>
                        <a:gd name="T5" fmla="*/ 0 h 74"/>
                        <a:gd name="T6" fmla="*/ 1 w 44"/>
                        <a:gd name="T7" fmla="*/ 0 h 74"/>
                        <a:gd name="T8" fmla="*/ 1 w 44"/>
                        <a:gd name="T9" fmla="*/ 0 h 74"/>
                        <a:gd name="T10" fmla="*/ 0 w 44"/>
                        <a:gd name="T11" fmla="*/ 0 h 74"/>
                        <a:gd name="T12" fmla="*/ 0 60000 65536"/>
                        <a:gd name="T13" fmla="*/ 0 60000 65536"/>
                        <a:gd name="T14" fmla="*/ 0 60000 65536"/>
                        <a:gd name="T15" fmla="*/ 0 60000 65536"/>
                        <a:gd name="T16" fmla="*/ 0 60000 65536"/>
                        <a:gd name="T17" fmla="*/ 0 60000 65536"/>
                        <a:gd name="T18" fmla="*/ 0 w 44"/>
                        <a:gd name="T19" fmla="*/ 0 h 74"/>
                        <a:gd name="T20" fmla="*/ 44 w 44"/>
                        <a:gd name="T21" fmla="*/ 74 h 74"/>
                      </a:gdLst>
                      <a:ahLst/>
                      <a:cxnLst>
                        <a:cxn ang="T12">
                          <a:pos x="T0" y="T1"/>
                        </a:cxn>
                        <a:cxn ang="T13">
                          <a:pos x="T2" y="T3"/>
                        </a:cxn>
                        <a:cxn ang="T14">
                          <a:pos x="T4" y="T5"/>
                        </a:cxn>
                        <a:cxn ang="T15">
                          <a:pos x="T6" y="T7"/>
                        </a:cxn>
                        <a:cxn ang="T16">
                          <a:pos x="T8" y="T9"/>
                        </a:cxn>
                        <a:cxn ang="T17">
                          <a:pos x="T10" y="T11"/>
                        </a:cxn>
                      </a:cxnLst>
                      <a:rect l="T18" t="T19" r="T20" b="T21"/>
                      <a:pathLst>
                        <a:path w="44" h="74">
                          <a:moveTo>
                            <a:pt x="44" y="74"/>
                          </a:moveTo>
                          <a:lnTo>
                            <a:pt x="43" y="51"/>
                          </a:lnTo>
                          <a:lnTo>
                            <a:pt x="35" y="31"/>
                          </a:lnTo>
                          <a:lnTo>
                            <a:pt x="18" y="25"/>
                          </a:lnTo>
                          <a:lnTo>
                            <a:pt x="2" y="14"/>
                          </a:lnTo>
                          <a:lnTo>
                            <a:pt x="0"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41" name="Freeform 32">
                      <a:extLst>
                        <a:ext uri="{FF2B5EF4-FFF2-40B4-BE49-F238E27FC236}">
                          <a16:creationId xmlns:a16="http://schemas.microsoft.com/office/drawing/2014/main" id="{09E37C8F-6DDF-40AB-9E04-68F33BA8EBBC}"/>
                        </a:ext>
                      </a:extLst>
                    </p:cNvPr>
                    <p:cNvSpPr>
                      <a:spLocks/>
                    </p:cNvSpPr>
                    <p:nvPr/>
                  </p:nvSpPr>
                  <p:spPr bwMode="auto">
                    <a:xfrm>
                      <a:off x="5027" y="1427"/>
                      <a:ext cx="30" cy="34"/>
                    </a:xfrm>
                    <a:custGeom>
                      <a:avLst/>
                      <a:gdLst>
                        <a:gd name="T0" fmla="*/ 1 w 60"/>
                        <a:gd name="T1" fmla="*/ 0 h 69"/>
                        <a:gd name="T2" fmla="*/ 1 w 60"/>
                        <a:gd name="T3" fmla="*/ 0 h 69"/>
                        <a:gd name="T4" fmla="*/ 1 w 60"/>
                        <a:gd name="T5" fmla="*/ 0 h 69"/>
                        <a:gd name="T6" fmla="*/ 0 w 60"/>
                        <a:gd name="T7" fmla="*/ 0 h 69"/>
                        <a:gd name="T8" fmla="*/ 1 w 60"/>
                        <a:gd name="T9" fmla="*/ 0 h 69"/>
                        <a:gd name="T10" fmla="*/ 1 w 60"/>
                        <a:gd name="T11" fmla="*/ 0 h 69"/>
                        <a:gd name="T12" fmla="*/ 1 w 60"/>
                        <a:gd name="T13" fmla="*/ 0 h 69"/>
                        <a:gd name="T14" fmla="*/ 1 w 60"/>
                        <a:gd name="T15" fmla="*/ 0 h 69"/>
                        <a:gd name="T16" fmla="*/ 1 w 60"/>
                        <a:gd name="T17" fmla="*/ 0 h 69"/>
                        <a:gd name="T18" fmla="*/ 1 w 60"/>
                        <a:gd name="T19" fmla="*/ 0 h 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69"/>
                        <a:gd name="T32" fmla="*/ 60 w 60"/>
                        <a:gd name="T33" fmla="*/ 69 h 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69">
                          <a:moveTo>
                            <a:pt x="31" y="66"/>
                          </a:moveTo>
                          <a:lnTo>
                            <a:pt x="19" y="69"/>
                          </a:lnTo>
                          <a:lnTo>
                            <a:pt x="7" y="68"/>
                          </a:lnTo>
                          <a:lnTo>
                            <a:pt x="0" y="60"/>
                          </a:lnTo>
                          <a:lnTo>
                            <a:pt x="1" y="46"/>
                          </a:lnTo>
                          <a:lnTo>
                            <a:pt x="10" y="37"/>
                          </a:lnTo>
                          <a:lnTo>
                            <a:pt x="29" y="28"/>
                          </a:lnTo>
                          <a:lnTo>
                            <a:pt x="44" y="19"/>
                          </a:lnTo>
                          <a:lnTo>
                            <a:pt x="53" y="13"/>
                          </a:lnTo>
                          <a:lnTo>
                            <a:pt x="60"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sp>
                <p:nvSpPr>
                  <p:cNvPr id="37934" name="Line 34">
                    <a:extLst>
                      <a:ext uri="{FF2B5EF4-FFF2-40B4-BE49-F238E27FC236}">
                        <a16:creationId xmlns:a16="http://schemas.microsoft.com/office/drawing/2014/main" id="{E605695C-4E54-415A-8C66-47369FCEBBBC}"/>
                      </a:ext>
                    </a:extLst>
                  </p:cNvPr>
                  <p:cNvSpPr>
                    <a:spLocks noChangeShapeType="1"/>
                  </p:cNvSpPr>
                  <p:nvPr/>
                </p:nvSpPr>
                <p:spPr bwMode="auto">
                  <a:xfrm flipH="1" flipV="1">
                    <a:off x="5001" y="1464"/>
                    <a:ext cx="33" cy="2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grpSp>
          <p:sp>
            <p:nvSpPr>
              <p:cNvPr id="37930" name="Freeform 37">
                <a:extLst>
                  <a:ext uri="{FF2B5EF4-FFF2-40B4-BE49-F238E27FC236}">
                    <a16:creationId xmlns:a16="http://schemas.microsoft.com/office/drawing/2014/main" id="{0EE28CF7-9399-42CC-939A-4BFC72969501}"/>
                  </a:ext>
                </a:extLst>
              </p:cNvPr>
              <p:cNvSpPr>
                <a:spLocks/>
              </p:cNvSpPr>
              <p:nvPr/>
            </p:nvSpPr>
            <p:spPr bwMode="auto">
              <a:xfrm>
                <a:off x="4947" y="1283"/>
                <a:ext cx="181" cy="115"/>
              </a:xfrm>
              <a:custGeom>
                <a:avLst/>
                <a:gdLst>
                  <a:gd name="T0" fmla="*/ 1 w 362"/>
                  <a:gd name="T1" fmla="*/ 0 h 232"/>
                  <a:gd name="T2" fmla="*/ 1 w 362"/>
                  <a:gd name="T3" fmla="*/ 0 h 232"/>
                  <a:gd name="T4" fmla="*/ 1 w 362"/>
                  <a:gd name="T5" fmla="*/ 0 h 232"/>
                  <a:gd name="T6" fmla="*/ 1 w 362"/>
                  <a:gd name="T7" fmla="*/ 0 h 232"/>
                  <a:gd name="T8" fmla="*/ 1 w 362"/>
                  <a:gd name="T9" fmla="*/ 0 h 232"/>
                  <a:gd name="T10" fmla="*/ 1 w 362"/>
                  <a:gd name="T11" fmla="*/ 0 h 232"/>
                  <a:gd name="T12" fmla="*/ 1 w 362"/>
                  <a:gd name="T13" fmla="*/ 0 h 232"/>
                  <a:gd name="T14" fmla="*/ 1 w 362"/>
                  <a:gd name="T15" fmla="*/ 0 h 232"/>
                  <a:gd name="T16" fmla="*/ 1 w 362"/>
                  <a:gd name="T17" fmla="*/ 0 h 232"/>
                  <a:gd name="T18" fmla="*/ 1 w 362"/>
                  <a:gd name="T19" fmla="*/ 0 h 232"/>
                  <a:gd name="T20" fmla="*/ 1 w 362"/>
                  <a:gd name="T21" fmla="*/ 0 h 232"/>
                  <a:gd name="T22" fmla="*/ 1 w 362"/>
                  <a:gd name="T23" fmla="*/ 0 h 232"/>
                  <a:gd name="T24" fmla="*/ 1 w 362"/>
                  <a:gd name="T25" fmla="*/ 0 h 232"/>
                  <a:gd name="T26" fmla="*/ 1 w 362"/>
                  <a:gd name="T27" fmla="*/ 0 h 232"/>
                  <a:gd name="T28" fmla="*/ 1 w 362"/>
                  <a:gd name="T29" fmla="*/ 0 h 232"/>
                  <a:gd name="T30" fmla="*/ 1 w 362"/>
                  <a:gd name="T31" fmla="*/ 0 h 232"/>
                  <a:gd name="T32" fmla="*/ 1 w 362"/>
                  <a:gd name="T33" fmla="*/ 0 h 232"/>
                  <a:gd name="T34" fmla="*/ 1 w 362"/>
                  <a:gd name="T35" fmla="*/ 0 h 232"/>
                  <a:gd name="T36" fmla="*/ 1 w 362"/>
                  <a:gd name="T37" fmla="*/ 0 h 232"/>
                  <a:gd name="T38" fmla="*/ 1 w 362"/>
                  <a:gd name="T39" fmla="*/ 0 h 232"/>
                  <a:gd name="T40" fmla="*/ 1 w 362"/>
                  <a:gd name="T41" fmla="*/ 0 h 232"/>
                  <a:gd name="T42" fmla="*/ 1 w 362"/>
                  <a:gd name="T43" fmla="*/ 0 h 232"/>
                  <a:gd name="T44" fmla="*/ 1 w 362"/>
                  <a:gd name="T45" fmla="*/ 0 h 232"/>
                  <a:gd name="T46" fmla="*/ 1 w 362"/>
                  <a:gd name="T47" fmla="*/ 0 h 232"/>
                  <a:gd name="T48" fmla="*/ 1 w 362"/>
                  <a:gd name="T49" fmla="*/ 0 h 232"/>
                  <a:gd name="T50" fmla="*/ 1 w 362"/>
                  <a:gd name="T51" fmla="*/ 0 h 232"/>
                  <a:gd name="T52" fmla="*/ 1 w 362"/>
                  <a:gd name="T53" fmla="*/ 0 h 232"/>
                  <a:gd name="T54" fmla="*/ 1 w 362"/>
                  <a:gd name="T55" fmla="*/ 0 h 232"/>
                  <a:gd name="T56" fmla="*/ 1 w 362"/>
                  <a:gd name="T57" fmla="*/ 0 h 232"/>
                  <a:gd name="T58" fmla="*/ 1 w 362"/>
                  <a:gd name="T59" fmla="*/ 0 h 232"/>
                  <a:gd name="T60" fmla="*/ 1 w 362"/>
                  <a:gd name="T61" fmla="*/ 0 h 232"/>
                  <a:gd name="T62" fmla="*/ 1 w 362"/>
                  <a:gd name="T63" fmla="*/ 0 h 232"/>
                  <a:gd name="T64" fmla="*/ 1 w 362"/>
                  <a:gd name="T65" fmla="*/ 0 h 232"/>
                  <a:gd name="T66" fmla="*/ 1 w 362"/>
                  <a:gd name="T67" fmla="*/ 0 h 232"/>
                  <a:gd name="T68" fmla="*/ 1 w 362"/>
                  <a:gd name="T69" fmla="*/ 0 h 232"/>
                  <a:gd name="T70" fmla="*/ 1 w 362"/>
                  <a:gd name="T71" fmla="*/ 0 h 232"/>
                  <a:gd name="T72" fmla="*/ 1 w 362"/>
                  <a:gd name="T73" fmla="*/ 0 h 232"/>
                  <a:gd name="T74" fmla="*/ 1 w 362"/>
                  <a:gd name="T75" fmla="*/ 0 h 232"/>
                  <a:gd name="T76" fmla="*/ 1 w 362"/>
                  <a:gd name="T77" fmla="*/ 0 h 232"/>
                  <a:gd name="T78" fmla="*/ 1 w 362"/>
                  <a:gd name="T79" fmla="*/ 0 h 232"/>
                  <a:gd name="T80" fmla="*/ 1 w 362"/>
                  <a:gd name="T81" fmla="*/ 0 h 232"/>
                  <a:gd name="T82" fmla="*/ 1 w 362"/>
                  <a:gd name="T83" fmla="*/ 0 h 232"/>
                  <a:gd name="T84" fmla="*/ 1 w 362"/>
                  <a:gd name="T85" fmla="*/ 0 h 232"/>
                  <a:gd name="T86" fmla="*/ 1 w 362"/>
                  <a:gd name="T87" fmla="*/ 0 h 232"/>
                  <a:gd name="T88" fmla="*/ 1 w 362"/>
                  <a:gd name="T89" fmla="*/ 0 h 232"/>
                  <a:gd name="T90" fmla="*/ 1 w 362"/>
                  <a:gd name="T91" fmla="*/ 0 h 232"/>
                  <a:gd name="T92" fmla="*/ 1 w 362"/>
                  <a:gd name="T93" fmla="*/ 0 h 232"/>
                  <a:gd name="T94" fmla="*/ 1 w 362"/>
                  <a:gd name="T95" fmla="*/ 0 h 232"/>
                  <a:gd name="T96" fmla="*/ 1 w 362"/>
                  <a:gd name="T97" fmla="*/ 0 h 232"/>
                  <a:gd name="T98" fmla="*/ 1 w 362"/>
                  <a:gd name="T99" fmla="*/ 0 h 232"/>
                  <a:gd name="T100" fmla="*/ 1 w 362"/>
                  <a:gd name="T101" fmla="*/ 0 h 232"/>
                  <a:gd name="T102" fmla="*/ 1 w 362"/>
                  <a:gd name="T103" fmla="*/ 0 h 232"/>
                  <a:gd name="T104" fmla="*/ 1 w 362"/>
                  <a:gd name="T105" fmla="*/ 0 h 232"/>
                  <a:gd name="T106" fmla="*/ 1 w 362"/>
                  <a:gd name="T107" fmla="*/ 0 h 232"/>
                  <a:gd name="T108" fmla="*/ 1 w 362"/>
                  <a:gd name="T109" fmla="*/ 0 h 232"/>
                  <a:gd name="T110" fmla="*/ 1 w 362"/>
                  <a:gd name="T111" fmla="*/ 0 h 232"/>
                  <a:gd name="T112" fmla="*/ 1 w 362"/>
                  <a:gd name="T113" fmla="*/ 0 h 232"/>
                  <a:gd name="T114" fmla="*/ 1 w 362"/>
                  <a:gd name="T115" fmla="*/ 0 h 232"/>
                  <a:gd name="T116" fmla="*/ 0 w 362"/>
                  <a:gd name="T117" fmla="*/ 0 h 232"/>
                  <a:gd name="T118" fmla="*/ 1 w 362"/>
                  <a:gd name="T119" fmla="*/ 0 h 232"/>
                  <a:gd name="T120" fmla="*/ 1 w 362"/>
                  <a:gd name="T121" fmla="*/ 0 h 232"/>
                  <a:gd name="T122" fmla="*/ 1 w 362"/>
                  <a:gd name="T123" fmla="*/ 0 h 23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62"/>
                  <a:gd name="T187" fmla="*/ 0 h 232"/>
                  <a:gd name="T188" fmla="*/ 362 w 362"/>
                  <a:gd name="T189" fmla="*/ 232 h 23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62" h="232">
                    <a:moveTo>
                      <a:pt x="12" y="232"/>
                    </a:moveTo>
                    <a:lnTo>
                      <a:pt x="36" y="219"/>
                    </a:lnTo>
                    <a:lnTo>
                      <a:pt x="50" y="202"/>
                    </a:lnTo>
                    <a:lnTo>
                      <a:pt x="58" y="178"/>
                    </a:lnTo>
                    <a:lnTo>
                      <a:pt x="64" y="156"/>
                    </a:lnTo>
                    <a:lnTo>
                      <a:pt x="72" y="141"/>
                    </a:lnTo>
                    <a:lnTo>
                      <a:pt x="87" y="130"/>
                    </a:lnTo>
                    <a:lnTo>
                      <a:pt x="102" y="125"/>
                    </a:lnTo>
                    <a:lnTo>
                      <a:pt x="118" y="128"/>
                    </a:lnTo>
                    <a:lnTo>
                      <a:pt x="132" y="139"/>
                    </a:lnTo>
                    <a:lnTo>
                      <a:pt x="140" y="157"/>
                    </a:lnTo>
                    <a:lnTo>
                      <a:pt x="135" y="179"/>
                    </a:lnTo>
                    <a:lnTo>
                      <a:pt x="122" y="209"/>
                    </a:lnTo>
                    <a:lnTo>
                      <a:pt x="150" y="216"/>
                    </a:lnTo>
                    <a:lnTo>
                      <a:pt x="154" y="202"/>
                    </a:lnTo>
                    <a:lnTo>
                      <a:pt x="168" y="190"/>
                    </a:lnTo>
                    <a:lnTo>
                      <a:pt x="180" y="175"/>
                    </a:lnTo>
                    <a:lnTo>
                      <a:pt x="186" y="163"/>
                    </a:lnTo>
                    <a:lnTo>
                      <a:pt x="189" y="150"/>
                    </a:lnTo>
                    <a:lnTo>
                      <a:pt x="199" y="156"/>
                    </a:lnTo>
                    <a:lnTo>
                      <a:pt x="211" y="159"/>
                    </a:lnTo>
                    <a:lnTo>
                      <a:pt x="223" y="161"/>
                    </a:lnTo>
                    <a:lnTo>
                      <a:pt x="233" y="159"/>
                    </a:lnTo>
                    <a:lnTo>
                      <a:pt x="243" y="157"/>
                    </a:lnTo>
                    <a:lnTo>
                      <a:pt x="251" y="170"/>
                    </a:lnTo>
                    <a:lnTo>
                      <a:pt x="262" y="186"/>
                    </a:lnTo>
                    <a:lnTo>
                      <a:pt x="279" y="199"/>
                    </a:lnTo>
                    <a:lnTo>
                      <a:pt x="293" y="208"/>
                    </a:lnTo>
                    <a:lnTo>
                      <a:pt x="311" y="215"/>
                    </a:lnTo>
                    <a:lnTo>
                      <a:pt x="330" y="217"/>
                    </a:lnTo>
                    <a:lnTo>
                      <a:pt x="346" y="212"/>
                    </a:lnTo>
                    <a:lnTo>
                      <a:pt x="359" y="197"/>
                    </a:lnTo>
                    <a:lnTo>
                      <a:pt x="362" y="180"/>
                    </a:lnTo>
                    <a:lnTo>
                      <a:pt x="357" y="166"/>
                    </a:lnTo>
                    <a:lnTo>
                      <a:pt x="348" y="145"/>
                    </a:lnTo>
                    <a:lnTo>
                      <a:pt x="342" y="126"/>
                    </a:lnTo>
                    <a:lnTo>
                      <a:pt x="336" y="113"/>
                    </a:lnTo>
                    <a:lnTo>
                      <a:pt x="319" y="98"/>
                    </a:lnTo>
                    <a:lnTo>
                      <a:pt x="303" y="92"/>
                    </a:lnTo>
                    <a:lnTo>
                      <a:pt x="288" y="89"/>
                    </a:lnTo>
                    <a:lnTo>
                      <a:pt x="277" y="91"/>
                    </a:lnTo>
                    <a:lnTo>
                      <a:pt x="264" y="67"/>
                    </a:lnTo>
                    <a:lnTo>
                      <a:pt x="246" y="47"/>
                    </a:lnTo>
                    <a:lnTo>
                      <a:pt x="214" y="26"/>
                    </a:lnTo>
                    <a:lnTo>
                      <a:pt x="173" y="10"/>
                    </a:lnTo>
                    <a:lnTo>
                      <a:pt x="133" y="0"/>
                    </a:lnTo>
                    <a:lnTo>
                      <a:pt x="103" y="5"/>
                    </a:lnTo>
                    <a:lnTo>
                      <a:pt x="97" y="14"/>
                    </a:lnTo>
                    <a:lnTo>
                      <a:pt x="90" y="23"/>
                    </a:lnTo>
                    <a:lnTo>
                      <a:pt x="75" y="33"/>
                    </a:lnTo>
                    <a:lnTo>
                      <a:pt x="56" y="42"/>
                    </a:lnTo>
                    <a:lnTo>
                      <a:pt x="42" y="51"/>
                    </a:lnTo>
                    <a:lnTo>
                      <a:pt x="31" y="60"/>
                    </a:lnTo>
                    <a:lnTo>
                      <a:pt x="22" y="76"/>
                    </a:lnTo>
                    <a:lnTo>
                      <a:pt x="14" y="91"/>
                    </a:lnTo>
                    <a:lnTo>
                      <a:pt x="12" y="108"/>
                    </a:lnTo>
                    <a:lnTo>
                      <a:pt x="7" y="128"/>
                    </a:lnTo>
                    <a:lnTo>
                      <a:pt x="2" y="150"/>
                    </a:lnTo>
                    <a:lnTo>
                      <a:pt x="0" y="176"/>
                    </a:lnTo>
                    <a:lnTo>
                      <a:pt x="1" y="196"/>
                    </a:lnTo>
                    <a:lnTo>
                      <a:pt x="5" y="216"/>
                    </a:lnTo>
                    <a:lnTo>
                      <a:pt x="12" y="232"/>
                    </a:lnTo>
                    <a:close/>
                  </a:path>
                </a:pathLst>
              </a:custGeom>
              <a:solidFill>
                <a:srgbClr val="A0A0A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grpSp>
          <p:nvGrpSpPr>
            <p:cNvPr id="37899" name="Group 41">
              <a:extLst>
                <a:ext uri="{FF2B5EF4-FFF2-40B4-BE49-F238E27FC236}">
                  <a16:creationId xmlns:a16="http://schemas.microsoft.com/office/drawing/2014/main" id="{3FDF737B-56E3-4AA8-969C-B837BB94CECC}"/>
                </a:ext>
              </a:extLst>
            </p:cNvPr>
            <p:cNvGrpSpPr>
              <a:grpSpLocks/>
            </p:cNvGrpSpPr>
            <p:nvPr/>
          </p:nvGrpSpPr>
          <p:grpSpPr bwMode="auto">
            <a:xfrm>
              <a:off x="4324" y="2165"/>
              <a:ext cx="336" cy="103"/>
              <a:chOff x="4324" y="2165"/>
              <a:chExt cx="336" cy="103"/>
            </a:xfrm>
          </p:grpSpPr>
          <p:sp>
            <p:nvSpPr>
              <p:cNvPr id="37927" name="Freeform 39">
                <a:extLst>
                  <a:ext uri="{FF2B5EF4-FFF2-40B4-BE49-F238E27FC236}">
                    <a16:creationId xmlns:a16="http://schemas.microsoft.com/office/drawing/2014/main" id="{6C69BA45-2381-4105-8491-19FB19652B23}"/>
                  </a:ext>
                </a:extLst>
              </p:cNvPr>
              <p:cNvSpPr>
                <a:spLocks/>
              </p:cNvSpPr>
              <p:nvPr/>
            </p:nvSpPr>
            <p:spPr bwMode="auto">
              <a:xfrm>
                <a:off x="4324" y="2165"/>
                <a:ext cx="332" cy="79"/>
              </a:xfrm>
              <a:custGeom>
                <a:avLst/>
                <a:gdLst>
                  <a:gd name="T0" fmla="*/ 1 w 664"/>
                  <a:gd name="T1" fmla="*/ 0 h 156"/>
                  <a:gd name="T2" fmla="*/ 1 w 664"/>
                  <a:gd name="T3" fmla="*/ 1 h 156"/>
                  <a:gd name="T4" fmla="*/ 1 w 664"/>
                  <a:gd name="T5" fmla="*/ 1 h 156"/>
                  <a:gd name="T6" fmla="*/ 1 w 664"/>
                  <a:gd name="T7" fmla="*/ 1 h 156"/>
                  <a:gd name="T8" fmla="*/ 1 w 664"/>
                  <a:gd name="T9" fmla="*/ 1 h 156"/>
                  <a:gd name="T10" fmla="*/ 1 w 664"/>
                  <a:gd name="T11" fmla="*/ 1 h 156"/>
                  <a:gd name="T12" fmla="*/ 1 w 664"/>
                  <a:gd name="T13" fmla="*/ 1 h 156"/>
                  <a:gd name="T14" fmla="*/ 1 w 664"/>
                  <a:gd name="T15" fmla="*/ 1 h 156"/>
                  <a:gd name="T16" fmla="*/ 1 w 664"/>
                  <a:gd name="T17" fmla="*/ 1 h 156"/>
                  <a:gd name="T18" fmla="*/ 1 w 664"/>
                  <a:gd name="T19" fmla="*/ 1 h 156"/>
                  <a:gd name="T20" fmla="*/ 1 w 664"/>
                  <a:gd name="T21" fmla="*/ 1 h 156"/>
                  <a:gd name="T22" fmla="*/ 1 w 664"/>
                  <a:gd name="T23" fmla="*/ 1 h 156"/>
                  <a:gd name="T24" fmla="*/ 1 w 664"/>
                  <a:gd name="T25" fmla="*/ 1 h 156"/>
                  <a:gd name="T26" fmla="*/ 1 w 664"/>
                  <a:gd name="T27" fmla="*/ 1 h 156"/>
                  <a:gd name="T28" fmla="*/ 1 w 664"/>
                  <a:gd name="T29" fmla="*/ 1 h 156"/>
                  <a:gd name="T30" fmla="*/ 1 w 664"/>
                  <a:gd name="T31" fmla="*/ 1 h 156"/>
                  <a:gd name="T32" fmla="*/ 1 w 664"/>
                  <a:gd name="T33" fmla="*/ 1 h 156"/>
                  <a:gd name="T34" fmla="*/ 1 w 664"/>
                  <a:gd name="T35" fmla="*/ 1 h 156"/>
                  <a:gd name="T36" fmla="*/ 1 w 664"/>
                  <a:gd name="T37" fmla="*/ 1 h 156"/>
                  <a:gd name="T38" fmla="*/ 1 w 664"/>
                  <a:gd name="T39" fmla="*/ 1 h 156"/>
                  <a:gd name="T40" fmla="*/ 1 w 664"/>
                  <a:gd name="T41" fmla="*/ 1 h 156"/>
                  <a:gd name="T42" fmla="*/ 1 w 664"/>
                  <a:gd name="T43" fmla="*/ 1 h 156"/>
                  <a:gd name="T44" fmla="*/ 0 w 664"/>
                  <a:gd name="T45" fmla="*/ 1 h 156"/>
                  <a:gd name="T46" fmla="*/ 1 w 664"/>
                  <a:gd name="T47" fmla="*/ 1 h 156"/>
                  <a:gd name="T48" fmla="*/ 1 w 664"/>
                  <a:gd name="T49" fmla="*/ 1 h 156"/>
                  <a:gd name="T50" fmla="*/ 1 w 664"/>
                  <a:gd name="T51" fmla="*/ 1 h 156"/>
                  <a:gd name="T52" fmla="*/ 1 w 664"/>
                  <a:gd name="T53" fmla="*/ 1 h 156"/>
                  <a:gd name="T54" fmla="*/ 1 w 664"/>
                  <a:gd name="T55" fmla="*/ 1 h 156"/>
                  <a:gd name="T56" fmla="*/ 1 w 664"/>
                  <a:gd name="T57" fmla="*/ 1 h 156"/>
                  <a:gd name="T58" fmla="*/ 1 w 664"/>
                  <a:gd name="T59" fmla="*/ 1 h 156"/>
                  <a:gd name="T60" fmla="*/ 1 w 664"/>
                  <a:gd name="T61" fmla="*/ 1 h 156"/>
                  <a:gd name="T62" fmla="*/ 1 w 664"/>
                  <a:gd name="T63" fmla="*/ 1 h 156"/>
                  <a:gd name="T64" fmla="*/ 1 w 664"/>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4"/>
                  <a:gd name="T100" fmla="*/ 0 h 156"/>
                  <a:gd name="T101" fmla="*/ 664 w 664"/>
                  <a:gd name="T102" fmla="*/ 156 h 1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4" h="156">
                    <a:moveTo>
                      <a:pt x="317" y="0"/>
                    </a:moveTo>
                    <a:lnTo>
                      <a:pt x="360" y="6"/>
                    </a:lnTo>
                    <a:lnTo>
                      <a:pt x="394" y="18"/>
                    </a:lnTo>
                    <a:lnTo>
                      <a:pt x="431" y="34"/>
                    </a:lnTo>
                    <a:lnTo>
                      <a:pt x="484" y="50"/>
                    </a:lnTo>
                    <a:lnTo>
                      <a:pt x="522" y="50"/>
                    </a:lnTo>
                    <a:lnTo>
                      <a:pt x="573" y="61"/>
                    </a:lnTo>
                    <a:lnTo>
                      <a:pt x="616" y="74"/>
                    </a:lnTo>
                    <a:lnTo>
                      <a:pt x="661" y="92"/>
                    </a:lnTo>
                    <a:lnTo>
                      <a:pt x="664" y="114"/>
                    </a:lnTo>
                    <a:lnTo>
                      <a:pt x="645" y="137"/>
                    </a:lnTo>
                    <a:lnTo>
                      <a:pt x="607" y="152"/>
                    </a:lnTo>
                    <a:lnTo>
                      <a:pt x="558" y="155"/>
                    </a:lnTo>
                    <a:lnTo>
                      <a:pt x="396" y="156"/>
                    </a:lnTo>
                    <a:lnTo>
                      <a:pt x="336" y="152"/>
                    </a:lnTo>
                    <a:lnTo>
                      <a:pt x="276" y="147"/>
                    </a:lnTo>
                    <a:lnTo>
                      <a:pt x="221" y="131"/>
                    </a:lnTo>
                    <a:lnTo>
                      <a:pt x="188" y="124"/>
                    </a:lnTo>
                    <a:lnTo>
                      <a:pt x="188" y="144"/>
                    </a:lnTo>
                    <a:lnTo>
                      <a:pt x="40" y="145"/>
                    </a:lnTo>
                    <a:lnTo>
                      <a:pt x="17" y="125"/>
                    </a:lnTo>
                    <a:lnTo>
                      <a:pt x="3" y="92"/>
                    </a:lnTo>
                    <a:lnTo>
                      <a:pt x="0" y="67"/>
                    </a:lnTo>
                    <a:lnTo>
                      <a:pt x="3" y="31"/>
                    </a:lnTo>
                    <a:lnTo>
                      <a:pt x="8" y="5"/>
                    </a:lnTo>
                    <a:lnTo>
                      <a:pt x="44" y="5"/>
                    </a:lnTo>
                    <a:lnTo>
                      <a:pt x="90" y="22"/>
                    </a:lnTo>
                    <a:lnTo>
                      <a:pt x="139" y="37"/>
                    </a:lnTo>
                    <a:lnTo>
                      <a:pt x="175" y="38"/>
                    </a:lnTo>
                    <a:lnTo>
                      <a:pt x="213" y="31"/>
                    </a:lnTo>
                    <a:lnTo>
                      <a:pt x="257" y="22"/>
                    </a:lnTo>
                    <a:lnTo>
                      <a:pt x="338" y="33"/>
                    </a:lnTo>
                    <a:lnTo>
                      <a:pt x="317" y="0"/>
                    </a:lnTo>
                    <a:close/>
                  </a:path>
                </a:pathLst>
              </a:custGeom>
              <a:solidFill>
                <a:srgbClr val="60606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28" name="Freeform 40">
                <a:extLst>
                  <a:ext uri="{FF2B5EF4-FFF2-40B4-BE49-F238E27FC236}">
                    <a16:creationId xmlns:a16="http://schemas.microsoft.com/office/drawing/2014/main" id="{F3F4CEAA-92CF-4301-8FD0-F321DFB5E134}"/>
                  </a:ext>
                </a:extLst>
              </p:cNvPr>
              <p:cNvSpPr>
                <a:spLocks/>
              </p:cNvSpPr>
              <p:nvPr/>
            </p:nvSpPr>
            <p:spPr bwMode="auto">
              <a:xfrm>
                <a:off x="4328" y="2190"/>
                <a:ext cx="332" cy="78"/>
              </a:xfrm>
              <a:custGeom>
                <a:avLst/>
                <a:gdLst>
                  <a:gd name="T0" fmla="*/ 0 w 665"/>
                  <a:gd name="T1" fmla="*/ 0 h 156"/>
                  <a:gd name="T2" fmla="*/ 0 w 665"/>
                  <a:gd name="T3" fmla="*/ 1 h 156"/>
                  <a:gd name="T4" fmla="*/ 0 w 665"/>
                  <a:gd name="T5" fmla="*/ 1 h 156"/>
                  <a:gd name="T6" fmla="*/ 0 w 665"/>
                  <a:gd name="T7" fmla="*/ 1 h 156"/>
                  <a:gd name="T8" fmla="*/ 0 w 665"/>
                  <a:gd name="T9" fmla="*/ 1 h 156"/>
                  <a:gd name="T10" fmla="*/ 0 w 665"/>
                  <a:gd name="T11" fmla="*/ 1 h 156"/>
                  <a:gd name="T12" fmla="*/ 0 w 665"/>
                  <a:gd name="T13" fmla="*/ 1 h 156"/>
                  <a:gd name="T14" fmla="*/ 0 w 665"/>
                  <a:gd name="T15" fmla="*/ 1 h 156"/>
                  <a:gd name="T16" fmla="*/ 0 w 665"/>
                  <a:gd name="T17" fmla="*/ 1 h 156"/>
                  <a:gd name="T18" fmla="*/ 0 w 665"/>
                  <a:gd name="T19" fmla="*/ 1 h 156"/>
                  <a:gd name="T20" fmla="*/ 0 w 665"/>
                  <a:gd name="T21" fmla="*/ 1 h 156"/>
                  <a:gd name="T22" fmla="*/ 0 w 665"/>
                  <a:gd name="T23" fmla="*/ 1 h 156"/>
                  <a:gd name="T24" fmla="*/ 0 w 665"/>
                  <a:gd name="T25" fmla="*/ 1 h 156"/>
                  <a:gd name="T26" fmla="*/ 0 w 665"/>
                  <a:gd name="T27" fmla="*/ 1 h 156"/>
                  <a:gd name="T28" fmla="*/ 0 w 665"/>
                  <a:gd name="T29" fmla="*/ 1 h 156"/>
                  <a:gd name="T30" fmla="*/ 0 w 665"/>
                  <a:gd name="T31" fmla="*/ 1 h 156"/>
                  <a:gd name="T32" fmla="*/ 0 w 665"/>
                  <a:gd name="T33" fmla="*/ 1 h 156"/>
                  <a:gd name="T34" fmla="*/ 0 w 665"/>
                  <a:gd name="T35" fmla="*/ 1 h 156"/>
                  <a:gd name="T36" fmla="*/ 0 w 665"/>
                  <a:gd name="T37" fmla="*/ 1 h 156"/>
                  <a:gd name="T38" fmla="*/ 0 w 665"/>
                  <a:gd name="T39" fmla="*/ 1 h 156"/>
                  <a:gd name="T40" fmla="*/ 0 w 665"/>
                  <a:gd name="T41" fmla="*/ 1 h 156"/>
                  <a:gd name="T42" fmla="*/ 0 w 665"/>
                  <a:gd name="T43" fmla="*/ 1 h 156"/>
                  <a:gd name="T44" fmla="*/ 0 w 665"/>
                  <a:gd name="T45" fmla="*/ 1 h 156"/>
                  <a:gd name="T46" fmla="*/ 0 w 665"/>
                  <a:gd name="T47" fmla="*/ 1 h 156"/>
                  <a:gd name="T48" fmla="*/ 0 w 665"/>
                  <a:gd name="T49" fmla="*/ 1 h 156"/>
                  <a:gd name="T50" fmla="*/ 0 w 665"/>
                  <a:gd name="T51" fmla="*/ 1 h 156"/>
                  <a:gd name="T52" fmla="*/ 0 w 665"/>
                  <a:gd name="T53" fmla="*/ 1 h 156"/>
                  <a:gd name="T54" fmla="*/ 0 w 665"/>
                  <a:gd name="T55" fmla="*/ 1 h 156"/>
                  <a:gd name="T56" fmla="*/ 0 w 665"/>
                  <a:gd name="T57" fmla="*/ 1 h 156"/>
                  <a:gd name="T58" fmla="*/ 0 w 665"/>
                  <a:gd name="T59" fmla="*/ 1 h 156"/>
                  <a:gd name="T60" fmla="*/ 0 w 665"/>
                  <a:gd name="T61" fmla="*/ 1 h 156"/>
                  <a:gd name="T62" fmla="*/ 0 w 665"/>
                  <a:gd name="T63" fmla="*/ 1 h 156"/>
                  <a:gd name="T64" fmla="*/ 0 w 665"/>
                  <a:gd name="T65" fmla="*/ 0 h 1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5"/>
                  <a:gd name="T100" fmla="*/ 0 h 156"/>
                  <a:gd name="T101" fmla="*/ 665 w 665"/>
                  <a:gd name="T102" fmla="*/ 156 h 1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5" h="156">
                    <a:moveTo>
                      <a:pt x="317" y="0"/>
                    </a:moveTo>
                    <a:lnTo>
                      <a:pt x="360" y="6"/>
                    </a:lnTo>
                    <a:lnTo>
                      <a:pt x="395" y="19"/>
                    </a:lnTo>
                    <a:lnTo>
                      <a:pt x="431" y="34"/>
                    </a:lnTo>
                    <a:lnTo>
                      <a:pt x="485" y="50"/>
                    </a:lnTo>
                    <a:lnTo>
                      <a:pt x="521" y="50"/>
                    </a:lnTo>
                    <a:lnTo>
                      <a:pt x="573" y="61"/>
                    </a:lnTo>
                    <a:lnTo>
                      <a:pt x="616" y="74"/>
                    </a:lnTo>
                    <a:lnTo>
                      <a:pt x="661" y="92"/>
                    </a:lnTo>
                    <a:lnTo>
                      <a:pt x="665" y="113"/>
                    </a:lnTo>
                    <a:lnTo>
                      <a:pt x="646" y="136"/>
                    </a:lnTo>
                    <a:lnTo>
                      <a:pt x="607" y="150"/>
                    </a:lnTo>
                    <a:lnTo>
                      <a:pt x="559" y="155"/>
                    </a:lnTo>
                    <a:lnTo>
                      <a:pt x="397" y="156"/>
                    </a:lnTo>
                    <a:lnTo>
                      <a:pt x="335" y="151"/>
                    </a:lnTo>
                    <a:lnTo>
                      <a:pt x="276" y="145"/>
                    </a:lnTo>
                    <a:lnTo>
                      <a:pt x="221" y="131"/>
                    </a:lnTo>
                    <a:lnTo>
                      <a:pt x="188" y="123"/>
                    </a:lnTo>
                    <a:lnTo>
                      <a:pt x="188" y="142"/>
                    </a:lnTo>
                    <a:lnTo>
                      <a:pt x="40" y="143"/>
                    </a:lnTo>
                    <a:lnTo>
                      <a:pt x="17" y="124"/>
                    </a:lnTo>
                    <a:lnTo>
                      <a:pt x="3" y="92"/>
                    </a:lnTo>
                    <a:lnTo>
                      <a:pt x="0" y="67"/>
                    </a:lnTo>
                    <a:lnTo>
                      <a:pt x="3" y="31"/>
                    </a:lnTo>
                    <a:lnTo>
                      <a:pt x="9" y="5"/>
                    </a:lnTo>
                    <a:lnTo>
                      <a:pt x="44" y="5"/>
                    </a:lnTo>
                    <a:lnTo>
                      <a:pt x="90" y="22"/>
                    </a:lnTo>
                    <a:lnTo>
                      <a:pt x="139" y="37"/>
                    </a:lnTo>
                    <a:lnTo>
                      <a:pt x="175" y="38"/>
                    </a:lnTo>
                    <a:lnTo>
                      <a:pt x="214" y="31"/>
                    </a:lnTo>
                    <a:lnTo>
                      <a:pt x="258" y="22"/>
                    </a:lnTo>
                    <a:lnTo>
                      <a:pt x="337" y="33"/>
                    </a:lnTo>
                    <a:lnTo>
                      <a:pt x="317" y="0"/>
                    </a:lnTo>
                    <a:close/>
                  </a:path>
                </a:pathLst>
              </a:custGeom>
              <a:solidFill>
                <a:srgbClr val="80808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grpSp>
          <p:nvGrpSpPr>
            <p:cNvPr id="37900" name="Group 44">
              <a:extLst>
                <a:ext uri="{FF2B5EF4-FFF2-40B4-BE49-F238E27FC236}">
                  <a16:creationId xmlns:a16="http://schemas.microsoft.com/office/drawing/2014/main" id="{6B854E8A-23E0-490D-A467-55DA5329FC46}"/>
                </a:ext>
              </a:extLst>
            </p:cNvPr>
            <p:cNvGrpSpPr>
              <a:grpSpLocks/>
            </p:cNvGrpSpPr>
            <p:nvPr/>
          </p:nvGrpSpPr>
          <p:grpSpPr bwMode="auto">
            <a:xfrm>
              <a:off x="4228" y="1257"/>
              <a:ext cx="264" cy="960"/>
              <a:chOff x="4228" y="1257"/>
              <a:chExt cx="264" cy="960"/>
            </a:xfrm>
          </p:grpSpPr>
          <p:sp>
            <p:nvSpPr>
              <p:cNvPr id="37925" name="Freeform 42">
                <a:extLst>
                  <a:ext uri="{FF2B5EF4-FFF2-40B4-BE49-F238E27FC236}">
                    <a16:creationId xmlns:a16="http://schemas.microsoft.com/office/drawing/2014/main" id="{94B098E5-CCFC-4D8F-AA43-21C223E2FA11}"/>
                  </a:ext>
                </a:extLst>
              </p:cNvPr>
              <p:cNvSpPr>
                <a:spLocks/>
              </p:cNvSpPr>
              <p:nvPr/>
            </p:nvSpPr>
            <p:spPr bwMode="auto">
              <a:xfrm>
                <a:off x="4228" y="1257"/>
                <a:ext cx="264" cy="960"/>
              </a:xfrm>
              <a:custGeom>
                <a:avLst/>
                <a:gdLst>
                  <a:gd name="T0" fmla="*/ 0 w 529"/>
                  <a:gd name="T1" fmla="*/ 0 h 1920"/>
                  <a:gd name="T2" fmla="*/ 0 w 529"/>
                  <a:gd name="T3" fmla="*/ 1 h 1920"/>
                  <a:gd name="T4" fmla="*/ 0 w 529"/>
                  <a:gd name="T5" fmla="*/ 1 h 1920"/>
                  <a:gd name="T6" fmla="*/ 0 w 529"/>
                  <a:gd name="T7" fmla="*/ 1 h 1920"/>
                  <a:gd name="T8" fmla="*/ 0 w 529"/>
                  <a:gd name="T9" fmla="*/ 1 h 1920"/>
                  <a:gd name="T10" fmla="*/ 0 w 529"/>
                  <a:gd name="T11" fmla="*/ 1 h 1920"/>
                  <a:gd name="T12" fmla="*/ 0 w 529"/>
                  <a:gd name="T13" fmla="*/ 1 h 1920"/>
                  <a:gd name="T14" fmla="*/ 0 w 529"/>
                  <a:gd name="T15" fmla="*/ 1 h 1920"/>
                  <a:gd name="T16" fmla="*/ 0 w 529"/>
                  <a:gd name="T17" fmla="*/ 1 h 1920"/>
                  <a:gd name="T18" fmla="*/ 0 w 529"/>
                  <a:gd name="T19" fmla="*/ 1 h 1920"/>
                  <a:gd name="T20" fmla="*/ 0 w 529"/>
                  <a:gd name="T21" fmla="*/ 1 h 1920"/>
                  <a:gd name="T22" fmla="*/ 0 w 529"/>
                  <a:gd name="T23" fmla="*/ 1 h 1920"/>
                  <a:gd name="T24" fmla="*/ 0 w 529"/>
                  <a:gd name="T25" fmla="*/ 1 h 1920"/>
                  <a:gd name="T26" fmla="*/ 0 w 529"/>
                  <a:gd name="T27" fmla="*/ 1 h 1920"/>
                  <a:gd name="T28" fmla="*/ 0 w 529"/>
                  <a:gd name="T29" fmla="*/ 1 h 1920"/>
                  <a:gd name="T30" fmla="*/ 0 w 529"/>
                  <a:gd name="T31" fmla="*/ 1 h 1920"/>
                  <a:gd name="T32" fmla="*/ 0 w 529"/>
                  <a:gd name="T33" fmla="*/ 1 h 1920"/>
                  <a:gd name="T34" fmla="*/ 0 w 529"/>
                  <a:gd name="T35" fmla="*/ 1 h 1920"/>
                  <a:gd name="T36" fmla="*/ 0 w 529"/>
                  <a:gd name="T37" fmla="*/ 1 h 1920"/>
                  <a:gd name="T38" fmla="*/ 0 w 529"/>
                  <a:gd name="T39" fmla="*/ 1 h 1920"/>
                  <a:gd name="T40" fmla="*/ 0 w 529"/>
                  <a:gd name="T41" fmla="*/ 1 h 1920"/>
                  <a:gd name="T42" fmla="*/ 0 w 529"/>
                  <a:gd name="T43" fmla="*/ 1 h 1920"/>
                  <a:gd name="T44" fmla="*/ 0 w 529"/>
                  <a:gd name="T45" fmla="*/ 1 h 1920"/>
                  <a:gd name="T46" fmla="*/ 0 w 529"/>
                  <a:gd name="T47" fmla="*/ 1 h 1920"/>
                  <a:gd name="T48" fmla="*/ 0 w 529"/>
                  <a:gd name="T49" fmla="*/ 1 h 1920"/>
                  <a:gd name="T50" fmla="*/ 0 w 529"/>
                  <a:gd name="T51" fmla="*/ 1 h 1920"/>
                  <a:gd name="T52" fmla="*/ 0 w 529"/>
                  <a:gd name="T53" fmla="*/ 1 h 1920"/>
                  <a:gd name="T54" fmla="*/ 0 w 529"/>
                  <a:gd name="T55" fmla="*/ 1 h 1920"/>
                  <a:gd name="T56" fmla="*/ 0 w 529"/>
                  <a:gd name="T57" fmla="*/ 1 h 1920"/>
                  <a:gd name="T58" fmla="*/ 0 w 529"/>
                  <a:gd name="T59" fmla="*/ 1 h 1920"/>
                  <a:gd name="T60" fmla="*/ 0 w 529"/>
                  <a:gd name="T61" fmla="*/ 1 h 1920"/>
                  <a:gd name="T62" fmla="*/ 0 w 529"/>
                  <a:gd name="T63" fmla="*/ 1 h 1920"/>
                  <a:gd name="T64" fmla="*/ 0 w 529"/>
                  <a:gd name="T65" fmla="*/ 1 h 1920"/>
                  <a:gd name="T66" fmla="*/ 0 w 529"/>
                  <a:gd name="T67" fmla="*/ 1 h 1920"/>
                  <a:gd name="T68" fmla="*/ 0 w 529"/>
                  <a:gd name="T69" fmla="*/ 1 h 1920"/>
                  <a:gd name="T70" fmla="*/ 0 w 529"/>
                  <a:gd name="T71" fmla="*/ 1 h 1920"/>
                  <a:gd name="T72" fmla="*/ 0 w 529"/>
                  <a:gd name="T73" fmla="*/ 1 h 1920"/>
                  <a:gd name="T74" fmla="*/ 0 w 529"/>
                  <a:gd name="T75" fmla="*/ 1 h 1920"/>
                  <a:gd name="T76" fmla="*/ 0 w 529"/>
                  <a:gd name="T77" fmla="*/ 1 h 1920"/>
                  <a:gd name="T78" fmla="*/ 0 w 529"/>
                  <a:gd name="T79" fmla="*/ 1 h 1920"/>
                  <a:gd name="T80" fmla="*/ 0 w 529"/>
                  <a:gd name="T81" fmla="*/ 1 h 1920"/>
                  <a:gd name="T82" fmla="*/ 0 w 529"/>
                  <a:gd name="T83" fmla="*/ 1 h 1920"/>
                  <a:gd name="T84" fmla="*/ 0 w 529"/>
                  <a:gd name="T85" fmla="*/ 1 h 1920"/>
                  <a:gd name="T86" fmla="*/ 0 w 529"/>
                  <a:gd name="T87" fmla="*/ 1 h 1920"/>
                  <a:gd name="T88" fmla="*/ 0 w 529"/>
                  <a:gd name="T89" fmla="*/ 1 h 1920"/>
                  <a:gd name="T90" fmla="*/ 0 w 529"/>
                  <a:gd name="T91" fmla="*/ 1 h 1920"/>
                  <a:gd name="T92" fmla="*/ 0 w 529"/>
                  <a:gd name="T93" fmla="*/ 1 h 1920"/>
                  <a:gd name="T94" fmla="*/ 0 w 529"/>
                  <a:gd name="T95" fmla="*/ 0 h 192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29"/>
                  <a:gd name="T145" fmla="*/ 0 h 1920"/>
                  <a:gd name="T146" fmla="*/ 529 w 529"/>
                  <a:gd name="T147" fmla="*/ 1920 h 192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29" h="1920">
                    <a:moveTo>
                      <a:pt x="150" y="0"/>
                    </a:moveTo>
                    <a:lnTo>
                      <a:pt x="205" y="82"/>
                    </a:lnTo>
                    <a:lnTo>
                      <a:pt x="248" y="157"/>
                    </a:lnTo>
                    <a:lnTo>
                      <a:pt x="267" y="212"/>
                    </a:lnTo>
                    <a:lnTo>
                      <a:pt x="378" y="451"/>
                    </a:lnTo>
                    <a:lnTo>
                      <a:pt x="422" y="594"/>
                    </a:lnTo>
                    <a:lnTo>
                      <a:pt x="428" y="731"/>
                    </a:lnTo>
                    <a:lnTo>
                      <a:pt x="434" y="925"/>
                    </a:lnTo>
                    <a:lnTo>
                      <a:pt x="441" y="1033"/>
                    </a:lnTo>
                    <a:lnTo>
                      <a:pt x="463" y="1117"/>
                    </a:lnTo>
                    <a:lnTo>
                      <a:pt x="474" y="1189"/>
                    </a:lnTo>
                    <a:lnTo>
                      <a:pt x="472" y="1258"/>
                    </a:lnTo>
                    <a:lnTo>
                      <a:pt x="455" y="1308"/>
                    </a:lnTo>
                    <a:lnTo>
                      <a:pt x="447" y="1370"/>
                    </a:lnTo>
                    <a:lnTo>
                      <a:pt x="453" y="1469"/>
                    </a:lnTo>
                    <a:lnTo>
                      <a:pt x="456" y="1640"/>
                    </a:lnTo>
                    <a:lnTo>
                      <a:pt x="466" y="1720"/>
                    </a:lnTo>
                    <a:lnTo>
                      <a:pt x="492" y="1795"/>
                    </a:lnTo>
                    <a:lnTo>
                      <a:pt x="529" y="1870"/>
                    </a:lnTo>
                    <a:lnTo>
                      <a:pt x="460" y="1895"/>
                    </a:lnTo>
                    <a:lnTo>
                      <a:pt x="384" y="1920"/>
                    </a:lnTo>
                    <a:lnTo>
                      <a:pt x="329" y="1914"/>
                    </a:lnTo>
                    <a:lnTo>
                      <a:pt x="216" y="1889"/>
                    </a:lnTo>
                    <a:lnTo>
                      <a:pt x="202" y="1798"/>
                    </a:lnTo>
                    <a:lnTo>
                      <a:pt x="193" y="1719"/>
                    </a:lnTo>
                    <a:lnTo>
                      <a:pt x="199" y="1665"/>
                    </a:lnTo>
                    <a:lnTo>
                      <a:pt x="207" y="1589"/>
                    </a:lnTo>
                    <a:lnTo>
                      <a:pt x="199" y="1520"/>
                    </a:lnTo>
                    <a:lnTo>
                      <a:pt x="174" y="1451"/>
                    </a:lnTo>
                    <a:lnTo>
                      <a:pt x="156" y="1401"/>
                    </a:lnTo>
                    <a:lnTo>
                      <a:pt x="150" y="1320"/>
                    </a:lnTo>
                    <a:lnTo>
                      <a:pt x="137" y="1277"/>
                    </a:lnTo>
                    <a:lnTo>
                      <a:pt x="125" y="1120"/>
                    </a:lnTo>
                    <a:lnTo>
                      <a:pt x="106" y="995"/>
                    </a:lnTo>
                    <a:lnTo>
                      <a:pt x="93" y="900"/>
                    </a:lnTo>
                    <a:lnTo>
                      <a:pt x="75" y="862"/>
                    </a:lnTo>
                    <a:lnTo>
                      <a:pt x="55" y="760"/>
                    </a:lnTo>
                    <a:lnTo>
                      <a:pt x="41" y="639"/>
                    </a:lnTo>
                    <a:lnTo>
                      <a:pt x="46" y="532"/>
                    </a:lnTo>
                    <a:lnTo>
                      <a:pt x="42" y="463"/>
                    </a:lnTo>
                    <a:lnTo>
                      <a:pt x="24" y="375"/>
                    </a:lnTo>
                    <a:lnTo>
                      <a:pt x="18" y="293"/>
                    </a:lnTo>
                    <a:lnTo>
                      <a:pt x="10" y="196"/>
                    </a:lnTo>
                    <a:lnTo>
                      <a:pt x="0" y="113"/>
                    </a:lnTo>
                    <a:lnTo>
                      <a:pt x="15" y="67"/>
                    </a:lnTo>
                    <a:lnTo>
                      <a:pt x="43" y="35"/>
                    </a:lnTo>
                    <a:lnTo>
                      <a:pt x="89" y="9"/>
                    </a:lnTo>
                    <a:lnTo>
                      <a:pt x="150" y="0"/>
                    </a:lnTo>
                    <a:close/>
                  </a:path>
                </a:pathLst>
              </a:custGeom>
              <a:solidFill>
                <a:srgbClr val="0000FF"/>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26" name="Freeform 43">
                <a:extLst>
                  <a:ext uri="{FF2B5EF4-FFF2-40B4-BE49-F238E27FC236}">
                    <a16:creationId xmlns:a16="http://schemas.microsoft.com/office/drawing/2014/main" id="{DC74B0E5-F5C6-414C-A92C-AC9D2EFC85FA}"/>
                  </a:ext>
                </a:extLst>
              </p:cNvPr>
              <p:cNvSpPr>
                <a:spLocks/>
              </p:cNvSpPr>
              <p:nvPr/>
            </p:nvSpPr>
            <p:spPr bwMode="auto">
              <a:xfrm>
                <a:off x="4262" y="1523"/>
                <a:ext cx="65" cy="397"/>
              </a:xfrm>
              <a:custGeom>
                <a:avLst/>
                <a:gdLst>
                  <a:gd name="T0" fmla="*/ 0 w 131"/>
                  <a:gd name="T1" fmla="*/ 1 h 794"/>
                  <a:gd name="T2" fmla="*/ 0 w 131"/>
                  <a:gd name="T3" fmla="*/ 1 h 794"/>
                  <a:gd name="T4" fmla="*/ 0 w 131"/>
                  <a:gd name="T5" fmla="*/ 1 h 794"/>
                  <a:gd name="T6" fmla="*/ 0 w 131"/>
                  <a:gd name="T7" fmla="*/ 1 h 794"/>
                  <a:gd name="T8" fmla="*/ 0 w 131"/>
                  <a:gd name="T9" fmla="*/ 1 h 794"/>
                  <a:gd name="T10" fmla="*/ 0 w 131"/>
                  <a:gd name="T11" fmla="*/ 1 h 794"/>
                  <a:gd name="T12" fmla="*/ 0 w 131"/>
                  <a:gd name="T13" fmla="*/ 1 h 794"/>
                  <a:gd name="T14" fmla="*/ 0 w 131"/>
                  <a:gd name="T15" fmla="*/ 1 h 794"/>
                  <a:gd name="T16" fmla="*/ 0 w 131"/>
                  <a:gd name="T17" fmla="*/ 1 h 794"/>
                  <a:gd name="T18" fmla="*/ 0 w 131"/>
                  <a:gd name="T19" fmla="*/ 1 h 794"/>
                  <a:gd name="T20" fmla="*/ 0 w 131"/>
                  <a:gd name="T21" fmla="*/ 1 h 794"/>
                  <a:gd name="T22" fmla="*/ 0 w 131"/>
                  <a:gd name="T23" fmla="*/ 1 h 794"/>
                  <a:gd name="T24" fmla="*/ 0 w 131"/>
                  <a:gd name="T25" fmla="*/ 1 h 794"/>
                  <a:gd name="T26" fmla="*/ 0 w 131"/>
                  <a:gd name="T27" fmla="*/ 1 h 794"/>
                  <a:gd name="T28" fmla="*/ 0 w 131"/>
                  <a:gd name="T29" fmla="*/ 1 h 794"/>
                  <a:gd name="T30" fmla="*/ 0 w 131"/>
                  <a:gd name="T31" fmla="*/ 0 h 79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1"/>
                  <a:gd name="T49" fmla="*/ 0 h 794"/>
                  <a:gd name="T50" fmla="*/ 131 w 131"/>
                  <a:gd name="T51" fmla="*/ 794 h 79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1" h="794">
                    <a:moveTo>
                      <a:pt x="101" y="794"/>
                    </a:moveTo>
                    <a:lnTo>
                      <a:pt x="101" y="688"/>
                    </a:lnTo>
                    <a:lnTo>
                      <a:pt x="119" y="632"/>
                    </a:lnTo>
                    <a:lnTo>
                      <a:pt x="131" y="581"/>
                    </a:lnTo>
                    <a:lnTo>
                      <a:pt x="101" y="526"/>
                    </a:lnTo>
                    <a:lnTo>
                      <a:pt x="101" y="501"/>
                    </a:lnTo>
                    <a:lnTo>
                      <a:pt x="88" y="457"/>
                    </a:lnTo>
                    <a:lnTo>
                      <a:pt x="69" y="418"/>
                    </a:lnTo>
                    <a:lnTo>
                      <a:pt x="76" y="362"/>
                    </a:lnTo>
                    <a:lnTo>
                      <a:pt x="51" y="330"/>
                    </a:lnTo>
                    <a:lnTo>
                      <a:pt x="38" y="274"/>
                    </a:lnTo>
                    <a:lnTo>
                      <a:pt x="38" y="212"/>
                    </a:lnTo>
                    <a:lnTo>
                      <a:pt x="32" y="149"/>
                    </a:lnTo>
                    <a:lnTo>
                      <a:pt x="13" y="86"/>
                    </a:lnTo>
                    <a:lnTo>
                      <a:pt x="0" y="18"/>
                    </a:lnTo>
                    <a:lnTo>
                      <a:pt x="0"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grpSp>
          <p:nvGrpSpPr>
            <p:cNvPr id="37901" name="Group 68">
              <a:extLst>
                <a:ext uri="{FF2B5EF4-FFF2-40B4-BE49-F238E27FC236}">
                  <a16:creationId xmlns:a16="http://schemas.microsoft.com/office/drawing/2014/main" id="{0A9A48CA-AF5D-4D3E-B700-453F64E78463}"/>
                </a:ext>
              </a:extLst>
            </p:cNvPr>
            <p:cNvGrpSpPr>
              <a:grpSpLocks/>
            </p:cNvGrpSpPr>
            <p:nvPr/>
          </p:nvGrpSpPr>
          <p:grpSpPr bwMode="auto">
            <a:xfrm>
              <a:off x="4280" y="1204"/>
              <a:ext cx="677" cy="522"/>
              <a:chOff x="4280" y="1204"/>
              <a:chExt cx="677" cy="522"/>
            </a:xfrm>
          </p:grpSpPr>
          <p:sp>
            <p:nvSpPr>
              <p:cNvPr id="37902" name="Freeform 45">
                <a:extLst>
                  <a:ext uri="{FF2B5EF4-FFF2-40B4-BE49-F238E27FC236}">
                    <a16:creationId xmlns:a16="http://schemas.microsoft.com/office/drawing/2014/main" id="{5197B330-7D55-41D8-8ECD-4B19B5296429}"/>
                  </a:ext>
                </a:extLst>
              </p:cNvPr>
              <p:cNvSpPr>
                <a:spLocks/>
              </p:cNvSpPr>
              <p:nvPr/>
            </p:nvSpPr>
            <p:spPr bwMode="auto">
              <a:xfrm>
                <a:off x="4690" y="1545"/>
                <a:ext cx="249" cy="138"/>
              </a:xfrm>
              <a:custGeom>
                <a:avLst/>
                <a:gdLst>
                  <a:gd name="T0" fmla="*/ 1 w 497"/>
                  <a:gd name="T1" fmla="*/ 0 h 277"/>
                  <a:gd name="T2" fmla="*/ 1 w 497"/>
                  <a:gd name="T3" fmla="*/ 0 h 277"/>
                  <a:gd name="T4" fmla="*/ 1 w 497"/>
                  <a:gd name="T5" fmla="*/ 0 h 277"/>
                  <a:gd name="T6" fmla="*/ 1 w 497"/>
                  <a:gd name="T7" fmla="*/ 0 h 277"/>
                  <a:gd name="T8" fmla="*/ 1 w 497"/>
                  <a:gd name="T9" fmla="*/ 0 h 277"/>
                  <a:gd name="T10" fmla="*/ 1 w 497"/>
                  <a:gd name="T11" fmla="*/ 0 h 277"/>
                  <a:gd name="T12" fmla="*/ 1 w 497"/>
                  <a:gd name="T13" fmla="*/ 0 h 277"/>
                  <a:gd name="T14" fmla="*/ 1 w 497"/>
                  <a:gd name="T15" fmla="*/ 0 h 277"/>
                  <a:gd name="T16" fmla="*/ 1 w 497"/>
                  <a:gd name="T17" fmla="*/ 0 h 277"/>
                  <a:gd name="T18" fmla="*/ 1 w 497"/>
                  <a:gd name="T19" fmla="*/ 0 h 277"/>
                  <a:gd name="T20" fmla="*/ 1 w 497"/>
                  <a:gd name="T21" fmla="*/ 0 h 277"/>
                  <a:gd name="T22" fmla="*/ 1 w 497"/>
                  <a:gd name="T23" fmla="*/ 0 h 277"/>
                  <a:gd name="T24" fmla="*/ 1 w 497"/>
                  <a:gd name="T25" fmla="*/ 0 h 277"/>
                  <a:gd name="T26" fmla="*/ 0 w 497"/>
                  <a:gd name="T27" fmla="*/ 0 h 277"/>
                  <a:gd name="T28" fmla="*/ 1 w 497"/>
                  <a:gd name="T29" fmla="*/ 0 h 277"/>
                  <a:gd name="T30" fmla="*/ 1 w 497"/>
                  <a:gd name="T31" fmla="*/ 0 h 277"/>
                  <a:gd name="T32" fmla="*/ 1 w 497"/>
                  <a:gd name="T33" fmla="*/ 0 h 277"/>
                  <a:gd name="T34" fmla="*/ 1 w 497"/>
                  <a:gd name="T35" fmla="*/ 0 h 277"/>
                  <a:gd name="T36" fmla="*/ 1 w 497"/>
                  <a:gd name="T37" fmla="*/ 0 h 277"/>
                  <a:gd name="T38" fmla="*/ 1 w 497"/>
                  <a:gd name="T39" fmla="*/ 0 h 2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97"/>
                  <a:gd name="T61" fmla="*/ 0 h 277"/>
                  <a:gd name="T62" fmla="*/ 497 w 497"/>
                  <a:gd name="T63" fmla="*/ 277 h 2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97" h="277">
                    <a:moveTo>
                      <a:pt x="422" y="0"/>
                    </a:moveTo>
                    <a:lnTo>
                      <a:pt x="491" y="49"/>
                    </a:lnTo>
                    <a:lnTo>
                      <a:pt x="497" y="74"/>
                    </a:lnTo>
                    <a:lnTo>
                      <a:pt x="493" y="112"/>
                    </a:lnTo>
                    <a:lnTo>
                      <a:pt x="480" y="143"/>
                    </a:lnTo>
                    <a:lnTo>
                      <a:pt x="459" y="172"/>
                    </a:lnTo>
                    <a:lnTo>
                      <a:pt x="421" y="203"/>
                    </a:lnTo>
                    <a:lnTo>
                      <a:pt x="369" y="230"/>
                    </a:lnTo>
                    <a:lnTo>
                      <a:pt x="306" y="256"/>
                    </a:lnTo>
                    <a:lnTo>
                      <a:pt x="243" y="273"/>
                    </a:lnTo>
                    <a:lnTo>
                      <a:pt x="174" y="277"/>
                    </a:lnTo>
                    <a:lnTo>
                      <a:pt x="118" y="274"/>
                    </a:lnTo>
                    <a:lnTo>
                      <a:pt x="62" y="249"/>
                    </a:lnTo>
                    <a:lnTo>
                      <a:pt x="0" y="218"/>
                    </a:lnTo>
                    <a:lnTo>
                      <a:pt x="87" y="236"/>
                    </a:lnTo>
                    <a:lnTo>
                      <a:pt x="180" y="242"/>
                    </a:lnTo>
                    <a:lnTo>
                      <a:pt x="249" y="218"/>
                    </a:lnTo>
                    <a:lnTo>
                      <a:pt x="330" y="181"/>
                    </a:lnTo>
                    <a:lnTo>
                      <a:pt x="385" y="124"/>
                    </a:lnTo>
                    <a:lnTo>
                      <a:pt x="422" y="0"/>
                    </a:lnTo>
                    <a:close/>
                  </a:path>
                </a:pathLst>
              </a:custGeom>
              <a:solidFill>
                <a:srgbClr val="00008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03" name="Freeform 46">
                <a:extLst>
                  <a:ext uri="{FF2B5EF4-FFF2-40B4-BE49-F238E27FC236}">
                    <a16:creationId xmlns:a16="http://schemas.microsoft.com/office/drawing/2014/main" id="{A984F5DF-4E84-4ABB-A960-CBFFC0131477}"/>
                  </a:ext>
                </a:extLst>
              </p:cNvPr>
              <p:cNvSpPr>
                <a:spLocks/>
              </p:cNvSpPr>
              <p:nvPr/>
            </p:nvSpPr>
            <p:spPr bwMode="auto">
              <a:xfrm>
                <a:off x="4851" y="1545"/>
                <a:ext cx="106" cy="105"/>
              </a:xfrm>
              <a:custGeom>
                <a:avLst/>
                <a:gdLst>
                  <a:gd name="T0" fmla="*/ 1 w 212"/>
                  <a:gd name="T1" fmla="*/ 0 h 211"/>
                  <a:gd name="T2" fmla="*/ 1 w 212"/>
                  <a:gd name="T3" fmla="*/ 0 h 211"/>
                  <a:gd name="T4" fmla="*/ 1 w 212"/>
                  <a:gd name="T5" fmla="*/ 0 h 211"/>
                  <a:gd name="T6" fmla="*/ 1 w 212"/>
                  <a:gd name="T7" fmla="*/ 0 h 211"/>
                  <a:gd name="T8" fmla="*/ 1 w 212"/>
                  <a:gd name="T9" fmla="*/ 0 h 211"/>
                  <a:gd name="T10" fmla="*/ 1 w 212"/>
                  <a:gd name="T11" fmla="*/ 0 h 211"/>
                  <a:gd name="T12" fmla="*/ 1 w 212"/>
                  <a:gd name="T13" fmla="*/ 0 h 211"/>
                  <a:gd name="T14" fmla="*/ 1 w 212"/>
                  <a:gd name="T15" fmla="*/ 0 h 211"/>
                  <a:gd name="T16" fmla="*/ 1 w 212"/>
                  <a:gd name="T17" fmla="*/ 0 h 211"/>
                  <a:gd name="T18" fmla="*/ 1 w 212"/>
                  <a:gd name="T19" fmla="*/ 0 h 211"/>
                  <a:gd name="T20" fmla="*/ 0 w 212"/>
                  <a:gd name="T21" fmla="*/ 0 h 211"/>
                  <a:gd name="T22" fmla="*/ 1 w 212"/>
                  <a:gd name="T23" fmla="*/ 0 h 211"/>
                  <a:gd name="T24" fmla="*/ 1 w 212"/>
                  <a:gd name="T25" fmla="*/ 0 h 211"/>
                  <a:gd name="T26" fmla="*/ 1 w 212"/>
                  <a:gd name="T27" fmla="*/ 0 h 211"/>
                  <a:gd name="T28" fmla="*/ 1 w 212"/>
                  <a:gd name="T29" fmla="*/ 0 h 211"/>
                  <a:gd name="T30" fmla="*/ 1 w 212"/>
                  <a:gd name="T31" fmla="*/ 0 h 211"/>
                  <a:gd name="T32" fmla="*/ 1 w 212"/>
                  <a:gd name="T33" fmla="*/ 0 h 211"/>
                  <a:gd name="T34" fmla="*/ 1 w 212"/>
                  <a:gd name="T35" fmla="*/ 0 h 211"/>
                  <a:gd name="T36" fmla="*/ 1 w 212"/>
                  <a:gd name="T37" fmla="*/ 0 h 2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12"/>
                  <a:gd name="T58" fmla="*/ 0 h 211"/>
                  <a:gd name="T59" fmla="*/ 212 w 212"/>
                  <a:gd name="T60" fmla="*/ 211 h 21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12" h="211">
                    <a:moveTo>
                      <a:pt x="164" y="5"/>
                    </a:moveTo>
                    <a:lnTo>
                      <a:pt x="198" y="0"/>
                    </a:lnTo>
                    <a:lnTo>
                      <a:pt x="209" y="11"/>
                    </a:lnTo>
                    <a:lnTo>
                      <a:pt x="212" y="32"/>
                    </a:lnTo>
                    <a:lnTo>
                      <a:pt x="202" y="60"/>
                    </a:lnTo>
                    <a:lnTo>
                      <a:pt x="180" y="74"/>
                    </a:lnTo>
                    <a:lnTo>
                      <a:pt x="155" y="77"/>
                    </a:lnTo>
                    <a:lnTo>
                      <a:pt x="130" y="137"/>
                    </a:lnTo>
                    <a:lnTo>
                      <a:pt x="74" y="175"/>
                    </a:lnTo>
                    <a:lnTo>
                      <a:pt x="36" y="198"/>
                    </a:lnTo>
                    <a:lnTo>
                      <a:pt x="0" y="211"/>
                    </a:lnTo>
                    <a:lnTo>
                      <a:pt x="43" y="161"/>
                    </a:lnTo>
                    <a:lnTo>
                      <a:pt x="70" y="132"/>
                    </a:lnTo>
                    <a:lnTo>
                      <a:pt x="95" y="97"/>
                    </a:lnTo>
                    <a:lnTo>
                      <a:pt x="133" y="50"/>
                    </a:lnTo>
                    <a:lnTo>
                      <a:pt x="145" y="40"/>
                    </a:lnTo>
                    <a:lnTo>
                      <a:pt x="150" y="28"/>
                    </a:lnTo>
                    <a:lnTo>
                      <a:pt x="153" y="17"/>
                    </a:lnTo>
                    <a:lnTo>
                      <a:pt x="164" y="5"/>
                    </a:lnTo>
                    <a:close/>
                  </a:path>
                </a:pathLst>
              </a:custGeom>
              <a:solidFill>
                <a:srgbClr val="FF000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nvGrpSpPr>
              <p:cNvPr id="37904" name="Group 67">
                <a:extLst>
                  <a:ext uri="{FF2B5EF4-FFF2-40B4-BE49-F238E27FC236}">
                    <a16:creationId xmlns:a16="http://schemas.microsoft.com/office/drawing/2014/main" id="{4D371CEA-C739-4DD2-B98A-DA809B44A763}"/>
                  </a:ext>
                </a:extLst>
              </p:cNvPr>
              <p:cNvGrpSpPr>
                <a:grpSpLocks/>
              </p:cNvGrpSpPr>
              <p:nvPr/>
            </p:nvGrpSpPr>
            <p:grpSpPr bwMode="auto">
              <a:xfrm>
                <a:off x="4280" y="1204"/>
                <a:ext cx="671" cy="522"/>
                <a:chOff x="4280" y="1204"/>
                <a:chExt cx="671" cy="522"/>
              </a:xfrm>
            </p:grpSpPr>
            <p:grpSp>
              <p:nvGrpSpPr>
                <p:cNvPr id="37905" name="Group 55">
                  <a:extLst>
                    <a:ext uri="{FF2B5EF4-FFF2-40B4-BE49-F238E27FC236}">
                      <a16:creationId xmlns:a16="http://schemas.microsoft.com/office/drawing/2014/main" id="{E3B4343E-9C30-49BD-87E9-96DE542771C5}"/>
                    </a:ext>
                  </a:extLst>
                </p:cNvPr>
                <p:cNvGrpSpPr>
                  <a:grpSpLocks/>
                </p:cNvGrpSpPr>
                <p:nvPr/>
              </p:nvGrpSpPr>
              <p:grpSpPr bwMode="auto">
                <a:xfrm>
                  <a:off x="4280" y="1204"/>
                  <a:ext cx="671" cy="522"/>
                  <a:chOff x="4280" y="1204"/>
                  <a:chExt cx="671" cy="522"/>
                </a:xfrm>
              </p:grpSpPr>
              <p:grpSp>
                <p:nvGrpSpPr>
                  <p:cNvPr id="37917" name="Group 53">
                    <a:extLst>
                      <a:ext uri="{FF2B5EF4-FFF2-40B4-BE49-F238E27FC236}">
                        <a16:creationId xmlns:a16="http://schemas.microsoft.com/office/drawing/2014/main" id="{401CC565-C3F9-4DF8-B785-974D09D4CDD4}"/>
                      </a:ext>
                    </a:extLst>
                  </p:cNvPr>
                  <p:cNvGrpSpPr>
                    <a:grpSpLocks/>
                  </p:cNvGrpSpPr>
                  <p:nvPr/>
                </p:nvGrpSpPr>
                <p:grpSpPr bwMode="auto">
                  <a:xfrm>
                    <a:off x="4280" y="1204"/>
                    <a:ext cx="671" cy="522"/>
                    <a:chOff x="4280" y="1204"/>
                    <a:chExt cx="671" cy="522"/>
                  </a:xfrm>
                </p:grpSpPr>
                <p:grpSp>
                  <p:nvGrpSpPr>
                    <p:cNvPr id="37919" name="Group 51">
                      <a:extLst>
                        <a:ext uri="{FF2B5EF4-FFF2-40B4-BE49-F238E27FC236}">
                          <a16:creationId xmlns:a16="http://schemas.microsoft.com/office/drawing/2014/main" id="{00FDC04A-EAD4-43C7-9756-B724541A5FE5}"/>
                        </a:ext>
                      </a:extLst>
                    </p:cNvPr>
                    <p:cNvGrpSpPr>
                      <a:grpSpLocks/>
                    </p:cNvGrpSpPr>
                    <p:nvPr/>
                  </p:nvGrpSpPr>
                  <p:grpSpPr bwMode="auto">
                    <a:xfrm>
                      <a:off x="4396" y="1204"/>
                      <a:ext cx="111" cy="154"/>
                      <a:chOff x="4396" y="1204"/>
                      <a:chExt cx="111" cy="154"/>
                    </a:xfrm>
                  </p:grpSpPr>
                  <p:sp>
                    <p:nvSpPr>
                      <p:cNvPr id="37921" name="Freeform 47">
                        <a:extLst>
                          <a:ext uri="{FF2B5EF4-FFF2-40B4-BE49-F238E27FC236}">
                            <a16:creationId xmlns:a16="http://schemas.microsoft.com/office/drawing/2014/main" id="{7137C1CE-D593-43BB-A3E5-B2185944BFFA}"/>
                          </a:ext>
                        </a:extLst>
                      </p:cNvPr>
                      <p:cNvSpPr>
                        <a:spLocks/>
                      </p:cNvSpPr>
                      <p:nvPr/>
                    </p:nvSpPr>
                    <p:spPr bwMode="auto">
                      <a:xfrm>
                        <a:off x="4396" y="1204"/>
                        <a:ext cx="111" cy="154"/>
                      </a:xfrm>
                      <a:custGeom>
                        <a:avLst/>
                        <a:gdLst>
                          <a:gd name="T0" fmla="*/ 1 w 222"/>
                          <a:gd name="T1" fmla="*/ 0 h 309"/>
                          <a:gd name="T2" fmla="*/ 1 w 222"/>
                          <a:gd name="T3" fmla="*/ 0 h 309"/>
                          <a:gd name="T4" fmla="*/ 1 w 222"/>
                          <a:gd name="T5" fmla="*/ 0 h 309"/>
                          <a:gd name="T6" fmla="*/ 1 w 222"/>
                          <a:gd name="T7" fmla="*/ 0 h 309"/>
                          <a:gd name="T8" fmla="*/ 1 w 222"/>
                          <a:gd name="T9" fmla="*/ 0 h 309"/>
                          <a:gd name="T10" fmla="*/ 1 w 222"/>
                          <a:gd name="T11" fmla="*/ 0 h 309"/>
                          <a:gd name="T12" fmla="*/ 1 w 222"/>
                          <a:gd name="T13" fmla="*/ 0 h 309"/>
                          <a:gd name="T14" fmla="*/ 1 w 222"/>
                          <a:gd name="T15" fmla="*/ 0 h 309"/>
                          <a:gd name="T16" fmla="*/ 1 w 222"/>
                          <a:gd name="T17" fmla="*/ 0 h 309"/>
                          <a:gd name="T18" fmla="*/ 1 w 222"/>
                          <a:gd name="T19" fmla="*/ 0 h 309"/>
                          <a:gd name="T20" fmla="*/ 1 w 222"/>
                          <a:gd name="T21" fmla="*/ 0 h 309"/>
                          <a:gd name="T22" fmla="*/ 1 w 222"/>
                          <a:gd name="T23" fmla="*/ 0 h 309"/>
                          <a:gd name="T24" fmla="*/ 1 w 222"/>
                          <a:gd name="T25" fmla="*/ 0 h 309"/>
                          <a:gd name="T26" fmla="*/ 1 w 222"/>
                          <a:gd name="T27" fmla="*/ 0 h 309"/>
                          <a:gd name="T28" fmla="*/ 1 w 222"/>
                          <a:gd name="T29" fmla="*/ 0 h 309"/>
                          <a:gd name="T30" fmla="*/ 1 w 222"/>
                          <a:gd name="T31" fmla="*/ 0 h 309"/>
                          <a:gd name="T32" fmla="*/ 1 w 222"/>
                          <a:gd name="T33" fmla="*/ 0 h 309"/>
                          <a:gd name="T34" fmla="*/ 1 w 222"/>
                          <a:gd name="T35" fmla="*/ 0 h 309"/>
                          <a:gd name="T36" fmla="*/ 1 w 222"/>
                          <a:gd name="T37" fmla="*/ 0 h 309"/>
                          <a:gd name="T38" fmla="*/ 1 w 222"/>
                          <a:gd name="T39" fmla="*/ 0 h 309"/>
                          <a:gd name="T40" fmla="*/ 1 w 222"/>
                          <a:gd name="T41" fmla="*/ 0 h 309"/>
                          <a:gd name="T42" fmla="*/ 1 w 222"/>
                          <a:gd name="T43" fmla="*/ 0 h 309"/>
                          <a:gd name="T44" fmla="*/ 1 w 222"/>
                          <a:gd name="T45" fmla="*/ 0 h 309"/>
                          <a:gd name="T46" fmla="*/ 1 w 222"/>
                          <a:gd name="T47" fmla="*/ 0 h 309"/>
                          <a:gd name="T48" fmla="*/ 1 w 222"/>
                          <a:gd name="T49" fmla="*/ 0 h 309"/>
                          <a:gd name="T50" fmla="*/ 0 w 222"/>
                          <a:gd name="T51" fmla="*/ 0 h 309"/>
                          <a:gd name="T52" fmla="*/ 1 w 222"/>
                          <a:gd name="T53" fmla="*/ 0 h 309"/>
                          <a:gd name="T54" fmla="*/ 1 w 222"/>
                          <a:gd name="T55" fmla="*/ 0 h 309"/>
                          <a:gd name="T56" fmla="*/ 1 w 222"/>
                          <a:gd name="T57" fmla="*/ 0 h 309"/>
                          <a:gd name="T58" fmla="*/ 1 w 222"/>
                          <a:gd name="T59" fmla="*/ 0 h 309"/>
                          <a:gd name="T60" fmla="*/ 1 w 222"/>
                          <a:gd name="T61" fmla="*/ 0 h 309"/>
                          <a:gd name="T62" fmla="*/ 1 w 222"/>
                          <a:gd name="T63" fmla="*/ 0 h 309"/>
                          <a:gd name="T64" fmla="*/ 1 w 222"/>
                          <a:gd name="T65" fmla="*/ 0 h 309"/>
                          <a:gd name="T66" fmla="*/ 1 w 222"/>
                          <a:gd name="T67" fmla="*/ 0 h 309"/>
                          <a:gd name="T68" fmla="*/ 1 w 222"/>
                          <a:gd name="T69" fmla="*/ 0 h 309"/>
                          <a:gd name="T70" fmla="*/ 1 w 222"/>
                          <a:gd name="T71" fmla="*/ 0 h 309"/>
                          <a:gd name="T72" fmla="*/ 1 w 222"/>
                          <a:gd name="T73" fmla="*/ 0 h 30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22"/>
                          <a:gd name="T112" fmla="*/ 0 h 309"/>
                          <a:gd name="T113" fmla="*/ 222 w 222"/>
                          <a:gd name="T114" fmla="*/ 309 h 30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22" h="309">
                            <a:moveTo>
                              <a:pt x="222" y="191"/>
                            </a:moveTo>
                            <a:lnTo>
                              <a:pt x="187" y="164"/>
                            </a:lnTo>
                            <a:lnTo>
                              <a:pt x="173" y="142"/>
                            </a:lnTo>
                            <a:lnTo>
                              <a:pt x="178" y="122"/>
                            </a:lnTo>
                            <a:lnTo>
                              <a:pt x="179" y="106"/>
                            </a:lnTo>
                            <a:lnTo>
                              <a:pt x="174" y="93"/>
                            </a:lnTo>
                            <a:lnTo>
                              <a:pt x="163" y="88"/>
                            </a:lnTo>
                            <a:lnTo>
                              <a:pt x="172" y="76"/>
                            </a:lnTo>
                            <a:lnTo>
                              <a:pt x="170" y="61"/>
                            </a:lnTo>
                            <a:lnTo>
                              <a:pt x="161" y="50"/>
                            </a:lnTo>
                            <a:lnTo>
                              <a:pt x="150" y="44"/>
                            </a:lnTo>
                            <a:lnTo>
                              <a:pt x="138" y="41"/>
                            </a:lnTo>
                            <a:lnTo>
                              <a:pt x="126" y="43"/>
                            </a:lnTo>
                            <a:lnTo>
                              <a:pt x="131" y="32"/>
                            </a:lnTo>
                            <a:lnTo>
                              <a:pt x="128" y="18"/>
                            </a:lnTo>
                            <a:lnTo>
                              <a:pt x="122" y="13"/>
                            </a:lnTo>
                            <a:lnTo>
                              <a:pt x="111" y="10"/>
                            </a:lnTo>
                            <a:lnTo>
                              <a:pt x="101" y="11"/>
                            </a:lnTo>
                            <a:lnTo>
                              <a:pt x="90" y="16"/>
                            </a:lnTo>
                            <a:lnTo>
                              <a:pt x="82" y="3"/>
                            </a:lnTo>
                            <a:lnTo>
                              <a:pt x="66" y="0"/>
                            </a:lnTo>
                            <a:lnTo>
                              <a:pt x="46" y="0"/>
                            </a:lnTo>
                            <a:lnTo>
                              <a:pt x="24" y="8"/>
                            </a:lnTo>
                            <a:lnTo>
                              <a:pt x="11" y="20"/>
                            </a:lnTo>
                            <a:lnTo>
                              <a:pt x="2" y="33"/>
                            </a:lnTo>
                            <a:lnTo>
                              <a:pt x="0" y="51"/>
                            </a:lnTo>
                            <a:lnTo>
                              <a:pt x="3" y="69"/>
                            </a:lnTo>
                            <a:lnTo>
                              <a:pt x="11" y="90"/>
                            </a:lnTo>
                            <a:lnTo>
                              <a:pt x="17" y="114"/>
                            </a:lnTo>
                            <a:lnTo>
                              <a:pt x="27" y="138"/>
                            </a:lnTo>
                            <a:lnTo>
                              <a:pt x="46" y="157"/>
                            </a:lnTo>
                            <a:lnTo>
                              <a:pt x="81" y="182"/>
                            </a:lnTo>
                            <a:lnTo>
                              <a:pt x="117" y="198"/>
                            </a:lnTo>
                            <a:lnTo>
                              <a:pt x="155" y="210"/>
                            </a:lnTo>
                            <a:lnTo>
                              <a:pt x="198" y="258"/>
                            </a:lnTo>
                            <a:lnTo>
                              <a:pt x="215" y="309"/>
                            </a:lnTo>
                            <a:lnTo>
                              <a:pt x="222" y="191"/>
                            </a:lnTo>
                            <a:close/>
                          </a:path>
                        </a:pathLst>
                      </a:custGeom>
                      <a:solidFill>
                        <a:srgbClr val="E0A080"/>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22" name="Freeform 48">
                        <a:extLst>
                          <a:ext uri="{FF2B5EF4-FFF2-40B4-BE49-F238E27FC236}">
                            <a16:creationId xmlns:a16="http://schemas.microsoft.com/office/drawing/2014/main" id="{839F075F-10DF-4A3E-B90E-3869BFC409BA}"/>
                          </a:ext>
                        </a:extLst>
                      </p:cNvPr>
                      <p:cNvSpPr>
                        <a:spLocks/>
                      </p:cNvSpPr>
                      <p:nvPr/>
                    </p:nvSpPr>
                    <p:spPr bwMode="auto">
                      <a:xfrm>
                        <a:off x="4419" y="1213"/>
                        <a:ext cx="23" cy="29"/>
                      </a:xfrm>
                      <a:custGeom>
                        <a:avLst/>
                        <a:gdLst>
                          <a:gd name="T0" fmla="*/ 1 w 46"/>
                          <a:gd name="T1" fmla="*/ 0 h 59"/>
                          <a:gd name="T2" fmla="*/ 0 w 46"/>
                          <a:gd name="T3" fmla="*/ 0 h 59"/>
                          <a:gd name="T4" fmla="*/ 1 w 46"/>
                          <a:gd name="T5" fmla="*/ 0 h 59"/>
                          <a:gd name="T6" fmla="*/ 1 w 46"/>
                          <a:gd name="T7" fmla="*/ 0 h 59"/>
                          <a:gd name="T8" fmla="*/ 1 w 46"/>
                          <a:gd name="T9" fmla="*/ 0 h 59"/>
                          <a:gd name="T10" fmla="*/ 1 w 46"/>
                          <a:gd name="T11" fmla="*/ 0 h 59"/>
                          <a:gd name="T12" fmla="*/ 1 w 46"/>
                          <a:gd name="T13" fmla="*/ 0 h 59"/>
                          <a:gd name="T14" fmla="*/ 1 w 46"/>
                          <a:gd name="T15" fmla="*/ 0 h 59"/>
                          <a:gd name="T16" fmla="*/ 0 60000 65536"/>
                          <a:gd name="T17" fmla="*/ 0 60000 65536"/>
                          <a:gd name="T18" fmla="*/ 0 60000 65536"/>
                          <a:gd name="T19" fmla="*/ 0 60000 65536"/>
                          <a:gd name="T20" fmla="*/ 0 60000 65536"/>
                          <a:gd name="T21" fmla="*/ 0 60000 65536"/>
                          <a:gd name="T22" fmla="*/ 0 60000 65536"/>
                          <a:gd name="T23" fmla="*/ 0 60000 65536"/>
                          <a:gd name="T24" fmla="*/ 0 w 46"/>
                          <a:gd name="T25" fmla="*/ 0 h 59"/>
                          <a:gd name="T26" fmla="*/ 46 w 46"/>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6" h="59">
                            <a:moveTo>
                              <a:pt x="2" y="59"/>
                            </a:moveTo>
                            <a:lnTo>
                              <a:pt x="0" y="42"/>
                            </a:lnTo>
                            <a:lnTo>
                              <a:pt x="1" y="25"/>
                            </a:lnTo>
                            <a:lnTo>
                              <a:pt x="9" y="13"/>
                            </a:lnTo>
                            <a:lnTo>
                              <a:pt x="18" y="6"/>
                            </a:lnTo>
                            <a:lnTo>
                              <a:pt x="28" y="2"/>
                            </a:lnTo>
                            <a:lnTo>
                              <a:pt x="36" y="3"/>
                            </a:lnTo>
                            <a:lnTo>
                              <a:pt x="46"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23" name="Freeform 49">
                        <a:extLst>
                          <a:ext uri="{FF2B5EF4-FFF2-40B4-BE49-F238E27FC236}">
                            <a16:creationId xmlns:a16="http://schemas.microsoft.com/office/drawing/2014/main" id="{4E00F0B8-9B5C-46C8-8E3E-3F9F04511AC3}"/>
                          </a:ext>
                        </a:extLst>
                      </p:cNvPr>
                      <p:cNvSpPr>
                        <a:spLocks/>
                      </p:cNvSpPr>
                      <p:nvPr/>
                    </p:nvSpPr>
                    <p:spPr bwMode="auto">
                      <a:xfrm>
                        <a:off x="4437" y="1226"/>
                        <a:ext cx="19" cy="29"/>
                      </a:xfrm>
                      <a:custGeom>
                        <a:avLst/>
                        <a:gdLst>
                          <a:gd name="T0" fmla="*/ 1 w 37"/>
                          <a:gd name="T1" fmla="*/ 0 h 59"/>
                          <a:gd name="T2" fmla="*/ 1 w 37"/>
                          <a:gd name="T3" fmla="*/ 0 h 59"/>
                          <a:gd name="T4" fmla="*/ 1 w 37"/>
                          <a:gd name="T5" fmla="*/ 0 h 59"/>
                          <a:gd name="T6" fmla="*/ 0 w 37"/>
                          <a:gd name="T7" fmla="*/ 0 h 59"/>
                          <a:gd name="T8" fmla="*/ 1 w 37"/>
                          <a:gd name="T9" fmla="*/ 0 h 59"/>
                          <a:gd name="T10" fmla="*/ 1 w 37"/>
                          <a:gd name="T11" fmla="*/ 0 h 59"/>
                          <a:gd name="T12" fmla="*/ 1 w 37"/>
                          <a:gd name="T13" fmla="*/ 0 h 59"/>
                          <a:gd name="T14" fmla="*/ 0 60000 65536"/>
                          <a:gd name="T15" fmla="*/ 0 60000 65536"/>
                          <a:gd name="T16" fmla="*/ 0 60000 65536"/>
                          <a:gd name="T17" fmla="*/ 0 60000 65536"/>
                          <a:gd name="T18" fmla="*/ 0 60000 65536"/>
                          <a:gd name="T19" fmla="*/ 0 60000 65536"/>
                          <a:gd name="T20" fmla="*/ 0 60000 65536"/>
                          <a:gd name="T21" fmla="*/ 0 w 37"/>
                          <a:gd name="T22" fmla="*/ 0 h 59"/>
                          <a:gd name="T23" fmla="*/ 37 w 37"/>
                          <a:gd name="T24" fmla="*/ 59 h 5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 h="59">
                            <a:moveTo>
                              <a:pt x="37" y="0"/>
                            </a:moveTo>
                            <a:lnTo>
                              <a:pt x="20" y="3"/>
                            </a:lnTo>
                            <a:lnTo>
                              <a:pt x="7" y="10"/>
                            </a:lnTo>
                            <a:lnTo>
                              <a:pt x="0" y="21"/>
                            </a:lnTo>
                            <a:lnTo>
                              <a:pt x="2" y="32"/>
                            </a:lnTo>
                            <a:lnTo>
                              <a:pt x="11" y="44"/>
                            </a:lnTo>
                            <a:lnTo>
                              <a:pt x="14" y="59"/>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24" name="Freeform 50">
                        <a:extLst>
                          <a:ext uri="{FF2B5EF4-FFF2-40B4-BE49-F238E27FC236}">
                            <a16:creationId xmlns:a16="http://schemas.microsoft.com/office/drawing/2014/main" id="{5A8614A6-110F-4823-B6D7-F36868E519C6}"/>
                          </a:ext>
                        </a:extLst>
                      </p:cNvPr>
                      <p:cNvSpPr>
                        <a:spLocks/>
                      </p:cNvSpPr>
                      <p:nvPr/>
                    </p:nvSpPr>
                    <p:spPr bwMode="auto">
                      <a:xfrm>
                        <a:off x="4455" y="1244"/>
                        <a:ext cx="21" cy="24"/>
                      </a:xfrm>
                      <a:custGeom>
                        <a:avLst/>
                        <a:gdLst>
                          <a:gd name="T0" fmla="*/ 1 w 41"/>
                          <a:gd name="T1" fmla="*/ 1 h 47"/>
                          <a:gd name="T2" fmla="*/ 1 w 41"/>
                          <a:gd name="T3" fmla="*/ 0 h 47"/>
                          <a:gd name="T4" fmla="*/ 1 w 41"/>
                          <a:gd name="T5" fmla="*/ 1 h 47"/>
                          <a:gd name="T6" fmla="*/ 1 w 41"/>
                          <a:gd name="T7" fmla="*/ 1 h 47"/>
                          <a:gd name="T8" fmla="*/ 0 w 41"/>
                          <a:gd name="T9" fmla="*/ 1 h 47"/>
                          <a:gd name="T10" fmla="*/ 1 w 41"/>
                          <a:gd name="T11" fmla="*/ 1 h 47"/>
                          <a:gd name="T12" fmla="*/ 1 w 41"/>
                          <a:gd name="T13" fmla="*/ 1 h 47"/>
                          <a:gd name="T14" fmla="*/ 0 60000 65536"/>
                          <a:gd name="T15" fmla="*/ 0 60000 65536"/>
                          <a:gd name="T16" fmla="*/ 0 60000 65536"/>
                          <a:gd name="T17" fmla="*/ 0 60000 65536"/>
                          <a:gd name="T18" fmla="*/ 0 60000 65536"/>
                          <a:gd name="T19" fmla="*/ 0 60000 65536"/>
                          <a:gd name="T20" fmla="*/ 0 60000 65536"/>
                          <a:gd name="T21" fmla="*/ 0 w 41"/>
                          <a:gd name="T22" fmla="*/ 0 h 47"/>
                          <a:gd name="T23" fmla="*/ 41 w 41"/>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7">
                            <a:moveTo>
                              <a:pt x="41" y="5"/>
                            </a:moveTo>
                            <a:lnTo>
                              <a:pt x="27" y="0"/>
                            </a:lnTo>
                            <a:lnTo>
                              <a:pt x="13" y="3"/>
                            </a:lnTo>
                            <a:lnTo>
                              <a:pt x="4" y="11"/>
                            </a:lnTo>
                            <a:lnTo>
                              <a:pt x="0" y="24"/>
                            </a:lnTo>
                            <a:lnTo>
                              <a:pt x="6" y="34"/>
                            </a:lnTo>
                            <a:lnTo>
                              <a:pt x="13" y="4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sp>
                  <p:nvSpPr>
                    <p:cNvPr id="37920" name="Freeform 52">
                      <a:extLst>
                        <a:ext uri="{FF2B5EF4-FFF2-40B4-BE49-F238E27FC236}">
                          <a16:creationId xmlns:a16="http://schemas.microsoft.com/office/drawing/2014/main" id="{5DC08B28-9FBA-465A-BD3A-AC1D9981F42A}"/>
                        </a:ext>
                      </a:extLst>
                    </p:cNvPr>
                    <p:cNvSpPr>
                      <a:spLocks/>
                    </p:cNvSpPr>
                    <p:nvPr/>
                  </p:nvSpPr>
                  <p:spPr bwMode="auto">
                    <a:xfrm>
                      <a:off x="4280" y="1232"/>
                      <a:ext cx="671" cy="494"/>
                    </a:xfrm>
                    <a:custGeom>
                      <a:avLst/>
                      <a:gdLst>
                        <a:gd name="T0" fmla="*/ 1 w 1341"/>
                        <a:gd name="T1" fmla="*/ 1 h 987"/>
                        <a:gd name="T2" fmla="*/ 1 w 1341"/>
                        <a:gd name="T3" fmla="*/ 1 h 987"/>
                        <a:gd name="T4" fmla="*/ 1 w 1341"/>
                        <a:gd name="T5" fmla="*/ 1 h 987"/>
                        <a:gd name="T6" fmla="*/ 1 w 1341"/>
                        <a:gd name="T7" fmla="*/ 1 h 987"/>
                        <a:gd name="T8" fmla="*/ 1 w 1341"/>
                        <a:gd name="T9" fmla="*/ 1 h 987"/>
                        <a:gd name="T10" fmla="*/ 1 w 1341"/>
                        <a:gd name="T11" fmla="*/ 1 h 987"/>
                        <a:gd name="T12" fmla="*/ 1 w 1341"/>
                        <a:gd name="T13" fmla="*/ 1 h 987"/>
                        <a:gd name="T14" fmla="*/ 1 w 1341"/>
                        <a:gd name="T15" fmla="*/ 1 h 987"/>
                        <a:gd name="T16" fmla="*/ 1 w 1341"/>
                        <a:gd name="T17" fmla="*/ 1 h 987"/>
                        <a:gd name="T18" fmla="*/ 1 w 1341"/>
                        <a:gd name="T19" fmla="*/ 1 h 987"/>
                        <a:gd name="T20" fmla="*/ 1 w 1341"/>
                        <a:gd name="T21" fmla="*/ 1 h 987"/>
                        <a:gd name="T22" fmla="*/ 1 w 1341"/>
                        <a:gd name="T23" fmla="*/ 1 h 987"/>
                        <a:gd name="T24" fmla="*/ 1 w 1341"/>
                        <a:gd name="T25" fmla="*/ 1 h 987"/>
                        <a:gd name="T26" fmla="*/ 1 w 1341"/>
                        <a:gd name="T27" fmla="*/ 1 h 987"/>
                        <a:gd name="T28" fmla="*/ 1 w 1341"/>
                        <a:gd name="T29" fmla="*/ 1 h 987"/>
                        <a:gd name="T30" fmla="*/ 1 w 1341"/>
                        <a:gd name="T31" fmla="*/ 1 h 987"/>
                        <a:gd name="T32" fmla="*/ 0 w 1341"/>
                        <a:gd name="T33" fmla="*/ 1 h 987"/>
                        <a:gd name="T34" fmla="*/ 1 w 1341"/>
                        <a:gd name="T35" fmla="*/ 1 h 987"/>
                        <a:gd name="T36" fmla="*/ 1 w 1341"/>
                        <a:gd name="T37" fmla="*/ 0 h 987"/>
                        <a:gd name="T38" fmla="*/ 1 w 1341"/>
                        <a:gd name="T39" fmla="*/ 1 h 987"/>
                        <a:gd name="T40" fmla="*/ 1 w 1341"/>
                        <a:gd name="T41" fmla="*/ 1 h 987"/>
                        <a:gd name="T42" fmla="*/ 1 w 1341"/>
                        <a:gd name="T43" fmla="*/ 1 h 987"/>
                        <a:gd name="T44" fmla="*/ 1 w 1341"/>
                        <a:gd name="T45" fmla="*/ 1 h 987"/>
                        <a:gd name="T46" fmla="*/ 1 w 1341"/>
                        <a:gd name="T47" fmla="*/ 1 h 987"/>
                        <a:gd name="T48" fmla="*/ 1 w 1341"/>
                        <a:gd name="T49" fmla="*/ 1 h 987"/>
                        <a:gd name="T50" fmla="*/ 1 w 1341"/>
                        <a:gd name="T51" fmla="*/ 1 h 987"/>
                        <a:gd name="T52" fmla="*/ 1 w 1341"/>
                        <a:gd name="T53" fmla="*/ 1 h 987"/>
                        <a:gd name="T54" fmla="*/ 1 w 1341"/>
                        <a:gd name="T55" fmla="*/ 1 h 987"/>
                        <a:gd name="T56" fmla="*/ 1 w 1341"/>
                        <a:gd name="T57" fmla="*/ 1 h 987"/>
                        <a:gd name="T58" fmla="*/ 1 w 1341"/>
                        <a:gd name="T59" fmla="*/ 1 h 987"/>
                        <a:gd name="T60" fmla="*/ 1 w 1341"/>
                        <a:gd name="T61" fmla="*/ 1 h 987"/>
                        <a:gd name="T62" fmla="*/ 1 w 1341"/>
                        <a:gd name="T63" fmla="*/ 1 h 987"/>
                        <a:gd name="T64" fmla="*/ 1 w 1341"/>
                        <a:gd name="T65" fmla="*/ 1 h 987"/>
                        <a:gd name="T66" fmla="*/ 1 w 1341"/>
                        <a:gd name="T67" fmla="*/ 1 h 987"/>
                        <a:gd name="T68" fmla="*/ 1 w 1341"/>
                        <a:gd name="T69" fmla="*/ 1 h 987"/>
                        <a:gd name="T70" fmla="*/ 1 w 1341"/>
                        <a:gd name="T71" fmla="*/ 1 h 987"/>
                        <a:gd name="T72" fmla="*/ 1 w 1341"/>
                        <a:gd name="T73" fmla="*/ 1 h 987"/>
                        <a:gd name="T74" fmla="*/ 1 w 1341"/>
                        <a:gd name="T75" fmla="*/ 1 h 987"/>
                        <a:gd name="T76" fmla="*/ 1 w 1341"/>
                        <a:gd name="T77" fmla="*/ 1 h 987"/>
                        <a:gd name="T78" fmla="*/ 1 w 1341"/>
                        <a:gd name="T79" fmla="*/ 1 h 987"/>
                        <a:gd name="T80" fmla="*/ 1 w 1341"/>
                        <a:gd name="T81" fmla="*/ 1 h 987"/>
                        <a:gd name="T82" fmla="*/ 1 w 1341"/>
                        <a:gd name="T83" fmla="*/ 1 h 987"/>
                        <a:gd name="T84" fmla="*/ 1 w 1341"/>
                        <a:gd name="T85" fmla="*/ 1 h 987"/>
                        <a:gd name="T86" fmla="*/ 1 w 1341"/>
                        <a:gd name="T87" fmla="*/ 1 h 987"/>
                        <a:gd name="T88" fmla="*/ 1 w 1341"/>
                        <a:gd name="T89" fmla="*/ 1 h 987"/>
                        <a:gd name="T90" fmla="*/ 1 w 1341"/>
                        <a:gd name="T91" fmla="*/ 1 h 987"/>
                        <a:gd name="T92" fmla="*/ 1 w 1341"/>
                        <a:gd name="T93" fmla="*/ 1 h 987"/>
                        <a:gd name="T94" fmla="*/ 1 w 1341"/>
                        <a:gd name="T95" fmla="*/ 1 h 987"/>
                        <a:gd name="T96" fmla="*/ 1 w 1341"/>
                        <a:gd name="T97" fmla="*/ 1 h 987"/>
                        <a:gd name="T98" fmla="*/ 1 w 1341"/>
                        <a:gd name="T99" fmla="*/ 1 h 987"/>
                        <a:gd name="T100" fmla="*/ 1 w 1341"/>
                        <a:gd name="T101" fmla="*/ 1 h 987"/>
                        <a:gd name="T102" fmla="*/ 1 w 1341"/>
                        <a:gd name="T103" fmla="*/ 1 h 987"/>
                        <a:gd name="T104" fmla="*/ 1 w 1341"/>
                        <a:gd name="T105" fmla="*/ 1 h 987"/>
                        <a:gd name="T106" fmla="*/ 1 w 1341"/>
                        <a:gd name="T107" fmla="*/ 1 h 987"/>
                        <a:gd name="T108" fmla="*/ 1 w 1341"/>
                        <a:gd name="T109" fmla="*/ 1 h 987"/>
                        <a:gd name="T110" fmla="*/ 1 w 1341"/>
                        <a:gd name="T111" fmla="*/ 1 h 987"/>
                        <a:gd name="T112" fmla="*/ 1 w 1341"/>
                        <a:gd name="T113" fmla="*/ 1 h 987"/>
                        <a:gd name="T114" fmla="*/ 1 w 1341"/>
                        <a:gd name="T115" fmla="*/ 1 h 987"/>
                        <a:gd name="T116" fmla="*/ 1 w 1341"/>
                        <a:gd name="T117" fmla="*/ 1 h 987"/>
                        <a:gd name="T118" fmla="*/ 1 w 1341"/>
                        <a:gd name="T119" fmla="*/ 1 h 987"/>
                        <a:gd name="T120" fmla="*/ 1 w 1341"/>
                        <a:gd name="T121" fmla="*/ 1 h 987"/>
                        <a:gd name="T122" fmla="*/ 1 w 1341"/>
                        <a:gd name="T123" fmla="*/ 1 h 987"/>
                        <a:gd name="T124" fmla="*/ 1 w 1341"/>
                        <a:gd name="T125" fmla="*/ 1 h 98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341"/>
                        <a:gd name="T190" fmla="*/ 0 h 987"/>
                        <a:gd name="T191" fmla="*/ 1341 w 1341"/>
                        <a:gd name="T192" fmla="*/ 987 h 98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341" h="987">
                          <a:moveTo>
                            <a:pt x="517" y="758"/>
                          </a:moveTo>
                          <a:lnTo>
                            <a:pt x="473" y="817"/>
                          </a:lnTo>
                          <a:lnTo>
                            <a:pt x="432" y="851"/>
                          </a:lnTo>
                          <a:lnTo>
                            <a:pt x="380" y="880"/>
                          </a:lnTo>
                          <a:lnTo>
                            <a:pt x="369" y="916"/>
                          </a:lnTo>
                          <a:lnTo>
                            <a:pt x="345" y="945"/>
                          </a:lnTo>
                          <a:lnTo>
                            <a:pt x="325" y="987"/>
                          </a:lnTo>
                          <a:lnTo>
                            <a:pt x="311" y="874"/>
                          </a:lnTo>
                          <a:lnTo>
                            <a:pt x="292" y="799"/>
                          </a:lnTo>
                          <a:lnTo>
                            <a:pt x="311" y="667"/>
                          </a:lnTo>
                          <a:lnTo>
                            <a:pt x="279" y="599"/>
                          </a:lnTo>
                          <a:lnTo>
                            <a:pt x="236" y="475"/>
                          </a:lnTo>
                          <a:lnTo>
                            <a:pt x="156" y="336"/>
                          </a:lnTo>
                          <a:lnTo>
                            <a:pt x="132" y="249"/>
                          </a:lnTo>
                          <a:lnTo>
                            <a:pt x="88" y="143"/>
                          </a:lnTo>
                          <a:lnTo>
                            <a:pt x="39" y="68"/>
                          </a:lnTo>
                          <a:lnTo>
                            <a:pt x="0" y="39"/>
                          </a:lnTo>
                          <a:lnTo>
                            <a:pt x="45" y="15"/>
                          </a:lnTo>
                          <a:lnTo>
                            <a:pt x="106" y="0"/>
                          </a:lnTo>
                          <a:lnTo>
                            <a:pt x="178" y="8"/>
                          </a:lnTo>
                          <a:lnTo>
                            <a:pt x="251" y="30"/>
                          </a:lnTo>
                          <a:lnTo>
                            <a:pt x="319" y="61"/>
                          </a:lnTo>
                          <a:lnTo>
                            <a:pt x="367" y="87"/>
                          </a:lnTo>
                          <a:lnTo>
                            <a:pt x="387" y="77"/>
                          </a:lnTo>
                          <a:lnTo>
                            <a:pt x="418" y="60"/>
                          </a:lnTo>
                          <a:lnTo>
                            <a:pt x="424" y="17"/>
                          </a:lnTo>
                          <a:lnTo>
                            <a:pt x="453" y="40"/>
                          </a:lnTo>
                          <a:lnTo>
                            <a:pt x="492" y="48"/>
                          </a:lnTo>
                          <a:lnTo>
                            <a:pt x="545" y="60"/>
                          </a:lnTo>
                          <a:lnTo>
                            <a:pt x="596" y="65"/>
                          </a:lnTo>
                          <a:lnTo>
                            <a:pt x="644" y="70"/>
                          </a:lnTo>
                          <a:lnTo>
                            <a:pt x="712" y="68"/>
                          </a:lnTo>
                          <a:lnTo>
                            <a:pt x="771" y="91"/>
                          </a:lnTo>
                          <a:lnTo>
                            <a:pt x="820" y="134"/>
                          </a:lnTo>
                          <a:lnTo>
                            <a:pt x="868" y="198"/>
                          </a:lnTo>
                          <a:lnTo>
                            <a:pt x="905" y="246"/>
                          </a:lnTo>
                          <a:lnTo>
                            <a:pt x="951" y="286"/>
                          </a:lnTo>
                          <a:lnTo>
                            <a:pt x="1000" y="314"/>
                          </a:lnTo>
                          <a:lnTo>
                            <a:pt x="1041" y="345"/>
                          </a:lnTo>
                          <a:lnTo>
                            <a:pt x="1063" y="386"/>
                          </a:lnTo>
                          <a:lnTo>
                            <a:pt x="1139" y="378"/>
                          </a:lnTo>
                          <a:lnTo>
                            <a:pt x="1235" y="392"/>
                          </a:lnTo>
                          <a:lnTo>
                            <a:pt x="1217" y="348"/>
                          </a:lnTo>
                          <a:lnTo>
                            <a:pt x="1317" y="361"/>
                          </a:lnTo>
                          <a:lnTo>
                            <a:pt x="1323" y="481"/>
                          </a:lnTo>
                          <a:lnTo>
                            <a:pt x="1330" y="581"/>
                          </a:lnTo>
                          <a:lnTo>
                            <a:pt x="1341" y="612"/>
                          </a:lnTo>
                          <a:lnTo>
                            <a:pt x="1317" y="625"/>
                          </a:lnTo>
                          <a:lnTo>
                            <a:pt x="1292" y="625"/>
                          </a:lnTo>
                          <a:lnTo>
                            <a:pt x="1267" y="693"/>
                          </a:lnTo>
                          <a:lnTo>
                            <a:pt x="1217" y="768"/>
                          </a:lnTo>
                          <a:lnTo>
                            <a:pt x="1180" y="806"/>
                          </a:lnTo>
                          <a:lnTo>
                            <a:pt x="1137" y="831"/>
                          </a:lnTo>
                          <a:lnTo>
                            <a:pt x="1057" y="867"/>
                          </a:lnTo>
                          <a:lnTo>
                            <a:pt x="975" y="883"/>
                          </a:lnTo>
                          <a:lnTo>
                            <a:pt x="888" y="886"/>
                          </a:lnTo>
                          <a:lnTo>
                            <a:pt x="823" y="873"/>
                          </a:lnTo>
                          <a:lnTo>
                            <a:pt x="765" y="852"/>
                          </a:lnTo>
                          <a:lnTo>
                            <a:pt x="714" y="824"/>
                          </a:lnTo>
                          <a:lnTo>
                            <a:pt x="677" y="787"/>
                          </a:lnTo>
                          <a:lnTo>
                            <a:pt x="645" y="755"/>
                          </a:lnTo>
                          <a:lnTo>
                            <a:pt x="585" y="739"/>
                          </a:lnTo>
                          <a:lnTo>
                            <a:pt x="517" y="758"/>
                          </a:lnTo>
                          <a:close/>
                        </a:path>
                      </a:pathLst>
                    </a:custGeom>
                    <a:solidFill>
                      <a:srgbClr val="0000FF"/>
                    </a:solidFill>
                    <a:ln w="6350">
                      <a:solidFill>
                        <a:srgbClr val="000000"/>
                      </a:solidFill>
                      <a:prstDash val="solid"/>
                      <a:round/>
                      <a:headEnd/>
                      <a:tailEnd/>
                    </a:ln>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sp>
                <p:nvSpPr>
                  <p:cNvPr id="37918" name="Freeform 54">
                    <a:extLst>
                      <a:ext uri="{FF2B5EF4-FFF2-40B4-BE49-F238E27FC236}">
                        <a16:creationId xmlns:a16="http://schemas.microsoft.com/office/drawing/2014/main" id="{A8BB6984-1A00-489E-93BA-E7C5EF241A6C}"/>
                      </a:ext>
                    </a:extLst>
                  </p:cNvPr>
                  <p:cNvSpPr>
                    <a:spLocks/>
                  </p:cNvSpPr>
                  <p:nvPr/>
                </p:nvSpPr>
                <p:spPr bwMode="auto">
                  <a:xfrm>
                    <a:off x="4464" y="1274"/>
                    <a:ext cx="352" cy="244"/>
                  </a:xfrm>
                  <a:custGeom>
                    <a:avLst/>
                    <a:gdLst>
                      <a:gd name="T0" fmla="*/ 0 w 703"/>
                      <a:gd name="T1" fmla="*/ 0 h 487"/>
                      <a:gd name="T2" fmla="*/ 1 w 703"/>
                      <a:gd name="T3" fmla="*/ 1 h 487"/>
                      <a:gd name="T4" fmla="*/ 1 w 703"/>
                      <a:gd name="T5" fmla="*/ 1 h 487"/>
                      <a:gd name="T6" fmla="*/ 1 w 703"/>
                      <a:gd name="T7" fmla="*/ 1 h 487"/>
                      <a:gd name="T8" fmla="*/ 1 w 703"/>
                      <a:gd name="T9" fmla="*/ 1 h 487"/>
                      <a:gd name="T10" fmla="*/ 1 w 703"/>
                      <a:gd name="T11" fmla="*/ 1 h 487"/>
                      <a:gd name="T12" fmla="*/ 1 w 703"/>
                      <a:gd name="T13" fmla="*/ 1 h 487"/>
                      <a:gd name="T14" fmla="*/ 1 w 703"/>
                      <a:gd name="T15" fmla="*/ 1 h 487"/>
                      <a:gd name="T16" fmla="*/ 1 w 703"/>
                      <a:gd name="T17" fmla="*/ 1 h 487"/>
                      <a:gd name="T18" fmla="*/ 1 w 703"/>
                      <a:gd name="T19" fmla="*/ 1 h 487"/>
                      <a:gd name="T20" fmla="*/ 1 w 703"/>
                      <a:gd name="T21" fmla="*/ 1 h 487"/>
                      <a:gd name="T22" fmla="*/ 1 w 703"/>
                      <a:gd name="T23" fmla="*/ 1 h 487"/>
                      <a:gd name="T24" fmla="*/ 1 w 703"/>
                      <a:gd name="T25" fmla="*/ 1 h 487"/>
                      <a:gd name="T26" fmla="*/ 1 w 703"/>
                      <a:gd name="T27" fmla="*/ 1 h 487"/>
                      <a:gd name="T28" fmla="*/ 1 w 703"/>
                      <a:gd name="T29" fmla="*/ 1 h 487"/>
                      <a:gd name="T30" fmla="*/ 1 w 703"/>
                      <a:gd name="T31" fmla="*/ 1 h 487"/>
                      <a:gd name="T32" fmla="*/ 1 w 703"/>
                      <a:gd name="T33" fmla="*/ 1 h 487"/>
                      <a:gd name="T34" fmla="*/ 1 w 703"/>
                      <a:gd name="T35" fmla="*/ 1 h 487"/>
                      <a:gd name="T36" fmla="*/ 1 w 703"/>
                      <a:gd name="T37" fmla="*/ 1 h 487"/>
                      <a:gd name="T38" fmla="*/ 1 w 703"/>
                      <a:gd name="T39" fmla="*/ 1 h 487"/>
                      <a:gd name="T40" fmla="*/ 1 w 703"/>
                      <a:gd name="T41" fmla="*/ 1 h 487"/>
                      <a:gd name="T42" fmla="*/ 1 w 703"/>
                      <a:gd name="T43" fmla="*/ 1 h 487"/>
                      <a:gd name="T44" fmla="*/ 1 w 703"/>
                      <a:gd name="T45" fmla="*/ 1 h 487"/>
                      <a:gd name="T46" fmla="*/ 1 w 703"/>
                      <a:gd name="T47" fmla="*/ 1 h 487"/>
                      <a:gd name="T48" fmla="*/ 1 w 703"/>
                      <a:gd name="T49" fmla="*/ 1 h 487"/>
                      <a:gd name="T50" fmla="*/ 1 w 703"/>
                      <a:gd name="T51" fmla="*/ 1 h 48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03"/>
                      <a:gd name="T79" fmla="*/ 0 h 487"/>
                      <a:gd name="T80" fmla="*/ 703 w 703"/>
                      <a:gd name="T81" fmla="*/ 487 h 48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03" h="487">
                        <a:moveTo>
                          <a:pt x="0" y="0"/>
                        </a:moveTo>
                        <a:lnTo>
                          <a:pt x="49" y="42"/>
                        </a:lnTo>
                        <a:lnTo>
                          <a:pt x="92" y="68"/>
                        </a:lnTo>
                        <a:lnTo>
                          <a:pt x="132" y="97"/>
                        </a:lnTo>
                        <a:lnTo>
                          <a:pt x="153" y="125"/>
                        </a:lnTo>
                        <a:lnTo>
                          <a:pt x="172" y="150"/>
                        </a:lnTo>
                        <a:lnTo>
                          <a:pt x="202" y="173"/>
                        </a:lnTo>
                        <a:lnTo>
                          <a:pt x="241" y="190"/>
                        </a:lnTo>
                        <a:lnTo>
                          <a:pt x="268" y="215"/>
                        </a:lnTo>
                        <a:lnTo>
                          <a:pt x="290" y="245"/>
                        </a:lnTo>
                        <a:lnTo>
                          <a:pt x="315" y="283"/>
                        </a:lnTo>
                        <a:lnTo>
                          <a:pt x="334" y="321"/>
                        </a:lnTo>
                        <a:lnTo>
                          <a:pt x="353" y="371"/>
                        </a:lnTo>
                        <a:lnTo>
                          <a:pt x="377" y="413"/>
                        </a:lnTo>
                        <a:lnTo>
                          <a:pt x="404" y="443"/>
                        </a:lnTo>
                        <a:lnTo>
                          <a:pt x="441" y="466"/>
                        </a:lnTo>
                        <a:lnTo>
                          <a:pt x="476" y="479"/>
                        </a:lnTo>
                        <a:lnTo>
                          <a:pt x="512" y="487"/>
                        </a:lnTo>
                        <a:lnTo>
                          <a:pt x="552" y="484"/>
                        </a:lnTo>
                        <a:lnTo>
                          <a:pt x="589" y="477"/>
                        </a:lnTo>
                        <a:lnTo>
                          <a:pt x="629" y="458"/>
                        </a:lnTo>
                        <a:lnTo>
                          <a:pt x="660" y="434"/>
                        </a:lnTo>
                        <a:lnTo>
                          <a:pt x="683" y="405"/>
                        </a:lnTo>
                        <a:lnTo>
                          <a:pt x="697" y="371"/>
                        </a:lnTo>
                        <a:lnTo>
                          <a:pt x="703" y="333"/>
                        </a:lnTo>
                        <a:lnTo>
                          <a:pt x="696" y="29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grpSp>
              <p:nvGrpSpPr>
                <p:cNvPr id="37906" name="Group 66">
                  <a:extLst>
                    <a:ext uri="{FF2B5EF4-FFF2-40B4-BE49-F238E27FC236}">
                      <a16:creationId xmlns:a16="http://schemas.microsoft.com/office/drawing/2014/main" id="{F71AEC1E-68FC-4E88-B846-503A6195CD88}"/>
                    </a:ext>
                  </a:extLst>
                </p:cNvPr>
                <p:cNvGrpSpPr>
                  <a:grpSpLocks/>
                </p:cNvGrpSpPr>
                <p:nvPr/>
              </p:nvGrpSpPr>
              <p:grpSpPr bwMode="auto">
                <a:xfrm>
                  <a:off x="4523" y="1300"/>
                  <a:ext cx="423" cy="372"/>
                  <a:chOff x="4523" y="1300"/>
                  <a:chExt cx="423" cy="372"/>
                </a:xfrm>
              </p:grpSpPr>
              <p:sp>
                <p:nvSpPr>
                  <p:cNvPr id="37907" name="Line 56">
                    <a:extLst>
                      <a:ext uri="{FF2B5EF4-FFF2-40B4-BE49-F238E27FC236}">
                        <a16:creationId xmlns:a16="http://schemas.microsoft.com/office/drawing/2014/main" id="{8313051B-83BD-4560-AAD2-9F388FB5F489}"/>
                      </a:ext>
                    </a:extLst>
                  </p:cNvPr>
                  <p:cNvSpPr>
                    <a:spLocks noChangeShapeType="1"/>
                  </p:cNvSpPr>
                  <p:nvPr/>
                </p:nvSpPr>
                <p:spPr bwMode="auto">
                  <a:xfrm>
                    <a:off x="4805" y="1477"/>
                    <a:ext cx="85" cy="2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08" name="Freeform 57">
                    <a:extLst>
                      <a:ext uri="{FF2B5EF4-FFF2-40B4-BE49-F238E27FC236}">
                        <a16:creationId xmlns:a16="http://schemas.microsoft.com/office/drawing/2014/main" id="{FF8A0687-FCAF-44F0-8E35-B02D2BA83D9A}"/>
                      </a:ext>
                    </a:extLst>
                  </p:cNvPr>
                  <p:cNvSpPr>
                    <a:spLocks/>
                  </p:cNvSpPr>
                  <p:nvPr/>
                </p:nvSpPr>
                <p:spPr bwMode="auto">
                  <a:xfrm>
                    <a:off x="4586" y="1445"/>
                    <a:ext cx="39" cy="83"/>
                  </a:xfrm>
                  <a:custGeom>
                    <a:avLst/>
                    <a:gdLst>
                      <a:gd name="T0" fmla="*/ 1 w 77"/>
                      <a:gd name="T1" fmla="*/ 1 h 165"/>
                      <a:gd name="T2" fmla="*/ 0 w 77"/>
                      <a:gd name="T3" fmla="*/ 1 h 165"/>
                      <a:gd name="T4" fmla="*/ 1 w 77"/>
                      <a:gd name="T5" fmla="*/ 1 h 165"/>
                      <a:gd name="T6" fmla="*/ 1 w 77"/>
                      <a:gd name="T7" fmla="*/ 1 h 165"/>
                      <a:gd name="T8" fmla="*/ 1 w 77"/>
                      <a:gd name="T9" fmla="*/ 0 h 165"/>
                      <a:gd name="T10" fmla="*/ 0 60000 65536"/>
                      <a:gd name="T11" fmla="*/ 0 60000 65536"/>
                      <a:gd name="T12" fmla="*/ 0 60000 65536"/>
                      <a:gd name="T13" fmla="*/ 0 60000 65536"/>
                      <a:gd name="T14" fmla="*/ 0 60000 65536"/>
                      <a:gd name="T15" fmla="*/ 0 w 77"/>
                      <a:gd name="T16" fmla="*/ 0 h 165"/>
                      <a:gd name="T17" fmla="*/ 77 w 77"/>
                      <a:gd name="T18" fmla="*/ 165 h 165"/>
                    </a:gdLst>
                    <a:ahLst/>
                    <a:cxnLst>
                      <a:cxn ang="T10">
                        <a:pos x="T0" y="T1"/>
                      </a:cxn>
                      <a:cxn ang="T11">
                        <a:pos x="T2" y="T3"/>
                      </a:cxn>
                      <a:cxn ang="T12">
                        <a:pos x="T4" y="T5"/>
                      </a:cxn>
                      <a:cxn ang="T13">
                        <a:pos x="T6" y="T7"/>
                      </a:cxn>
                      <a:cxn ang="T14">
                        <a:pos x="T8" y="T9"/>
                      </a:cxn>
                    </a:cxnLst>
                    <a:rect l="T15" t="T16" r="T17" b="T18"/>
                    <a:pathLst>
                      <a:path w="77" h="165">
                        <a:moveTo>
                          <a:pt x="8" y="165"/>
                        </a:moveTo>
                        <a:lnTo>
                          <a:pt x="0" y="122"/>
                        </a:lnTo>
                        <a:lnTo>
                          <a:pt x="10" y="75"/>
                        </a:lnTo>
                        <a:lnTo>
                          <a:pt x="36" y="31"/>
                        </a:lnTo>
                        <a:lnTo>
                          <a:pt x="77"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09" name="Freeform 58">
                    <a:extLst>
                      <a:ext uri="{FF2B5EF4-FFF2-40B4-BE49-F238E27FC236}">
                        <a16:creationId xmlns:a16="http://schemas.microsoft.com/office/drawing/2014/main" id="{94CB249F-CFF1-4249-88CD-247B8B510178}"/>
                      </a:ext>
                    </a:extLst>
                  </p:cNvPr>
                  <p:cNvSpPr>
                    <a:spLocks/>
                  </p:cNvSpPr>
                  <p:nvPr/>
                </p:nvSpPr>
                <p:spPr bwMode="auto">
                  <a:xfrm>
                    <a:off x="4607" y="1462"/>
                    <a:ext cx="26" cy="88"/>
                  </a:xfrm>
                  <a:custGeom>
                    <a:avLst/>
                    <a:gdLst>
                      <a:gd name="T0" fmla="*/ 1 w 50"/>
                      <a:gd name="T1" fmla="*/ 0 h 177"/>
                      <a:gd name="T2" fmla="*/ 1 w 50"/>
                      <a:gd name="T3" fmla="*/ 0 h 177"/>
                      <a:gd name="T4" fmla="*/ 1 w 50"/>
                      <a:gd name="T5" fmla="*/ 0 h 177"/>
                      <a:gd name="T6" fmla="*/ 0 w 50"/>
                      <a:gd name="T7" fmla="*/ 0 h 177"/>
                      <a:gd name="T8" fmla="*/ 1 w 50"/>
                      <a:gd name="T9" fmla="*/ 0 h 177"/>
                      <a:gd name="T10" fmla="*/ 1 w 50"/>
                      <a:gd name="T11" fmla="*/ 0 h 177"/>
                      <a:gd name="T12" fmla="*/ 1 w 50"/>
                      <a:gd name="T13" fmla="*/ 0 h 177"/>
                      <a:gd name="T14" fmla="*/ 0 60000 65536"/>
                      <a:gd name="T15" fmla="*/ 0 60000 65536"/>
                      <a:gd name="T16" fmla="*/ 0 60000 65536"/>
                      <a:gd name="T17" fmla="*/ 0 60000 65536"/>
                      <a:gd name="T18" fmla="*/ 0 60000 65536"/>
                      <a:gd name="T19" fmla="*/ 0 60000 65536"/>
                      <a:gd name="T20" fmla="*/ 0 60000 65536"/>
                      <a:gd name="T21" fmla="*/ 0 w 50"/>
                      <a:gd name="T22" fmla="*/ 0 h 177"/>
                      <a:gd name="T23" fmla="*/ 50 w 50"/>
                      <a:gd name="T24" fmla="*/ 177 h 1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177">
                        <a:moveTo>
                          <a:pt x="50" y="177"/>
                        </a:moveTo>
                        <a:lnTo>
                          <a:pt x="24" y="160"/>
                        </a:lnTo>
                        <a:lnTo>
                          <a:pt x="8" y="135"/>
                        </a:lnTo>
                        <a:lnTo>
                          <a:pt x="0" y="97"/>
                        </a:lnTo>
                        <a:lnTo>
                          <a:pt x="5" y="63"/>
                        </a:lnTo>
                        <a:lnTo>
                          <a:pt x="24" y="26"/>
                        </a:lnTo>
                        <a:lnTo>
                          <a:pt x="47"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10" name="Freeform 59">
                    <a:extLst>
                      <a:ext uri="{FF2B5EF4-FFF2-40B4-BE49-F238E27FC236}">
                        <a16:creationId xmlns:a16="http://schemas.microsoft.com/office/drawing/2014/main" id="{5636F441-CCB3-44D3-92DD-F521FF29BDB7}"/>
                      </a:ext>
                    </a:extLst>
                  </p:cNvPr>
                  <p:cNvSpPr>
                    <a:spLocks/>
                  </p:cNvSpPr>
                  <p:nvPr/>
                </p:nvSpPr>
                <p:spPr bwMode="auto">
                  <a:xfrm>
                    <a:off x="4644" y="1473"/>
                    <a:ext cx="19" cy="39"/>
                  </a:xfrm>
                  <a:custGeom>
                    <a:avLst/>
                    <a:gdLst>
                      <a:gd name="T0" fmla="*/ 0 w 39"/>
                      <a:gd name="T1" fmla="*/ 0 h 79"/>
                      <a:gd name="T2" fmla="*/ 0 w 39"/>
                      <a:gd name="T3" fmla="*/ 0 h 79"/>
                      <a:gd name="T4" fmla="*/ 0 w 39"/>
                      <a:gd name="T5" fmla="*/ 0 h 79"/>
                      <a:gd name="T6" fmla="*/ 0 w 39"/>
                      <a:gd name="T7" fmla="*/ 0 h 79"/>
                      <a:gd name="T8" fmla="*/ 0 60000 65536"/>
                      <a:gd name="T9" fmla="*/ 0 60000 65536"/>
                      <a:gd name="T10" fmla="*/ 0 60000 65536"/>
                      <a:gd name="T11" fmla="*/ 0 60000 65536"/>
                      <a:gd name="T12" fmla="*/ 0 w 39"/>
                      <a:gd name="T13" fmla="*/ 0 h 79"/>
                      <a:gd name="T14" fmla="*/ 39 w 39"/>
                      <a:gd name="T15" fmla="*/ 79 h 79"/>
                    </a:gdLst>
                    <a:ahLst/>
                    <a:cxnLst>
                      <a:cxn ang="T8">
                        <a:pos x="T0" y="T1"/>
                      </a:cxn>
                      <a:cxn ang="T9">
                        <a:pos x="T2" y="T3"/>
                      </a:cxn>
                      <a:cxn ang="T10">
                        <a:pos x="T4" y="T5"/>
                      </a:cxn>
                      <a:cxn ang="T11">
                        <a:pos x="T6" y="T7"/>
                      </a:cxn>
                    </a:cxnLst>
                    <a:rect l="T12" t="T13" r="T14" b="T15"/>
                    <a:pathLst>
                      <a:path w="39" h="79">
                        <a:moveTo>
                          <a:pt x="0" y="0"/>
                        </a:moveTo>
                        <a:lnTo>
                          <a:pt x="1" y="34"/>
                        </a:lnTo>
                        <a:lnTo>
                          <a:pt x="17" y="65"/>
                        </a:lnTo>
                        <a:lnTo>
                          <a:pt x="39" y="79"/>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11" name="Freeform 60">
                    <a:extLst>
                      <a:ext uri="{FF2B5EF4-FFF2-40B4-BE49-F238E27FC236}">
                        <a16:creationId xmlns:a16="http://schemas.microsoft.com/office/drawing/2014/main" id="{46149A3B-19DE-4F4D-B8F6-D7BA657C94F4}"/>
                      </a:ext>
                    </a:extLst>
                  </p:cNvPr>
                  <p:cNvSpPr>
                    <a:spLocks/>
                  </p:cNvSpPr>
                  <p:nvPr/>
                </p:nvSpPr>
                <p:spPr bwMode="auto">
                  <a:xfrm>
                    <a:off x="4523" y="1415"/>
                    <a:ext cx="94" cy="52"/>
                  </a:xfrm>
                  <a:custGeom>
                    <a:avLst/>
                    <a:gdLst>
                      <a:gd name="T0" fmla="*/ 0 w 189"/>
                      <a:gd name="T1" fmla="*/ 1 h 104"/>
                      <a:gd name="T2" fmla="*/ 0 w 189"/>
                      <a:gd name="T3" fmla="*/ 1 h 104"/>
                      <a:gd name="T4" fmla="*/ 0 w 189"/>
                      <a:gd name="T5" fmla="*/ 1 h 104"/>
                      <a:gd name="T6" fmla="*/ 0 w 189"/>
                      <a:gd name="T7" fmla="*/ 1 h 104"/>
                      <a:gd name="T8" fmla="*/ 0 w 189"/>
                      <a:gd name="T9" fmla="*/ 1 h 104"/>
                      <a:gd name="T10" fmla="*/ 0 w 189"/>
                      <a:gd name="T11" fmla="*/ 0 h 104"/>
                      <a:gd name="T12" fmla="*/ 0 w 189"/>
                      <a:gd name="T13" fmla="*/ 1 h 104"/>
                      <a:gd name="T14" fmla="*/ 0 w 189"/>
                      <a:gd name="T15" fmla="*/ 1 h 104"/>
                      <a:gd name="T16" fmla="*/ 0 60000 65536"/>
                      <a:gd name="T17" fmla="*/ 0 60000 65536"/>
                      <a:gd name="T18" fmla="*/ 0 60000 65536"/>
                      <a:gd name="T19" fmla="*/ 0 60000 65536"/>
                      <a:gd name="T20" fmla="*/ 0 60000 65536"/>
                      <a:gd name="T21" fmla="*/ 0 60000 65536"/>
                      <a:gd name="T22" fmla="*/ 0 60000 65536"/>
                      <a:gd name="T23" fmla="*/ 0 60000 65536"/>
                      <a:gd name="T24" fmla="*/ 0 w 189"/>
                      <a:gd name="T25" fmla="*/ 0 h 104"/>
                      <a:gd name="T26" fmla="*/ 189 w 189"/>
                      <a:gd name="T27" fmla="*/ 104 h 10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9" h="104">
                        <a:moveTo>
                          <a:pt x="0" y="104"/>
                        </a:moveTo>
                        <a:lnTo>
                          <a:pt x="17" y="71"/>
                        </a:lnTo>
                        <a:lnTo>
                          <a:pt x="43" y="38"/>
                        </a:lnTo>
                        <a:lnTo>
                          <a:pt x="75" y="15"/>
                        </a:lnTo>
                        <a:lnTo>
                          <a:pt x="105" y="3"/>
                        </a:lnTo>
                        <a:lnTo>
                          <a:pt x="132" y="0"/>
                        </a:lnTo>
                        <a:lnTo>
                          <a:pt x="166" y="7"/>
                        </a:lnTo>
                        <a:lnTo>
                          <a:pt x="189" y="21"/>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12" name="Freeform 61">
                    <a:extLst>
                      <a:ext uri="{FF2B5EF4-FFF2-40B4-BE49-F238E27FC236}">
                        <a16:creationId xmlns:a16="http://schemas.microsoft.com/office/drawing/2014/main" id="{179B84DD-3A77-45CC-9269-EF1190175DBF}"/>
                      </a:ext>
                    </a:extLst>
                  </p:cNvPr>
                  <p:cNvSpPr>
                    <a:spLocks/>
                  </p:cNvSpPr>
                  <p:nvPr/>
                </p:nvSpPr>
                <p:spPr bwMode="auto">
                  <a:xfrm>
                    <a:off x="4603" y="1545"/>
                    <a:ext cx="202" cy="127"/>
                  </a:xfrm>
                  <a:custGeom>
                    <a:avLst/>
                    <a:gdLst>
                      <a:gd name="T0" fmla="*/ 0 w 405"/>
                      <a:gd name="T1" fmla="*/ 1 h 254"/>
                      <a:gd name="T2" fmla="*/ 0 w 405"/>
                      <a:gd name="T3" fmla="*/ 1 h 254"/>
                      <a:gd name="T4" fmla="*/ 0 w 405"/>
                      <a:gd name="T5" fmla="*/ 1 h 254"/>
                      <a:gd name="T6" fmla="*/ 0 w 405"/>
                      <a:gd name="T7" fmla="*/ 1 h 254"/>
                      <a:gd name="T8" fmla="*/ 0 w 405"/>
                      <a:gd name="T9" fmla="*/ 1 h 254"/>
                      <a:gd name="T10" fmla="*/ 0 w 405"/>
                      <a:gd name="T11" fmla="*/ 0 h 254"/>
                      <a:gd name="T12" fmla="*/ 0 w 405"/>
                      <a:gd name="T13" fmla="*/ 1 h 254"/>
                      <a:gd name="T14" fmla="*/ 0 w 405"/>
                      <a:gd name="T15" fmla="*/ 1 h 254"/>
                      <a:gd name="T16" fmla="*/ 0 w 405"/>
                      <a:gd name="T17" fmla="*/ 1 h 254"/>
                      <a:gd name="T18" fmla="*/ 0 w 405"/>
                      <a:gd name="T19" fmla="*/ 1 h 254"/>
                      <a:gd name="T20" fmla="*/ 0 w 405"/>
                      <a:gd name="T21" fmla="*/ 1 h 254"/>
                      <a:gd name="T22" fmla="*/ 0 w 405"/>
                      <a:gd name="T23" fmla="*/ 1 h 254"/>
                      <a:gd name="T24" fmla="*/ 0 w 405"/>
                      <a:gd name="T25" fmla="*/ 1 h 254"/>
                      <a:gd name="T26" fmla="*/ 0 w 405"/>
                      <a:gd name="T27" fmla="*/ 1 h 254"/>
                      <a:gd name="T28" fmla="*/ 0 w 405"/>
                      <a:gd name="T29" fmla="*/ 1 h 254"/>
                      <a:gd name="T30" fmla="*/ 0 w 405"/>
                      <a:gd name="T31" fmla="*/ 1 h 2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05"/>
                      <a:gd name="T49" fmla="*/ 0 h 254"/>
                      <a:gd name="T50" fmla="*/ 405 w 405"/>
                      <a:gd name="T51" fmla="*/ 254 h 2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05" h="254">
                        <a:moveTo>
                          <a:pt x="0" y="130"/>
                        </a:moveTo>
                        <a:lnTo>
                          <a:pt x="62" y="114"/>
                        </a:lnTo>
                        <a:lnTo>
                          <a:pt x="119" y="92"/>
                        </a:lnTo>
                        <a:lnTo>
                          <a:pt x="177" y="62"/>
                        </a:lnTo>
                        <a:lnTo>
                          <a:pt x="232" y="30"/>
                        </a:lnTo>
                        <a:lnTo>
                          <a:pt x="275" y="0"/>
                        </a:lnTo>
                        <a:lnTo>
                          <a:pt x="292" y="48"/>
                        </a:lnTo>
                        <a:lnTo>
                          <a:pt x="323" y="94"/>
                        </a:lnTo>
                        <a:lnTo>
                          <a:pt x="359" y="136"/>
                        </a:lnTo>
                        <a:lnTo>
                          <a:pt x="405" y="168"/>
                        </a:lnTo>
                        <a:lnTo>
                          <a:pt x="363" y="202"/>
                        </a:lnTo>
                        <a:lnTo>
                          <a:pt x="326" y="223"/>
                        </a:lnTo>
                        <a:lnTo>
                          <a:pt x="275" y="242"/>
                        </a:lnTo>
                        <a:lnTo>
                          <a:pt x="226" y="254"/>
                        </a:lnTo>
                        <a:lnTo>
                          <a:pt x="193" y="252"/>
                        </a:lnTo>
                        <a:lnTo>
                          <a:pt x="166" y="244"/>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13" name="Freeform 62">
                    <a:extLst>
                      <a:ext uri="{FF2B5EF4-FFF2-40B4-BE49-F238E27FC236}">
                        <a16:creationId xmlns:a16="http://schemas.microsoft.com/office/drawing/2014/main" id="{E0104754-A527-430C-994B-99A43B7377D7}"/>
                      </a:ext>
                    </a:extLst>
                  </p:cNvPr>
                  <p:cNvSpPr>
                    <a:spLocks/>
                  </p:cNvSpPr>
                  <p:nvPr/>
                </p:nvSpPr>
                <p:spPr bwMode="auto">
                  <a:xfrm>
                    <a:off x="4678" y="1585"/>
                    <a:ext cx="66" cy="78"/>
                  </a:xfrm>
                  <a:custGeom>
                    <a:avLst/>
                    <a:gdLst>
                      <a:gd name="T0" fmla="*/ 0 w 134"/>
                      <a:gd name="T1" fmla="*/ 0 h 156"/>
                      <a:gd name="T2" fmla="*/ 0 w 134"/>
                      <a:gd name="T3" fmla="*/ 1 h 156"/>
                      <a:gd name="T4" fmla="*/ 0 w 134"/>
                      <a:gd name="T5" fmla="*/ 1 h 156"/>
                      <a:gd name="T6" fmla="*/ 0 60000 65536"/>
                      <a:gd name="T7" fmla="*/ 0 60000 65536"/>
                      <a:gd name="T8" fmla="*/ 0 60000 65536"/>
                      <a:gd name="T9" fmla="*/ 0 w 134"/>
                      <a:gd name="T10" fmla="*/ 0 h 156"/>
                      <a:gd name="T11" fmla="*/ 134 w 134"/>
                      <a:gd name="T12" fmla="*/ 156 h 156"/>
                    </a:gdLst>
                    <a:ahLst/>
                    <a:cxnLst>
                      <a:cxn ang="T6">
                        <a:pos x="T0" y="T1"/>
                      </a:cxn>
                      <a:cxn ang="T7">
                        <a:pos x="T2" y="T3"/>
                      </a:cxn>
                      <a:cxn ang="T8">
                        <a:pos x="T4" y="T5"/>
                      </a:cxn>
                    </a:cxnLst>
                    <a:rect l="T9" t="T10" r="T11" b="T12"/>
                    <a:pathLst>
                      <a:path w="134" h="156">
                        <a:moveTo>
                          <a:pt x="0" y="0"/>
                        </a:moveTo>
                        <a:lnTo>
                          <a:pt x="31" y="113"/>
                        </a:lnTo>
                        <a:lnTo>
                          <a:pt x="134" y="156"/>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14" name="Freeform 63">
                    <a:extLst>
                      <a:ext uri="{FF2B5EF4-FFF2-40B4-BE49-F238E27FC236}">
                        <a16:creationId xmlns:a16="http://schemas.microsoft.com/office/drawing/2014/main" id="{6AB091D2-9244-4B23-AF4A-21408E4A69FE}"/>
                      </a:ext>
                    </a:extLst>
                  </p:cNvPr>
                  <p:cNvSpPr>
                    <a:spLocks/>
                  </p:cNvSpPr>
                  <p:nvPr/>
                </p:nvSpPr>
                <p:spPr bwMode="auto">
                  <a:xfrm>
                    <a:off x="4575" y="1300"/>
                    <a:ext cx="26" cy="75"/>
                  </a:xfrm>
                  <a:custGeom>
                    <a:avLst/>
                    <a:gdLst>
                      <a:gd name="T0" fmla="*/ 0 w 52"/>
                      <a:gd name="T1" fmla="*/ 0 h 150"/>
                      <a:gd name="T2" fmla="*/ 1 w 52"/>
                      <a:gd name="T3" fmla="*/ 1 h 150"/>
                      <a:gd name="T4" fmla="*/ 1 w 52"/>
                      <a:gd name="T5" fmla="*/ 1 h 150"/>
                      <a:gd name="T6" fmla="*/ 1 w 52"/>
                      <a:gd name="T7" fmla="*/ 1 h 150"/>
                      <a:gd name="T8" fmla="*/ 1 w 52"/>
                      <a:gd name="T9" fmla="*/ 1 h 150"/>
                      <a:gd name="T10" fmla="*/ 1 w 52"/>
                      <a:gd name="T11" fmla="*/ 1 h 150"/>
                      <a:gd name="T12" fmla="*/ 1 w 52"/>
                      <a:gd name="T13" fmla="*/ 1 h 150"/>
                      <a:gd name="T14" fmla="*/ 0 60000 65536"/>
                      <a:gd name="T15" fmla="*/ 0 60000 65536"/>
                      <a:gd name="T16" fmla="*/ 0 60000 65536"/>
                      <a:gd name="T17" fmla="*/ 0 60000 65536"/>
                      <a:gd name="T18" fmla="*/ 0 60000 65536"/>
                      <a:gd name="T19" fmla="*/ 0 60000 65536"/>
                      <a:gd name="T20" fmla="*/ 0 60000 65536"/>
                      <a:gd name="T21" fmla="*/ 0 w 52"/>
                      <a:gd name="T22" fmla="*/ 0 h 150"/>
                      <a:gd name="T23" fmla="*/ 52 w 52"/>
                      <a:gd name="T24" fmla="*/ 150 h 1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 h="150">
                        <a:moveTo>
                          <a:pt x="0" y="0"/>
                        </a:moveTo>
                        <a:lnTo>
                          <a:pt x="23" y="19"/>
                        </a:lnTo>
                        <a:lnTo>
                          <a:pt x="38" y="43"/>
                        </a:lnTo>
                        <a:lnTo>
                          <a:pt x="39" y="67"/>
                        </a:lnTo>
                        <a:lnTo>
                          <a:pt x="48" y="94"/>
                        </a:lnTo>
                        <a:lnTo>
                          <a:pt x="52" y="122"/>
                        </a:lnTo>
                        <a:lnTo>
                          <a:pt x="52" y="15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15" name="Freeform 64">
                    <a:extLst>
                      <a:ext uri="{FF2B5EF4-FFF2-40B4-BE49-F238E27FC236}">
                        <a16:creationId xmlns:a16="http://schemas.microsoft.com/office/drawing/2014/main" id="{3E5A33BF-A247-4BB1-898F-9ECC3D91B92B}"/>
                      </a:ext>
                    </a:extLst>
                  </p:cNvPr>
                  <p:cNvSpPr>
                    <a:spLocks/>
                  </p:cNvSpPr>
                  <p:nvPr/>
                </p:nvSpPr>
                <p:spPr bwMode="auto">
                  <a:xfrm>
                    <a:off x="4569" y="1315"/>
                    <a:ext cx="24" cy="44"/>
                  </a:xfrm>
                  <a:custGeom>
                    <a:avLst/>
                    <a:gdLst>
                      <a:gd name="T0" fmla="*/ 0 w 50"/>
                      <a:gd name="T1" fmla="*/ 0 h 87"/>
                      <a:gd name="T2" fmla="*/ 0 w 50"/>
                      <a:gd name="T3" fmla="*/ 1 h 87"/>
                      <a:gd name="T4" fmla="*/ 0 w 50"/>
                      <a:gd name="T5" fmla="*/ 1 h 87"/>
                      <a:gd name="T6" fmla="*/ 0 w 50"/>
                      <a:gd name="T7" fmla="*/ 1 h 87"/>
                      <a:gd name="T8" fmla="*/ 0 w 50"/>
                      <a:gd name="T9" fmla="*/ 1 h 87"/>
                      <a:gd name="T10" fmla="*/ 0 w 50"/>
                      <a:gd name="T11" fmla="*/ 1 h 87"/>
                      <a:gd name="T12" fmla="*/ 0 w 50"/>
                      <a:gd name="T13" fmla="*/ 1 h 87"/>
                      <a:gd name="T14" fmla="*/ 0 60000 65536"/>
                      <a:gd name="T15" fmla="*/ 0 60000 65536"/>
                      <a:gd name="T16" fmla="*/ 0 60000 65536"/>
                      <a:gd name="T17" fmla="*/ 0 60000 65536"/>
                      <a:gd name="T18" fmla="*/ 0 60000 65536"/>
                      <a:gd name="T19" fmla="*/ 0 60000 65536"/>
                      <a:gd name="T20" fmla="*/ 0 60000 65536"/>
                      <a:gd name="T21" fmla="*/ 0 w 50"/>
                      <a:gd name="T22" fmla="*/ 0 h 87"/>
                      <a:gd name="T23" fmla="*/ 50 w 50"/>
                      <a:gd name="T24" fmla="*/ 87 h 8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87">
                        <a:moveTo>
                          <a:pt x="11" y="0"/>
                        </a:moveTo>
                        <a:lnTo>
                          <a:pt x="0" y="17"/>
                        </a:lnTo>
                        <a:lnTo>
                          <a:pt x="3" y="38"/>
                        </a:lnTo>
                        <a:lnTo>
                          <a:pt x="11" y="56"/>
                        </a:lnTo>
                        <a:lnTo>
                          <a:pt x="22" y="67"/>
                        </a:lnTo>
                        <a:lnTo>
                          <a:pt x="32" y="78"/>
                        </a:lnTo>
                        <a:lnTo>
                          <a:pt x="50" y="8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7916" name="Freeform 65">
                    <a:extLst>
                      <a:ext uri="{FF2B5EF4-FFF2-40B4-BE49-F238E27FC236}">
                        <a16:creationId xmlns:a16="http://schemas.microsoft.com/office/drawing/2014/main" id="{3D8780C7-2447-4EB7-9E78-53D9E8086141}"/>
                      </a:ext>
                    </a:extLst>
                  </p:cNvPr>
                  <p:cNvSpPr>
                    <a:spLocks/>
                  </p:cNvSpPr>
                  <p:nvPr/>
                </p:nvSpPr>
                <p:spPr bwMode="auto">
                  <a:xfrm>
                    <a:off x="4815" y="1410"/>
                    <a:ext cx="131" cy="256"/>
                  </a:xfrm>
                  <a:custGeom>
                    <a:avLst/>
                    <a:gdLst>
                      <a:gd name="T0" fmla="*/ 0 w 263"/>
                      <a:gd name="T1" fmla="*/ 1 h 512"/>
                      <a:gd name="T2" fmla="*/ 0 w 263"/>
                      <a:gd name="T3" fmla="*/ 1 h 512"/>
                      <a:gd name="T4" fmla="*/ 0 w 263"/>
                      <a:gd name="T5" fmla="*/ 1 h 512"/>
                      <a:gd name="T6" fmla="*/ 0 w 263"/>
                      <a:gd name="T7" fmla="*/ 1 h 512"/>
                      <a:gd name="T8" fmla="*/ 0 w 263"/>
                      <a:gd name="T9" fmla="*/ 1 h 512"/>
                      <a:gd name="T10" fmla="*/ 0 w 263"/>
                      <a:gd name="T11" fmla="*/ 1 h 512"/>
                      <a:gd name="T12" fmla="*/ 0 w 263"/>
                      <a:gd name="T13" fmla="*/ 1 h 512"/>
                      <a:gd name="T14" fmla="*/ 0 w 263"/>
                      <a:gd name="T15" fmla="*/ 1 h 512"/>
                      <a:gd name="T16" fmla="*/ 0 w 263"/>
                      <a:gd name="T17" fmla="*/ 1 h 512"/>
                      <a:gd name="T18" fmla="*/ 0 w 263"/>
                      <a:gd name="T19" fmla="*/ 1 h 512"/>
                      <a:gd name="T20" fmla="*/ 0 w 263"/>
                      <a:gd name="T21" fmla="*/ 1 h 512"/>
                      <a:gd name="T22" fmla="*/ 0 w 263"/>
                      <a:gd name="T23" fmla="*/ 1 h 512"/>
                      <a:gd name="T24" fmla="*/ 0 w 263"/>
                      <a:gd name="T25" fmla="*/ 1 h 512"/>
                      <a:gd name="T26" fmla="*/ 0 w 263"/>
                      <a:gd name="T27" fmla="*/ 1 h 512"/>
                      <a:gd name="T28" fmla="*/ 0 w 263"/>
                      <a:gd name="T29" fmla="*/ 1 h 512"/>
                      <a:gd name="T30" fmla="*/ 0 w 263"/>
                      <a:gd name="T31" fmla="*/ 1 h 512"/>
                      <a:gd name="T32" fmla="*/ 0 w 263"/>
                      <a:gd name="T33" fmla="*/ 1 h 512"/>
                      <a:gd name="T34" fmla="*/ 0 w 263"/>
                      <a:gd name="T35" fmla="*/ 1 h 512"/>
                      <a:gd name="T36" fmla="*/ 0 w 263"/>
                      <a:gd name="T37" fmla="*/ 1 h 512"/>
                      <a:gd name="T38" fmla="*/ 0 w 263"/>
                      <a:gd name="T39" fmla="*/ 1 h 512"/>
                      <a:gd name="T40" fmla="*/ 0 w 263"/>
                      <a:gd name="T41" fmla="*/ 1 h 512"/>
                      <a:gd name="T42" fmla="*/ 0 w 263"/>
                      <a:gd name="T43" fmla="*/ 1 h 512"/>
                      <a:gd name="T44" fmla="*/ 0 w 263"/>
                      <a:gd name="T45" fmla="*/ 1 h 512"/>
                      <a:gd name="T46" fmla="*/ 0 w 263"/>
                      <a:gd name="T47" fmla="*/ 1 h 512"/>
                      <a:gd name="T48" fmla="*/ 0 w 263"/>
                      <a:gd name="T49" fmla="*/ 0 h 5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3"/>
                      <a:gd name="T76" fmla="*/ 0 h 512"/>
                      <a:gd name="T77" fmla="*/ 263 w 263"/>
                      <a:gd name="T78" fmla="*/ 512 h 51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3" h="512">
                        <a:moveTo>
                          <a:pt x="263" y="266"/>
                        </a:moveTo>
                        <a:lnTo>
                          <a:pt x="230" y="272"/>
                        </a:lnTo>
                        <a:lnTo>
                          <a:pt x="222" y="292"/>
                        </a:lnTo>
                        <a:lnTo>
                          <a:pt x="217" y="306"/>
                        </a:lnTo>
                        <a:lnTo>
                          <a:pt x="200" y="315"/>
                        </a:lnTo>
                        <a:lnTo>
                          <a:pt x="157" y="370"/>
                        </a:lnTo>
                        <a:lnTo>
                          <a:pt x="125" y="418"/>
                        </a:lnTo>
                        <a:lnTo>
                          <a:pt x="83" y="458"/>
                        </a:lnTo>
                        <a:lnTo>
                          <a:pt x="66" y="484"/>
                        </a:lnTo>
                        <a:lnTo>
                          <a:pt x="0" y="512"/>
                        </a:lnTo>
                        <a:lnTo>
                          <a:pt x="28" y="489"/>
                        </a:lnTo>
                        <a:lnTo>
                          <a:pt x="56" y="451"/>
                        </a:lnTo>
                        <a:lnTo>
                          <a:pt x="65" y="417"/>
                        </a:lnTo>
                        <a:lnTo>
                          <a:pt x="69" y="375"/>
                        </a:lnTo>
                        <a:lnTo>
                          <a:pt x="59" y="325"/>
                        </a:lnTo>
                        <a:lnTo>
                          <a:pt x="89" y="294"/>
                        </a:lnTo>
                        <a:lnTo>
                          <a:pt x="92" y="242"/>
                        </a:lnTo>
                        <a:lnTo>
                          <a:pt x="92" y="219"/>
                        </a:lnTo>
                        <a:lnTo>
                          <a:pt x="179" y="276"/>
                        </a:lnTo>
                        <a:lnTo>
                          <a:pt x="136" y="207"/>
                        </a:lnTo>
                        <a:lnTo>
                          <a:pt x="148" y="170"/>
                        </a:lnTo>
                        <a:lnTo>
                          <a:pt x="166" y="113"/>
                        </a:lnTo>
                        <a:lnTo>
                          <a:pt x="170" y="69"/>
                        </a:lnTo>
                        <a:lnTo>
                          <a:pt x="157" y="34"/>
                        </a:lnTo>
                        <a:lnTo>
                          <a:pt x="146"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grpSp>
        </p:grpSp>
      </p:grpSp>
      <p:graphicFrame>
        <p:nvGraphicFramePr>
          <p:cNvPr id="37894" name="Object 1024">
            <a:extLst>
              <a:ext uri="{FF2B5EF4-FFF2-40B4-BE49-F238E27FC236}">
                <a16:creationId xmlns:a16="http://schemas.microsoft.com/office/drawing/2014/main" id="{BF08C6E8-B966-46B2-915B-F682D68D4E8B}"/>
              </a:ext>
            </a:extLst>
          </p:cNvPr>
          <p:cNvGraphicFramePr>
            <a:graphicFrameLocks noChangeAspect="1"/>
          </p:cNvGraphicFramePr>
          <p:nvPr/>
        </p:nvGraphicFramePr>
        <p:xfrm>
          <a:off x="2057400" y="2971801"/>
          <a:ext cx="1766888" cy="1628775"/>
        </p:xfrm>
        <a:graphic>
          <a:graphicData uri="http://schemas.openxmlformats.org/presentationml/2006/ole">
            <mc:AlternateContent xmlns:mc="http://schemas.openxmlformats.org/markup-compatibility/2006">
              <mc:Choice xmlns:v="urn:schemas-microsoft-com:vml" Requires="v">
                <p:oleObj spid="_x0000_s4101" name="Imagen" r:id="rId3" imgW="1920240" imgH="1769364" progId="MS_ClipArt_Gallery.2">
                  <p:embed/>
                </p:oleObj>
              </mc:Choice>
              <mc:Fallback>
                <p:oleObj name="Imagen" r:id="rId3" imgW="1920240" imgH="1769364" progId="MS_ClipArt_Gallery.2">
                  <p:embed/>
                  <p:pic>
                    <p:nvPicPr>
                      <p:cNvPr id="37894" name="Object 1024">
                        <a:extLst>
                          <a:ext uri="{FF2B5EF4-FFF2-40B4-BE49-F238E27FC236}">
                            <a16:creationId xmlns:a16="http://schemas.microsoft.com/office/drawing/2014/main" id="{BF08C6E8-B966-46B2-915B-F682D68D4E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971801"/>
                        <a:ext cx="1766888" cy="162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5" name="Text Box 71">
            <a:extLst>
              <a:ext uri="{FF2B5EF4-FFF2-40B4-BE49-F238E27FC236}">
                <a16:creationId xmlns:a16="http://schemas.microsoft.com/office/drawing/2014/main" id="{D86EBFDD-BD2E-4218-94C7-ED76FF6EC1C2}"/>
              </a:ext>
            </a:extLst>
          </p:cNvPr>
          <p:cNvSpPr txBox="1">
            <a:spLocks noChangeArrowheads="1"/>
          </p:cNvSpPr>
          <p:nvPr/>
        </p:nvSpPr>
        <p:spPr bwMode="auto">
          <a:xfrm>
            <a:off x="2590801" y="1981201"/>
            <a:ext cx="44989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449263" fontAlgn="base">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1. Revisión antes de cada uso </a:t>
            </a:r>
          </a:p>
          <a:p>
            <a:pPr defTabSz="449263" fontAlgn="base">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2. Limpieza de partes plásticas </a:t>
            </a:r>
          </a:p>
        </p:txBody>
      </p:sp>
      <p:sp>
        <p:nvSpPr>
          <p:cNvPr id="37896" name="Text Box 72">
            <a:extLst>
              <a:ext uri="{FF2B5EF4-FFF2-40B4-BE49-F238E27FC236}">
                <a16:creationId xmlns:a16="http://schemas.microsoft.com/office/drawing/2014/main" id="{A50FAF23-F90D-4616-906E-1BC11230042D}"/>
              </a:ext>
            </a:extLst>
          </p:cNvPr>
          <p:cNvSpPr txBox="1">
            <a:spLocks noChangeArrowheads="1"/>
          </p:cNvSpPr>
          <p:nvPr/>
        </p:nvSpPr>
        <p:spPr bwMode="auto">
          <a:xfrm>
            <a:off x="3848100" y="3352801"/>
            <a:ext cx="55451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449263" fontAlgn="base">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3. Reparación por personal entrenado, </a:t>
            </a:r>
          </a:p>
          <a:p>
            <a:pPr defTabSz="449263" fontAlgn="base">
              <a:spcBef>
                <a:spcPct val="0"/>
              </a:spcBef>
              <a:spcAft>
                <a:spcPct val="0"/>
              </a:spcAft>
            </a:pPr>
            <a:r>
              <a:rPr lang="es-ES_tradnl" altLang="es-CO" sz="2400">
                <a:solidFill>
                  <a:srgbClr val="000000"/>
                </a:solidFill>
                <a:latin typeface="Arial" panose="020B0604020202020204" pitchFamily="34" charset="0"/>
                <a:ea typeface="ＭＳ Ｐゴシック" panose="020B0600070205080204" pitchFamily="34" charset="-128"/>
              </a:rPr>
              <a:t>    usando partes adecuadas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9">
            <a:extLst>
              <a:ext uri="{FF2B5EF4-FFF2-40B4-BE49-F238E27FC236}">
                <a16:creationId xmlns:a16="http://schemas.microsoft.com/office/drawing/2014/main" id="{2737ABEC-C0FC-4D4A-BBF9-CC0DDD0E4B46}"/>
              </a:ext>
            </a:extLst>
          </p:cNvPr>
          <p:cNvSpPr>
            <a:spLocks noChangeArrowheads="1"/>
          </p:cNvSpPr>
          <p:nvPr/>
        </p:nvSpPr>
        <p:spPr bwMode="auto">
          <a:xfrm>
            <a:off x="3733800" y="44450"/>
            <a:ext cx="4800600" cy="12192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graphicFrame>
        <p:nvGraphicFramePr>
          <p:cNvPr id="38915" name="Object 1024">
            <a:extLst>
              <a:ext uri="{FF2B5EF4-FFF2-40B4-BE49-F238E27FC236}">
                <a16:creationId xmlns:a16="http://schemas.microsoft.com/office/drawing/2014/main" id="{DD96C304-CE99-4D09-9C9E-23D5B828679C}"/>
              </a:ext>
            </a:extLst>
          </p:cNvPr>
          <p:cNvGraphicFramePr>
            <a:graphicFrameLocks noChangeAspect="1"/>
          </p:cNvGraphicFramePr>
          <p:nvPr/>
        </p:nvGraphicFramePr>
        <p:xfrm>
          <a:off x="2212976" y="2438400"/>
          <a:ext cx="2486025" cy="2514600"/>
        </p:xfrm>
        <a:graphic>
          <a:graphicData uri="http://schemas.openxmlformats.org/presentationml/2006/ole">
            <mc:AlternateContent xmlns:mc="http://schemas.openxmlformats.org/markup-compatibility/2006">
              <mc:Choice xmlns:v="urn:schemas-microsoft-com:vml" Requires="v">
                <p:oleObj spid="_x0000_s5125" name="Imagen" r:id="rId3" imgW="712318" imgH="720547" progId="MS_ClipArt_Gallery.2">
                  <p:embed/>
                </p:oleObj>
              </mc:Choice>
              <mc:Fallback>
                <p:oleObj name="Imagen" r:id="rId3" imgW="712318" imgH="720547" progId="MS_ClipArt_Gallery.2">
                  <p:embed/>
                  <p:pic>
                    <p:nvPicPr>
                      <p:cNvPr id="38915" name="Object 1024">
                        <a:extLst>
                          <a:ext uri="{FF2B5EF4-FFF2-40B4-BE49-F238E27FC236}">
                            <a16:creationId xmlns:a16="http://schemas.microsoft.com/office/drawing/2014/main" id="{DD96C304-CE99-4D09-9C9E-23D5B82867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2976" y="2438400"/>
                        <a:ext cx="2486025" cy="2514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6" name="Text Box 4">
            <a:extLst>
              <a:ext uri="{FF2B5EF4-FFF2-40B4-BE49-F238E27FC236}">
                <a16:creationId xmlns:a16="http://schemas.microsoft.com/office/drawing/2014/main" id="{5A9BCDF8-3E2C-4A90-9130-02583569C7A4}"/>
              </a:ext>
            </a:extLst>
          </p:cNvPr>
          <p:cNvSpPr txBox="1">
            <a:spLocks noChangeArrowheads="1"/>
          </p:cNvSpPr>
          <p:nvPr/>
        </p:nvSpPr>
        <p:spPr bwMode="auto">
          <a:xfrm>
            <a:off x="4876800" y="2514600"/>
            <a:ext cx="5297488"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449263" fontAlgn="base">
              <a:spcBef>
                <a:spcPct val="0"/>
              </a:spcBef>
              <a:spcAft>
                <a:spcPct val="0"/>
              </a:spcAft>
            </a:pPr>
            <a:r>
              <a:rPr lang="es-ES_tradnl" altLang="es-CO" sz="3200" b="1" u="sng">
                <a:solidFill>
                  <a:srgbClr val="FF0000"/>
                </a:solidFill>
                <a:latin typeface="Arial" panose="020B0604020202020204" pitchFamily="34" charset="0"/>
                <a:ea typeface="ＭＳ Ｐゴシック" panose="020B0600070205080204" pitchFamily="34" charset="-128"/>
              </a:rPr>
              <a:t>RIESGOS</a:t>
            </a:r>
            <a:r>
              <a:rPr lang="es-ES_tradnl" altLang="es-CO" sz="3200">
                <a:solidFill>
                  <a:srgbClr val="000000"/>
                </a:solidFill>
                <a:latin typeface="Arial" panose="020B0604020202020204" pitchFamily="34" charset="0"/>
                <a:ea typeface="ＭＳ Ｐゴシック" panose="020B0600070205080204" pitchFamily="34" charset="-128"/>
              </a:rPr>
              <a:t>:</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 1.) Sustancias químicas</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 2.) Riesgos mecánicos</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 3.) Temperaturas extremas</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 4.)  Agentes biológicos</a:t>
            </a:r>
          </a:p>
        </p:txBody>
      </p:sp>
      <p:sp>
        <p:nvSpPr>
          <p:cNvPr id="38917" name="WordArt 8">
            <a:extLst>
              <a:ext uri="{FF2B5EF4-FFF2-40B4-BE49-F238E27FC236}">
                <a16:creationId xmlns:a16="http://schemas.microsoft.com/office/drawing/2014/main" id="{C908CC5F-9608-4FDF-B131-F4A37791F371}"/>
              </a:ext>
            </a:extLst>
          </p:cNvPr>
          <p:cNvSpPr>
            <a:spLocks noChangeArrowheads="1" noChangeShapeType="1" noTextEdit="1"/>
          </p:cNvSpPr>
          <p:nvPr/>
        </p:nvSpPr>
        <p:spPr bwMode="auto">
          <a:xfrm rot="183396">
            <a:off x="4800600" y="257175"/>
            <a:ext cx="2590800" cy="941388"/>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MANOS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8">
            <a:extLst>
              <a:ext uri="{FF2B5EF4-FFF2-40B4-BE49-F238E27FC236}">
                <a16:creationId xmlns:a16="http://schemas.microsoft.com/office/drawing/2014/main" id="{2A3475C3-EA78-4C51-8312-A7DE47F23F36}"/>
              </a:ext>
            </a:extLst>
          </p:cNvPr>
          <p:cNvSpPr>
            <a:spLocks noChangeArrowheads="1"/>
          </p:cNvSpPr>
          <p:nvPr/>
        </p:nvSpPr>
        <p:spPr bwMode="auto">
          <a:xfrm>
            <a:off x="3733800" y="44450"/>
            <a:ext cx="4800600" cy="12954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39939" name="Text Box 3">
            <a:extLst>
              <a:ext uri="{FF2B5EF4-FFF2-40B4-BE49-F238E27FC236}">
                <a16:creationId xmlns:a16="http://schemas.microsoft.com/office/drawing/2014/main" id="{A6DF4FFB-57C5-443A-BE61-3CBCE8BE6D89}"/>
              </a:ext>
            </a:extLst>
          </p:cNvPr>
          <p:cNvSpPr txBox="1">
            <a:spLocks noChangeArrowheads="1"/>
          </p:cNvSpPr>
          <p:nvPr/>
        </p:nvSpPr>
        <p:spPr bwMode="auto">
          <a:xfrm>
            <a:off x="2667001" y="1828801"/>
            <a:ext cx="72548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49263" fontAlgn="base">
              <a:spcBef>
                <a:spcPct val="0"/>
              </a:spcBef>
              <a:spcAft>
                <a:spcPct val="0"/>
              </a:spcAft>
              <a:buSzPct val="80000"/>
              <a:buFont typeface="Monotype Sorts" pitchFamily="2" charset="2"/>
              <a:buChar char="H"/>
            </a:pPr>
            <a:r>
              <a:rPr lang="es-ES_tradnl" altLang="es-CO" sz="3200">
                <a:solidFill>
                  <a:srgbClr val="000000"/>
                </a:solidFill>
                <a:latin typeface="Arial" panose="020B0604020202020204" pitchFamily="34" charset="0"/>
                <a:ea typeface="ＭＳ Ｐゴシック" panose="020B0600070205080204" pitchFamily="34" charset="-128"/>
              </a:rPr>
              <a:t>Desechables</a:t>
            </a:r>
          </a:p>
          <a:p>
            <a:pPr defTabSz="449263" fontAlgn="base">
              <a:spcBef>
                <a:spcPct val="0"/>
              </a:spcBef>
              <a:spcAft>
                <a:spcPct val="0"/>
              </a:spcAft>
              <a:buSzPct val="80000"/>
              <a:buFont typeface="Monotype Sorts" pitchFamily="2" charset="2"/>
              <a:buChar char="H"/>
            </a:pPr>
            <a:r>
              <a:rPr lang="es-ES_tradnl" altLang="es-CO" sz="3200">
                <a:solidFill>
                  <a:srgbClr val="000000"/>
                </a:solidFill>
                <a:latin typeface="Arial" panose="020B0604020202020204" pitchFamily="34" charset="0"/>
                <a:ea typeface="ＭＳ Ｐゴシック" panose="020B0600070205080204" pitchFamily="34" charset="-128"/>
              </a:rPr>
              <a:t>Lona</a:t>
            </a:r>
          </a:p>
          <a:p>
            <a:pPr defTabSz="449263" fontAlgn="base">
              <a:spcBef>
                <a:spcPct val="0"/>
              </a:spcBef>
              <a:spcAft>
                <a:spcPct val="0"/>
              </a:spcAft>
              <a:buSzPct val="80000"/>
              <a:buFont typeface="Monotype Sorts" pitchFamily="2" charset="2"/>
              <a:buChar char="H"/>
            </a:pPr>
            <a:r>
              <a:rPr lang="es-ES_tradnl" altLang="es-CO" sz="3200">
                <a:solidFill>
                  <a:srgbClr val="000000"/>
                </a:solidFill>
                <a:latin typeface="Arial" panose="020B0604020202020204" pitchFamily="34" charset="0"/>
                <a:ea typeface="ＭＳ Ｐゴシック" panose="020B0600070205080204" pitchFamily="34" charset="-128"/>
              </a:rPr>
              <a:t>Cuero</a:t>
            </a:r>
          </a:p>
          <a:p>
            <a:pPr defTabSz="449263" fontAlgn="base">
              <a:spcBef>
                <a:spcPct val="0"/>
              </a:spcBef>
              <a:spcAft>
                <a:spcPct val="0"/>
              </a:spcAft>
              <a:buSzPct val="80000"/>
              <a:buFont typeface="Monotype Sorts" pitchFamily="2" charset="2"/>
              <a:buChar char="H"/>
            </a:pPr>
            <a:r>
              <a:rPr lang="es-ES_tradnl" altLang="es-CO" sz="3200">
                <a:solidFill>
                  <a:srgbClr val="000000"/>
                </a:solidFill>
                <a:latin typeface="Arial" panose="020B0604020202020204" pitchFamily="34" charset="0"/>
                <a:ea typeface="ＭＳ Ｐゴシック" panose="020B0600070205080204" pitchFamily="34" charset="-128"/>
              </a:rPr>
              <a:t>Vaqueta o tipo ing</a:t>
            </a:r>
          </a:p>
          <a:p>
            <a:pPr defTabSz="449263" fontAlgn="base">
              <a:spcBef>
                <a:spcPct val="0"/>
              </a:spcBef>
              <a:spcAft>
                <a:spcPct val="0"/>
              </a:spcAft>
              <a:buSzPct val="80000"/>
              <a:buFont typeface="Monotype Sorts" pitchFamily="2" charset="2"/>
              <a:buChar char="H"/>
            </a:pPr>
            <a:r>
              <a:rPr lang="es-ES_tradnl" altLang="es-CO" sz="3200">
                <a:solidFill>
                  <a:srgbClr val="000000"/>
                </a:solidFill>
                <a:latin typeface="Arial" panose="020B0604020202020204" pitchFamily="34" charset="0"/>
                <a:ea typeface="ＭＳ Ｐゴシック" panose="020B0600070205080204" pitchFamily="34" charset="-128"/>
              </a:rPr>
              <a:t>Malla metálica</a:t>
            </a:r>
          </a:p>
          <a:p>
            <a:pPr defTabSz="449263" fontAlgn="base">
              <a:spcBef>
                <a:spcPct val="0"/>
              </a:spcBef>
              <a:spcAft>
                <a:spcPct val="0"/>
              </a:spcAft>
              <a:buSzPct val="80000"/>
              <a:buFont typeface="Monotype Sorts" pitchFamily="2" charset="2"/>
              <a:buChar char="H"/>
            </a:pPr>
            <a:r>
              <a:rPr lang="es-ES_tradnl" altLang="es-CO" sz="3200">
                <a:solidFill>
                  <a:srgbClr val="000000"/>
                </a:solidFill>
                <a:latin typeface="Arial" panose="020B0604020202020204" pitchFamily="34" charset="0"/>
                <a:ea typeface="ＭＳ Ｐゴシック" panose="020B0600070205080204" pitchFamily="34" charset="-128"/>
              </a:rPr>
              <a:t>Aluminizados</a:t>
            </a:r>
          </a:p>
          <a:p>
            <a:pPr defTabSz="449263" fontAlgn="base">
              <a:spcBef>
                <a:spcPct val="0"/>
              </a:spcBef>
              <a:spcAft>
                <a:spcPct val="0"/>
              </a:spcAft>
              <a:buSzPct val="80000"/>
              <a:buFont typeface="Monotype Sorts" pitchFamily="2" charset="2"/>
              <a:buChar char="H"/>
            </a:pPr>
            <a:r>
              <a:rPr lang="es-ES_tradnl" altLang="es-CO" sz="3200">
                <a:solidFill>
                  <a:srgbClr val="000000"/>
                </a:solidFill>
                <a:latin typeface="Arial" panose="020B0604020202020204" pitchFamily="34" charset="0"/>
                <a:ea typeface="ＭＳ Ｐゴシック" panose="020B0600070205080204" pitchFamily="34" charset="-128"/>
              </a:rPr>
              <a:t>Resistentes a sustancias químicas:</a:t>
            </a:r>
          </a:p>
          <a:p>
            <a:pPr defTabSz="449263" fontAlgn="base">
              <a:spcBef>
                <a:spcPct val="0"/>
              </a:spcBef>
              <a:spcAft>
                <a:spcPct val="0"/>
              </a:spcAft>
              <a:buSzPct val="80000"/>
            </a:pPr>
            <a:r>
              <a:rPr lang="es-ES_tradnl" altLang="es-CO" sz="3200">
                <a:solidFill>
                  <a:srgbClr val="000000"/>
                </a:solidFill>
                <a:latin typeface="Arial" panose="020B0604020202020204" pitchFamily="34" charset="0"/>
                <a:ea typeface="ＭＳ Ｐゴシック" panose="020B0600070205080204" pitchFamily="34" charset="-128"/>
              </a:rPr>
              <a:t>  Caucho, PVC, Neopreno, Nitrilo,   </a:t>
            </a:r>
          </a:p>
          <a:p>
            <a:pPr defTabSz="449263" fontAlgn="base">
              <a:spcBef>
                <a:spcPct val="0"/>
              </a:spcBef>
              <a:spcAft>
                <a:spcPct val="0"/>
              </a:spcAft>
              <a:buSzPct val="80000"/>
            </a:pPr>
            <a:r>
              <a:rPr lang="es-ES_tradnl" altLang="es-CO" sz="3200">
                <a:solidFill>
                  <a:srgbClr val="000000"/>
                </a:solidFill>
                <a:latin typeface="Arial" panose="020B0604020202020204" pitchFamily="34" charset="0"/>
                <a:ea typeface="ＭＳ Ｐゴシック" panose="020B0600070205080204" pitchFamily="34" charset="-128"/>
              </a:rPr>
              <a:t>  Butilo, entre otros.</a:t>
            </a:r>
          </a:p>
        </p:txBody>
      </p:sp>
      <p:sp>
        <p:nvSpPr>
          <p:cNvPr id="39940" name="WordArt 7">
            <a:extLst>
              <a:ext uri="{FF2B5EF4-FFF2-40B4-BE49-F238E27FC236}">
                <a16:creationId xmlns:a16="http://schemas.microsoft.com/office/drawing/2014/main" id="{93656DB3-6D8B-43FA-AF1D-40B7C7372B5C}"/>
              </a:ext>
            </a:extLst>
          </p:cNvPr>
          <p:cNvSpPr>
            <a:spLocks noChangeArrowheads="1" noChangeShapeType="1" noTextEdit="1"/>
          </p:cNvSpPr>
          <p:nvPr/>
        </p:nvSpPr>
        <p:spPr bwMode="auto">
          <a:xfrm rot="154975">
            <a:off x="4876800" y="247650"/>
            <a:ext cx="2667000" cy="941388"/>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GUANTES</a:t>
            </a:r>
          </a:p>
        </p:txBody>
      </p:sp>
      <p:grpSp>
        <p:nvGrpSpPr>
          <p:cNvPr id="39941" name="Group 103">
            <a:extLst>
              <a:ext uri="{FF2B5EF4-FFF2-40B4-BE49-F238E27FC236}">
                <a16:creationId xmlns:a16="http://schemas.microsoft.com/office/drawing/2014/main" id="{8FF79727-63AD-446B-B0C0-85C9C98A5195}"/>
              </a:ext>
            </a:extLst>
          </p:cNvPr>
          <p:cNvGrpSpPr>
            <a:grpSpLocks/>
          </p:cNvGrpSpPr>
          <p:nvPr/>
        </p:nvGrpSpPr>
        <p:grpSpPr bwMode="auto">
          <a:xfrm>
            <a:off x="7086600" y="2057400"/>
            <a:ext cx="2279650" cy="2268538"/>
            <a:chOff x="3211" y="1221"/>
            <a:chExt cx="1436" cy="1429"/>
          </a:xfrm>
        </p:grpSpPr>
        <p:sp>
          <p:nvSpPr>
            <p:cNvPr id="39942" name="Freeform 11">
              <a:extLst>
                <a:ext uri="{FF2B5EF4-FFF2-40B4-BE49-F238E27FC236}">
                  <a16:creationId xmlns:a16="http://schemas.microsoft.com/office/drawing/2014/main" id="{8B3ADE97-5158-489F-80D2-8B4FD60EFAAC}"/>
                </a:ext>
              </a:extLst>
            </p:cNvPr>
            <p:cNvSpPr>
              <a:spLocks/>
            </p:cNvSpPr>
            <p:nvPr/>
          </p:nvSpPr>
          <p:spPr bwMode="auto">
            <a:xfrm>
              <a:off x="3220" y="1257"/>
              <a:ext cx="1385" cy="1384"/>
            </a:xfrm>
            <a:custGeom>
              <a:avLst/>
              <a:gdLst>
                <a:gd name="T0" fmla="*/ 1385 w 1385"/>
                <a:gd name="T1" fmla="*/ 1207 h 1384"/>
                <a:gd name="T2" fmla="*/ 1381 w 1385"/>
                <a:gd name="T3" fmla="*/ 1243 h 1384"/>
                <a:gd name="T4" fmla="*/ 1372 w 1385"/>
                <a:gd name="T5" fmla="*/ 1276 h 1384"/>
                <a:gd name="T6" fmla="*/ 1356 w 1385"/>
                <a:gd name="T7" fmla="*/ 1305 h 1384"/>
                <a:gd name="T8" fmla="*/ 1333 w 1385"/>
                <a:gd name="T9" fmla="*/ 1332 h 1384"/>
                <a:gd name="T10" fmla="*/ 1308 w 1385"/>
                <a:gd name="T11" fmla="*/ 1353 h 1384"/>
                <a:gd name="T12" fmla="*/ 1278 w 1385"/>
                <a:gd name="T13" fmla="*/ 1370 h 1384"/>
                <a:gd name="T14" fmla="*/ 1245 w 1385"/>
                <a:gd name="T15" fmla="*/ 1380 h 1384"/>
                <a:gd name="T16" fmla="*/ 1209 w 1385"/>
                <a:gd name="T17" fmla="*/ 1384 h 1384"/>
                <a:gd name="T18" fmla="*/ 177 w 1385"/>
                <a:gd name="T19" fmla="*/ 1384 h 1384"/>
                <a:gd name="T20" fmla="*/ 141 w 1385"/>
                <a:gd name="T21" fmla="*/ 1380 h 1384"/>
                <a:gd name="T22" fmla="*/ 108 w 1385"/>
                <a:gd name="T23" fmla="*/ 1370 h 1384"/>
                <a:gd name="T24" fmla="*/ 78 w 1385"/>
                <a:gd name="T25" fmla="*/ 1353 h 1384"/>
                <a:gd name="T26" fmla="*/ 51 w 1385"/>
                <a:gd name="T27" fmla="*/ 1332 h 1384"/>
                <a:gd name="T28" fmla="*/ 30 w 1385"/>
                <a:gd name="T29" fmla="*/ 1305 h 1384"/>
                <a:gd name="T30" fmla="*/ 13 w 1385"/>
                <a:gd name="T31" fmla="*/ 1276 h 1384"/>
                <a:gd name="T32" fmla="*/ 3 w 1385"/>
                <a:gd name="T33" fmla="*/ 1243 h 1384"/>
                <a:gd name="T34" fmla="*/ 0 w 1385"/>
                <a:gd name="T35" fmla="*/ 1207 h 1384"/>
                <a:gd name="T36" fmla="*/ 0 w 1385"/>
                <a:gd name="T37" fmla="*/ 175 h 1384"/>
                <a:gd name="T38" fmla="*/ 3 w 1385"/>
                <a:gd name="T39" fmla="*/ 140 h 1384"/>
                <a:gd name="T40" fmla="*/ 13 w 1385"/>
                <a:gd name="T41" fmla="*/ 106 h 1384"/>
                <a:gd name="T42" fmla="*/ 30 w 1385"/>
                <a:gd name="T43" fmla="*/ 77 h 1384"/>
                <a:gd name="T44" fmla="*/ 51 w 1385"/>
                <a:gd name="T45" fmla="*/ 51 h 1384"/>
                <a:gd name="T46" fmla="*/ 78 w 1385"/>
                <a:gd name="T47" fmla="*/ 29 h 1384"/>
                <a:gd name="T48" fmla="*/ 108 w 1385"/>
                <a:gd name="T49" fmla="*/ 13 h 1384"/>
                <a:gd name="T50" fmla="*/ 141 w 1385"/>
                <a:gd name="T51" fmla="*/ 3 h 1384"/>
                <a:gd name="T52" fmla="*/ 177 w 1385"/>
                <a:gd name="T53" fmla="*/ 0 h 1384"/>
                <a:gd name="T54" fmla="*/ 1209 w 1385"/>
                <a:gd name="T55" fmla="*/ 0 h 1384"/>
                <a:gd name="T56" fmla="*/ 1245 w 1385"/>
                <a:gd name="T57" fmla="*/ 3 h 1384"/>
                <a:gd name="T58" fmla="*/ 1278 w 1385"/>
                <a:gd name="T59" fmla="*/ 13 h 1384"/>
                <a:gd name="T60" fmla="*/ 1308 w 1385"/>
                <a:gd name="T61" fmla="*/ 29 h 1384"/>
                <a:gd name="T62" fmla="*/ 1333 w 1385"/>
                <a:gd name="T63" fmla="*/ 51 h 1384"/>
                <a:gd name="T64" fmla="*/ 1356 w 1385"/>
                <a:gd name="T65" fmla="*/ 77 h 1384"/>
                <a:gd name="T66" fmla="*/ 1372 w 1385"/>
                <a:gd name="T67" fmla="*/ 106 h 1384"/>
                <a:gd name="T68" fmla="*/ 1381 w 1385"/>
                <a:gd name="T69" fmla="*/ 140 h 1384"/>
                <a:gd name="T70" fmla="*/ 1385 w 1385"/>
                <a:gd name="T71" fmla="*/ 175 h 1384"/>
                <a:gd name="T72" fmla="*/ 1385 w 1385"/>
                <a:gd name="T73" fmla="*/ 1207 h 138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385"/>
                <a:gd name="T112" fmla="*/ 0 h 1384"/>
                <a:gd name="T113" fmla="*/ 1385 w 1385"/>
                <a:gd name="T114" fmla="*/ 1384 h 138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385" h="1384">
                  <a:moveTo>
                    <a:pt x="1385" y="1207"/>
                  </a:moveTo>
                  <a:lnTo>
                    <a:pt x="1381" y="1243"/>
                  </a:lnTo>
                  <a:lnTo>
                    <a:pt x="1372" y="1276"/>
                  </a:lnTo>
                  <a:lnTo>
                    <a:pt x="1356" y="1305"/>
                  </a:lnTo>
                  <a:lnTo>
                    <a:pt x="1333" y="1332"/>
                  </a:lnTo>
                  <a:lnTo>
                    <a:pt x="1308" y="1353"/>
                  </a:lnTo>
                  <a:lnTo>
                    <a:pt x="1278" y="1370"/>
                  </a:lnTo>
                  <a:lnTo>
                    <a:pt x="1245" y="1380"/>
                  </a:lnTo>
                  <a:lnTo>
                    <a:pt x="1209" y="1384"/>
                  </a:lnTo>
                  <a:lnTo>
                    <a:pt x="177" y="1384"/>
                  </a:lnTo>
                  <a:lnTo>
                    <a:pt x="141" y="1380"/>
                  </a:lnTo>
                  <a:lnTo>
                    <a:pt x="108" y="1370"/>
                  </a:lnTo>
                  <a:lnTo>
                    <a:pt x="78" y="1353"/>
                  </a:lnTo>
                  <a:lnTo>
                    <a:pt x="51" y="1332"/>
                  </a:lnTo>
                  <a:lnTo>
                    <a:pt x="30" y="1305"/>
                  </a:lnTo>
                  <a:lnTo>
                    <a:pt x="13" y="1276"/>
                  </a:lnTo>
                  <a:lnTo>
                    <a:pt x="3" y="1243"/>
                  </a:lnTo>
                  <a:lnTo>
                    <a:pt x="0" y="1207"/>
                  </a:lnTo>
                  <a:lnTo>
                    <a:pt x="0" y="175"/>
                  </a:lnTo>
                  <a:lnTo>
                    <a:pt x="3" y="140"/>
                  </a:lnTo>
                  <a:lnTo>
                    <a:pt x="13" y="106"/>
                  </a:lnTo>
                  <a:lnTo>
                    <a:pt x="30" y="77"/>
                  </a:lnTo>
                  <a:lnTo>
                    <a:pt x="51" y="51"/>
                  </a:lnTo>
                  <a:lnTo>
                    <a:pt x="78" y="29"/>
                  </a:lnTo>
                  <a:lnTo>
                    <a:pt x="108" y="13"/>
                  </a:lnTo>
                  <a:lnTo>
                    <a:pt x="141" y="3"/>
                  </a:lnTo>
                  <a:lnTo>
                    <a:pt x="177" y="0"/>
                  </a:lnTo>
                  <a:lnTo>
                    <a:pt x="1209" y="0"/>
                  </a:lnTo>
                  <a:lnTo>
                    <a:pt x="1245" y="3"/>
                  </a:lnTo>
                  <a:lnTo>
                    <a:pt x="1278" y="13"/>
                  </a:lnTo>
                  <a:lnTo>
                    <a:pt x="1308" y="29"/>
                  </a:lnTo>
                  <a:lnTo>
                    <a:pt x="1333" y="51"/>
                  </a:lnTo>
                  <a:lnTo>
                    <a:pt x="1356" y="77"/>
                  </a:lnTo>
                  <a:lnTo>
                    <a:pt x="1372" y="106"/>
                  </a:lnTo>
                  <a:lnTo>
                    <a:pt x="1381" y="140"/>
                  </a:lnTo>
                  <a:lnTo>
                    <a:pt x="1385" y="175"/>
                  </a:lnTo>
                  <a:lnTo>
                    <a:pt x="1385" y="1207"/>
                  </a:lnTo>
                  <a:close/>
                </a:path>
              </a:pathLst>
            </a:custGeom>
            <a:solidFill>
              <a:srgbClr val="FFC68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43" name="Freeform 12">
              <a:extLst>
                <a:ext uri="{FF2B5EF4-FFF2-40B4-BE49-F238E27FC236}">
                  <a16:creationId xmlns:a16="http://schemas.microsoft.com/office/drawing/2014/main" id="{E1DFC406-1482-4CC8-89F6-71992BCA1EE5}"/>
                </a:ext>
              </a:extLst>
            </p:cNvPr>
            <p:cNvSpPr>
              <a:spLocks/>
            </p:cNvSpPr>
            <p:nvPr/>
          </p:nvSpPr>
          <p:spPr bwMode="auto">
            <a:xfrm>
              <a:off x="4424" y="2464"/>
              <a:ext cx="187" cy="183"/>
            </a:xfrm>
            <a:custGeom>
              <a:avLst/>
              <a:gdLst>
                <a:gd name="T0" fmla="*/ 5 w 187"/>
                <a:gd name="T1" fmla="*/ 183 h 183"/>
                <a:gd name="T2" fmla="*/ 5 w 187"/>
                <a:gd name="T3" fmla="*/ 183 h 183"/>
                <a:gd name="T4" fmla="*/ 41 w 187"/>
                <a:gd name="T5" fmla="*/ 178 h 183"/>
                <a:gd name="T6" fmla="*/ 75 w 187"/>
                <a:gd name="T7" fmla="*/ 168 h 183"/>
                <a:gd name="T8" fmla="*/ 106 w 187"/>
                <a:gd name="T9" fmla="*/ 151 h 183"/>
                <a:gd name="T10" fmla="*/ 133 w 187"/>
                <a:gd name="T11" fmla="*/ 129 h 183"/>
                <a:gd name="T12" fmla="*/ 157 w 187"/>
                <a:gd name="T13" fmla="*/ 101 h 183"/>
                <a:gd name="T14" fmla="*/ 173 w 187"/>
                <a:gd name="T15" fmla="*/ 70 h 183"/>
                <a:gd name="T16" fmla="*/ 182 w 187"/>
                <a:gd name="T17" fmla="*/ 36 h 183"/>
                <a:gd name="T18" fmla="*/ 187 w 187"/>
                <a:gd name="T19" fmla="*/ 0 h 183"/>
                <a:gd name="T20" fmla="*/ 175 w 187"/>
                <a:gd name="T21" fmla="*/ 0 h 183"/>
                <a:gd name="T22" fmla="*/ 173 w 187"/>
                <a:gd name="T23" fmla="*/ 36 h 183"/>
                <a:gd name="T24" fmla="*/ 163 w 187"/>
                <a:gd name="T25" fmla="*/ 68 h 183"/>
                <a:gd name="T26" fmla="*/ 147 w 187"/>
                <a:gd name="T27" fmla="*/ 96 h 183"/>
                <a:gd name="T28" fmla="*/ 126 w 187"/>
                <a:gd name="T29" fmla="*/ 122 h 183"/>
                <a:gd name="T30" fmla="*/ 101 w 187"/>
                <a:gd name="T31" fmla="*/ 141 h 183"/>
                <a:gd name="T32" fmla="*/ 73 w 187"/>
                <a:gd name="T33" fmla="*/ 159 h 183"/>
                <a:gd name="T34" fmla="*/ 41 w 187"/>
                <a:gd name="T35" fmla="*/ 168 h 183"/>
                <a:gd name="T36" fmla="*/ 5 w 187"/>
                <a:gd name="T37" fmla="*/ 171 h 183"/>
                <a:gd name="T38" fmla="*/ 5 w 187"/>
                <a:gd name="T39" fmla="*/ 171 h 183"/>
                <a:gd name="T40" fmla="*/ 5 w 187"/>
                <a:gd name="T41" fmla="*/ 171 h 183"/>
                <a:gd name="T42" fmla="*/ 2 w 187"/>
                <a:gd name="T43" fmla="*/ 173 h 183"/>
                <a:gd name="T44" fmla="*/ 0 w 187"/>
                <a:gd name="T45" fmla="*/ 177 h 183"/>
                <a:gd name="T46" fmla="*/ 2 w 187"/>
                <a:gd name="T47" fmla="*/ 181 h 183"/>
                <a:gd name="T48" fmla="*/ 5 w 187"/>
                <a:gd name="T49" fmla="*/ 183 h 18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7"/>
                <a:gd name="T76" fmla="*/ 0 h 183"/>
                <a:gd name="T77" fmla="*/ 187 w 187"/>
                <a:gd name="T78" fmla="*/ 183 h 18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7" h="183">
                  <a:moveTo>
                    <a:pt x="5" y="183"/>
                  </a:moveTo>
                  <a:lnTo>
                    <a:pt x="5" y="183"/>
                  </a:lnTo>
                  <a:lnTo>
                    <a:pt x="41" y="178"/>
                  </a:lnTo>
                  <a:lnTo>
                    <a:pt x="75" y="168"/>
                  </a:lnTo>
                  <a:lnTo>
                    <a:pt x="106" y="151"/>
                  </a:lnTo>
                  <a:lnTo>
                    <a:pt x="133" y="129"/>
                  </a:lnTo>
                  <a:lnTo>
                    <a:pt x="157" y="101"/>
                  </a:lnTo>
                  <a:lnTo>
                    <a:pt x="173" y="70"/>
                  </a:lnTo>
                  <a:lnTo>
                    <a:pt x="182" y="36"/>
                  </a:lnTo>
                  <a:lnTo>
                    <a:pt x="187" y="0"/>
                  </a:lnTo>
                  <a:lnTo>
                    <a:pt x="175" y="0"/>
                  </a:lnTo>
                  <a:lnTo>
                    <a:pt x="173" y="36"/>
                  </a:lnTo>
                  <a:lnTo>
                    <a:pt x="163" y="68"/>
                  </a:lnTo>
                  <a:lnTo>
                    <a:pt x="147" y="96"/>
                  </a:lnTo>
                  <a:lnTo>
                    <a:pt x="126" y="122"/>
                  </a:lnTo>
                  <a:lnTo>
                    <a:pt x="101" y="141"/>
                  </a:lnTo>
                  <a:lnTo>
                    <a:pt x="73" y="159"/>
                  </a:lnTo>
                  <a:lnTo>
                    <a:pt x="41" y="168"/>
                  </a:lnTo>
                  <a:lnTo>
                    <a:pt x="5" y="171"/>
                  </a:lnTo>
                  <a:lnTo>
                    <a:pt x="2" y="173"/>
                  </a:lnTo>
                  <a:lnTo>
                    <a:pt x="0" y="177"/>
                  </a:lnTo>
                  <a:lnTo>
                    <a:pt x="2" y="181"/>
                  </a:lnTo>
                  <a:lnTo>
                    <a:pt x="5" y="18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44" name="Freeform 13">
              <a:extLst>
                <a:ext uri="{FF2B5EF4-FFF2-40B4-BE49-F238E27FC236}">
                  <a16:creationId xmlns:a16="http://schemas.microsoft.com/office/drawing/2014/main" id="{E0EBC127-630A-4630-ACAB-9D64D9FBF500}"/>
                </a:ext>
              </a:extLst>
            </p:cNvPr>
            <p:cNvSpPr>
              <a:spLocks/>
            </p:cNvSpPr>
            <p:nvPr/>
          </p:nvSpPr>
          <p:spPr bwMode="auto">
            <a:xfrm>
              <a:off x="3392" y="2635"/>
              <a:ext cx="1037" cy="12"/>
            </a:xfrm>
            <a:custGeom>
              <a:avLst/>
              <a:gdLst>
                <a:gd name="T0" fmla="*/ 5 w 1037"/>
                <a:gd name="T1" fmla="*/ 12 h 12"/>
                <a:gd name="T2" fmla="*/ 5 w 1037"/>
                <a:gd name="T3" fmla="*/ 12 h 12"/>
                <a:gd name="T4" fmla="*/ 1037 w 1037"/>
                <a:gd name="T5" fmla="*/ 12 h 12"/>
                <a:gd name="T6" fmla="*/ 1037 w 1037"/>
                <a:gd name="T7" fmla="*/ 0 h 12"/>
                <a:gd name="T8" fmla="*/ 5 w 1037"/>
                <a:gd name="T9" fmla="*/ 0 h 12"/>
                <a:gd name="T10" fmla="*/ 5 w 1037"/>
                <a:gd name="T11" fmla="*/ 0 h 12"/>
                <a:gd name="T12" fmla="*/ 5 w 1037"/>
                <a:gd name="T13" fmla="*/ 0 h 12"/>
                <a:gd name="T14" fmla="*/ 1 w 1037"/>
                <a:gd name="T15" fmla="*/ 2 h 12"/>
                <a:gd name="T16" fmla="*/ 0 w 1037"/>
                <a:gd name="T17" fmla="*/ 6 h 12"/>
                <a:gd name="T18" fmla="*/ 1 w 1037"/>
                <a:gd name="T19" fmla="*/ 10 h 12"/>
                <a:gd name="T20" fmla="*/ 5 w 1037"/>
                <a:gd name="T21" fmla="*/ 12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7"/>
                <a:gd name="T34" fmla="*/ 0 h 12"/>
                <a:gd name="T35" fmla="*/ 1037 w 1037"/>
                <a:gd name="T36" fmla="*/ 12 h 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7" h="12">
                  <a:moveTo>
                    <a:pt x="5" y="12"/>
                  </a:moveTo>
                  <a:lnTo>
                    <a:pt x="5" y="12"/>
                  </a:lnTo>
                  <a:lnTo>
                    <a:pt x="1037" y="12"/>
                  </a:lnTo>
                  <a:lnTo>
                    <a:pt x="1037" y="0"/>
                  </a:lnTo>
                  <a:lnTo>
                    <a:pt x="5" y="0"/>
                  </a:lnTo>
                  <a:lnTo>
                    <a:pt x="1" y="2"/>
                  </a:lnTo>
                  <a:lnTo>
                    <a:pt x="0" y="6"/>
                  </a:lnTo>
                  <a:lnTo>
                    <a:pt x="1" y="10"/>
                  </a:lnTo>
                  <a:lnTo>
                    <a:pt x="5"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45" name="Freeform 14">
              <a:extLst>
                <a:ext uri="{FF2B5EF4-FFF2-40B4-BE49-F238E27FC236}">
                  <a16:creationId xmlns:a16="http://schemas.microsoft.com/office/drawing/2014/main" id="{21F66B38-29C2-4993-9A34-4BBF0BC2450F}"/>
                </a:ext>
              </a:extLst>
            </p:cNvPr>
            <p:cNvSpPr>
              <a:spLocks/>
            </p:cNvSpPr>
            <p:nvPr/>
          </p:nvSpPr>
          <p:spPr bwMode="auto">
            <a:xfrm>
              <a:off x="3214" y="2458"/>
              <a:ext cx="183" cy="189"/>
            </a:xfrm>
            <a:custGeom>
              <a:avLst/>
              <a:gdLst>
                <a:gd name="T0" fmla="*/ 0 w 183"/>
                <a:gd name="T1" fmla="*/ 6 h 189"/>
                <a:gd name="T2" fmla="*/ 0 w 183"/>
                <a:gd name="T3" fmla="*/ 6 h 189"/>
                <a:gd name="T4" fmla="*/ 4 w 183"/>
                <a:gd name="T5" fmla="*/ 42 h 189"/>
                <a:gd name="T6" fmla="*/ 14 w 183"/>
                <a:gd name="T7" fmla="*/ 76 h 189"/>
                <a:gd name="T8" fmla="*/ 32 w 183"/>
                <a:gd name="T9" fmla="*/ 107 h 189"/>
                <a:gd name="T10" fmla="*/ 54 w 183"/>
                <a:gd name="T11" fmla="*/ 135 h 189"/>
                <a:gd name="T12" fmla="*/ 82 w 183"/>
                <a:gd name="T13" fmla="*/ 157 h 189"/>
                <a:gd name="T14" fmla="*/ 113 w 183"/>
                <a:gd name="T15" fmla="*/ 174 h 189"/>
                <a:gd name="T16" fmla="*/ 147 w 183"/>
                <a:gd name="T17" fmla="*/ 184 h 189"/>
                <a:gd name="T18" fmla="*/ 183 w 183"/>
                <a:gd name="T19" fmla="*/ 189 h 189"/>
                <a:gd name="T20" fmla="*/ 183 w 183"/>
                <a:gd name="T21" fmla="*/ 177 h 189"/>
                <a:gd name="T22" fmla="*/ 147 w 183"/>
                <a:gd name="T23" fmla="*/ 174 h 189"/>
                <a:gd name="T24" fmla="*/ 115 w 183"/>
                <a:gd name="T25" fmla="*/ 165 h 189"/>
                <a:gd name="T26" fmla="*/ 87 w 183"/>
                <a:gd name="T27" fmla="*/ 147 h 189"/>
                <a:gd name="T28" fmla="*/ 61 w 183"/>
                <a:gd name="T29" fmla="*/ 128 h 189"/>
                <a:gd name="T30" fmla="*/ 41 w 183"/>
                <a:gd name="T31" fmla="*/ 102 h 189"/>
                <a:gd name="T32" fmla="*/ 24 w 183"/>
                <a:gd name="T33" fmla="*/ 74 h 189"/>
                <a:gd name="T34" fmla="*/ 14 w 183"/>
                <a:gd name="T35" fmla="*/ 42 h 189"/>
                <a:gd name="T36" fmla="*/ 12 w 183"/>
                <a:gd name="T37" fmla="*/ 6 h 189"/>
                <a:gd name="T38" fmla="*/ 12 w 183"/>
                <a:gd name="T39" fmla="*/ 6 h 189"/>
                <a:gd name="T40" fmla="*/ 12 w 183"/>
                <a:gd name="T41" fmla="*/ 6 h 189"/>
                <a:gd name="T42" fmla="*/ 9 w 183"/>
                <a:gd name="T43" fmla="*/ 2 h 189"/>
                <a:gd name="T44" fmla="*/ 6 w 183"/>
                <a:gd name="T45" fmla="*/ 0 h 189"/>
                <a:gd name="T46" fmla="*/ 2 w 183"/>
                <a:gd name="T47" fmla="*/ 2 h 189"/>
                <a:gd name="T48" fmla="*/ 0 w 183"/>
                <a:gd name="T49" fmla="*/ 6 h 18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3"/>
                <a:gd name="T76" fmla="*/ 0 h 189"/>
                <a:gd name="T77" fmla="*/ 183 w 183"/>
                <a:gd name="T78" fmla="*/ 189 h 18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3" h="189">
                  <a:moveTo>
                    <a:pt x="0" y="6"/>
                  </a:moveTo>
                  <a:lnTo>
                    <a:pt x="0" y="6"/>
                  </a:lnTo>
                  <a:lnTo>
                    <a:pt x="4" y="42"/>
                  </a:lnTo>
                  <a:lnTo>
                    <a:pt x="14" y="76"/>
                  </a:lnTo>
                  <a:lnTo>
                    <a:pt x="32" y="107"/>
                  </a:lnTo>
                  <a:lnTo>
                    <a:pt x="54" y="135"/>
                  </a:lnTo>
                  <a:lnTo>
                    <a:pt x="82" y="157"/>
                  </a:lnTo>
                  <a:lnTo>
                    <a:pt x="113" y="174"/>
                  </a:lnTo>
                  <a:lnTo>
                    <a:pt x="147" y="184"/>
                  </a:lnTo>
                  <a:lnTo>
                    <a:pt x="183" y="189"/>
                  </a:lnTo>
                  <a:lnTo>
                    <a:pt x="183" y="177"/>
                  </a:lnTo>
                  <a:lnTo>
                    <a:pt x="147" y="174"/>
                  </a:lnTo>
                  <a:lnTo>
                    <a:pt x="115" y="165"/>
                  </a:lnTo>
                  <a:lnTo>
                    <a:pt x="87" y="147"/>
                  </a:lnTo>
                  <a:lnTo>
                    <a:pt x="61" y="128"/>
                  </a:lnTo>
                  <a:lnTo>
                    <a:pt x="41" y="102"/>
                  </a:lnTo>
                  <a:lnTo>
                    <a:pt x="24" y="74"/>
                  </a:lnTo>
                  <a:lnTo>
                    <a:pt x="14" y="42"/>
                  </a:lnTo>
                  <a:lnTo>
                    <a:pt x="12" y="6"/>
                  </a:lnTo>
                  <a:lnTo>
                    <a:pt x="9" y="2"/>
                  </a:lnTo>
                  <a:lnTo>
                    <a:pt x="6" y="0"/>
                  </a:lnTo>
                  <a:lnTo>
                    <a:pt x="2" y="2"/>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46" name="Freeform 15">
              <a:extLst>
                <a:ext uri="{FF2B5EF4-FFF2-40B4-BE49-F238E27FC236}">
                  <a16:creationId xmlns:a16="http://schemas.microsoft.com/office/drawing/2014/main" id="{8AD94B1C-833B-4E31-B25F-0E69E8F54F1B}"/>
                </a:ext>
              </a:extLst>
            </p:cNvPr>
            <p:cNvSpPr>
              <a:spLocks/>
            </p:cNvSpPr>
            <p:nvPr/>
          </p:nvSpPr>
          <p:spPr bwMode="auto">
            <a:xfrm>
              <a:off x="3214" y="1426"/>
              <a:ext cx="12" cy="1038"/>
            </a:xfrm>
            <a:custGeom>
              <a:avLst/>
              <a:gdLst>
                <a:gd name="T0" fmla="*/ 0 w 12"/>
                <a:gd name="T1" fmla="*/ 6 h 1038"/>
                <a:gd name="T2" fmla="*/ 0 w 12"/>
                <a:gd name="T3" fmla="*/ 6 h 1038"/>
                <a:gd name="T4" fmla="*/ 0 w 12"/>
                <a:gd name="T5" fmla="*/ 1038 h 1038"/>
                <a:gd name="T6" fmla="*/ 12 w 12"/>
                <a:gd name="T7" fmla="*/ 1038 h 1038"/>
                <a:gd name="T8" fmla="*/ 12 w 12"/>
                <a:gd name="T9" fmla="*/ 6 h 1038"/>
                <a:gd name="T10" fmla="*/ 12 w 12"/>
                <a:gd name="T11" fmla="*/ 6 h 1038"/>
                <a:gd name="T12" fmla="*/ 12 w 12"/>
                <a:gd name="T13" fmla="*/ 6 h 1038"/>
                <a:gd name="T14" fmla="*/ 9 w 12"/>
                <a:gd name="T15" fmla="*/ 2 h 1038"/>
                <a:gd name="T16" fmla="*/ 6 w 12"/>
                <a:gd name="T17" fmla="*/ 0 h 1038"/>
                <a:gd name="T18" fmla="*/ 2 w 12"/>
                <a:gd name="T19" fmla="*/ 2 h 1038"/>
                <a:gd name="T20" fmla="*/ 0 w 12"/>
                <a:gd name="T21" fmla="*/ 6 h 10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
                <a:gd name="T34" fmla="*/ 0 h 1038"/>
                <a:gd name="T35" fmla="*/ 12 w 12"/>
                <a:gd name="T36" fmla="*/ 1038 h 10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 h="1038">
                  <a:moveTo>
                    <a:pt x="0" y="6"/>
                  </a:moveTo>
                  <a:lnTo>
                    <a:pt x="0" y="6"/>
                  </a:lnTo>
                  <a:lnTo>
                    <a:pt x="0" y="1038"/>
                  </a:lnTo>
                  <a:lnTo>
                    <a:pt x="12" y="1038"/>
                  </a:lnTo>
                  <a:lnTo>
                    <a:pt x="12" y="6"/>
                  </a:lnTo>
                  <a:lnTo>
                    <a:pt x="9" y="2"/>
                  </a:lnTo>
                  <a:lnTo>
                    <a:pt x="6" y="0"/>
                  </a:lnTo>
                  <a:lnTo>
                    <a:pt x="2" y="2"/>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47" name="Freeform 16">
              <a:extLst>
                <a:ext uri="{FF2B5EF4-FFF2-40B4-BE49-F238E27FC236}">
                  <a16:creationId xmlns:a16="http://schemas.microsoft.com/office/drawing/2014/main" id="{C835AABC-B275-4146-8293-85EA7A6D7D45}"/>
                </a:ext>
              </a:extLst>
            </p:cNvPr>
            <p:cNvSpPr>
              <a:spLocks/>
            </p:cNvSpPr>
            <p:nvPr/>
          </p:nvSpPr>
          <p:spPr bwMode="auto">
            <a:xfrm>
              <a:off x="3214" y="1250"/>
              <a:ext cx="189" cy="182"/>
            </a:xfrm>
            <a:custGeom>
              <a:avLst/>
              <a:gdLst>
                <a:gd name="T0" fmla="*/ 183 w 189"/>
                <a:gd name="T1" fmla="*/ 0 h 182"/>
                <a:gd name="T2" fmla="*/ 183 w 189"/>
                <a:gd name="T3" fmla="*/ 0 h 182"/>
                <a:gd name="T4" fmla="*/ 147 w 189"/>
                <a:gd name="T5" fmla="*/ 5 h 182"/>
                <a:gd name="T6" fmla="*/ 113 w 189"/>
                <a:gd name="T7" fmla="*/ 15 h 182"/>
                <a:gd name="T8" fmla="*/ 82 w 189"/>
                <a:gd name="T9" fmla="*/ 31 h 182"/>
                <a:gd name="T10" fmla="*/ 54 w 189"/>
                <a:gd name="T11" fmla="*/ 54 h 182"/>
                <a:gd name="T12" fmla="*/ 32 w 189"/>
                <a:gd name="T13" fmla="*/ 81 h 182"/>
                <a:gd name="T14" fmla="*/ 14 w 189"/>
                <a:gd name="T15" fmla="*/ 112 h 182"/>
                <a:gd name="T16" fmla="*/ 4 w 189"/>
                <a:gd name="T17" fmla="*/ 147 h 182"/>
                <a:gd name="T18" fmla="*/ 0 w 189"/>
                <a:gd name="T19" fmla="*/ 182 h 182"/>
                <a:gd name="T20" fmla="*/ 12 w 189"/>
                <a:gd name="T21" fmla="*/ 182 h 182"/>
                <a:gd name="T22" fmla="*/ 14 w 189"/>
                <a:gd name="T23" fmla="*/ 147 h 182"/>
                <a:gd name="T24" fmla="*/ 24 w 189"/>
                <a:gd name="T25" fmla="*/ 115 h 182"/>
                <a:gd name="T26" fmla="*/ 41 w 189"/>
                <a:gd name="T27" fmla="*/ 86 h 182"/>
                <a:gd name="T28" fmla="*/ 61 w 189"/>
                <a:gd name="T29" fmla="*/ 62 h 182"/>
                <a:gd name="T30" fmla="*/ 87 w 189"/>
                <a:gd name="T31" fmla="*/ 41 h 182"/>
                <a:gd name="T32" fmla="*/ 115 w 189"/>
                <a:gd name="T33" fmla="*/ 25 h 182"/>
                <a:gd name="T34" fmla="*/ 147 w 189"/>
                <a:gd name="T35" fmla="*/ 15 h 182"/>
                <a:gd name="T36" fmla="*/ 183 w 189"/>
                <a:gd name="T37" fmla="*/ 13 h 182"/>
                <a:gd name="T38" fmla="*/ 183 w 189"/>
                <a:gd name="T39" fmla="*/ 13 h 182"/>
                <a:gd name="T40" fmla="*/ 183 w 189"/>
                <a:gd name="T41" fmla="*/ 13 h 182"/>
                <a:gd name="T42" fmla="*/ 186 w 189"/>
                <a:gd name="T43" fmla="*/ 10 h 182"/>
                <a:gd name="T44" fmla="*/ 189 w 189"/>
                <a:gd name="T45" fmla="*/ 7 h 182"/>
                <a:gd name="T46" fmla="*/ 186 w 189"/>
                <a:gd name="T47" fmla="*/ 3 h 182"/>
                <a:gd name="T48" fmla="*/ 183 w 189"/>
                <a:gd name="T49" fmla="*/ 0 h 18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9"/>
                <a:gd name="T76" fmla="*/ 0 h 182"/>
                <a:gd name="T77" fmla="*/ 189 w 189"/>
                <a:gd name="T78" fmla="*/ 182 h 18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9" h="182">
                  <a:moveTo>
                    <a:pt x="183" y="0"/>
                  </a:moveTo>
                  <a:lnTo>
                    <a:pt x="183" y="0"/>
                  </a:lnTo>
                  <a:lnTo>
                    <a:pt x="147" y="5"/>
                  </a:lnTo>
                  <a:lnTo>
                    <a:pt x="113" y="15"/>
                  </a:lnTo>
                  <a:lnTo>
                    <a:pt x="82" y="31"/>
                  </a:lnTo>
                  <a:lnTo>
                    <a:pt x="54" y="54"/>
                  </a:lnTo>
                  <a:lnTo>
                    <a:pt x="32" y="81"/>
                  </a:lnTo>
                  <a:lnTo>
                    <a:pt x="14" y="112"/>
                  </a:lnTo>
                  <a:lnTo>
                    <a:pt x="4" y="147"/>
                  </a:lnTo>
                  <a:lnTo>
                    <a:pt x="0" y="182"/>
                  </a:lnTo>
                  <a:lnTo>
                    <a:pt x="12" y="182"/>
                  </a:lnTo>
                  <a:lnTo>
                    <a:pt x="14" y="147"/>
                  </a:lnTo>
                  <a:lnTo>
                    <a:pt x="24" y="115"/>
                  </a:lnTo>
                  <a:lnTo>
                    <a:pt x="41" y="86"/>
                  </a:lnTo>
                  <a:lnTo>
                    <a:pt x="61" y="62"/>
                  </a:lnTo>
                  <a:lnTo>
                    <a:pt x="87" y="41"/>
                  </a:lnTo>
                  <a:lnTo>
                    <a:pt x="115" y="25"/>
                  </a:lnTo>
                  <a:lnTo>
                    <a:pt x="147" y="15"/>
                  </a:lnTo>
                  <a:lnTo>
                    <a:pt x="183" y="13"/>
                  </a:lnTo>
                  <a:lnTo>
                    <a:pt x="186" y="10"/>
                  </a:lnTo>
                  <a:lnTo>
                    <a:pt x="189" y="7"/>
                  </a:lnTo>
                  <a:lnTo>
                    <a:pt x="186" y="3"/>
                  </a:lnTo>
                  <a:lnTo>
                    <a:pt x="1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48" name="Freeform 17">
              <a:extLst>
                <a:ext uri="{FF2B5EF4-FFF2-40B4-BE49-F238E27FC236}">
                  <a16:creationId xmlns:a16="http://schemas.microsoft.com/office/drawing/2014/main" id="{151B83A7-89F0-42F8-9A0C-E9D0D11A7575}"/>
                </a:ext>
              </a:extLst>
            </p:cNvPr>
            <p:cNvSpPr>
              <a:spLocks/>
            </p:cNvSpPr>
            <p:nvPr/>
          </p:nvSpPr>
          <p:spPr bwMode="auto">
            <a:xfrm>
              <a:off x="3397" y="1250"/>
              <a:ext cx="1038" cy="13"/>
            </a:xfrm>
            <a:custGeom>
              <a:avLst/>
              <a:gdLst>
                <a:gd name="T0" fmla="*/ 1032 w 1038"/>
                <a:gd name="T1" fmla="*/ 0 h 13"/>
                <a:gd name="T2" fmla="*/ 1032 w 1038"/>
                <a:gd name="T3" fmla="*/ 0 h 13"/>
                <a:gd name="T4" fmla="*/ 0 w 1038"/>
                <a:gd name="T5" fmla="*/ 0 h 13"/>
                <a:gd name="T6" fmla="*/ 0 w 1038"/>
                <a:gd name="T7" fmla="*/ 13 h 13"/>
                <a:gd name="T8" fmla="*/ 1032 w 1038"/>
                <a:gd name="T9" fmla="*/ 13 h 13"/>
                <a:gd name="T10" fmla="*/ 1032 w 1038"/>
                <a:gd name="T11" fmla="*/ 13 h 13"/>
                <a:gd name="T12" fmla="*/ 1032 w 1038"/>
                <a:gd name="T13" fmla="*/ 13 h 13"/>
                <a:gd name="T14" fmla="*/ 1036 w 1038"/>
                <a:gd name="T15" fmla="*/ 10 h 13"/>
                <a:gd name="T16" fmla="*/ 1038 w 1038"/>
                <a:gd name="T17" fmla="*/ 7 h 13"/>
                <a:gd name="T18" fmla="*/ 1036 w 1038"/>
                <a:gd name="T19" fmla="*/ 3 h 13"/>
                <a:gd name="T20" fmla="*/ 1032 w 1038"/>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8"/>
                <a:gd name="T34" fmla="*/ 0 h 13"/>
                <a:gd name="T35" fmla="*/ 1038 w 1038"/>
                <a:gd name="T36" fmla="*/ 13 h 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8" h="13">
                  <a:moveTo>
                    <a:pt x="1032" y="0"/>
                  </a:moveTo>
                  <a:lnTo>
                    <a:pt x="1032" y="0"/>
                  </a:lnTo>
                  <a:lnTo>
                    <a:pt x="0" y="0"/>
                  </a:lnTo>
                  <a:lnTo>
                    <a:pt x="0" y="13"/>
                  </a:lnTo>
                  <a:lnTo>
                    <a:pt x="1032" y="13"/>
                  </a:lnTo>
                  <a:lnTo>
                    <a:pt x="1036" y="10"/>
                  </a:lnTo>
                  <a:lnTo>
                    <a:pt x="1038" y="7"/>
                  </a:lnTo>
                  <a:lnTo>
                    <a:pt x="1036" y="3"/>
                  </a:lnTo>
                  <a:lnTo>
                    <a:pt x="10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49" name="Freeform 18">
              <a:extLst>
                <a:ext uri="{FF2B5EF4-FFF2-40B4-BE49-F238E27FC236}">
                  <a16:creationId xmlns:a16="http://schemas.microsoft.com/office/drawing/2014/main" id="{6D5A98CB-ED01-47FC-8C34-416801DFFA5F}"/>
                </a:ext>
              </a:extLst>
            </p:cNvPr>
            <p:cNvSpPr>
              <a:spLocks/>
            </p:cNvSpPr>
            <p:nvPr/>
          </p:nvSpPr>
          <p:spPr bwMode="auto">
            <a:xfrm>
              <a:off x="4429" y="1250"/>
              <a:ext cx="182" cy="187"/>
            </a:xfrm>
            <a:custGeom>
              <a:avLst/>
              <a:gdLst>
                <a:gd name="T0" fmla="*/ 182 w 182"/>
                <a:gd name="T1" fmla="*/ 182 h 187"/>
                <a:gd name="T2" fmla="*/ 182 w 182"/>
                <a:gd name="T3" fmla="*/ 182 h 187"/>
                <a:gd name="T4" fmla="*/ 177 w 182"/>
                <a:gd name="T5" fmla="*/ 147 h 187"/>
                <a:gd name="T6" fmla="*/ 168 w 182"/>
                <a:gd name="T7" fmla="*/ 112 h 187"/>
                <a:gd name="T8" fmla="*/ 152 w 182"/>
                <a:gd name="T9" fmla="*/ 81 h 187"/>
                <a:gd name="T10" fmla="*/ 128 w 182"/>
                <a:gd name="T11" fmla="*/ 54 h 187"/>
                <a:gd name="T12" fmla="*/ 101 w 182"/>
                <a:gd name="T13" fmla="*/ 31 h 187"/>
                <a:gd name="T14" fmla="*/ 70 w 182"/>
                <a:gd name="T15" fmla="*/ 15 h 187"/>
                <a:gd name="T16" fmla="*/ 36 w 182"/>
                <a:gd name="T17" fmla="*/ 5 h 187"/>
                <a:gd name="T18" fmla="*/ 0 w 182"/>
                <a:gd name="T19" fmla="*/ 0 h 187"/>
                <a:gd name="T20" fmla="*/ 0 w 182"/>
                <a:gd name="T21" fmla="*/ 13 h 187"/>
                <a:gd name="T22" fmla="*/ 36 w 182"/>
                <a:gd name="T23" fmla="*/ 15 h 187"/>
                <a:gd name="T24" fmla="*/ 68 w 182"/>
                <a:gd name="T25" fmla="*/ 25 h 187"/>
                <a:gd name="T26" fmla="*/ 96 w 182"/>
                <a:gd name="T27" fmla="*/ 41 h 187"/>
                <a:gd name="T28" fmla="*/ 121 w 182"/>
                <a:gd name="T29" fmla="*/ 62 h 187"/>
                <a:gd name="T30" fmla="*/ 142 w 182"/>
                <a:gd name="T31" fmla="*/ 86 h 187"/>
                <a:gd name="T32" fmla="*/ 158 w 182"/>
                <a:gd name="T33" fmla="*/ 115 h 187"/>
                <a:gd name="T34" fmla="*/ 168 w 182"/>
                <a:gd name="T35" fmla="*/ 147 h 187"/>
                <a:gd name="T36" fmla="*/ 170 w 182"/>
                <a:gd name="T37" fmla="*/ 182 h 187"/>
                <a:gd name="T38" fmla="*/ 170 w 182"/>
                <a:gd name="T39" fmla="*/ 182 h 187"/>
                <a:gd name="T40" fmla="*/ 170 w 182"/>
                <a:gd name="T41" fmla="*/ 182 h 187"/>
                <a:gd name="T42" fmla="*/ 172 w 182"/>
                <a:gd name="T43" fmla="*/ 186 h 187"/>
                <a:gd name="T44" fmla="*/ 176 w 182"/>
                <a:gd name="T45" fmla="*/ 187 h 187"/>
                <a:gd name="T46" fmla="*/ 180 w 182"/>
                <a:gd name="T47" fmla="*/ 186 h 187"/>
                <a:gd name="T48" fmla="*/ 182 w 182"/>
                <a:gd name="T49" fmla="*/ 18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2"/>
                <a:gd name="T76" fmla="*/ 0 h 187"/>
                <a:gd name="T77" fmla="*/ 182 w 182"/>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2" h="187">
                  <a:moveTo>
                    <a:pt x="182" y="182"/>
                  </a:moveTo>
                  <a:lnTo>
                    <a:pt x="182" y="182"/>
                  </a:lnTo>
                  <a:lnTo>
                    <a:pt x="177" y="147"/>
                  </a:lnTo>
                  <a:lnTo>
                    <a:pt x="168" y="112"/>
                  </a:lnTo>
                  <a:lnTo>
                    <a:pt x="152" y="81"/>
                  </a:lnTo>
                  <a:lnTo>
                    <a:pt x="128" y="54"/>
                  </a:lnTo>
                  <a:lnTo>
                    <a:pt x="101" y="31"/>
                  </a:lnTo>
                  <a:lnTo>
                    <a:pt x="70" y="15"/>
                  </a:lnTo>
                  <a:lnTo>
                    <a:pt x="36" y="5"/>
                  </a:lnTo>
                  <a:lnTo>
                    <a:pt x="0" y="0"/>
                  </a:lnTo>
                  <a:lnTo>
                    <a:pt x="0" y="13"/>
                  </a:lnTo>
                  <a:lnTo>
                    <a:pt x="36" y="15"/>
                  </a:lnTo>
                  <a:lnTo>
                    <a:pt x="68" y="25"/>
                  </a:lnTo>
                  <a:lnTo>
                    <a:pt x="96" y="41"/>
                  </a:lnTo>
                  <a:lnTo>
                    <a:pt x="121" y="62"/>
                  </a:lnTo>
                  <a:lnTo>
                    <a:pt x="142" y="86"/>
                  </a:lnTo>
                  <a:lnTo>
                    <a:pt x="158" y="115"/>
                  </a:lnTo>
                  <a:lnTo>
                    <a:pt x="168" y="147"/>
                  </a:lnTo>
                  <a:lnTo>
                    <a:pt x="170" y="182"/>
                  </a:lnTo>
                  <a:lnTo>
                    <a:pt x="172" y="186"/>
                  </a:lnTo>
                  <a:lnTo>
                    <a:pt x="176" y="187"/>
                  </a:lnTo>
                  <a:lnTo>
                    <a:pt x="180" y="186"/>
                  </a:lnTo>
                  <a:lnTo>
                    <a:pt x="182" y="1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0" name="Freeform 19">
              <a:extLst>
                <a:ext uri="{FF2B5EF4-FFF2-40B4-BE49-F238E27FC236}">
                  <a16:creationId xmlns:a16="http://schemas.microsoft.com/office/drawing/2014/main" id="{99D4C28D-F286-499C-9AF6-93AA89CC89AC}"/>
                </a:ext>
              </a:extLst>
            </p:cNvPr>
            <p:cNvSpPr>
              <a:spLocks/>
            </p:cNvSpPr>
            <p:nvPr/>
          </p:nvSpPr>
          <p:spPr bwMode="auto">
            <a:xfrm>
              <a:off x="4599" y="1432"/>
              <a:ext cx="12" cy="1037"/>
            </a:xfrm>
            <a:custGeom>
              <a:avLst/>
              <a:gdLst>
                <a:gd name="T0" fmla="*/ 12 w 12"/>
                <a:gd name="T1" fmla="*/ 1032 h 1037"/>
                <a:gd name="T2" fmla="*/ 12 w 12"/>
                <a:gd name="T3" fmla="*/ 1032 h 1037"/>
                <a:gd name="T4" fmla="*/ 12 w 12"/>
                <a:gd name="T5" fmla="*/ 0 h 1037"/>
                <a:gd name="T6" fmla="*/ 0 w 12"/>
                <a:gd name="T7" fmla="*/ 0 h 1037"/>
                <a:gd name="T8" fmla="*/ 0 w 12"/>
                <a:gd name="T9" fmla="*/ 1032 h 1037"/>
                <a:gd name="T10" fmla="*/ 0 w 12"/>
                <a:gd name="T11" fmla="*/ 1032 h 1037"/>
                <a:gd name="T12" fmla="*/ 0 w 12"/>
                <a:gd name="T13" fmla="*/ 1032 h 1037"/>
                <a:gd name="T14" fmla="*/ 2 w 12"/>
                <a:gd name="T15" fmla="*/ 1036 h 1037"/>
                <a:gd name="T16" fmla="*/ 6 w 12"/>
                <a:gd name="T17" fmla="*/ 1037 h 1037"/>
                <a:gd name="T18" fmla="*/ 10 w 12"/>
                <a:gd name="T19" fmla="*/ 1036 h 1037"/>
                <a:gd name="T20" fmla="*/ 12 w 12"/>
                <a:gd name="T21" fmla="*/ 1032 h 10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
                <a:gd name="T34" fmla="*/ 0 h 1037"/>
                <a:gd name="T35" fmla="*/ 12 w 12"/>
                <a:gd name="T36" fmla="*/ 1037 h 10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 h="1037">
                  <a:moveTo>
                    <a:pt x="12" y="1032"/>
                  </a:moveTo>
                  <a:lnTo>
                    <a:pt x="12" y="1032"/>
                  </a:lnTo>
                  <a:lnTo>
                    <a:pt x="12" y="0"/>
                  </a:lnTo>
                  <a:lnTo>
                    <a:pt x="0" y="0"/>
                  </a:lnTo>
                  <a:lnTo>
                    <a:pt x="0" y="1032"/>
                  </a:lnTo>
                  <a:lnTo>
                    <a:pt x="2" y="1036"/>
                  </a:lnTo>
                  <a:lnTo>
                    <a:pt x="6" y="1037"/>
                  </a:lnTo>
                  <a:lnTo>
                    <a:pt x="10" y="1036"/>
                  </a:lnTo>
                  <a:lnTo>
                    <a:pt x="12" y="10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1" name="Freeform 20">
              <a:extLst>
                <a:ext uri="{FF2B5EF4-FFF2-40B4-BE49-F238E27FC236}">
                  <a16:creationId xmlns:a16="http://schemas.microsoft.com/office/drawing/2014/main" id="{73A5D639-A0A7-4FE3-8AB0-5E08A16EB9CF}"/>
                </a:ext>
              </a:extLst>
            </p:cNvPr>
            <p:cNvSpPr>
              <a:spLocks/>
            </p:cNvSpPr>
            <p:nvPr/>
          </p:nvSpPr>
          <p:spPr bwMode="auto">
            <a:xfrm>
              <a:off x="4421" y="2464"/>
              <a:ext cx="193" cy="186"/>
            </a:xfrm>
            <a:custGeom>
              <a:avLst/>
              <a:gdLst>
                <a:gd name="T0" fmla="*/ 8 w 193"/>
                <a:gd name="T1" fmla="*/ 186 h 186"/>
                <a:gd name="T2" fmla="*/ 8 w 193"/>
                <a:gd name="T3" fmla="*/ 186 h 186"/>
                <a:gd name="T4" fmla="*/ 45 w 193"/>
                <a:gd name="T5" fmla="*/ 181 h 186"/>
                <a:gd name="T6" fmla="*/ 80 w 193"/>
                <a:gd name="T7" fmla="*/ 171 h 186"/>
                <a:gd name="T8" fmla="*/ 110 w 193"/>
                <a:gd name="T9" fmla="*/ 152 h 186"/>
                <a:gd name="T10" fmla="*/ 137 w 193"/>
                <a:gd name="T11" fmla="*/ 130 h 186"/>
                <a:gd name="T12" fmla="*/ 161 w 193"/>
                <a:gd name="T13" fmla="*/ 102 h 186"/>
                <a:gd name="T14" fmla="*/ 178 w 193"/>
                <a:gd name="T15" fmla="*/ 71 h 186"/>
                <a:gd name="T16" fmla="*/ 188 w 193"/>
                <a:gd name="T17" fmla="*/ 37 h 186"/>
                <a:gd name="T18" fmla="*/ 193 w 193"/>
                <a:gd name="T19" fmla="*/ 0 h 186"/>
                <a:gd name="T20" fmla="*/ 176 w 193"/>
                <a:gd name="T21" fmla="*/ 0 h 186"/>
                <a:gd name="T22" fmla="*/ 173 w 193"/>
                <a:gd name="T23" fmla="*/ 34 h 186"/>
                <a:gd name="T24" fmla="*/ 163 w 193"/>
                <a:gd name="T25" fmla="*/ 66 h 186"/>
                <a:gd name="T26" fmla="*/ 148 w 193"/>
                <a:gd name="T27" fmla="*/ 95 h 186"/>
                <a:gd name="T28" fmla="*/ 128 w 193"/>
                <a:gd name="T29" fmla="*/ 120 h 186"/>
                <a:gd name="T30" fmla="*/ 103 w 193"/>
                <a:gd name="T31" fmla="*/ 140 h 186"/>
                <a:gd name="T32" fmla="*/ 75 w 193"/>
                <a:gd name="T33" fmla="*/ 156 h 186"/>
                <a:gd name="T34" fmla="*/ 43 w 193"/>
                <a:gd name="T35" fmla="*/ 166 h 186"/>
                <a:gd name="T36" fmla="*/ 8 w 193"/>
                <a:gd name="T37" fmla="*/ 168 h 186"/>
                <a:gd name="T38" fmla="*/ 8 w 193"/>
                <a:gd name="T39" fmla="*/ 168 h 186"/>
                <a:gd name="T40" fmla="*/ 8 w 193"/>
                <a:gd name="T41" fmla="*/ 168 h 186"/>
                <a:gd name="T42" fmla="*/ 2 w 193"/>
                <a:gd name="T43" fmla="*/ 171 h 186"/>
                <a:gd name="T44" fmla="*/ 0 w 193"/>
                <a:gd name="T45" fmla="*/ 177 h 186"/>
                <a:gd name="T46" fmla="*/ 2 w 193"/>
                <a:gd name="T47" fmla="*/ 183 h 186"/>
                <a:gd name="T48" fmla="*/ 8 w 193"/>
                <a:gd name="T49" fmla="*/ 186 h 18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3"/>
                <a:gd name="T76" fmla="*/ 0 h 186"/>
                <a:gd name="T77" fmla="*/ 193 w 193"/>
                <a:gd name="T78" fmla="*/ 186 h 18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3" h="186">
                  <a:moveTo>
                    <a:pt x="8" y="186"/>
                  </a:moveTo>
                  <a:lnTo>
                    <a:pt x="8" y="186"/>
                  </a:lnTo>
                  <a:lnTo>
                    <a:pt x="45" y="181"/>
                  </a:lnTo>
                  <a:lnTo>
                    <a:pt x="80" y="171"/>
                  </a:lnTo>
                  <a:lnTo>
                    <a:pt x="110" y="152"/>
                  </a:lnTo>
                  <a:lnTo>
                    <a:pt x="137" y="130"/>
                  </a:lnTo>
                  <a:lnTo>
                    <a:pt x="161" y="102"/>
                  </a:lnTo>
                  <a:lnTo>
                    <a:pt x="178" y="71"/>
                  </a:lnTo>
                  <a:lnTo>
                    <a:pt x="188" y="37"/>
                  </a:lnTo>
                  <a:lnTo>
                    <a:pt x="193" y="0"/>
                  </a:lnTo>
                  <a:lnTo>
                    <a:pt x="176" y="0"/>
                  </a:lnTo>
                  <a:lnTo>
                    <a:pt x="173" y="34"/>
                  </a:lnTo>
                  <a:lnTo>
                    <a:pt x="163" y="66"/>
                  </a:lnTo>
                  <a:lnTo>
                    <a:pt x="148" y="95"/>
                  </a:lnTo>
                  <a:lnTo>
                    <a:pt x="128" y="120"/>
                  </a:lnTo>
                  <a:lnTo>
                    <a:pt x="103" y="140"/>
                  </a:lnTo>
                  <a:lnTo>
                    <a:pt x="75" y="156"/>
                  </a:lnTo>
                  <a:lnTo>
                    <a:pt x="43" y="166"/>
                  </a:lnTo>
                  <a:lnTo>
                    <a:pt x="8" y="168"/>
                  </a:lnTo>
                  <a:lnTo>
                    <a:pt x="2" y="171"/>
                  </a:lnTo>
                  <a:lnTo>
                    <a:pt x="0" y="177"/>
                  </a:lnTo>
                  <a:lnTo>
                    <a:pt x="2" y="183"/>
                  </a:lnTo>
                  <a:lnTo>
                    <a:pt x="8" y="18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2" name="Freeform 21">
              <a:extLst>
                <a:ext uri="{FF2B5EF4-FFF2-40B4-BE49-F238E27FC236}">
                  <a16:creationId xmlns:a16="http://schemas.microsoft.com/office/drawing/2014/main" id="{58D2EC69-ADFF-441B-A120-237F0889926C}"/>
                </a:ext>
              </a:extLst>
            </p:cNvPr>
            <p:cNvSpPr>
              <a:spLocks/>
            </p:cNvSpPr>
            <p:nvPr/>
          </p:nvSpPr>
          <p:spPr bwMode="auto">
            <a:xfrm>
              <a:off x="3388" y="2632"/>
              <a:ext cx="1041" cy="18"/>
            </a:xfrm>
            <a:custGeom>
              <a:avLst/>
              <a:gdLst>
                <a:gd name="T0" fmla="*/ 9 w 1041"/>
                <a:gd name="T1" fmla="*/ 18 h 18"/>
                <a:gd name="T2" fmla="*/ 9 w 1041"/>
                <a:gd name="T3" fmla="*/ 18 h 18"/>
                <a:gd name="T4" fmla="*/ 1041 w 1041"/>
                <a:gd name="T5" fmla="*/ 18 h 18"/>
                <a:gd name="T6" fmla="*/ 1041 w 1041"/>
                <a:gd name="T7" fmla="*/ 0 h 18"/>
                <a:gd name="T8" fmla="*/ 9 w 1041"/>
                <a:gd name="T9" fmla="*/ 0 h 18"/>
                <a:gd name="T10" fmla="*/ 9 w 1041"/>
                <a:gd name="T11" fmla="*/ 0 h 18"/>
                <a:gd name="T12" fmla="*/ 9 w 1041"/>
                <a:gd name="T13" fmla="*/ 0 h 18"/>
                <a:gd name="T14" fmla="*/ 3 w 1041"/>
                <a:gd name="T15" fmla="*/ 3 h 18"/>
                <a:gd name="T16" fmla="*/ 0 w 1041"/>
                <a:gd name="T17" fmla="*/ 9 h 18"/>
                <a:gd name="T18" fmla="*/ 3 w 1041"/>
                <a:gd name="T19" fmla="*/ 15 h 18"/>
                <a:gd name="T20" fmla="*/ 9 w 1041"/>
                <a:gd name="T21" fmla="*/ 18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41"/>
                <a:gd name="T34" fmla="*/ 0 h 18"/>
                <a:gd name="T35" fmla="*/ 1041 w 1041"/>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41" h="18">
                  <a:moveTo>
                    <a:pt x="9" y="18"/>
                  </a:moveTo>
                  <a:lnTo>
                    <a:pt x="9" y="18"/>
                  </a:lnTo>
                  <a:lnTo>
                    <a:pt x="1041" y="18"/>
                  </a:lnTo>
                  <a:lnTo>
                    <a:pt x="1041" y="0"/>
                  </a:lnTo>
                  <a:lnTo>
                    <a:pt x="9" y="0"/>
                  </a:lnTo>
                  <a:lnTo>
                    <a:pt x="3" y="3"/>
                  </a:lnTo>
                  <a:lnTo>
                    <a:pt x="0" y="9"/>
                  </a:lnTo>
                  <a:lnTo>
                    <a:pt x="3" y="15"/>
                  </a:lnTo>
                  <a:lnTo>
                    <a:pt x="9"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3" name="Freeform 22">
              <a:extLst>
                <a:ext uri="{FF2B5EF4-FFF2-40B4-BE49-F238E27FC236}">
                  <a16:creationId xmlns:a16="http://schemas.microsoft.com/office/drawing/2014/main" id="{47BBEA95-F49D-4600-8B95-6F56908A6AF9}"/>
                </a:ext>
              </a:extLst>
            </p:cNvPr>
            <p:cNvSpPr>
              <a:spLocks/>
            </p:cNvSpPr>
            <p:nvPr/>
          </p:nvSpPr>
          <p:spPr bwMode="auto">
            <a:xfrm>
              <a:off x="3211" y="2456"/>
              <a:ext cx="186" cy="194"/>
            </a:xfrm>
            <a:custGeom>
              <a:avLst/>
              <a:gdLst>
                <a:gd name="T0" fmla="*/ 0 w 186"/>
                <a:gd name="T1" fmla="*/ 8 h 194"/>
                <a:gd name="T2" fmla="*/ 0 w 186"/>
                <a:gd name="T3" fmla="*/ 8 h 194"/>
                <a:gd name="T4" fmla="*/ 5 w 186"/>
                <a:gd name="T5" fmla="*/ 45 h 194"/>
                <a:gd name="T6" fmla="*/ 15 w 186"/>
                <a:gd name="T7" fmla="*/ 79 h 194"/>
                <a:gd name="T8" fmla="*/ 33 w 186"/>
                <a:gd name="T9" fmla="*/ 110 h 194"/>
                <a:gd name="T10" fmla="*/ 55 w 186"/>
                <a:gd name="T11" fmla="*/ 138 h 194"/>
                <a:gd name="T12" fmla="*/ 84 w 186"/>
                <a:gd name="T13" fmla="*/ 160 h 194"/>
                <a:gd name="T14" fmla="*/ 114 w 186"/>
                <a:gd name="T15" fmla="*/ 179 h 194"/>
                <a:gd name="T16" fmla="*/ 149 w 186"/>
                <a:gd name="T17" fmla="*/ 189 h 194"/>
                <a:gd name="T18" fmla="*/ 186 w 186"/>
                <a:gd name="T19" fmla="*/ 194 h 194"/>
                <a:gd name="T20" fmla="*/ 186 w 186"/>
                <a:gd name="T21" fmla="*/ 176 h 194"/>
                <a:gd name="T22" fmla="*/ 151 w 186"/>
                <a:gd name="T23" fmla="*/ 174 h 194"/>
                <a:gd name="T24" fmla="*/ 119 w 186"/>
                <a:gd name="T25" fmla="*/ 164 h 194"/>
                <a:gd name="T26" fmla="*/ 91 w 186"/>
                <a:gd name="T27" fmla="*/ 148 h 194"/>
                <a:gd name="T28" fmla="*/ 65 w 186"/>
                <a:gd name="T29" fmla="*/ 128 h 194"/>
                <a:gd name="T30" fmla="*/ 46 w 186"/>
                <a:gd name="T31" fmla="*/ 103 h 194"/>
                <a:gd name="T32" fmla="*/ 30 w 186"/>
                <a:gd name="T33" fmla="*/ 74 h 194"/>
                <a:gd name="T34" fmla="*/ 20 w 186"/>
                <a:gd name="T35" fmla="*/ 42 h 194"/>
                <a:gd name="T36" fmla="*/ 17 w 186"/>
                <a:gd name="T37" fmla="*/ 8 h 194"/>
                <a:gd name="T38" fmla="*/ 17 w 186"/>
                <a:gd name="T39" fmla="*/ 8 h 194"/>
                <a:gd name="T40" fmla="*/ 17 w 186"/>
                <a:gd name="T41" fmla="*/ 8 h 194"/>
                <a:gd name="T42" fmla="*/ 15 w 186"/>
                <a:gd name="T43" fmla="*/ 2 h 194"/>
                <a:gd name="T44" fmla="*/ 9 w 186"/>
                <a:gd name="T45" fmla="*/ 0 h 194"/>
                <a:gd name="T46" fmla="*/ 3 w 186"/>
                <a:gd name="T47" fmla="*/ 2 h 194"/>
                <a:gd name="T48" fmla="*/ 0 w 186"/>
                <a:gd name="T49" fmla="*/ 8 h 1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6"/>
                <a:gd name="T76" fmla="*/ 0 h 194"/>
                <a:gd name="T77" fmla="*/ 186 w 186"/>
                <a:gd name="T78" fmla="*/ 194 h 1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6" h="194">
                  <a:moveTo>
                    <a:pt x="0" y="8"/>
                  </a:moveTo>
                  <a:lnTo>
                    <a:pt x="0" y="8"/>
                  </a:lnTo>
                  <a:lnTo>
                    <a:pt x="5" y="45"/>
                  </a:lnTo>
                  <a:lnTo>
                    <a:pt x="15" y="79"/>
                  </a:lnTo>
                  <a:lnTo>
                    <a:pt x="33" y="110"/>
                  </a:lnTo>
                  <a:lnTo>
                    <a:pt x="55" y="138"/>
                  </a:lnTo>
                  <a:lnTo>
                    <a:pt x="84" y="160"/>
                  </a:lnTo>
                  <a:lnTo>
                    <a:pt x="114" y="179"/>
                  </a:lnTo>
                  <a:lnTo>
                    <a:pt x="149" y="189"/>
                  </a:lnTo>
                  <a:lnTo>
                    <a:pt x="186" y="194"/>
                  </a:lnTo>
                  <a:lnTo>
                    <a:pt x="186" y="176"/>
                  </a:lnTo>
                  <a:lnTo>
                    <a:pt x="151" y="174"/>
                  </a:lnTo>
                  <a:lnTo>
                    <a:pt x="119" y="164"/>
                  </a:lnTo>
                  <a:lnTo>
                    <a:pt x="91" y="148"/>
                  </a:lnTo>
                  <a:lnTo>
                    <a:pt x="65" y="128"/>
                  </a:lnTo>
                  <a:lnTo>
                    <a:pt x="46" y="103"/>
                  </a:lnTo>
                  <a:lnTo>
                    <a:pt x="30" y="74"/>
                  </a:lnTo>
                  <a:lnTo>
                    <a:pt x="20" y="42"/>
                  </a:lnTo>
                  <a:lnTo>
                    <a:pt x="17" y="8"/>
                  </a:lnTo>
                  <a:lnTo>
                    <a:pt x="15" y="2"/>
                  </a:lnTo>
                  <a:lnTo>
                    <a:pt x="9" y="0"/>
                  </a:lnTo>
                  <a:lnTo>
                    <a:pt x="3" y="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4" name="Freeform 23">
              <a:extLst>
                <a:ext uri="{FF2B5EF4-FFF2-40B4-BE49-F238E27FC236}">
                  <a16:creationId xmlns:a16="http://schemas.microsoft.com/office/drawing/2014/main" id="{B1EB914A-909C-498E-9D2C-E1F6A915C028}"/>
                </a:ext>
              </a:extLst>
            </p:cNvPr>
            <p:cNvSpPr>
              <a:spLocks/>
            </p:cNvSpPr>
            <p:nvPr/>
          </p:nvSpPr>
          <p:spPr bwMode="auto">
            <a:xfrm>
              <a:off x="3211" y="1424"/>
              <a:ext cx="17" cy="1040"/>
            </a:xfrm>
            <a:custGeom>
              <a:avLst/>
              <a:gdLst>
                <a:gd name="T0" fmla="*/ 0 w 17"/>
                <a:gd name="T1" fmla="*/ 8 h 1040"/>
                <a:gd name="T2" fmla="*/ 0 w 17"/>
                <a:gd name="T3" fmla="*/ 8 h 1040"/>
                <a:gd name="T4" fmla="*/ 0 w 17"/>
                <a:gd name="T5" fmla="*/ 1040 h 1040"/>
                <a:gd name="T6" fmla="*/ 17 w 17"/>
                <a:gd name="T7" fmla="*/ 1040 h 1040"/>
                <a:gd name="T8" fmla="*/ 17 w 17"/>
                <a:gd name="T9" fmla="*/ 8 h 1040"/>
                <a:gd name="T10" fmla="*/ 17 w 17"/>
                <a:gd name="T11" fmla="*/ 8 h 1040"/>
                <a:gd name="T12" fmla="*/ 17 w 17"/>
                <a:gd name="T13" fmla="*/ 8 h 1040"/>
                <a:gd name="T14" fmla="*/ 15 w 17"/>
                <a:gd name="T15" fmla="*/ 2 h 1040"/>
                <a:gd name="T16" fmla="*/ 9 w 17"/>
                <a:gd name="T17" fmla="*/ 0 h 1040"/>
                <a:gd name="T18" fmla="*/ 3 w 17"/>
                <a:gd name="T19" fmla="*/ 2 h 1040"/>
                <a:gd name="T20" fmla="*/ 0 w 17"/>
                <a:gd name="T21" fmla="*/ 8 h 10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040"/>
                <a:gd name="T35" fmla="*/ 17 w 17"/>
                <a:gd name="T36" fmla="*/ 1040 h 10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040">
                  <a:moveTo>
                    <a:pt x="0" y="8"/>
                  </a:moveTo>
                  <a:lnTo>
                    <a:pt x="0" y="8"/>
                  </a:lnTo>
                  <a:lnTo>
                    <a:pt x="0" y="1040"/>
                  </a:lnTo>
                  <a:lnTo>
                    <a:pt x="17" y="1040"/>
                  </a:lnTo>
                  <a:lnTo>
                    <a:pt x="17" y="8"/>
                  </a:lnTo>
                  <a:lnTo>
                    <a:pt x="15" y="2"/>
                  </a:lnTo>
                  <a:lnTo>
                    <a:pt x="9" y="0"/>
                  </a:lnTo>
                  <a:lnTo>
                    <a:pt x="3" y="2"/>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5" name="Freeform 24">
              <a:extLst>
                <a:ext uri="{FF2B5EF4-FFF2-40B4-BE49-F238E27FC236}">
                  <a16:creationId xmlns:a16="http://schemas.microsoft.com/office/drawing/2014/main" id="{AE8F7CC5-5D68-4CC5-8779-5E0F351AEE89}"/>
                </a:ext>
              </a:extLst>
            </p:cNvPr>
            <p:cNvSpPr>
              <a:spLocks/>
            </p:cNvSpPr>
            <p:nvPr/>
          </p:nvSpPr>
          <p:spPr bwMode="auto">
            <a:xfrm>
              <a:off x="3211" y="1248"/>
              <a:ext cx="194" cy="184"/>
            </a:xfrm>
            <a:custGeom>
              <a:avLst/>
              <a:gdLst>
                <a:gd name="T0" fmla="*/ 186 w 194"/>
                <a:gd name="T1" fmla="*/ 0 h 184"/>
                <a:gd name="T2" fmla="*/ 186 w 194"/>
                <a:gd name="T3" fmla="*/ 0 h 184"/>
                <a:gd name="T4" fmla="*/ 149 w 194"/>
                <a:gd name="T5" fmla="*/ 5 h 184"/>
                <a:gd name="T6" fmla="*/ 114 w 194"/>
                <a:gd name="T7" fmla="*/ 15 h 184"/>
                <a:gd name="T8" fmla="*/ 84 w 194"/>
                <a:gd name="T9" fmla="*/ 32 h 184"/>
                <a:gd name="T10" fmla="*/ 55 w 194"/>
                <a:gd name="T11" fmla="*/ 55 h 184"/>
                <a:gd name="T12" fmla="*/ 33 w 194"/>
                <a:gd name="T13" fmla="*/ 82 h 184"/>
                <a:gd name="T14" fmla="*/ 15 w 194"/>
                <a:gd name="T15" fmla="*/ 113 h 184"/>
                <a:gd name="T16" fmla="*/ 5 w 194"/>
                <a:gd name="T17" fmla="*/ 147 h 184"/>
                <a:gd name="T18" fmla="*/ 0 w 194"/>
                <a:gd name="T19" fmla="*/ 184 h 184"/>
                <a:gd name="T20" fmla="*/ 17 w 194"/>
                <a:gd name="T21" fmla="*/ 184 h 184"/>
                <a:gd name="T22" fmla="*/ 20 w 194"/>
                <a:gd name="T23" fmla="*/ 150 h 184"/>
                <a:gd name="T24" fmla="*/ 30 w 194"/>
                <a:gd name="T25" fmla="*/ 118 h 184"/>
                <a:gd name="T26" fmla="*/ 46 w 194"/>
                <a:gd name="T27" fmla="*/ 90 h 184"/>
                <a:gd name="T28" fmla="*/ 65 w 194"/>
                <a:gd name="T29" fmla="*/ 65 h 184"/>
                <a:gd name="T30" fmla="*/ 91 w 194"/>
                <a:gd name="T31" fmla="*/ 44 h 184"/>
                <a:gd name="T32" fmla="*/ 119 w 194"/>
                <a:gd name="T33" fmla="*/ 29 h 184"/>
                <a:gd name="T34" fmla="*/ 151 w 194"/>
                <a:gd name="T35" fmla="*/ 20 h 184"/>
                <a:gd name="T36" fmla="*/ 186 w 194"/>
                <a:gd name="T37" fmla="*/ 17 h 184"/>
                <a:gd name="T38" fmla="*/ 186 w 194"/>
                <a:gd name="T39" fmla="*/ 17 h 184"/>
                <a:gd name="T40" fmla="*/ 186 w 194"/>
                <a:gd name="T41" fmla="*/ 17 h 184"/>
                <a:gd name="T42" fmla="*/ 192 w 194"/>
                <a:gd name="T43" fmla="*/ 15 h 184"/>
                <a:gd name="T44" fmla="*/ 194 w 194"/>
                <a:gd name="T45" fmla="*/ 9 h 184"/>
                <a:gd name="T46" fmla="*/ 192 w 194"/>
                <a:gd name="T47" fmla="*/ 2 h 184"/>
                <a:gd name="T48" fmla="*/ 186 w 194"/>
                <a:gd name="T49" fmla="*/ 0 h 18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4"/>
                <a:gd name="T76" fmla="*/ 0 h 184"/>
                <a:gd name="T77" fmla="*/ 194 w 194"/>
                <a:gd name="T78" fmla="*/ 184 h 18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4" h="184">
                  <a:moveTo>
                    <a:pt x="186" y="0"/>
                  </a:moveTo>
                  <a:lnTo>
                    <a:pt x="186" y="0"/>
                  </a:lnTo>
                  <a:lnTo>
                    <a:pt x="149" y="5"/>
                  </a:lnTo>
                  <a:lnTo>
                    <a:pt x="114" y="15"/>
                  </a:lnTo>
                  <a:lnTo>
                    <a:pt x="84" y="32"/>
                  </a:lnTo>
                  <a:lnTo>
                    <a:pt x="55" y="55"/>
                  </a:lnTo>
                  <a:lnTo>
                    <a:pt x="33" y="82"/>
                  </a:lnTo>
                  <a:lnTo>
                    <a:pt x="15" y="113"/>
                  </a:lnTo>
                  <a:lnTo>
                    <a:pt x="5" y="147"/>
                  </a:lnTo>
                  <a:lnTo>
                    <a:pt x="0" y="184"/>
                  </a:lnTo>
                  <a:lnTo>
                    <a:pt x="17" y="184"/>
                  </a:lnTo>
                  <a:lnTo>
                    <a:pt x="20" y="150"/>
                  </a:lnTo>
                  <a:lnTo>
                    <a:pt x="30" y="118"/>
                  </a:lnTo>
                  <a:lnTo>
                    <a:pt x="46" y="90"/>
                  </a:lnTo>
                  <a:lnTo>
                    <a:pt x="65" y="65"/>
                  </a:lnTo>
                  <a:lnTo>
                    <a:pt x="91" y="44"/>
                  </a:lnTo>
                  <a:lnTo>
                    <a:pt x="119" y="29"/>
                  </a:lnTo>
                  <a:lnTo>
                    <a:pt x="151" y="20"/>
                  </a:lnTo>
                  <a:lnTo>
                    <a:pt x="186" y="17"/>
                  </a:lnTo>
                  <a:lnTo>
                    <a:pt x="192" y="15"/>
                  </a:lnTo>
                  <a:lnTo>
                    <a:pt x="194" y="9"/>
                  </a:lnTo>
                  <a:lnTo>
                    <a:pt x="192" y="2"/>
                  </a:lnTo>
                  <a:lnTo>
                    <a:pt x="18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6" name="Freeform 25">
              <a:extLst>
                <a:ext uri="{FF2B5EF4-FFF2-40B4-BE49-F238E27FC236}">
                  <a16:creationId xmlns:a16="http://schemas.microsoft.com/office/drawing/2014/main" id="{BFF9C543-A085-4BBE-A6B0-8F05CC3E7EB4}"/>
                </a:ext>
              </a:extLst>
            </p:cNvPr>
            <p:cNvSpPr>
              <a:spLocks/>
            </p:cNvSpPr>
            <p:nvPr/>
          </p:nvSpPr>
          <p:spPr bwMode="auto">
            <a:xfrm>
              <a:off x="3397" y="1248"/>
              <a:ext cx="1041" cy="17"/>
            </a:xfrm>
            <a:custGeom>
              <a:avLst/>
              <a:gdLst>
                <a:gd name="T0" fmla="*/ 1032 w 1041"/>
                <a:gd name="T1" fmla="*/ 0 h 17"/>
                <a:gd name="T2" fmla="*/ 1032 w 1041"/>
                <a:gd name="T3" fmla="*/ 0 h 17"/>
                <a:gd name="T4" fmla="*/ 0 w 1041"/>
                <a:gd name="T5" fmla="*/ 0 h 17"/>
                <a:gd name="T6" fmla="*/ 0 w 1041"/>
                <a:gd name="T7" fmla="*/ 17 h 17"/>
                <a:gd name="T8" fmla="*/ 1032 w 1041"/>
                <a:gd name="T9" fmla="*/ 17 h 17"/>
                <a:gd name="T10" fmla="*/ 1032 w 1041"/>
                <a:gd name="T11" fmla="*/ 17 h 17"/>
                <a:gd name="T12" fmla="*/ 1032 w 1041"/>
                <a:gd name="T13" fmla="*/ 17 h 17"/>
                <a:gd name="T14" fmla="*/ 1038 w 1041"/>
                <a:gd name="T15" fmla="*/ 15 h 17"/>
                <a:gd name="T16" fmla="*/ 1041 w 1041"/>
                <a:gd name="T17" fmla="*/ 9 h 17"/>
                <a:gd name="T18" fmla="*/ 1038 w 1041"/>
                <a:gd name="T19" fmla="*/ 2 h 17"/>
                <a:gd name="T20" fmla="*/ 1032 w 1041"/>
                <a:gd name="T21" fmla="*/ 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41"/>
                <a:gd name="T34" fmla="*/ 0 h 17"/>
                <a:gd name="T35" fmla="*/ 1041 w 1041"/>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41" h="17">
                  <a:moveTo>
                    <a:pt x="1032" y="0"/>
                  </a:moveTo>
                  <a:lnTo>
                    <a:pt x="1032" y="0"/>
                  </a:lnTo>
                  <a:lnTo>
                    <a:pt x="0" y="0"/>
                  </a:lnTo>
                  <a:lnTo>
                    <a:pt x="0" y="17"/>
                  </a:lnTo>
                  <a:lnTo>
                    <a:pt x="1032" y="17"/>
                  </a:lnTo>
                  <a:lnTo>
                    <a:pt x="1038" y="15"/>
                  </a:lnTo>
                  <a:lnTo>
                    <a:pt x="1041" y="9"/>
                  </a:lnTo>
                  <a:lnTo>
                    <a:pt x="1038" y="2"/>
                  </a:lnTo>
                  <a:lnTo>
                    <a:pt x="10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7" name="Freeform 26">
              <a:extLst>
                <a:ext uri="{FF2B5EF4-FFF2-40B4-BE49-F238E27FC236}">
                  <a16:creationId xmlns:a16="http://schemas.microsoft.com/office/drawing/2014/main" id="{A9316C13-2C4B-4F85-B2C7-DAE35378119D}"/>
                </a:ext>
              </a:extLst>
            </p:cNvPr>
            <p:cNvSpPr>
              <a:spLocks/>
            </p:cNvSpPr>
            <p:nvPr/>
          </p:nvSpPr>
          <p:spPr bwMode="auto">
            <a:xfrm>
              <a:off x="4429" y="1248"/>
              <a:ext cx="185" cy="193"/>
            </a:xfrm>
            <a:custGeom>
              <a:avLst/>
              <a:gdLst>
                <a:gd name="T0" fmla="*/ 185 w 185"/>
                <a:gd name="T1" fmla="*/ 184 h 193"/>
                <a:gd name="T2" fmla="*/ 185 w 185"/>
                <a:gd name="T3" fmla="*/ 184 h 193"/>
                <a:gd name="T4" fmla="*/ 180 w 185"/>
                <a:gd name="T5" fmla="*/ 147 h 193"/>
                <a:gd name="T6" fmla="*/ 170 w 185"/>
                <a:gd name="T7" fmla="*/ 113 h 193"/>
                <a:gd name="T8" fmla="*/ 153 w 185"/>
                <a:gd name="T9" fmla="*/ 82 h 193"/>
                <a:gd name="T10" fmla="*/ 129 w 185"/>
                <a:gd name="T11" fmla="*/ 55 h 193"/>
                <a:gd name="T12" fmla="*/ 102 w 185"/>
                <a:gd name="T13" fmla="*/ 32 h 193"/>
                <a:gd name="T14" fmla="*/ 72 w 185"/>
                <a:gd name="T15" fmla="*/ 15 h 193"/>
                <a:gd name="T16" fmla="*/ 37 w 185"/>
                <a:gd name="T17" fmla="*/ 5 h 193"/>
                <a:gd name="T18" fmla="*/ 0 w 185"/>
                <a:gd name="T19" fmla="*/ 0 h 193"/>
                <a:gd name="T20" fmla="*/ 0 w 185"/>
                <a:gd name="T21" fmla="*/ 17 h 193"/>
                <a:gd name="T22" fmla="*/ 35 w 185"/>
                <a:gd name="T23" fmla="*/ 20 h 193"/>
                <a:gd name="T24" fmla="*/ 67 w 185"/>
                <a:gd name="T25" fmla="*/ 29 h 193"/>
                <a:gd name="T26" fmla="*/ 95 w 185"/>
                <a:gd name="T27" fmla="*/ 44 h 193"/>
                <a:gd name="T28" fmla="*/ 120 w 185"/>
                <a:gd name="T29" fmla="*/ 65 h 193"/>
                <a:gd name="T30" fmla="*/ 140 w 185"/>
                <a:gd name="T31" fmla="*/ 90 h 193"/>
                <a:gd name="T32" fmla="*/ 155 w 185"/>
                <a:gd name="T33" fmla="*/ 118 h 193"/>
                <a:gd name="T34" fmla="*/ 165 w 185"/>
                <a:gd name="T35" fmla="*/ 150 h 193"/>
                <a:gd name="T36" fmla="*/ 168 w 185"/>
                <a:gd name="T37" fmla="*/ 184 h 193"/>
                <a:gd name="T38" fmla="*/ 168 w 185"/>
                <a:gd name="T39" fmla="*/ 184 h 193"/>
                <a:gd name="T40" fmla="*/ 168 w 185"/>
                <a:gd name="T41" fmla="*/ 184 h 193"/>
                <a:gd name="T42" fmla="*/ 170 w 185"/>
                <a:gd name="T43" fmla="*/ 190 h 193"/>
                <a:gd name="T44" fmla="*/ 176 w 185"/>
                <a:gd name="T45" fmla="*/ 193 h 193"/>
                <a:gd name="T46" fmla="*/ 182 w 185"/>
                <a:gd name="T47" fmla="*/ 190 h 193"/>
                <a:gd name="T48" fmla="*/ 185 w 185"/>
                <a:gd name="T49" fmla="*/ 184 h 19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5"/>
                <a:gd name="T76" fmla="*/ 0 h 193"/>
                <a:gd name="T77" fmla="*/ 185 w 185"/>
                <a:gd name="T78" fmla="*/ 193 h 19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5" h="193">
                  <a:moveTo>
                    <a:pt x="185" y="184"/>
                  </a:moveTo>
                  <a:lnTo>
                    <a:pt x="185" y="184"/>
                  </a:lnTo>
                  <a:lnTo>
                    <a:pt x="180" y="147"/>
                  </a:lnTo>
                  <a:lnTo>
                    <a:pt x="170" y="113"/>
                  </a:lnTo>
                  <a:lnTo>
                    <a:pt x="153" y="82"/>
                  </a:lnTo>
                  <a:lnTo>
                    <a:pt x="129" y="55"/>
                  </a:lnTo>
                  <a:lnTo>
                    <a:pt x="102" y="32"/>
                  </a:lnTo>
                  <a:lnTo>
                    <a:pt x="72" y="15"/>
                  </a:lnTo>
                  <a:lnTo>
                    <a:pt x="37" y="5"/>
                  </a:lnTo>
                  <a:lnTo>
                    <a:pt x="0" y="0"/>
                  </a:lnTo>
                  <a:lnTo>
                    <a:pt x="0" y="17"/>
                  </a:lnTo>
                  <a:lnTo>
                    <a:pt x="35" y="20"/>
                  </a:lnTo>
                  <a:lnTo>
                    <a:pt x="67" y="29"/>
                  </a:lnTo>
                  <a:lnTo>
                    <a:pt x="95" y="44"/>
                  </a:lnTo>
                  <a:lnTo>
                    <a:pt x="120" y="65"/>
                  </a:lnTo>
                  <a:lnTo>
                    <a:pt x="140" y="90"/>
                  </a:lnTo>
                  <a:lnTo>
                    <a:pt x="155" y="118"/>
                  </a:lnTo>
                  <a:lnTo>
                    <a:pt x="165" y="150"/>
                  </a:lnTo>
                  <a:lnTo>
                    <a:pt x="168" y="184"/>
                  </a:lnTo>
                  <a:lnTo>
                    <a:pt x="170" y="190"/>
                  </a:lnTo>
                  <a:lnTo>
                    <a:pt x="176" y="193"/>
                  </a:lnTo>
                  <a:lnTo>
                    <a:pt x="182" y="190"/>
                  </a:lnTo>
                  <a:lnTo>
                    <a:pt x="185" y="1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8" name="Freeform 27">
              <a:extLst>
                <a:ext uri="{FF2B5EF4-FFF2-40B4-BE49-F238E27FC236}">
                  <a16:creationId xmlns:a16="http://schemas.microsoft.com/office/drawing/2014/main" id="{DCF20750-3DC7-4945-9C98-A0961D26FEB5}"/>
                </a:ext>
              </a:extLst>
            </p:cNvPr>
            <p:cNvSpPr>
              <a:spLocks/>
            </p:cNvSpPr>
            <p:nvPr/>
          </p:nvSpPr>
          <p:spPr bwMode="auto">
            <a:xfrm>
              <a:off x="4597" y="1432"/>
              <a:ext cx="17" cy="1041"/>
            </a:xfrm>
            <a:custGeom>
              <a:avLst/>
              <a:gdLst>
                <a:gd name="T0" fmla="*/ 17 w 17"/>
                <a:gd name="T1" fmla="*/ 1032 h 1041"/>
                <a:gd name="T2" fmla="*/ 17 w 17"/>
                <a:gd name="T3" fmla="*/ 1032 h 1041"/>
                <a:gd name="T4" fmla="*/ 17 w 17"/>
                <a:gd name="T5" fmla="*/ 0 h 1041"/>
                <a:gd name="T6" fmla="*/ 0 w 17"/>
                <a:gd name="T7" fmla="*/ 0 h 1041"/>
                <a:gd name="T8" fmla="*/ 0 w 17"/>
                <a:gd name="T9" fmla="*/ 1032 h 1041"/>
                <a:gd name="T10" fmla="*/ 0 w 17"/>
                <a:gd name="T11" fmla="*/ 1032 h 1041"/>
                <a:gd name="T12" fmla="*/ 0 w 17"/>
                <a:gd name="T13" fmla="*/ 1032 h 1041"/>
                <a:gd name="T14" fmla="*/ 2 w 17"/>
                <a:gd name="T15" fmla="*/ 1038 h 1041"/>
                <a:gd name="T16" fmla="*/ 8 w 17"/>
                <a:gd name="T17" fmla="*/ 1041 h 1041"/>
                <a:gd name="T18" fmla="*/ 14 w 17"/>
                <a:gd name="T19" fmla="*/ 1038 h 1041"/>
                <a:gd name="T20" fmla="*/ 17 w 17"/>
                <a:gd name="T21" fmla="*/ 1032 h 10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041"/>
                <a:gd name="T35" fmla="*/ 17 w 17"/>
                <a:gd name="T36" fmla="*/ 1041 h 10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041">
                  <a:moveTo>
                    <a:pt x="17" y="1032"/>
                  </a:moveTo>
                  <a:lnTo>
                    <a:pt x="17" y="1032"/>
                  </a:lnTo>
                  <a:lnTo>
                    <a:pt x="17" y="0"/>
                  </a:lnTo>
                  <a:lnTo>
                    <a:pt x="0" y="0"/>
                  </a:lnTo>
                  <a:lnTo>
                    <a:pt x="0" y="1032"/>
                  </a:lnTo>
                  <a:lnTo>
                    <a:pt x="2" y="1038"/>
                  </a:lnTo>
                  <a:lnTo>
                    <a:pt x="8" y="1041"/>
                  </a:lnTo>
                  <a:lnTo>
                    <a:pt x="14" y="1038"/>
                  </a:lnTo>
                  <a:lnTo>
                    <a:pt x="17" y="10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59" name="Freeform 28">
              <a:extLst>
                <a:ext uri="{FF2B5EF4-FFF2-40B4-BE49-F238E27FC236}">
                  <a16:creationId xmlns:a16="http://schemas.microsoft.com/office/drawing/2014/main" id="{5F425D51-49DD-4E7B-BB52-B2FBAD1D6AF9}"/>
                </a:ext>
              </a:extLst>
            </p:cNvPr>
            <p:cNvSpPr>
              <a:spLocks/>
            </p:cNvSpPr>
            <p:nvPr/>
          </p:nvSpPr>
          <p:spPr bwMode="auto">
            <a:xfrm>
              <a:off x="3356" y="2056"/>
              <a:ext cx="439" cy="497"/>
            </a:xfrm>
            <a:custGeom>
              <a:avLst/>
              <a:gdLst>
                <a:gd name="T0" fmla="*/ 78 w 439"/>
                <a:gd name="T1" fmla="*/ 5 h 497"/>
                <a:gd name="T2" fmla="*/ 94 w 439"/>
                <a:gd name="T3" fmla="*/ 1 h 497"/>
                <a:gd name="T4" fmla="*/ 110 w 439"/>
                <a:gd name="T5" fmla="*/ 0 h 497"/>
                <a:gd name="T6" fmla="*/ 126 w 439"/>
                <a:gd name="T7" fmla="*/ 1 h 497"/>
                <a:gd name="T8" fmla="*/ 142 w 439"/>
                <a:gd name="T9" fmla="*/ 5 h 497"/>
                <a:gd name="T10" fmla="*/ 156 w 439"/>
                <a:gd name="T11" fmla="*/ 10 h 497"/>
                <a:gd name="T12" fmla="*/ 171 w 439"/>
                <a:gd name="T13" fmla="*/ 17 h 497"/>
                <a:gd name="T14" fmla="*/ 183 w 439"/>
                <a:gd name="T15" fmla="*/ 27 h 497"/>
                <a:gd name="T16" fmla="*/ 196 w 439"/>
                <a:gd name="T17" fmla="*/ 40 h 497"/>
                <a:gd name="T18" fmla="*/ 213 w 439"/>
                <a:gd name="T19" fmla="*/ 68 h 497"/>
                <a:gd name="T20" fmla="*/ 221 w 439"/>
                <a:gd name="T21" fmla="*/ 100 h 497"/>
                <a:gd name="T22" fmla="*/ 220 w 439"/>
                <a:gd name="T23" fmla="*/ 132 h 497"/>
                <a:gd name="T24" fmla="*/ 210 w 439"/>
                <a:gd name="T25" fmla="*/ 162 h 497"/>
                <a:gd name="T26" fmla="*/ 210 w 439"/>
                <a:gd name="T27" fmla="*/ 160 h 497"/>
                <a:gd name="T28" fmla="*/ 439 w 439"/>
                <a:gd name="T29" fmla="*/ 440 h 497"/>
                <a:gd name="T30" fmla="*/ 371 w 439"/>
                <a:gd name="T31" fmla="*/ 497 h 497"/>
                <a:gd name="T32" fmla="*/ 143 w 439"/>
                <a:gd name="T33" fmla="*/ 218 h 497"/>
                <a:gd name="T34" fmla="*/ 144 w 439"/>
                <a:gd name="T35" fmla="*/ 218 h 497"/>
                <a:gd name="T36" fmla="*/ 128 w 439"/>
                <a:gd name="T37" fmla="*/ 221 h 497"/>
                <a:gd name="T38" fmla="*/ 112 w 439"/>
                <a:gd name="T39" fmla="*/ 223 h 497"/>
                <a:gd name="T40" fmla="*/ 96 w 439"/>
                <a:gd name="T41" fmla="*/ 223 h 497"/>
                <a:gd name="T42" fmla="*/ 80 w 439"/>
                <a:gd name="T43" fmla="*/ 219 h 497"/>
                <a:gd name="T44" fmla="*/ 65 w 439"/>
                <a:gd name="T45" fmla="*/ 214 h 497"/>
                <a:gd name="T46" fmla="*/ 51 w 439"/>
                <a:gd name="T47" fmla="*/ 207 h 497"/>
                <a:gd name="T48" fmla="*/ 38 w 439"/>
                <a:gd name="T49" fmla="*/ 197 h 497"/>
                <a:gd name="T50" fmla="*/ 26 w 439"/>
                <a:gd name="T51" fmla="*/ 185 h 497"/>
                <a:gd name="T52" fmla="*/ 9 w 439"/>
                <a:gd name="T53" fmla="*/ 156 h 497"/>
                <a:gd name="T54" fmla="*/ 0 w 439"/>
                <a:gd name="T55" fmla="*/ 124 h 497"/>
                <a:gd name="T56" fmla="*/ 0 w 439"/>
                <a:gd name="T57" fmla="*/ 92 h 497"/>
                <a:gd name="T58" fmla="*/ 10 w 439"/>
                <a:gd name="T59" fmla="*/ 63 h 497"/>
                <a:gd name="T60" fmla="*/ 11 w 439"/>
                <a:gd name="T61" fmla="*/ 63 h 497"/>
                <a:gd name="T62" fmla="*/ 81 w 439"/>
                <a:gd name="T63" fmla="*/ 145 h 497"/>
                <a:gd name="T64" fmla="*/ 138 w 439"/>
                <a:gd name="T65" fmla="*/ 143 h 497"/>
                <a:gd name="T66" fmla="*/ 150 w 439"/>
                <a:gd name="T67" fmla="*/ 90 h 497"/>
                <a:gd name="T68" fmla="*/ 78 w 439"/>
                <a:gd name="T69" fmla="*/ 5 h 49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39"/>
                <a:gd name="T106" fmla="*/ 0 h 497"/>
                <a:gd name="T107" fmla="*/ 439 w 439"/>
                <a:gd name="T108" fmla="*/ 497 h 49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39" h="497">
                  <a:moveTo>
                    <a:pt x="78" y="5"/>
                  </a:moveTo>
                  <a:lnTo>
                    <a:pt x="94" y="1"/>
                  </a:lnTo>
                  <a:lnTo>
                    <a:pt x="110" y="0"/>
                  </a:lnTo>
                  <a:lnTo>
                    <a:pt x="126" y="1"/>
                  </a:lnTo>
                  <a:lnTo>
                    <a:pt x="142" y="5"/>
                  </a:lnTo>
                  <a:lnTo>
                    <a:pt x="156" y="10"/>
                  </a:lnTo>
                  <a:lnTo>
                    <a:pt x="171" y="17"/>
                  </a:lnTo>
                  <a:lnTo>
                    <a:pt x="183" y="27"/>
                  </a:lnTo>
                  <a:lnTo>
                    <a:pt x="196" y="40"/>
                  </a:lnTo>
                  <a:lnTo>
                    <a:pt x="213" y="68"/>
                  </a:lnTo>
                  <a:lnTo>
                    <a:pt x="221" y="100"/>
                  </a:lnTo>
                  <a:lnTo>
                    <a:pt x="220" y="132"/>
                  </a:lnTo>
                  <a:lnTo>
                    <a:pt x="210" y="162"/>
                  </a:lnTo>
                  <a:lnTo>
                    <a:pt x="210" y="160"/>
                  </a:lnTo>
                  <a:lnTo>
                    <a:pt x="439" y="440"/>
                  </a:lnTo>
                  <a:lnTo>
                    <a:pt x="371" y="497"/>
                  </a:lnTo>
                  <a:lnTo>
                    <a:pt x="143" y="218"/>
                  </a:lnTo>
                  <a:lnTo>
                    <a:pt x="144" y="218"/>
                  </a:lnTo>
                  <a:lnTo>
                    <a:pt x="128" y="221"/>
                  </a:lnTo>
                  <a:lnTo>
                    <a:pt x="112" y="223"/>
                  </a:lnTo>
                  <a:lnTo>
                    <a:pt x="96" y="223"/>
                  </a:lnTo>
                  <a:lnTo>
                    <a:pt x="80" y="219"/>
                  </a:lnTo>
                  <a:lnTo>
                    <a:pt x="65" y="214"/>
                  </a:lnTo>
                  <a:lnTo>
                    <a:pt x="51" y="207"/>
                  </a:lnTo>
                  <a:lnTo>
                    <a:pt x="38" y="197"/>
                  </a:lnTo>
                  <a:lnTo>
                    <a:pt x="26" y="185"/>
                  </a:lnTo>
                  <a:lnTo>
                    <a:pt x="9" y="156"/>
                  </a:lnTo>
                  <a:lnTo>
                    <a:pt x="0" y="124"/>
                  </a:lnTo>
                  <a:lnTo>
                    <a:pt x="0" y="92"/>
                  </a:lnTo>
                  <a:lnTo>
                    <a:pt x="10" y="63"/>
                  </a:lnTo>
                  <a:lnTo>
                    <a:pt x="11" y="63"/>
                  </a:lnTo>
                  <a:lnTo>
                    <a:pt x="81" y="145"/>
                  </a:lnTo>
                  <a:lnTo>
                    <a:pt x="138" y="143"/>
                  </a:lnTo>
                  <a:lnTo>
                    <a:pt x="150" y="90"/>
                  </a:lnTo>
                  <a:lnTo>
                    <a:pt x="78" y="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0" name="Freeform 29">
              <a:extLst>
                <a:ext uri="{FF2B5EF4-FFF2-40B4-BE49-F238E27FC236}">
                  <a16:creationId xmlns:a16="http://schemas.microsoft.com/office/drawing/2014/main" id="{9F78C00B-FDC5-44A1-96DE-3531DB30AC36}"/>
                </a:ext>
              </a:extLst>
            </p:cNvPr>
            <p:cNvSpPr>
              <a:spLocks/>
            </p:cNvSpPr>
            <p:nvPr/>
          </p:nvSpPr>
          <p:spPr bwMode="auto">
            <a:xfrm>
              <a:off x="3432" y="2050"/>
              <a:ext cx="123" cy="49"/>
            </a:xfrm>
            <a:custGeom>
              <a:avLst/>
              <a:gdLst>
                <a:gd name="T0" fmla="*/ 123 w 123"/>
                <a:gd name="T1" fmla="*/ 42 h 49"/>
                <a:gd name="T2" fmla="*/ 123 w 123"/>
                <a:gd name="T3" fmla="*/ 42 h 49"/>
                <a:gd name="T4" fmla="*/ 111 w 123"/>
                <a:gd name="T5" fmla="*/ 30 h 49"/>
                <a:gd name="T6" fmla="*/ 97 w 123"/>
                <a:gd name="T7" fmla="*/ 19 h 49"/>
                <a:gd name="T8" fmla="*/ 81 w 123"/>
                <a:gd name="T9" fmla="*/ 11 h 49"/>
                <a:gd name="T10" fmla="*/ 67 w 123"/>
                <a:gd name="T11" fmla="*/ 6 h 49"/>
                <a:gd name="T12" fmla="*/ 50 w 123"/>
                <a:gd name="T13" fmla="*/ 3 h 49"/>
                <a:gd name="T14" fmla="*/ 34 w 123"/>
                <a:gd name="T15" fmla="*/ 0 h 49"/>
                <a:gd name="T16" fmla="*/ 18 w 123"/>
                <a:gd name="T17" fmla="*/ 3 h 49"/>
                <a:gd name="T18" fmla="*/ 0 w 123"/>
                <a:gd name="T19" fmla="*/ 6 h 49"/>
                <a:gd name="T20" fmla="*/ 3 w 123"/>
                <a:gd name="T21" fmla="*/ 16 h 49"/>
                <a:gd name="T22" fmla="*/ 18 w 123"/>
                <a:gd name="T23" fmla="*/ 12 h 49"/>
                <a:gd name="T24" fmla="*/ 34 w 123"/>
                <a:gd name="T25" fmla="*/ 12 h 49"/>
                <a:gd name="T26" fmla="*/ 50 w 123"/>
                <a:gd name="T27" fmla="*/ 12 h 49"/>
                <a:gd name="T28" fmla="*/ 64 w 123"/>
                <a:gd name="T29" fmla="*/ 16 h 49"/>
                <a:gd name="T30" fmla="*/ 79 w 123"/>
                <a:gd name="T31" fmla="*/ 21 h 49"/>
                <a:gd name="T32" fmla="*/ 93 w 123"/>
                <a:gd name="T33" fmla="*/ 28 h 49"/>
                <a:gd name="T34" fmla="*/ 104 w 123"/>
                <a:gd name="T35" fmla="*/ 37 h 49"/>
                <a:gd name="T36" fmla="*/ 116 w 123"/>
                <a:gd name="T37" fmla="*/ 49 h 49"/>
                <a:gd name="T38" fmla="*/ 116 w 123"/>
                <a:gd name="T39" fmla="*/ 49 h 49"/>
                <a:gd name="T40" fmla="*/ 123 w 123"/>
                <a:gd name="T41" fmla="*/ 42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3"/>
                <a:gd name="T64" fmla="*/ 0 h 49"/>
                <a:gd name="T65" fmla="*/ 123 w 123"/>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3" h="49">
                  <a:moveTo>
                    <a:pt x="123" y="42"/>
                  </a:moveTo>
                  <a:lnTo>
                    <a:pt x="123" y="42"/>
                  </a:lnTo>
                  <a:lnTo>
                    <a:pt x="111" y="30"/>
                  </a:lnTo>
                  <a:lnTo>
                    <a:pt x="97" y="19"/>
                  </a:lnTo>
                  <a:lnTo>
                    <a:pt x="81" y="11"/>
                  </a:lnTo>
                  <a:lnTo>
                    <a:pt x="67" y="6"/>
                  </a:lnTo>
                  <a:lnTo>
                    <a:pt x="50" y="3"/>
                  </a:lnTo>
                  <a:lnTo>
                    <a:pt x="34" y="0"/>
                  </a:lnTo>
                  <a:lnTo>
                    <a:pt x="18" y="3"/>
                  </a:lnTo>
                  <a:lnTo>
                    <a:pt x="0" y="6"/>
                  </a:lnTo>
                  <a:lnTo>
                    <a:pt x="3" y="16"/>
                  </a:lnTo>
                  <a:lnTo>
                    <a:pt x="18" y="12"/>
                  </a:lnTo>
                  <a:lnTo>
                    <a:pt x="34" y="12"/>
                  </a:lnTo>
                  <a:lnTo>
                    <a:pt x="50" y="12"/>
                  </a:lnTo>
                  <a:lnTo>
                    <a:pt x="64" y="16"/>
                  </a:lnTo>
                  <a:lnTo>
                    <a:pt x="79" y="21"/>
                  </a:lnTo>
                  <a:lnTo>
                    <a:pt x="93" y="28"/>
                  </a:lnTo>
                  <a:lnTo>
                    <a:pt x="104" y="37"/>
                  </a:lnTo>
                  <a:lnTo>
                    <a:pt x="116" y="49"/>
                  </a:lnTo>
                  <a:lnTo>
                    <a:pt x="123"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1" name="Freeform 30">
              <a:extLst>
                <a:ext uri="{FF2B5EF4-FFF2-40B4-BE49-F238E27FC236}">
                  <a16:creationId xmlns:a16="http://schemas.microsoft.com/office/drawing/2014/main" id="{361A031F-5D5D-4398-9FFE-F9FB3EAED88E}"/>
                </a:ext>
              </a:extLst>
            </p:cNvPr>
            <p:cNvSpPr>
              <a:spLocks/>
            </p:cNvSpPr>
            <p:nvPr/>
          </p:nvSpPr>
          <p:spPr bwMode="auto">
            <a:xfrm>
              <a:off x="3548" y="2092"/>
              <a:ext cx="34" cy="131"/>
            </a:xfrm>
            <a:custGeom>
              <a:avLst/>
              <a:gdLst>
                <a:gd name="T0" fmla="*/ 12 w 34"/>
                <a:gd name="T1" fmla="*/ 126 h 131"/>
                <a:gd name="T2" fmla="*/ 23 w 34"/>
                <a:gd name="T3" fmla="*/ 129 h 131"/>
                <a:gd name="T4" fmla="*/ 33 w 34"/>
                <a:gd name="T5" fmla="*/ 96 h 131"/>
                <a:gd name="T6" fmla="*/ 34 w 34"/>
                <a:gd name="T7" fmla="*/ 64 h 131"/>
                <a:gd name="T8" fmla="*/ 26 w 34"/>
                <a:gd name="T9" fmla="*/ 31 h 131"/>
                <a:gd name="T10" fmla="*/ 7 w 34"/>
                <a:gd name="T11" fmla="*/ 0 h 131"/>
                <a:gd name="T12" fmla="*/ 0 w 34"/>
                <a:gd name="T13" fmla="*/ 7 h 131"/>
                <a:gd name="T14" fmla="*/ 16 w 34"/>
                <a:gd name="T15" fmla="*/ 33 h 131"/>
                <a:gd name="T16" fmla="*/ 25 w 34"/>
                <a:gd name="T17" fmla="*/ 64 h 131"/>
                <a:gd name="T18" fmla="*/ 23 w 34"/>
                <a:gd name="T19" fmla="*/ 96 h 131"/>
                <a:gd name="T20" fmla="*/ 13 w 34"/>
                <a:gd name="T21" fmla="*/ 124 h 131"/>
                <a:gd name="T22" fmla="*/ 25 w 34"/>
                <a:gd name="T23" fmla="*/ 126 h 131"/>
                <a:gd name="T24" fmla="*/ 13 w 34"/>
                <a:gd name="T25" fmla="*/ 124 h 131"/>
                <a:gd name="T26" fmla="*/ 13 w 34"/>
                <a:gd name="T27" fmla="*/ 128 h 131"/>
                <a:gd name="T28" fmla="*/ 17 w 34"/>
                <a:gd name="T29" fmla="*/ 131 h 131"/>
                <a:gd name="T30" fmla="*/ 21 w 34"/>
                <a:gd name="T31" fmla="*/ 131 h 131"/>
                <a:gd name="T32" fmla="*/ 23 w 34"/>
                <a:gd name="T33" fmla="*/ 129 h 131"/>
                <a:gd name="T34" fmla="*/ 12 w 34"/>
                <a:gd name="T35" fmla="*/ 126 h 1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4"/>
                <a:gd name="T55" fmla="*/ 0 h 131"/>
                <a:gd name="T56" fmla="*/ 34 w 34"/>
                <a:gd name="T57" fmla="*/ 131 h 1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4" h="131">
                  <a:moveTo>
                    <a:pt x="12" y="126"/>
                  </a:moveTo>
                  <a:lnTo>
                    <a:pt x="23" y="129"/>
                  </a:lnTo>
                  <a:lnTo>
                    <a:pt x="33" y="96"/>
                  </a:lnTo>
                  <a:lnTo>
                    <a:pt x="34" y="64"/>
                  </a:lnTo>
                  <a:lnTo>
                    <a:pt x="26" y="31"/>
                  </a:lnTo>
                  <a:lnTo>
                    <a:pt x="7" y="0"/>
                  </a:lnTo>
                  <a:lnTo>
                    <a:pt x="0" y="7"/>
                  </a:lnTo>
                  <a:lnTo>
                    <a:pt x="16" y="33"/>
                  </a:lnTo>
                  <a:lnTo>
                    <a:pt x="25" y="64"/>
                  </a:lnTo>
                  <a:lnTo>
                    <a:pt x="23" y="96"/>
                  </a:lnTo>
                  <a:lnTo>
                    <a:pt x="13" y="124"/>
                  </a:lnTo>
                  <a:lnTo>
                    <a:pt x="25" y="126"/>
                  </a:lnTo>
                  <a:lnTo>
                    <a:pt x="13" y="124"/>
                  </a:lnTo>
                  <a:lnTo>
                    <a:pt x="13" y="128"/>
                  </a:lnTo>
                  <a:lnTo>
                    <a:pt x="17" y="131"/>
                  </a:lnTo>
                  <a:lnTo>
                    <a:pt x="21" y="131"/>
                  </a:lnTo>
                  <a:lnTo>
                    <a:pt x="23" y="129"/>
                  </a:lnTo>
                  <a:lnTo>
                    <a:pt x="12"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2" name="Freeform 31">
              <a:extLst>
                <a:ext uri="{FF2B5EF4-FFF2-40B4-BE49-F238E27FC236}">
                  <a16:creationId xmlns:a16="http://schemas.microsoft.com/office/drawing/2014/main" id="{A07924B7-81EA-486F-9CA6-26A4C41AE6B0}"/>
                </a:ext>
              </a:extLst>
            </p:cNvPr>
            <p:cNvSpPr>
              <a:spLocks/>
            </p:cNvSpPr>
            <p:nvPr/>
          </p:nvSpPr>
          <p:spPr bwMode="auto">
            <a:xfrm>
              <a:off x="3560" y="2210"/>
              <a:ext cx="13" cy="10"/>
            </a:xfrm>
            <a:custGeom>
              <a:avLst/>
              <a:gdLst>
                <a:gd name="T0" fmla="*/ 10 w 13"/>
                <a:gd name="T1" fmla="*/ 2 h 10"/>
                <a:gd name="T2" fmla="*/ 0 w 13"/>
                <a:gd name="T3" fmla="*/ 6 h 10"/>
                <a:gd name="T4" fmla="*/ 0 w 13"/>
                <a:gd name="T5" fmla="*/ 8 h 10"/>
                <a:gd name="T6" fmla="*/ 13 w 13"/>
                <a:gd name="T7" fmla="*/ 8 h 10"/>
                <a:gd name="T8" fmla="*/ 13 w 13"/>
                <a:gd name="T9" fmla="*/ 6 h 10"/>
                <a:gd name="T10" fmla="*/ 3 w 13"/>
                <a:gd name="T11" fmla="*/ 10 h 10"/>
                <a:gd name="T12" fmla="*/ 13 w 13"/>
                <a:gd name="T13" fmla="*/ 6 h 10"/>
                <a:gd name="T14" fmla="*/ 10 w 13"/>
                <a:gd name="T15" fmla="*/ 2 h 10"/>
                <a:gd name="T16" fmla="*/ 6 w 13"/>
                <a:gd name="T17" fmla="*/ 0 h 10"/>
                <a:gd name="T18" fmla="*/ 3 w 13"/>
                <a:gd name="T19" fmla="*/ 2 h 10"/>
                <a:gd name="T20" fmla="*/ 0 w 13"/>
                <a:gd name="T21" fmla="*/ 6 h 10"/>
                <a:gd name="T22" fmla="*/ 10 w 13"/>
                <a:gd name="T23" fmla="*/ 2 h 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
                <a:gd name="T37" fmla="*/ 0 h 10"/>
                <a:gd name="T38" fmla="*/ 13 w 13"/>
                <a:gd name="T39" fmla="*/ 10 h 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 h="10">
                  <a:moveTo>
                    <a:pt x="10" y="2"/>
                  </a:moveTo>
                  <a:lnTo>
                    <a:pt x="0" y="6"/>
                  </a:lnTo>
                  <a:lnTo>
                    <a:pt x="0" y="8"/>
                  </a:lnTo>
                  <a:lnTo>
                    <a:pt x="13" y="8"/>
                  </a:lnTo>
                  <a:lnTo>
                    <a:pt x="13" y="6"/>
                  </a:lnTo>
                  <a:lnTo>
                    <a:pt x="3" y="10"/>
                  </a:lnTo>
                  <a:lnTo>
                    <a:pt x="13" y="6"/>
                  </a:lnTo>
                  <a:lnTo>
                    <a:pt x="10" y="2"/>
                  </a:lnTo>
                  <a:lnTo>
                    <a:pt x="6" y="0"/>
                  </a:lnTo>
                  <a:lnTo>
                    <a:pt x="3" y="2"/>
                  </a:lnTo>
                  <a:lnTo>
                    <a:pt x="0" y="6"/>
                  </a:lnTo>
                  <a:lnTo>
                    <a:pt x="1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3" name="Freeform 32">
              <a:extLst>
                <a:ext uri="{FF2B5EF4-FFF2-40B4-BE49-F238E27FC236}">
                  <a16:creationId xmlns:a16="http://schemas.microsoft.com/office/drawing/2014/main" id="{34E635F3-D5DB-468A-BA2D-9EDEF46EFCD7}"/>
                </a:ext>
              </a:extLst>
            </p:cNvPr>
            <p:cNvSpPr>
              <a:spLocks/>
            </p:cNvSpPr>
            <p:nvPr/>
          </p:nvSpPr>
          <p:spPr bwMode="auto">
            <a:xfrm>
              <a:off x="3563" y="2212"/>
              <a:ext cx="237" cy="289"/>
            </a:xfrm>
            <a:custGeom>
              <a:avLst/>
              <a:gdLst>
                <a:gd name="T0" fmla="*/ 236 w 237"/>
                <a:gd name="T1" fmla="*/ 288 h 289"/>
                <a:gd name="T2" fmla="*/ 236 w 237"/>
                <a:gd name="T3" fmla="*/ 280 h 289"/>
                <a:gd name="T4" fmla="*/ 7 w 237"/>
                <a:gd name="T5" fmla="*/ 0 h 289"/>
                <a:gd name="T6" fmla="*/ 0 w 237"/>
                <a:gd name="T7" fmla="*/ 8 h 289"/>
                <a:gd name="T8" fmla="*/ 228 w 237"/>
                <a:gd name="T9" fmla="*/ 288 h 289"/>
                <a:gd name="T10" fmla="*/ 228 w 237"/>
                <a:gd name="T11" fmla="*/ 280 h 289"/>
                <a:gd name="T12" fmla="*/ 228 w 237"/>
                <a:gd name="T13" fmla="*/ 288 h 289"/>
                <a:gd name="T14" fmla="*/ 232 w 237"/>
                <a:gd name="T15" fmla="*/ 289 h 289"/>
                <a:gd name="T16" fmla="*/ 236 w 237"/>
                <a:gd name="T17" fmla="*/ 288 h 289"/>
                <a:gd name="T18" fmla="*/ 237 w 237"/>
                <a:gd name="T19" fmla="*/ 284 h 289"/>
                <a:gd name="T20" fmla="*/ 236 w 237"/>
                <a:gd name="T21" fmla="*/ 280 h 289"/>
                <a:gd name="T22" fmla="*/ 236 w 237"/>
                <a:gd name="T23" fmla="*/ 288 h 2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7"/>
                <a:gd name="T37" fmla="*/ 0 h 289"/>
                <a:gd name="T38" fmla="*/ 237 w 237"/>
                <a:gd name="T39" fmla="*/ 289 h 2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7" h="289">
                  <a:moveTo>
                    <a:pt x="236" y="288"/>
                  </a:moveTo>
                  <a:lnTo>
                    <a:pt x="236" y="280"/>
                  </a:lnTo>
                  <a:lnTo>
                    <a:pt x="7" y="0"/>
                  </a:lnTo>
                  <a:lnTo>
                    <a:pt x="0" y="8"/>
                  </a:lnTo>
                  <a:lnTo>
                    <a:pt x="228" y="288"/>
                  </a:lnTo>
                  <a:lnTo>
                    <a:pt x="228" y="280"/>
                  </a:lnTo>
                  <a:lnTo>
                    <a:pt x="228" y="288"/>
                  </a:lnTo>
                  <a:lnTo>
                    <a:pt x="232" y="289"/>
                  </a:lnTo>
                  <a:lnTo>
                    <a:pt x="236" y="288"/>
                  </a:lnTo>
                  <a:lnTo>
                    <a:pt x="237" y="284"/>
                  </a:lnTo>
                  <a:lnTo>
                    <a:pt x="236" y="280"/>
                  </a:lnTo>
                  <a:lnTo>
                    <a:pt x="236" y="2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4" name="Freeform 33">
              <a:extLst>
                <a:ext uri="{FF2B5EF4-FFF2-40B4-BE49-F238E27FC236}">
                  <a16:creationId xmlns:a16="http://schemas.microsoft.com/office/drawing/2014/main" id="{3642BC2F-855B-405D-9627-58E90B902D2F}"/>
                </a:ext>
              </a:extLst>
            </p:cNvPr>
            <p:cNvSpPr>
              <a:spLocks/>
            </p:cNvSpPr>
            <p:nvPr/>
          </p:nvSpPr>
          <p:spPr bwMode="auto">
            <a:xfrm>
              <a:off x="3722" y="2492"/>
              <a:ext cx="77" cy="65"/>
            </a:xfrm>
            <a:custGeom>
              <a:avLst/>
              <a:gdLst>
                <a:gd name="T0" fmla="*/ 2 w 77"/>
                <a:gd name="T1" fmla="*/ 64 h 65"/>
                <a:gd name="T2" fmla="*/ 9 w 77"/>
                <a:gd name="T3" fmla="*/ 64 h 65"/>
                <a:gd name="T4" fmla="*/ 77 w 77"/>
                <a:gd name="T5" fmla="*/ 8 h 65"/>
                <a:gd name="T6" fmla="*/ 69 w 77"/>
                <a:gd name="T7" fmla="*/ 0 h 65"/>
                <a:gd name="T8" fmla="*/ 2 w 77"/>
                <a:gd name="T9" fmla="*/ 57 h 65"/>
                <a:gd name="T10" fmla="*/ 9 w 77"/>
                <a:gd name="T11" fmla="*/ 57 h 65"/>
                <a:gd name="T12" fmla="*/ 2 w 77"/>
                <a:gd name="T13" fmla="*/ 57 h 65"/>
                <a:gd name="T14" fmla="*/ 0 w 77"/>
                <a:gd name="T15" fmla="*/ 61 h 65"/>
                <a:gd name="T16" fmla="*/ 2 w 77"/>
                <a:gd name="T17" fmla="*/ 64 h 65"/>
                <a:gd name="T18" fmla="*/ 5 w 77"/>
                <a:gd name="T19" fmla="*/ 65 h 65"/>
                <a:gd name="T20" fmla="*/ 9 w 77"/>
                <a:gd name="T21" fmla="*/ 64 h 65"/>
                <a:gd name="T22" fmla="*/ 2 w 77"/>
                <a:gd name="T23" fmla="*/ 64 h 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
                <a:gd name="T37" fmla="*/ 0 h 65"/>
                <a:gd name="T38" fmla="*/ 77 w 77"/>
                <a:gd name="T39" fmla="*/ 65 h 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 h="65">
                  <a:moveTo>
                    <a:pt x="2" y="64"/>
                  </a:moveTo>
                  <a:lnTo>
                    <a:pt x="9" y="64"/>
                  </a:lnTo>
                  <a:lnTo>
                    <a:pt x="77" y="8"/>
                  </a:lnTo>
                  <a:lnTo>
                    <a:pt x="69" y="0"/>
                  </a:lnTo>
                  <a:lnTo>
                    <a:pt x="2" y="57"/>
                  </a:lnTo>
                  <a:lnTo>
                    <a:pt x="9" y="57"/>
                  </a:lnTo>
                  <a:lnTo>
                    <a:pt x="2" y="57"/>
                  </a:lnTo>
                  <a:lnTo>
                    <a:pt x="0" y="61"/>
                  </a:lnTo>
                  <a:lnTo>
                    <a:pt x="2" y="64"/>
                  </a:lnTo>
                  <a:lnTo>
                    <a:pt x="5" y="65"/>
                  </a:lnTo>
                  <a:lnTo>
                    <a:pt x="9" y="64"/>
                  </a:lnTo>
                  <a:lnTo>
                    <a:pt x="2"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5" name="Freeform 34">
              <a:extLst>
                <a:ext uri="{FF2B5EF4-FFF2-40B4-BE49-F238E27FC236}">
                  <a16:creationId xmlns:a16="http://schemas.microsoft.com/office/drawing/2014/main" id="{6FA6B3E0-31AD-46F0-BE2C-2F8B9ED7CF8E}"/>
                </a:ext>
              </a:extLst>
            </p:cNvPr>
            <p:cNvSpPr>
              <a:spLocks/>
            </p:cNvSpPr>
            <p:nvPr/>
          </p:nvSpPr>
          <p:spPr bwMode="auto">
            <a:xfrm>
              <a:off x="3494" y="2268"/>
              <a:ext cx="237" cy="288"/>
            </a:xfrm>
            <a:custGeom>
              <a:avLst/>
              <a:gdLst>
                <a:gd name="T0" fmla="*/ 5 w 237"/>
                <a:gd name="T1" fmla="*/ 0 h 288"/>
                <a:gd name="T2" fmla="*/ 1 w 237"/>
                <a:gd name="T3" fmla="*/ 9 h 288"/>
                <a:gd name="T4" fmla="*/ 230 w 237"/>
                <a:gd name="T5" fmla="*/ 288 h 288"/>
                <a:gd name="T6" fmla="*/ 237 w 237"/>
                <a:gd name="T7" fmla="*/ 281 h 288"/>
                <a:gd name="T8" fmla="*/ 8 w 237"/>
                <a:gd name="T9" fmla="*/ 2 h 288"/>
                <a:gd name="T10" fmla="*/ 5 w 237"/>
                <a:gd name="T11" fmla="*/ 12 h 288"/>
                <a:gd name="T12" fmla="*/ 8 w 237"/>
                <a:gd name="T13" fmla="*/ 2 h 288"/>
                <a:gd name="T14" fmla="*/ 5 w 237"/>
                <a:gd name="T15" fmla="*/ 1 h 288"/>
                <a:gd name="T16" fmla="*/ 1 w 237"/>
                <a:gd name="T17" fmla="*/ 2 h 288"/>
                <a:gd name="T18" fmla="*/ 0 w 237"/>
                <a:gd name="T19" fmla="*/ 6 h 288"/>
                <a:gd name="T20" fmla="*/ 1 w 237"/>
                <a:gd name="T21" fmla="*/ 9 h 288"/>
                <a:gd name="T22" fmla="*/ 5 w 237"/>
                <a:gd name="T23" fmla="*/ 0 h 2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7"/>
                <a:gd name="T37" fmla="*/ 0 h 288"/>
                <a:gd name="T38" fmla="*/ 237 w 237"/>
                <a:gd name="T39" fmla="*/ 288 h 2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7" h="288">
                  <a:moveTo>
                    <a:pt x="5" y="0"/>
                  </a:moveTo>
                  <a:lnTo>
                    <a:pt x="1" y="9"/>
                  </a:lnTo>
                  <a:lnTo>
                    <a:pt x="230" y="288"/>
                  </a:lnTo>
                  <a:lnTo>
                    <a:pt x="237" y="281"/>
                  </a:lnTo>
                  <a:lnTo>
                    <a:pt x="8" y="2"/>
                  </a:lnTo>
                  <a:lnTo>
                    <a:pt x="5" y="12"/>
                  </a:lnTo>
                  <a:lnTo>
                    <a:pt x="8" y="2"/>
                  </a:lnTo>
                  <a:lnTo>
                    <a:pt x="5" y="1"/>
                  </a:lnTo>
                  <a:lnTo>
                    <a:pt x="1" y="2"/>
                  </a:lnTo>
                  <a:lnTo>
                    <a:pt x="0" y="6"/>
                  </a:lnTo>
                  <a:lnTo>
                    <a:pt x="1" y="9"/>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6" name="Freeform 35">
              <a:extLst>
                <a:ext uri="{FF2B5EF4-FFF2-40B4-BE49-F238E27FC236}">
                  <a16:creationId xmlns:a16="http://schemas.microsoft.com/office/drawing/2014/main" id="{2A3F33CC-586D-4F82-85DF-AD768597A4C6}"/>
                </a:ext>
              </a:extLst>
            </p:cNvPr>
            <p:cNvSpPr>
              <a:spLocks/>
            </p:cNvSpPr>
            <p:nvPr/>
          </p:nvSpPr>
          <p:spPr bwMode="auto">
            <a:xfrm>
              <a:off x="3499" y="2268"/>
              <a:ext cx="7" cy="12"/>
            </a:xfrm>
            <a:custGeom>
              <a:avLst/>
              <a:gdLst>
                <a:gd name="T0" fmla="*/ 2 w 7"/>
                <a:gd name="T1" fmla="*/ 11 h 12"/>
                <a:gd name="T2" fmla="*/ 1 w 7"/>
                <a:gd name="T3" fmla="*/ 0 h 12"/>
                <a:gd name="T4" fmla="*/ 0 w 7"/>
                <a:gd name="T5" fmla="*/ 0 h 12"/>
                <a:gd name="T6" fmla="*/ 0 w 7"/>
                <a:gd name="T7" fmla="*/ 12 h 12"/>
                <a:gd name="T8" fmla="*/ 1 w 7"/>
                <a:gd name="T9" fmla="*/ 12 h 12"/>
                <a:gd name="T10" fmla="*/ 0 w 7"/>
                <a:gd name="T11" fmla="*/ 1 h 12"/>
                <a:gd name="T12" fmla="*/ 1 w 7"/>
                <a:gd name="T13" fmla="*/ 12 h 12"/>
                <a:gd name="T14" fmla="*/ 5 w 7"/>
                <a:gd name="T15" fmla="*/ 9 h 12"/>
                <a:gd name="T16" fmla="*/ 7 w 7"/>
                <a:gd name="T17" fmla="*/ 6 h 12"/>
                <a:gd name="T18" fmla="*/ 5 w 7"/>
                <a:gd name="T19" fmla="*/ 2 h 12"/>
                <a:gd name="T20" fmla="*/ 1 w 7"/>
                <a:gd name="T21" fmla="*/ 0 h 12"/>
                <a:gd name="T22" fmla="*/ 2 w 7"/>
                <a:gd name="T23" fmla="*/ 11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12"/>
                <a:gd name="T38" fmla="*/ 7 w 7"/>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12">
                  <a:moveTo>
                    <a:pt x="2" y="11"/>
                  </a:moveTo>
                  <a:lnTo>
                    <a:pt x="1" y="0"/>
                  </a:lnTo>
                  <a:lnTo>
                    <a:pt x="0" y="0"/>
                  </a:lnTo>
                  <a:lnTo>
                    <a:pt x="0" y="12"/>
                  </a:lnTo>
                  <a:lnTo>
                    <a:pt x="1" y="12"/>
                  </a:lnTo>
                  <a:lnTo>
                    <a:pt x="0" y="1"/>
                  </a:lnTo>
                  <a:lnTo>
                    <a:pt x="1" y="12"/>
                  </a:lnTo>
                  <a:lnTo>
                    <a:pt x="5" y="9"/>
                  </a:lnTo>
                  <a:lnTo>
                    <a:pt x="7" y="6"/>
                  </a:lnTo>
                  <a:lnTo>
                    <a:pt x="5" y="2"/>
                  </a:lnTo>
                  <a:lnTo>
                    <a:pt x="1" y="0"/>
                  </a:lnTo>
                  <a:lnTo>
                    <a:pt x="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7" name="Freeform 36">
              <a:extLst>
                <a:ext uri="{FF2B5EF4-FFF2-40B4-BE49-F238E27FC236}">
                  <a16:creationId xmlns:a16="http://schemas.microsoft.com/office/drawing/2014/main" id="{6038E51C-8F60-47FB-A291-781D3CB6DA4A}"/>
                </a:ext>
              </a:extLst>
            </p:cNvPr>
            <p:cNvSpPr>
              <a:spLocks/>
            </p:cNvSpPr>
            <p:nvPr/>
          </p:nvSpPr>
          <p:spPr bwMode="auto">
            <a:xfrm>
              <a:off x="3378" y="2237"/>
              <a:ext cx="123" cy="48"/>
            </a:xfrm>
            <a:custGeom>
              <a:avLst/>
              <a:gdLst>
                <a:gd name="T0" fmla="*/ 0 w 123"/>
                <a:gd name="T1" fmla="*/ 7 h 48"/>
                <a:gd name="T2" fmla="*/ 0 w 123"/>
                <a:gd name="T3" fmla="*/ 7 h 48"/>
                <a:gd name="T4" fmla="*/ 13 w 123"/>
                <a:gd name="T5" fmla="*/ 19 h 48"/>
                <a:gd name="T6" fmla="*/ 26 w 123"/>
                <a:gd name="T7" fmla="*/ 31 h 48"/>
                <a:gd name="T8" fmla="*/ 42 w 123"/>
                <a:gd name="T9" fmla="*/ 38 h 48"/>
                <a:gd name="T10" fmla="*/ 57 w 123"/>
                <a:gd name="T11" fmla="*/ 43 h 48"/>
                <a:gd name="T12" fmla="*/ 74 w 123"/>
                <a:gd name="T13" fmla="*/ 47 h 48"/>
                <a:gd name="T14" fmla="*/ 90 w 123"/>
                <a:gd name="T15" fmla="*/ 48 h 48"/>
                <a:gd name="T16" fmla="*/ 106 w 123"/>
                <a:gd name="T17" fmla="*/ 45 h 48"/>
                <a:gd name="T18" fmla="*/ 123 w 123"/>
                <a:gd name="T19" fmla="*/ 42 h 48"/>
                <a:gd name="T20" fmla="*/ 121 w 123"/>
                <a:gd name="T21" fmla="*/ 32 h 48"/>
                <a:gd name="T22" fmla="*/ 106 w 123"/>
                <a:gd name="T23" fmla="*/ 35 h 48"/>
                <a:gd name="T24" fmla="*/ 90 w 123"/>
                <a:gd name="T25" fmla="*/ 35 h 48"/>
                <a:gd name="T26" fmla="*/ 74 w 123"/>
                <a:gd name="T27" fmla="*/ 37 h 48"/>
                <a:gd name="T28" fmla="*/ 59 w 123"/>
                <a:gd name="T29" fmla="*/ 33 h 48"/>
                <a:gd name="T30" fmla="*/ 45 w 123"/>
                <a:gd name="T31" fmla="*/ 28 h 48"/>
                <a:gd name="T32" fmla="*/ 31 w 123"/>
                <a:gd name="T33" fmla="*/ 21 h 48"/>
                <a:gd name="T34" fmla="*/ 20 w 123"/>
                <a:gd name="T35" fmla="*/ 12 h 48"/>
                <a:gd name="T36" fmla="*/ 8 w 123"/>
                <a:gd name="T37" fmla="*/ 0 h 48"/>
                <a:gd name="T38" fmla="*/ 8 w 123"/>
                <a:gd name="T39" fmla="*/ 0 h 48"/>
                <a:gd name="T40" fmla="*/ 0 w 123"/>
                <a:gd name="T41" fmla="*/ 7 h 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3"/>
                <a:gd name="T64" fmla="*/ 0 h 48"/>
                <a:gd name="T65" fmla="*/ 123 w 123"/>
                <a:gd name="T66" fmla="*/ 48 h 4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3" h="48">
                  <a:moveTo>
                    <a:pt x="0" y="7"/>
                  </a:moveTo>
                  <a:lnTo>
                    <a:pt x="0" y="7"/>
                  </a:lnTo>
                  <a:lnTo>
                    <a:pt x="13" y="19"/>
                  </a:lnTo>
                  <a:lnTo>
                    <a:pt x="26" y="31"/>
                  </a:lnTo>
                  <a:lnTo>
                    <a:pt x="42" y="38"/>
                  </a:lnTo>
                  <a:lnTo>
                    <a:pt x="57" y="43"/>
                  </a:lnTo>
                  <a:lnTo>
                    <a:pt x="74" y="47"/>
                  </a:lnTo>
                  <a:lnTo>
                    <a:pt x="90" y="48"/>
                  </a:lnTo>
                  <a:lnTo>
                    <a:pt x="106" y="45"/>
                  </a:lnTo>
                  <a:lnTo>
                    <a:pt x="123" y="42"/>
                  </a:lnTo>
                  <a:lnTo>
                    <a:pt x="121" y="32"/>
                  </a:lnTo>
                  <a:lnTo>
                    <a:pt x="106" y="35"/>
                  </a:lnTo>
                  <a:lnTo>
                    <a:pt x="90" y="35"/>
                  </a:lnTo>
                  <a:lnTo>
                    <a:pt x="74" y="37"/>
                  </a:lnTo>
                  <a:lnTo>
                    <a:pt x="59" y="33"/>
                  </a:lnTo>
                  <a:lnTo>
                    <a:pt x="45" y="28"/>
                  </a:lnTo>
                  <a:lnTo>
                    <a:pt x="31" y="21"/>
                  </a:lnTo>
                  <a:lnTo>
                    <a:pt x="20" y="12"/>
                  </a:lnTo>
                  <a:lnTo>
                    <a:pt x="8" y="0"/>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8" name="Freeform 37">
              <a:extLst>
                <a:ext uri="{FF2B5EF4-FFF2-40B4-BE49-F238E27FC236}">
                  <a16:creationId xmlns:a16="http://schemas.microsoft.com/office/drawing/2014/main" id="{CBBF0668-C5A9-463F-AFB1-36E9ABBCEAB2}"/>
                </a:ext>
              </a:extLst>
            </p:cNvPr>
            <p:cNvSpPr>
              <a:spLocks/>
            </p:cNvSpPr>
            <p:nvPr/>
          </p:nvSpPr>
          <p:spPr bwMode="auto">
            <a:xfrm>
              <a:off x="3351" y="2113"/>
              <a:ext cx="35" cy="131"/>
            </a:xfrm>
            <a:custGeom>
              <a:avLst/>
              <a:gdLst>
                <a:gd name="T0" fmla="*/ 15 w 35"/>
                <a:gd name="T1" fmla="*/ 0 h 131"/>
                <a:gd name="T2" fmla="*/ 10 w 35"/>
                <a:gd name="T3" fmla="*/ 3 h 131"/>
                <a:gd name="T4" fmla="*/ 0 w 35"/>
                <a:gd name="T5" fmla="*/ 35 h 131"/>
                <a:gd name="T6" fmla="*/ 0 w 35"/>
                <a:gd name="T7" fmla="*/ 67 h 131"/>
                <a:gd name="T8" fmla="*/ 9 w 35"/>
                <a:gd name="T9" fmla="*/ 100 h 131"/>
                <a:gd name="T10" fmla="*/ 27 w 35"/>
                <a:gd name="T11" fmla="*/ 131 h 131"/>
                <a:gd name="T12" fmla="*/ 35 w 35"/>
                <a:gd name="T13" fmla="*/ 124 h 131"/>
                <a:gd name="T14" fmla="*/ 19 w 35"/>
                <a:gd name="T15" fmla="*/ 98 h 131"/>
                <a:gd name="T16" fmla="*/ 10 w 35"/>
                <a:gd name="T17" fmla="*/ 67 h 131"/>
                <a:gd name="T18" fmla="*/ 10 w 35"/>
                <a:gd name="T19" fmla="*/ 35 h 131"/>
                <a:gd name="T20" fmla="*/ 20 w 35"/>
                <a:gd name="T21" fmla="*/ 8 h 131"/>
                <a:gd name="T22" fmla="*/ 15 w 35"/>
                <a:gd name="T23" fmla="*/ 12 h 131"/>
                <a:gd name="T24" fmla="*/ 20 w 35"/>
                <a:gd name="T25" fmla="*/ 8 h 131"/>
                <a:gd name="T26" fmla="*/ 20 w 35"/>
                <a:gd name="T27" fmla="*/ 5 h 131"/>
                <a:gd name="T28" fmla="*/ 17 w 35"/>
                <a:gd name="T29" fmla="*/ 1 h 131"/>
                <a:gd name="T30" fmla="*/ 13 w 35"/>
                <a:gd name="T31" fmla="*/ 1 h 131"/>
                <a:gd name="T32" fmla="*/ 10 w 35"/>
                <a:gd name="T33" fmla="*/ 3 h 131"/>
                <a:gd name="T34" fmla="*/ 15 w 35"/>
                <a:gd name="T35" fmla="*/ 0 h 1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5"/>
                <a:gd name="T55" fmla="*/ 0 h 131"/>
                <a:gd name="T56" fmla="*/ 35 w 35"/>
                <a:gd name="T57" fmla="*/ 131 h 1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5" h="131">
                  <a:moveTo>
                    <a:pt x="15" y="0"/>
                  </a:moveTo>
                  <a:lnTo>
                    <a:pt x="10" y="3"/>
                  </a:lnTo>
                  <a:lnTo>
                    <a:pt x="0" y="35"/>
                  </a:lnTo>
                  <a:lnTo>
                    <a:pt x="0" y="67"/>
                  </a:lnTo>
                  <a:lnTo>
                    <a:pt x="9" y="100"/>
                  </a:lnTo>
                  <a:lnTo>
                    <a:pt x="27" y="131"/>
                  </a:lnTo>
                  <a:lnTo>
                    <a:pt x="35" y="124"/>
                  </a:lnTo>
                  <a:lnTo>
                    <a:pt x="19" y="98"/>
                  </a:lnTo>
                  <a:lnTo>
                    <a:pt x="10" y="67"/>
                  </a:lnTo>
                  <a:lnTo>
                    <a:pt x="10" y="35"/>
                  </a:lnTo>
                  <a:lnTo>
                    <a:pt x="20" y="8"/>
                  </a:lnTo>
                  <a:lnTo>
                    <a:pt x="15" y="12"/>
                  </a:lnTo>
                  <a:lnTo>
                    <a:pt x="20" y="8"/>
                  </a:lnTo>
                  <a:lnTo>
                    <a:pt x="20" y="5"/>
                  </a:lnTo>
                  <a:lnTo>
                    <a:pt x="17" y="1"/>
                  </a:lnTo>
                  <a:lnTo>
                    <a:pt x="13" y="1"/>
                  </a:lnTo>
                  <a:lnTo>
                    <a:pt x="10" y="3"/>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69" name="Freeform 38">
              <a:extLst>
                <a:ext uri="{FF2B5EF4-FFF2-40B4-BE49-F238E27FC236}">
                  <a16:creationId xmlns:a16="http://schemas.microsoft.com/office/drawing/2014/main" id="{AB99F5F1-7F03-4C0D-B64C-352C41D93AFB}"/>
                </a:ext>
              </a:extLst>
            </p:cNvPr>
            <p:cNvSpPr>
              <a:spLocks/>
            </p:cNvSpPr>
            <p:nvPr/>
          </p:nvSpPr>
          <p:spPr bwMode="auto">
            <a:xfrm>
              <a:off x="3364" y="2113"/>
              <a:ext cx="9" cy="12"/>
            </a:xfrm>
            <a:custGeom>
              <a:avLst/>
              <a:gdLst>
                <a:gd name="T0" fmla="*/ 7 w 9"/>
                <a:gd name="T1" fmla="*/ 2 h 12"/>
                <a:gd name="T2" fmla="*/ 3 w 9"/>
                <a:gd name="T3" fmla="*/ 0 h 12"/>
                <a:gd name="T4" fmla="*/ 2 w 9"/>
                <a:gd name="T5" fmla="*/ 0 h 12"/>
                <a:gd name="T6" fmla="*/ 2 w 9"/>
                <a:gd name="T7" fmla="*/ 12 h 12"/>
                <a:gd name="T8" fmla="*/ 3 w 9"/>
                <a:gd name="T9" fmla="*/ 12 h 12"/>
                <a:gd name="T10" fmla="*/ 0 w 9"/>
                <a:gd name="T11" fmla="*/ 10 h 12"/>
                <a:gd name="T12" fmla="*/ 3 w 9"/>
                <a:gd name="T13" fmla="*/ 12 h 12"/>
                <a:gd name="T14" fmla="*/ 7 w 9"/>
                <a:gd name="T15" fmla="*/ 10 h 12"/>
                <a:gd name="T16" fmla="*/ 9 w 9"/>
                <a:gd name="T17" fmla="*/ 6 h 12"/>
                <a:gd name="T18" fmla="*/ 7 w 9"/>
                <a:gd name="T19" fmla="*/ 2 h 12"/>
                <a:gd name="T20" fmla="*/ 3 w 9"/>
                <a:gd name="T21" fmla="*/ 0 h 12"/>
                <a:gd name="T22" fmla="*/ 7 w 9"/>
                <a:gd name="T23" fmla="*/ 2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
                <a:gd name="T37" fmla="*/ 0 h 12"/>
                <a:gd name="T38" fmla="*/ 9 w 9"/>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 h="12">
                  <a:moveTo>
                    <a:pt x="7" y="2"/>
                  </a:moveTo>
                  <a:lnTo>
                    <a:pt x="3" y="0"/>
                  </a:lnTo>
                  <a:lnTo>
                    <a:pt x="2" y="0"/>
                  </a:lnTo>
                  <a:lnTo>
                    <a:pt x="2" y="12"/>
                  </a:lnTo>
                  <a:lnTo>
                    <a:pt x="3" y="12"/>
                  </a:lnTo>
                  <a:lnTo>
                    <a:pt x="0" y="10"/>
                  </a:lnTo>
                  <a:lnTo>
                    <a:pt x="3" y="12"/>
                  </a:lnTo>
                  <a:lnTo>
                    <a:pt x="7" y="10"/>
                  </a:lnTo>
                  <a:lnTo>
                    <a:pt x="9" y="6"/>
                  </a:lnTo>
                  <a:lnTo>
                    <a:pt x="7" y="2"/>
                  </a:lnTo>
                  <a:lnTo>
                    <a:pt x="3" y="0"/>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0" name="Freeform 39">
              <a:extLst>
                <a:ext uri="{FF2B5EF4-FFF2-40B4-BE49-F238E27FC236}">
                  <a16:creationId xmlns:a16="http://schemas.microsoft.com/office/drawing/2014/main" id="{6812A270-FC2B-4C24-B655-639F419A2358}"/>
                </a:ext>
              </a:extLst>
            </p:cNvPr>
            <p:cNvSpPr>
              <a:spLocks/>
            </p:cNvSpPr>
            <p:nvPr/>
          </p:nvSpPr>
          <p:spPr bwMode="auto">
            <a:xfrm>
              <a:off x="3364" y="2115"/>
              <a:ext cx="78" cy="91"/>
            </a:xfrm>
            <a:custGeom>
              <a:avLst/>
              <a:gdLst>
                <a:gd name="T0" fmla="*/ 73 w 78"/>
                <a:gd name="T1" fmla="*/ 81 h 91"/>
                <a:gd name="T2" fmla="*/ 77 w 78"/>
                <a:gd name="T3" fmla="*/ 83 h 91"/>
                <a:gd name="T4" fmla="*/ 7 w 78"/>
                <a:gd name="T5" fmla="*/ 0 h 91"/>
                <a:gd name="T6" fmla="*/ 0 w 78"/>
                <a:gd name="T7" fmla="*/ 8 h 91"/>
                <a:gd name="T8" fmla="*/ 70 w 78"/>
                <a:gd name="T9" fmla="*/ 90 h 91"/>
                <a:gd name="T10" fmla="*/ 73 w 78"/>
                <a:gd name="T11" fmla="*/ 91 h 91"/>
                <a:gd name="T12" fmla="*/ 70 w 78"/>
                <a:gd name="T13" fmla="*/ 90 h 91"/>
                <a:gd name="T14" fmla="*/ 73 w 78"/>
                <a:gd name="T15" fmla="*/ 91 h 91"/>
                <a:gd name="T16" fmla="*/ 77 w 78"/>
                <a:gd name="T17" fmla="*/ 90 h 91"/>
                <a:gd name="T18" fmla="*/ 78 w 78"/>
                <a:gd name="T19" fmla="*/ 86 h 91"/>
                <a:gd name="T20" fmla="*/ 77 w 78"/>
                <a:gd name="T21" fmla="*/ 83 h 91"/>
                <a:gd name="T22" fmla="*/ 73 w 78"/>
                <a:gd name="T23" fmla="*/ 81 h 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91"/>
                <a:gd name="T38" fmla="*/ 78 w 78"/>
                <a:gd name="T39" fmla="*/ 91 h 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91">
                  <a:moveTo>
                    <a:pt x="73" y="81"/>
                  </a:moveTo>
                  <a:lnTo>
                    <a:pt x="77" y="83"/>
                  </a:lnTo>
                  <a:lnTo>
                    <a:pt x="7" y="0"/>
                  </a:lnTo>
                  <a:lnTo>
                    <a:pt x="0" y="8"/>
                  </a:lnTo>
                  <a:lnTo>
                    <a:pt x="70" y="90"/>
                  </a:lnTo>
                  <a:lnTo>
                    <a:pt x="73" y="91"/>
                  </a:lnTo>
                  <a:lnTo>
                    <a:pt x="70" y="90"/>
                  </a:lnTo>
                  <a:lnTo>
                    <a:pt x="73" y="91"/>
                  </a:lnTo>
                  <a:lnTo>
                    <a:pt x="77" y="90"/>
                  </a:lnTo>
                  <a:lnTo>
                    <a:pt x="78" y="86"/>
                  </a:lnTo>
                  <a:lnTo>
                    <a:pt x="77" y="83"/>
                  </a:lnTo>
                  <a:lnTo>
                    <a:pt x="73"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1" name="Freeform 40">
              <a:extLst>
                <a:ext uri="{FF2B5EF4-FFF2-40B4-BE49-F238E27FC236}">
                  <a16:creationId xmlns:a16="http://schemas.microsoft.com/office/drawing/2014/main" id="{840C0EDF-1402-44C4-9293-890814B92485}"/>
                </a:ext>
              </a:extLst>
            </p:cNvPr>
            <p:cNvSpPr>
              <a:spLocks/>
            </p:cNvSpPr>
            <p:nvPr/>
          </p:nvSpPr>
          <p:spPr bwMode="auto">
            <a:xfrm>
              <a:off x="3437" y="2194"/>
              <a:ext cx="62" cy="12"/>
            </a:xfrm>
            <a:custGeom>
              <a:avLst/>
              <a:gdLst>
                <a:gd name="T0" fmla="*/ 52 w 62"/>
                <a:gd name="T1" fmla="*/ 4 h 12"/>
                <a:gd name="T2" fmla="*/ 57 w 62"/>
                <a:gd name="T3" fmla="*/ 0 h 12"/>
                <a:gd name="T4" fmla="*/ 0 w 62"/>
                <a:gd name="T5" fmla="*/ 2 h 12"/>
                <a:gd name="T6" fmla="*/ 0 w 62"/>
                <a:gd name="T7" fmla="*/ 12 h 12"/>
                <a:gd name="T8" fmla="*/ 57 w 62"/>
                <a:gd name="T9" fmla="*/ 10 h 12"/>
                <a:gd name="T10" fmla="*/ 62 w 62"/>
                <a:gd name="T11" fmla="*/ 6 h 12"/>
                <a:gd name="T12" fmla="*/ 57 w 62"/>
                <a:gd name="T13" fmla="*/ 10 h 12"/>
                <a:gd name="T14" fmla="*/ 61 w 62"/>
                <a:gd name="T15" fmla="*/ 8 h 12"/>
                <a:gd name="T16" fmla="*/ 62 w 62"/>
                <a:gd name="T17" fmla="*/ 5 h 12"/>
                <a:gd name="T18" fmla="*/ 61 w 62"/>
                <a:gd name="T19" fmla="*/ 1 h 12"/>
                <a:gd name="T20" fmla="*/ 57 w 62"/>
                <a:gd name="T21" fmla="*/ 0 h 12"/>
                <a:gd name="T22" fmla="*/ 52 w 62"/>
                <a:gd name="T23" fmla="*/ 4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12"/>
                <a:gd name="T38" fmla="*/ 62 w 62"/>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12">
                  <a:moveTo>
                    <a:pt x="52" y="4"/>
                  </a:moveTo>
                  <a:lnTo>
                    <a:pt x="57" y="0"/>
                  </a:lnTo>
                  <a:lnTo>
                    <a:pt x="0" y="2"/>
                  </a:lnTo>
                  <a:lnTo>
                    <a:pt x="0" y="12"/>
                  </a:lnTo>
                  <a:lnTo>
                    <a:pt x="57" y="10"/>
                  </a:lnTo>
                  <a:lnTo>
                    <a:pt x="62" y="6"/>
                  </a:lnTo>
                  <a:lnTo>
                    <a:pt x="57" y="10"/>
                  </a:lnTo>
                  <a:lnTo>
                    <a:pt x="61" y="8"/>
                  </a:lnTo>
                  <a:lnTo>
                    <a:pt x="62" y="5"/>
                  </a:lnTo>
                  <a:lnTo>
                    <a:pt x="61" y="1"/>
                  </a:lnTo>
                  <a:lnTo>
                    <a:pt x="57" y="0"/>
                  </a:lnTo>
                  <a:lnTo>
                    <a:pt x="5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2" name="Freeform 41">
              <a:extLst>
                <a:ext uri="{FF2B5EF4-FFF2-40B4-BE49-F238E27FC236}">
                  <a16:creationId xmlns:a16="http://schemas.microsoft.com/office/drawing/2014/main" id="{32F17201-E805-41B5-8986-A73E585D7CEF}"/>
                </a:ext>
              </a:extLst>
            </p:cNvPr>
            <p:cNvSpPr>
              <a:spLocks/>
            </p:cNvSpPr>
            <p:nvPr/>
          </p:nvSpPr>
          <p:spPr bwMode="auto">
            <a:xfrm>
              <a:off x="3489" y="2141"/>
              <a:ext cx="22" cy="59"/>
            </a:xfrm>
            <a:custGeom>
              <a:avLst/>
              <a:gdLst>
                <a:gd name="T0" fmla="*/ 13 w 22"/>
                <a:gd name="T1" fmla="*/ 9 h 59"/>
                <a:gd name="T2" fmla="*/ 12 w 22"/>
                <a:gd name="T3" fmla="*/ 4 h 59"/>
                <a:gd name="T4" fmla="*/ 0 w 22"/>
                <a:gd name="T5" fmla="*/ 57 h 59"/>
                <a:gd name="T6" fmla="*/ 10 w 22"/>
                <a:gd name="T7" fmla="*/ 59 h 59"/>
                <a:gd name="T8" fmla="*/ 22 w 22"/>
                <a:gd name="T9" fmla="*/ 6 h 59"/>
                <a:gd name="T10" fmla="*/ 21 w 22"/>
                <a:gd name="T11" fmla="*/ 1 h 59"/>
                <a:gd name="T12" fmla="*/ 22 w 22"/>
                <a:gd name="T13" fmla="*/ 6 h 59"/>
                <a:gd name="T14" fmla="*/ 21 w 22"/>
                <a:gd name="T15" fmla="*/ 2 h 59"/>
                <a:gd name="T16" fmla="*/ 18 w 22"/>
                <a:gd name="T17" fmla="*/ 0 h 59"/>
                <a:gd name="T18" fmla="*/ 15 w 22"/>
                <a:gd name="T19" fmla="*/ 0 h 59"/>
                <a:gd name="T20" fmla="*/ 12 w 22"/>
                <a:gd name="T21" fmla="*/ 4 h 59"/>
                <a:gd name="T22" fmla="*/ 13 w 22"/>
                <a:gd name="T23" fmla="*/ 9 h 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9"/>
                <a:gd name="T38" fmla="*/ 22 w 22"/>
                <a:gd name="T39" fmla="*/ 59 h 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9">
                  <a:moveTo>
                    <a:pt x="13" y="9"/>
                  </a:moveTo>
                  <a:lnTo>
                    <a:pt x="12" y="4"/>
                  </a:lnTo>
                  <a:lnTo>
                    <a:pt x="0" y="57"/>
                  </a:lnTo>
                  <a:lnTo>
                    <a:pt x="10" y="59"/>
                  </a:lnTo>
                  <a:lnTo>
                    <a:pt x="22" y="6"/>
                  </a:lnTo>
                  <a:lnTo>
                    <a:pt x="21" y="1"/>
                  </a:lnTo>
                  <a:lnTo>
                    <a:pt x="22" y="6"/>
                  </a:lnTo>
                  <a:lnTo>
                    <a:pt x="21" y="2"/>
                  </a:lnTo>
                  <a:lnTo>
                    <a:pt x="18" y="0"/>
                  </a:lnTo>
                  <a:lnTo>
                    <a:pt x="15" y="0"/>
                  </a:lnTo>
                  <a:lnTo>
                    <a:pt x="12" y="4"/>
                  </a:lnTo>
                  <a:lnTo>
                    <a:pt x="1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3" name="Freeform 42">
              <a:extLst>
                <a:ext uri="{FF2B5EF4-FFF2-40B4-BE49-F238E27FC236}">
                  <a16:creationId xmlns:a16="http://schemas.microsoft.com/office/drawing/2014/main" id="{FDDBCBBE-BE49-4DC7-9254-CB9B9FC3ABDC}"/>
                </a:ext>
              </a:extLst>
            </p:cNvPr>
            <p:cNvSpPr>
              <a:spLocks/>
            </p:cNvSpPr>
            <p:nvPr/>
          </p:nvSpPr>
          <p:spPr bwMode="auto">
            <a:xfrm>
              <a:off x="3429" y="2056"/>
              <a:ext cx="81" cy="94"/>
            </a:xfrm>
            <a:custGeom>
              <a:avLst/>
              <a:gdLst>
                <a:gd name="T0" fmla="*/ 3 w 81"/>
                <a:gd name="T1" fmla="*/ 0 h 94"/>
                <a:gd name="T2" fmla="*/ 1 w 81"/>
                <a:gd name="T3" fmla="*/ 9 h 94"/>
                <a:gd name="T4" fmla="*/ 73 w 81"/>
                <a:gd name="T5" fmla="*/ 94 h 94"/>
                <a:gd name="T6" fmla="*/ 81 w 81"/>
                <a:gd name="T7" fmla="*/ 86 h 94"/>
                <a:gd name="T8" fmla="*/ 8 w 81"/>
                <a:gd name="T9" fmla="*/ 1 h 94"/>
                <a:gd name="T10" fmla="*/ 6 w 81"/>
                <a:gd name="T11" fmla="*/ 10 h 94"/>
                <a:gd name="T12" fmla="*/ 8 w 81"/>
                <a:gd name="T13" fmla="*/ 1 h 94"/>
                <a:gd name="T14" fmla="*/ 5 w 81"/>
                <a:gd name="T15" fmla="*/ 0 h 94"/>
                <a:gd name="T16" fmla="*/ 1 w 81"/>
                <a:gd name="T17" fmla="*/ 1 h 94"/>
                <a:gd name="T18" fmla="*/ 0 w 81"/>
                <a:gd name="T19" fmla="*/ 5 h 94"/>
                <a:gd name="T20" fmla="*/ 1 w 81"/>
                <a:gd name="T21" fmla="*/ 9 h 94"/>
                <a:gd name="T22" fmla="*/ 3 w 81"/>
                <a:gd name="T23" fmla="*/ 0 h 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1"/>
                <a:gd name="T37" fmla="*/ 0 h 94"/>
                <a:gd name="T38" fmla="*/ 81 w 81"/>
                <a:gd name="T39" fmla="*/ 94 h 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1" h="94">
                  <a:moveTo>
                    <a:pt x="3" y="0"/>
                  </a:moveTo>
                  <a:lnTo>
                    <a:pt x="1" y="9"/>
                  </a:lnTo>
                  <a:lnTo>
                    <a:pt x="73" y="94"/>
                  </a:lnTo>
                  <a:lnTo>
                    <a:pt x="81" y="86"/>
                  </a:lnTo>
                  <a:lnTo>
                    <a:pt x="8" y="1"/>
                  </a:lnTo>
                  <a:lnTo>
                    <a:pt x="6" y="10"/>
                  </a:lnTo>
                  <a:lnTo>
                    <a:pt x="8" y="1"/>
                  </a:lnTo>
                  <a:lnTo>
                    <a:pt x="5" y="0"/>
                  </a:lnTo>
                  <a:lnTo>
                    <a:pt x="1" y="1"/>
                  </a:lnTo>
                  <a:lnTo>
                    <a:pt x="0" y="5"/>
                  </a:lnTo>
                  <a:lnTo>
                    <a:pt x="1" y="9"/>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4" name="Freeform 43">
              <a:extLst>
                <a:ext uri="{FF2B5EF4-FFF2-40B4-BE49-F238E27FC236}">
                  <a16:creationId xmlns:a16="http://schemas.microsoft.com/office/drawing/2014/main" id="{3A91FB25-8521-4B46-BAC6-5316AA9CF8A5}"/>
                </a:ext>
              </a:extLst>
            </p:cNvPr>
            <p:cNvSpPr>
              <a:spLocks/>
            </p:cNvSpPr>
            <p:nvPr/>
          </p:nvSpPr>
          <p:spPr bwMode="auto">
            <a:xfrm>
              <a:off x="3529" y="2191"/>
              <a:ext cx="297" cy="287"/>
            </a:xfrm>
            <a:custGeom>
              <a:avLst/>
              <a:gdLst>
                <a:gd name="T0" fmla="*/ 147 w 297"/>
                <a:gd name="T1" fmla="*/ 0 h 287"/>
                <a:gd name="T2" fmla="*/ 99 w 297"/>
                <a:gd name="T3" fmla="*/ 47 h 287"/>
                <a:gd name="T4" fmla="*/ 61 w 297"/>
                <a:gd name="T5" fmla="*/ 88 h 287"/>
                <a:gd name="T6" fmla="*/ 31 w 297"/>
                <a:gd name="T7" fmla="*/ 122 h 287"/>
                <a:gd name="T8" fmla="*/ 13 w 297"/>
                <a:gd name="T9" fmla="*/ 153 h 287"/>
                <a:gd name="T10" fmla="*/ 2 w 297"/>
                <a:gd name="T11" fmla="*/ 180 h 287"/>
                <a:gd name="T12" fmla="*/ 0 w 297"/>
                <a:gd name="T13" fmla="*/ 206 h 287"/>
                <a:gd name="T14" fmla="*/ 8 w 297"/>
                <a:gd name="T15" fmla="*/ 230 h 287"/>
                <a:gd name="T16" fmla="*/ 25 w 297"/>
                <a:gd name="T17" fmla="*/ 255 h 287"/>
                <a:gd name="T18" fmla="*/ 36 w 297"/>
                <a:gd name="T19" fmla="*/ 266 h 287"/>
                <a:gd name="T20" fmla="*/ 48 w 297"/>
                <a:gd name="T21" fmla="*/ 274 h 287"/>
                <a:gd name="T22" fmla="*/ 62 w 297"/>
                <a:gd name="T23" fmla="*/ 282 h 287"/>
                <a:gd name="T24" fmla="*/ 77 w 297"/>
                <a:gd name="T25" fmla="*/ 285 h 287"/>
                <a:gd name="T26" fmla="*/ 93 w 297"/>
                <a:gd name="T27" fmla="*/ 287 h 287"/>
                <a:gd name="T28" fmla="*/ 109 w 297"/>
                <a:gd name="T29" fmla="*/ 287 h 287"/>
                <a:gd name="T30" fmla="*/ 125 w 297"/>
                <a:gd name="T31" fmla="*/ 284 h 287"/>
                <a:gd name="T32" fmla="*/ 143 w 297"/>
                <a:gd name="T33" fmla="*/ 278 h 287"/>
                <a:gd name="T34" fmla="*/ 160 w 297"/>
                <a:gd name="T35" fmla="*/ 271 h 287"/>
                <a:gd name="T36" fmla="*/ 179 w 297"/>
                <a:gd name="T37" fmla="*/ 261 h 287"/>
                <a:gd name="T38" fmla="*/ 198 w 297"/>
                <a:gd name="T39" fmla="*/ 249 h 287"/>
                <a:gd name="T40" fmla="*/ 217 w 297"/>
                <a:gd name="T41" fmla="*/ 234 h 287"/>
                <a:gd name="T42" fmla="*/ 237 w 297"/>
                <a:gd name="T43" fmla="*/ 217 h 287"/>
                <a:gd name="T44" fmla="*/ 256 w 297"/>
                <a:gd name="T45" fmla="*/ 198 h 287"/>
                <a:gd name="T46" fmla="*/ 277 w 297"/>
                <a:gd name="T47" fmla="*/ 176 h 287"/>
                <a:gd name="T48" fmla="*/ 297 w 297"/>
                <a:gd name="T49" fmla="*/ 153 h 287"/>
                <a:gd name="T50" fmla="*/ 147 w 297"/>
                <a:gd name="T51" fmla="*/ 0 h 28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97"/>
                <a:gd name="T79" fmla="*/ 0 h 287"/>
                <a:gd name="T80" fmla="*/ 297 w 297"/>
                <a:gd name="T81" fmla="*/ 287 h 28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97" h="287">
                  <a:moveTo>
                    <a:pt x="147" y="0"/>
                  </a:moveTo>
                  <a:lnTo>
                    <a:pt x="99" y="47"/>
                  </a:lnTo>
                  <a:lnTo>
                    <a:pt x="61" y="88"/>
                  </a:lnTo>
                  <a:lnTo>
                    <a:pt x="31" y="122"/>
                  </a:lnTo>
                  <a:lnTo>
                    <a:pt x="13" y="153"/>
                  </a:lnTo>
                  <a:lnTo>
                    <a:pt x="2" y="180"/>
                  </a:lnTo>
                  <a:lnTo>
                    <a:pt x="0" y="206"/>
                  </a:lnTo>
                  <a:lnTo>
                    <a:pt x="8" y="230"/>
                  </a:lnTo>
                  <a:lnTo>
                    <a:pt x="25" y="255"/>
                  </a:lnTo>
                  <a:lnTo>
                    <a:pt x="36" y="266"/>
                  </a:lnTo>
                  <a:lnTo>
                    <a:pt x="48" y="274"/>
                  </a:lnTo>
                  <a:lnTo>
                    <a:pt x="62" y="282"/>
                  </a:lnTo>
                  <a:lnTo>
                    <a:pt x="77" y="285"/>
                  </a:lnTo>
                  <a:lnTo>
                    <a:pt x="93" y="287"/>
                  </a:lnTo>
                  <a:lnTo>
                    <a:pt x="109" y="287"/>
                  </a:lnTo>
                  <a:lnTo>
                    <a:pt x="125" y="284"/>
                  </a:lnTo>
                  <a:lnTo>
                    <a:pt x="143" y="278"/>
                  </a:lnTo>
                  <a:lnTo>
                    <a:pt x="160" y="271"/>
                  </a:lnTo>
                  <a:lnTo>
                    <a:pt x="179" y="261"/>
                  </a:lnTo>
                  <a:lnTo>
                    <a:pt x="198" y="249"/>
                  </a:lnTo>
                  <a:lnTo>
                    <a:pt x="217" y="234"/>
                  </a:lnTo>
                  <a:lnTo>
                    <a:pt x="237" y="217"/>
                  </a:lnTo>
                  <a:lnTo>
                    <a:pt x="256" y="198"/>
                  </a:lnTo>
                  <a:lnTo>
                    <a:pt x="277" y="176"/>
                  </a:lnTo>
                  <a:lnTo>
                    <a:pt x="297" y="153"/>
                  </a:lnTo>
                  <a:lnTo>
                    <a:pt x="1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5" name="Freeform 44">
              <a:extLst>
                <a:ext uri="{FF2B5EF4-FFF2-40B4-BE49-F238E27FC236}">
                  <a16:creationId xmlns:a16="http://schemas.microsoft.com/office/drawing/2014/main" id="{08C51AB5-D7FA-45E8-BE5A-7883FDAFFD63}"/>
                </a:ext>
              </a:extLst>
            </p:cNvPr>
            <p:cNvSpPr>
              <a:spLocks/>
            </p:cNvSpPr>
            <p:nvPr/>
          </p:nvSpPr>
          <p:spPr bwMode="auto">
            <a:xfrm>
              <a:off x="3525" y="2188"/>
              <a:ext cx="154" cy="261"/>
            </a:xfrm>
            <a:custGeom>
              <a:avLst/>
              <a:gdLst>
                <a:gd name="T0" fmla="*/ 33 w 154"/>
                <a:gd name="T1" fmla="*/ 254 h 261"/>
                <a:gd name="T2" fmla="*/ 33 w 154"/>
                <a:gd name="T3" fmla="*/ 254 h 261"/>
                <a:gd name="T4" fmla="*/ 17 w 154"/>
                <a:gd name="T5" fmla="*/ 231 h 261"/>
                <a:gd name="T6" fmla="*/ 9 w 154"/>
                <a:gd name="T7" fmla="*/ 209 h 261"/>
                <a:gd name="T8" fmla="*/ 11 w 154"/>
                <a:gd name="T9" fmla="*/ 184 h 261"/>
                <a:gd name="T10" fmla="*/ 22 w 154"/>
                <a:gd name="T11" fmla="*/ 158 h 261"/>
                <a:gd name="T12" fmla="*/ 40 w 154"/>
                <a:gd name="T13" fmla="*/ 127 h 261"/>
                <a:gd name="T14" fmla="*/ 68 w 154"/>
                <a:gd name="T15" fmla="*/ 94 h 261"/>
                <a:gd name="T16" fmla="*/ 107 w 154"/>
                <a:gd name="T17" fmla="*/ 54 h 261"/>
                <a:gd name="T18" fmla="*/ 154 w 154"/>
                <a:gd name="T19" fmla="*/ 7 h 261"/>
                <a:gd name="T20" fmla="*/ 147 w 154"/>
                <a:gd name="T21" fmla="*/ 0 h 261"/>
                <a:gd name="T22" fmla="*/ 99 w 154"/>
                <a:gd name="T23" fmla="*/ 46 h 261"/>
                <a:gd name="T24" fmla="*/ 61 w 154"/>
                <a:gd name="T25" fmla="*/ 87 h 261"/>
                <a:gd name="T26" fmla="*/ 30 w 154"/>
                <a:gd name="T27" fmla="*/ 123 h 261"/>
                <a:gd name="T28" fmla="*/ 12 w 154"/>
                <a:gd name="T29" fmla="*/ 153 h 261"/>
                <a:gd name="T30" fmla="*/ 1 w 154"/>
                <a:gd name="T31" fmla="*/ 182 h 261"/>
                <a:gd name="T32" fmla="*/ 0 w 154"/>
                <a:gd name="T33" fmla="*/ 209 h 261"/>
                <a:gd name="T34" fmla="*/ 7 w 154"/>
                <a:gd name="T35" fmla="*/ 236 h 261"/>
                <a:gd name="T36" fmla="*/ 25 w 154"/>
                <a:gd name="T37" fmla="*/ 261 h 261"/>
                <a:gd name="T38" fmla="*/ 25 w 154"/>
                <a:gd name="T39" fmla="*/ 261 h 261"/>
                <a:gd name="T40" fmla="*/ 33 w 154"/>
                <a:gd name="T41" fmla="*/ 254 h 2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4"/>
                <a:gd name="T64" fmla="*/ 0 h 261"/>
                <a:gd name="T65" fmla="*/ 154 w 154"/>
                <a:gd name="T66" fmla="*/ 261 h 2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4" h="261">
                  <a:moveTo>
                    <a:pt x="33" y="254"/>
                  </a:moveTo>
                  <a:lnTo>
                    <a:pt x="33" y="254"/>
                  </a:lnTo>
                  <a:lnTo>
                    <a:pt x="17" y="231"/>
                  </a:lnTo>
                  <a:lnTo>
                    <a:pt x="9" y="209"/>
                  </a:lnTo>
                  <a:lnTo>
                    <a:pt x="11" y="184"/>
                  </a:lnTo>
                  <a:lnTo>
                    <a:pt x="22" y="158"/>
                  </a:lnTo>
                  <a:lnTo>
                    <a:pt x="40" y="127"/>
                  </a:lnTo>
                  <a:lnTo>
                    <a:pt x="68" y="94"/>
                  </a:lnTo>
                  <a:lnTo>
                    <a:pt x="107" y="54"/>
                  </a:lnTo>
                  <a:lnTo>
                    <a:pt x="154" y="7"/>
                  </a:lnTo>
                  <a:lnTo>
                    <a:pt x="147" y="0"/>
                  </a:lnTo>
                  <a:lnTo>
                    <a:pt x="99" y="46"/>
                  </a:lnTo>
                  <a:lnTo>
                    <a:pt x="61" y="87"/>
                  </a:lnTo>
                  <a:lnTo>
                    <a:pt x="30" y="123"/>
                  </a:lnTo>
                  <a:lnTo>
                    <a:pt x="12" y="153"/>
                  </a:lnTo>
                  <a:lnTo>
                    <a:pt x="1" y="182"/>
                  </a:lnTo>
                  <a:lnTo>
                    <a:pt x="0" y="209"/>
                  </a:lnTo>
                  <a:lnTo>
                    <a:pt x="7" y="236"/>
                  </a:lnTo>
                  <a:lnTo>
                    <a:pt x="25" y="261"/>
                  </a:lnTo>
                  <a:lnTo>
                    <a:pt x="33" y="2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6" name="Freeform 45">
              <a:extLst>
                <a:ext uri="{FF2B5EF4-FFF2-40B4-BE49-F238E27FC236}">
                  <a16:creationId xmlns:a16="http://schemas.microsoft.com/office/drawing/2014/main" id="{8E4BE70E-4B80-49F3-A52A-8EF8AD7F0B5C}"/>
                </a:ext>
              </a:extLst>
            </p:cNvPr>
            <p:cNvSpPr>
              <a:spLocks/>
            </p:cNvSpPr>
            <p:nvPr/>
          </p:nvSpPr>
          <p:spPr bwMode="auto">
            <a:xfrm>
              <a:off x="3550" y="2339"/>
              <a:ext cx="281" cy="145"/>
            </a:xfrm>
            <a:custGeom>
              <a:avLst/>
              <a:gdLst>
                <a:gd name="T0" fmla="*/ 272 w 281"/>
                <a:gd name="T1" fmla="*/ 8 h 145"/>
                <a:gd name="T2" fmla="*/ 272 w 281"/>
                <a:gd name="T3" fmla="*/ 1 h 145"/>
                <a:gd name="T4" fmla="*/ 252 w 281"/>
                <a:gd name="T5" fmla="*/ 24 h 145"/>
                <a:gd name="T6" fmla="*/ 231 w 281"/>
                <a:gd name="T7" fmla="*/ 46 h 145"/>
                <a:gd name="T8" fmla="*/ 212 w 281"/>
                <a:gd name="T9" fmla="*/ 65 h 145"/>
                <a:gd name="T10" fmla="*/ 192 w 281"/>
                <a:gd name="T11" fmla="*/ 82 h 145"/>
                <a:gd name="T12" fmla="*/ 175 w 281"/>
                <a:gd name="T13" fmla="*/ 96 h 145"/>
                <a:gd name="T14" fmla="*/ 155 w 281"/>
                <a:gd name="T15" fmla="*/ 108 h 145"/>
                <a:gd name="T16" fmla="*/ 137 w 281"/>
                <a:gd name="T17" fmla="*/ 118 h 145"/>
                <a:gd name="T18" fmla="*/ 121 w 281"/>
                <a:gd name="T19" fmla="*/ 125 h 145"/>
                <a:gd name="T20" fmla="*/ 102 w 281"/>
                <a:gd name="T21" fmla="*/ 131 h 145"/>
                <a:gd name="T22" fmla="*/ 88 w 281"/>
                <a:gd name="T23" fmla="*/ 134 h 145"/>
                <a:gd name="T24" fmla="*/ 72 w 281"/>
                <a:gd name="T25" fmla="*/ 132 h 145"/>
                <a:gd name="T26" fmla="*/ 56 w 281"/>
                <a:gd name="T27" fmla="*/ 132 h 145"/>
                <a:gd name="T28" fmla="*/ 42 w 281"/>
                <a:gd name="T29" fmla="*/ 129 h 145"/>
                <a:gd name="T30" fmla="*/ 30 w 281"/>
                <a:gd name="T31" fmla="*/ 121 h 145"/>
                <a:gd name="T32" fmla="*/ 19 w 281"/>
                <a:gd name="T33" fmla="*/ 114 h 145"/>
                <a:gd name="T34" fmla="*/ 8 w 281"/>
                <a:gd name="T35" fmla="*/ 103 h 145"/>
                <a:gd name="T36" fmla="*/ 0 w 281"/>
                <a:gd name="T37" fmla="*/ 110 h 145"/>
                <a:gd name="T38" fmla="*/ 11 w 281"/>
                <a:gd name="T39" fmla="*/ 121 h 145"/>
                <a:gd name="T40" fmla="*/ 25 w 281"/>
                <a:gd name="T41" fmla="*/ 131 h 145"/>
                <a:gd name="T42" fmla="*/ 40 w 281"/>
                <a:gd name="T43" fmla="*/ 139 h 145"/>
                <a:gd name="T44" fmla="*/ 56 w 281"/>
                <a:gd name="T45" fmla="*/ 142 h 145"/>
                <a:gd name="T46" fmla="*/ 72 w 281"/>
                <a:gd name="T47" fmla="*/ 145 h 145"/>
                <a:gd name="T48" fmla="*/ 88 w 281"/>
                <a:gd name="T49" fmla="*/ 144 h 145"/>
                <a:gd name="T50" fmla="*/ 105 w 281"/>
                <a:gd name="T51" fmla="*/ 141 h 145"/>
                <a:gd name="T52" fmla="*/ 123 w 281"/>
                <a:gd name="T53" fmla="*/ 135 h 145"/>
                <a:gd name="T54" fmla="*/ 142 w 281"/>
                <a:gd name="T55" fmla="*/ 128 h 145"/>
                <a:gd name="T56" fmla="*/ 160 w 281"/>
                <a:gd name="T57" fmla="*/ 118 h 145"/>
                <a:gd name="T58" fmla="*/ 180 w 281"/>
                <a:gd name="T59" fmla="*/ 105 h 145"/>
                <a:gd name="T60" fmla="*/ 200 w 281"/>
                <a:gd name="T61" fmla="*/ 89 h 145"/>
                <a:gd name="T62" fmla="*/ 219 w 281"/>
                <a:gd name="T63" fmla="*/ 72 h 145"/>
                <a:gd name="T64" fmla="*/ 239 w 281"/>
                <a:gd name="T65" fmla="*/ 54 h 145"/>
                <a:gd name="T66" fmla="*/ 260 w 281"/>
                <a:gd name="T67" fmla="*/ 32 h 145"/>
                <a:gd name="T68" fmla="*/ 279 w 281"/>
                <a:gd name="T69" fmla="*/ 8 h 145"/>
                <a:gd name="T70" fmla="*/ 279 w 281"/>
                <a:gd name="T71" fmla="*/ 1 h 145"/>
                <a:gd name="T72" fmla="*/ 279 w 281"/>
                <a:gd name="T73" fmla="*/ 8 h 145"/>
                <a:gd name="T74" fmla="*/ 281 w 281"/>
                <a:gd name="T75" fmla="*/ 5 h 145"/>
                <a:gd name="T76" fmla="*/ 279 w 281"/>
                <a:gd name="T77" fmla="*/ 1 h 145"/>
                <a:gd name="T78" fmla="*/ 276 w 281"/>
                <a:gd name="T79" fmla="*/ 0 h 145"/>
                <a:gd name="T80" fmla="*/ 272 w 281"/>
                <a:gd name="T81" fmla="*/ 1 h 145"/>
                <a:gd name="T82" fmla="*/ 272 w 281"/>
                <a:gd name="T83" fmla="*/ 8 h 1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1"/>
                <a:gd name="T127" fmla="*/ 0 h 145"/>
                <a:gd name="T128" fmla="*/ 281 w 281"/>
                <a:gd name="T129" fmla="*/ 145 h 1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1" h="145">
                  <a:moveTo>
                    <a:pt x="272" y="8"/>
                  </a:moveTo>
                  <a:lnTo>
                    <a:pt x="272" y="1"/>
                  </a:lnTo>
                  <a:lnTo>
                    <a:pt x="252" y="24"/>
                  </a:lnTo>
                  <a:lnTo>
                    <a:pt x="231" y="46"/>
                  </a:lnTo>
                  <a:lnTo>
                    <a:pt x="212" y="65"/>
                  </a:lnTo>
                  <a:lnTo>
                    <a:pt x="192" y="82"/>
                  </a:lnTo>
                  <a:lnTo>
                    <a:pt x="175" y="96"/>
                  </a:lnTo>
                  <a:lnTo>
                    <a:pt x="155" y="108"/>
                  </a:lnTo>
                  <a:lnTo>
                    <a:pt x="137" y="118"/>
                  </a:lnTo>
                  <a:lnTo>
                    <a:pt x="121" y="125"/>
                  </a:lnTo>
                  <a:lnTo>
                    <a:pt x="102" y="131"/>
                  </a:lnTo>
                  <a:lnTo>
                    <a:pt x="88" y="134"/>
                  </a:lnTo>
                  <a:lnTo>
                    <a:pt x="72" y="132"/>
                  </a:lnTo>
                  <a:lnTo>
                    <a:pt x="56" y="132"/>
                  </a:lnTo>
                  <a:lnTo>
                    <a:pt x="42" y="129"/>
                  </a:lnTo>
                  <a:lnTo>
                    <a:pt x="30" y="121"/>
                  </a:lnTo>
                  <a:lnTo>
                    <a:pt x="19" y="114"/>
                  </a:lnTo>
                  <a:lnTo>
                    <a:pt x="8" y="103"/>
                  </a:lnTo>
                  <a:lnTo>
                    <a:pt x="0" y="110"/>
                  </a:lnTo>
                  <a:lnTo>
                    <a:pt x="11" y="121"/>
                  </a:lnTo>
                  <a:lnTo>
                    <a:pt x="25" y="131"/>
                  </a:lnTo>
                  <a:lnTo>
                    <a:pt x="40" y="139"/>
                  </a:lnTo>
                  <a:lnTo>
                    <a:pt x="56" y="142"/>
                  </a:lnTo>
                  <a:lnTo>
                    <a:pt x="72" y="145"/>
                  </a:lnTo>
                  <a:lnTo>
                    <a:pt x="88" y="144"/>
                  </a:lnTo>
                  <a:lnTo>
                    <a:pt x="105" y="141"/>
                  </a:lnTo>
                  <a:lnTo>
                    <a:pt x="123" y="135"/>
                  </a:lnTo>
                  <a:lnTo>
                    <a:pt x="142" y="128"/>
                  </a:lnTo>
                  <a:lnTo>
                    <a:pt x="160" y="118"/>
                  </a:lnTo>
                  <a:lnTo>
                    <a:pt x="180" y="105"/>
                  </a:lnTo>
                  <a:lnTo>
                    <a:pt x="200" y="89"/>
                  </a:lnTo>
                  <a:lnTo>
                    <a:pt x="219" y="72"/>
                  </a:lnTo>
                  <a:lnTo>
                    <a:pt x="239" y="54"/>
                  </a:lnTo>
                  <a:lnTo>
                    <a:pt x="260" y="32"/>
                  </a:lnTo>
                  <a:lnTo>
                    <a:pt x="279" y="8"/>
                  </a:lnTo>
                  <a:lnTo>
                    <a:pt x="279" y="1"/>
                  </a:lnTo>
                  <a:lnTo>
                    <a:pt x="279" y="8"/>
                  </a:lnTo>
                  <a:lnTo>
                    <a:pt x="281" y="5"/>
                  </a:lnTo>
                  <a:lnTo>
                    <a:pt x="279" y="1"/>
                  </a:lnTo>
                  <a:lnTo>
                    <a:pt x="276" y="0"/>
                  </a:lnTo>
                  <a:lnTo>
                    <a:pt x="272" y="1"/>
                  </a:lnTo>
                  <a:lnTo>
                    <a:pt x="27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7" name="Freeform 46">
              <a:extLst>
                <a:ext uri="{FF2B5EF4-FFF2-40B4-BE49-F238E27FC236}">
                  <a16:creationId xmlns:a16="http://schemas.microsoft.com/office/drawing/2014/main" id="{4DB48673-2380-428A-9E69-698634A85741}"/>
                </a:ext>
              </a:extLst>
            </p:cNvPr>
            <p:cNvSpPr>
              <a:spLocks/>
            </p:cNvSpPr>
            <p:nvPr/>
          </p:nvSpPr>
          <p:spPr bwMode="auto">
            <a:xfrm>
              <a:off x="3671" y="2186"/>
              <a:ext cx="158" cy="161"/>
            </a:xfrm>
            <a:custGeom>
              <a:avLst/>
              <a:gdLst>
                <a:gd name="T0" fmla="*/ 8 w 158"/>
                <a:gd name="T1" fmla="*/ 9 h 161"/>
                <a:gd name="T2" fmla="*/ 1 w 158"/>
                <a:gd name="T3" fmla="*/ 9 h 161"/>
                <a:gd name="T4" fmla="*/ 151 w 158"/>
                <a:gd name="T5" fmla="*/ 161 h 161"/>
                <a:gd name="T6" fmla="*/ 158 w 158"/>
                <a:gd name="T7" fmla="*/ 154 h 161"/>
                <a:gd name="T8" fmla="*/ 8 w 158"/>
                <a:gd name="T9" fmla="*/ 2 h 161"/>
                <a:gd name="T10" fmla="*/ 1 w 158"/>
                <a:gd name="T11" fmla="*/ 2 h 161"/>
                <a:gd name="T12" fmla="*/ 8 w 158"/>
                <a:gd name="T13" fmla="*/ 2 h 161"/>
                <a:gd name="T14" fmla="*/ 5 w 158"/>
                <a:gd name="T15" fmla="*/ 0 h 161"/>
                <a:gd name="T16" fmla="*/ 1 w 158"/>
                <a:gd name="T17" fmla="*/ 2 h 161"/>
                <a:gd name="T18" fmla="*/ 0 w 158"/>
                <a:gd name="T19" fmla="*/ 5 h 161"/>
                <a:gd name="T20" fmla="*/ 1 w 158"/>
                <a:gd name="T21" fmla="*/ 9 h 161"/>
                <a:gd name="T22" fmla="*/ 8 w 158"/>
                <a:gd name="T23" fmla="*/ 9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161"/>
                <a:gd name="T38" fmla="*/ 158 w 158"/>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161">
                  <a:moveTo>
                    <a:pt x="8" y="9"/>
                  </a:moveTo>
                  <a:lnTo>
                    <a:pt x="1" y="9"/>
                  </a:lnTo>
                  <a:lnTo>
                    <a:pt x="151" y="161"/>
                  </a:lnTo>
                  <a:lnTo>
                    <a:pt x="158" y="154"/>
                  </a:lnTo>
                  <a:lnTo>
                    <a:pt x="8" y="2"/>
                  </a:lnTo>
                  <a:lnTo>
                    <a:pt x="1" y="2"/>
                  </a:lnTo>
                  <a:lnTo>
                    <a:pt x="8" y="2"/>
                  </a:lnTo>
                  <a:lnTo>
                    <a:pt x="5" y="0"/>
                  </a:lnTo>
                  <a:lnTo>
                    <a:pt x="1" y="2"/>
                  </a:lnTo>
                  <a:lnTo>
                    <a:pt x="0" y="5"/>
                  </a:lnTo>
                  <a:lnTo>
                    <a:pt x="1" y="9"/>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8" name="Freeform 47">
              <a:extLst>
                <a:ext uri="{FF2B5EF4-FFF2-40B4-BE49-F238E27FC236}">
                  <a16:creationId xmlns:a16="http://schemas.microsoft.com/office/drawing/2014/main" id="{1752C55B-66B2-4F0A-9332-C979BCB4B9FE}"/>
                </a:ext>
              </a:extLst>
            </p:cNvPr>
            <p:cNvSpPr>
              <a:spLocks/>
            </p:cNvSpPr>
            <p:nvPr/>
          </p:nvSpPr>
          <p:spPr bwMode="auto">
            <a:xfrm>
              <a:off x="3355" y="1373"/>
              <a:ext cx="263" cy="311"/>
            </a:xfrm>
            <a:custGeom>
              <a:avLst/>
              <a:gdLst>
                <a:gd name="T0" fmla="*/ 54 w 263"/>
                <a:gd name="T1" fmla="*/ 311 h 311"/>
                <a:gd name="T2" fmla="*/ 33 w 263"/>
                <a:gd name="T3" fmla="*/ 252 h 311"/>
                <a:gd name="T4" fmla="*/ 17 w 263"/>
                <a:gd name="T5" fmla="*/ 199 h 311"/>
                <a:gd name="T6" fmla="*/ 6 w 263"/>
                <a:gd name="T7" fmla="*/ 153 h 311"/>
                <a:gd name="T8" fmla="*/ 0 w 263"/>
                <a:gd name="T9" fmla="*/ 111 h 311"/>
                <a:gd name="T10" fmla="*/ 2 w 263"/>
                <a:gd name="T11" fmla="*/ 76 h 311"/>
                <a:gd name="T12" fmla="*/ 12 w 263"/>
                <a:gd name="T13" fmla="*/ 47 h 311"/>
                <a:gd name="T14" fmla="*/ 31 w 263"/>
                <a:gd name="T15" fmla="*/ 25 h 311"/>
                <a:gd name="T16" fmla="*/ 60 w 263"/>
                <a:gd name="T17" fmla="*/ 8 h 311"/>
                <a:gd name="T18" fmla="*/ 77 w 263"/>
                <a:gd name="T19" fmla="*/ 3 h 311"/>
                <a:gd name="T20" fmla="*/ 93 w 263"/>
                <a:gd name="T21" fmla="*/ 0 h 311"/>
                <a:gd name="T22" fmla="*/ 109 w 263"/>
                <a:gd name="T23" fmla="*/ 1 h 311"/>
                <a:gd name="T24" fmla="*/ 124 w 263"/>
                <a:gd name="T25" fmla="*/ 5 h 311"/>
                <a:gd name="T26" fmla="*/ 138 w 263"/>
                <a:gd name="T27" fmla="*/ 12 h 311"/>
                <a:gd name="T28" fmla="*/ 151 w 263"/>
                <a:gd name="T29" fmla="*/ 21 h 311"/>
                <a:gd name="T30" fmla="*/ 163 w 263"/>
                <a:gd name="T31" fmla="*/ 33 h 311"/>
                <a:gd name="T32" fmla="*/ 176 w 263"/>
                <a:gd name="T33" fmla="*/ 47 h 311"/>
                <a:gd name="T34" fmla="*/ 188 w 263"/>
                <a:gd name="T35" fmla="*/ 63 h 311"/>
                <a:gd name="T36" fmla="*/ 199 w 263"/>
                <a:gd name="T37" fmla="*/ 80 h 311"/>
                <a:gd name="T38" fmla="*/ 210 w 263"/>
                <a:gd name="T39" fmla="*/ 100 h 311"/>
                <a:gd name="T40" fmla="*/ 221 w 263"/>
                <a:gd name="T41" fmla="*/ 119 h 311"/>
                <a:gd name="T42" fmla="*/ 231 w 263"/>
                <a:gd name="T43" fmla="*/ 140 h 311"/>
                <a:gd name="T44" fmla="*/ 242 w 263"/>
                <a:gd name="T45" fmla="*/ 162 h 311"/>
                <a:gd name="T46" fmla="*/ 252 w 263"/>
                <a:gd name="T47" fmla="*/ 186 h 311"/>
                <a:gd name="T48" fmla="*/ 263 w 263"/>
                <a:gd name="T49" fmla="*/ 209 h 311"/>
                <a:gd name="T50" fmla="*/ 54 w 263"/>
                <a:gd name="T51" fmla="*/ 311 h 31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63"/>
                <a:gd name="T79" fmla="*/ 0 h 311"/>
                <a:gd name="T80" fmla="*/ 263 w 263"/>
                <a:gd name="T81" fmla="*/ 311 h 31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63" h="311">
                  <a:moveTo>
                    <a:pt x="54" y="311"/>
                  </a:moveTo>
                  <a:lnTo>
                    <a:pt x="33" y="252"/>
                  </a:lnTo>
                  <a:lnTo>
                    <a:pt x="17" y="199"/>
                  </a:lnTo>
                  <a:lnTo>
                    <a:pt x="6" y="153"/>
                  </a:lnTo>
                  <a:lnTo>
                    <a:pt x="0" y="111"/>
                  </a:lnTo>
                  <a:lnTo>
                    <a:pt x="2" y="76"/>
                  </a:lnTo>
                  <a:lnTo>
                    <a:pt x="12" y="47"/>
                  </a:lnTo>
                  <a:lnTo>
                    <a:pt x="31" y="25"/>
                  </a:lnTo>
                  <a:lnTo>
                    <a:pt x="60" y="8"/>
                  </a:lnTo>
                  <a:lnTo>
                    <a:pt x="77" y="3"/>
                  </a:lnTo>
                  <a:lnTo>
                    <a:pt x="93" y="0"/>
                  </a:lnTo>
                  <a:lnTo>
                    <a:pt x="109" y="1"/>
                  </a:lnTo>
                  <a:lnTo>
                    <a:pt x="124" y="5"/>
                  </a:lnTo>
                  <a:lnTo>
                    <a:pt x="138" y="12"/>
                  </a:lnTo>
                  <a:lnTo>
                    <a:pt x="151" y="21"/>
                  </a:lnTo>
                  <a:lnTo>
                    <a:pt x="163" y="33"/>
                  </a:lnTo>
                  <a:lnTo>
                    <a:pt x="176" y="47"/>
                  </a:lnTo>
                  <a:lnTo>
                    <a:pt x="188" y="63"/>
                  </a:lnTo>
                  <a:lnTo>
                    <a:pt x="199" y="80"/>
                  </a:lnTo>
                  <a:lnTo>
                    <a:pt x="210" y="100"/>
                  </a:lnTo>
                  <a:lnTo>
                    <a:pt x="221" y="119"/>
                  </a:lnTo>
                  <a:lnTo>
                    <a:pt x="231" y="140"/>
                  </a:lnTo>
                  <a:lnTo>
                    <a:pt x="242" y="162"/>
                  </a:lnTo>
                  <a:lnTo>
                    <a:pt x="252" y="186"/>
                  </a:lnTo>
                  <a:lnTo>
                    <a:pt x="263" y="209"/>
                  </a:lnTo>
                  <a:lnTo>
                    <a:pt x="54" y="3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79" name="Freeform 48">
              <a:extLst>
                <a:ext uri="{FF2B5EF4-FFF2-40B4-BE49-F238E27FC236}">
                  <a16:creationId xmlns:a16="http://schemas.microsoft.com/office/drawing/2014/main" id="{606A0854-D61E-4853-9AF8-32C42050CE36}"/>
                </a:ext>
              </a:extLst>
            </p:cNvPr>
            <p:cNvSpPr>
              <a:spLocks/>
            </p:cNvSpPr>
            <p:nvPr/>
          </p:nvSpPr>
          <p:spPr bwMode="auto">
            <a:xfrm>
              <a:off x="3350" y="1376"/>
              <a:ext cx="66" cy="309"/>
            </a:xfrm>
            <a:custGeom>
              <a:avLst/>
              <a:gdLst>
                <a:gd name="T0" fmla="*/ 64 w 66"/>
                <a:gd name="T1" fmla="*/ 0 h 309"/>
                <a:gd name="T2" fmla="*/ 64 w 66"/>
                <a:gd name="T3" fmla="*/ 0 h 309"/>
                <a:gd name="T4" fmla="*/ 32 w 66"/>
                <a:gd name="T5" fmla="*/ 18 h 309"/>
                <a:gd name="T6" fmla="*/ 12 w 66"/>
                <a:gd name="T7" fmla="*/ 41 h 309"/>
                <a:gd name="T8" fmla="*/ 2 w 66"/>
                <a:gd name="T9" fmla="*/ 73 h 309"/>
                <a:gd name="T10" fmla="*/ 0 w 66"/>
                <a:gd name="T11" fmla="*/ 108 h 309"/>
                <a:gd name="T12" fmla="*/ 6 w 66"/>
                <a:gd name="T13" fmla="*/ 150 h 309"/>
                <a:gd name="T14" fmla="*/ 17 w 66"/>
                <a:gd name="T15" fmla="*/ 197 h 309"/>
                <a:gd name="T16" fmla="*/ 33 w 66"/>
                <a:gd name="T17" fmla="*/ 250 h 309"/>
                <a:gd name="T18" fmla="*/ 54 w 66"/>
                <a:gd name="T19" fmla="*/ 309 h 309"/>
                <a:gd name="T20" fmla="*/ 64 w 66"/>
                <a:gd name="T21" fmla="*/ 307 h 309"/>
                <a:gd name="T22" fmla="*/ 43 w 66"/>
                <a:gd name="T23" fmla="*/ 248 h 309"/>
                <a:gd name="T24" fmla="*/ 27 w 66"/>
                <a:gd name="T25" fmla="*/ 195 h 309"/>
                <a:gd name="T26" fmla="*/ 16 w 66"/>
                <a:gd name="T27" fmla="*/ 150 h 309"/>
                <a:gd name="T28" fmla="*/ 10 w 66"/>
                <a:gd name="T29" fmla="*/ 108 h 309"/>
                <a:gd name="T30" fmla="*/ 12 w 66"/>
                <a:gd name="T31" fmla="*/ 73 h 309"/>
                <a:gd name="T32" fmla="*/ 22 w 66"/>
                <a:gd name="T33" fmla="*/ 46 h 309"/>
                <a:gd name="T34" fmla="*/ 39 w 66"/>
                <a:gd name="T35" fmla="*/ 25 h 309"/>
                <a:gd name="T36" fmla="*/ 66 w 66"/>
                <a:gd name="T37" fmla="*/ 9 h 309"/>
                <a:gd name="T38" fmla="*/ 66 w 66"/>
                <a:gd name="T39" fmla="*/ 9 h 309"/>
                <a:gd name="T40" fmla="*/ 64 w 66"/>
                <a:gd name="T41" fmla="*/ 0 h 30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6"/>
                <a:gd name="T64" fmla="*/ 0 h 309"/>
                <a:gd name="T65" fmla="*/ 66 w 66"/>
                <a:gd name="T66" fmla="*/ 309 h 30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6" h="309">
                  <a:moveTo>
                    <a:pt x="64" y="0"/>
                  </a:moveTo>
                  <a:lnTo>
                    <a:pt x="64" y="0"/>
                  </a:lnTo>
                  <a:lnTo>
                    <a:pt x="32" y="18"/>
                  </a:lnTo>
                  <a:lnTo>
                    <a:pt x="12" y="41"/>
                  </a:lnTo>
                  <a:lnTo>
                    <a:pt x="2" y="73"/>
                  </a:lnTo>
                  <a:lnTo>
                    <a:pt x="0" y="108"/>
                  </a:lnTo>
                  <a:lnTo>
                    <a:pt x="6" y="150"/>
                  </a:lnTo>
                  <a:lnTo>
                    <a:pt x="17" y="197"/>
                  </a:lnTo>
                  <a:lnTo>
                    <a:pt x="33" y="250"/>
                  </a:lnTo>
                  <a:lnTo>
                    <a:pt x="54" y="309"/>
                  </a:lnTo>
                  <a:lnTo>
                    <a:pt x="64" y="307"/>
                  </a:lnTo>
                  <a:lnTo>
                    <a:pt x="43" y="248"/>
                  </a:lnTo>
                  <a:lnTo>
                    <a:pt x="27" y="195"/>
                  </a:lnTo>
                  <a:lnTo>
                    <a:pt x="16" y="150"/>
                  </a:lnTo>
                  <a:lnTo>
                    <a:pt x="10" y="108"/>
                  </a:lnTo>
                  <a:lnTo>
                    <a:pt x="12" y="73"/>
                  </a:lnTo>
                  <a:lnTo>
                    <a:pt x="22" y="46"/>
                  </a:lnTo>
                  <a:lnTo>
                    <a:pt x="39" y="25"/>
                  </a:lnTo>
                  <a:lnTo>
                    <a:pt x="66" y="9"/>
                  </a:lnTo>
                  <a:lnTo>
                    <a:pt x="6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0" name="Freeform 49">
              <a:extLst>
                <a:ext uri="{FF2B5EF4-FFF2-40B4-BE49-F238E27FC236}">
                  <a16:creationId xmlns:a16="http://schemas.microsoft.com/office/drawing/2014/main" id="{1A5AEA97-A689-41AE-B316-2D952BC4C303}"/>
                </a:ext>
              </a:extLst>
            </p:cNvPr>
            <p:cNvSpPr>
              <a:spLocks/>
            </p:cNvSpPr>
            <p:nvPr/>
          </p:nvSpPr>
          <p:spPr bwMode="auto">
            <a:xfrm>
              <a:off x="3414" y="1367"/>
              <a:ext cx="209" cy="220"/>
            </a:xfrm>
            <a:custGeom>
              <a:avLst/>
              <a:gdLst>
                <a:gd name="T0" fmla="*/ 206 w 209"/>
                <a:gd name="T1" fmla="*/ 220 h 220"/>
                <a:gd name="T2" fmla="*/ 209 w 209"/>
                <a:gd name="T3" fmla="*/ 213 h 220"/>
                <a:gd name="T4" fmla="*/ 198 w 209"/>
                <a:gd name="T5" fmla="*/ 189 h 220"/>
                <a:gd name="T6" fmla="*/ 188 w 209"/>
                <a:gd name="T7" fmla="*/ 166 h 220"/>
                <a:gd name="T8" fmla="*/ 177 w 209"/>
                <a:gd name="T9" fmla="*/ 144 h 220"/>
                <a:gd name="T10" fmla="*/ 167 w 209"/>
                <a:gd name="T11" fmla="*/ 123 h 220"/>
                <a:gd name="T12" fmla="*/ 156 w 209"/>
                <a:gd name="T13" fmla="*/ 103 h 220"/>
                <a:gd name="T14" fmla="*/ 145 w 209"/>
                <a:gd name="T15" fmla="*/ 84 h 220"/>
                <a:gd name="T16" fmla="*/ 134 w 209"/>
                <a:gd name="T17" fmla="*/ 66 h 220"/>
                <a:gd name="T18" fmla="*/ 120 w 209"/>
                <a:gd name="T19" fmla="*/ 49 h 220"/>
                <a:gd name="T20" fmla="*/ 108 w 209"/>
                <a:gd name="T21" fmla="*/ 36 h 220"/>
                <a:gd name="T22" fmla="*/ 96 w 209"/>
                <a:gd name="T23" fmla="*/ 23 h 220"/>
                <a:gd name="T24" fmla="*/ 81 w 209"/>
                <a:gd name="T25" fmla="*/ 14 h 220"/>
                <a:gd name="T26" fmla="*/ 66 w 209"/>
                <a:gd name="T27" fmla="*/ 6 h 220"/>
                <a:gd name="T28" fmla="*/ 50 w 209"/>
                <a:gd name="T29" fmla="*/ 3 h 220"/>
                <a:gd name="T30" fmla="*/ 34 w 209"/>
                <a:gd name="T31" fmla="*/ 0 h 220"/>
                <a:gd name="T32" fmla="*/ 17 w 209"/>
                <a:gd name="T33" fmla="*/ 4 h 220"/>
                <a:gd name="T34" fmla="*/ 0 w 209"/>
                <a:gd name="T35" fmla="*/ 9 h 220"/>
                <a:gd name="T36" fmla="*/ 2 w 209"/>
                <a:gd name="T37" fmla="*/ 18 h 220"/>
                <a:gd name="T38" fmla="*/ 20 w 209"/>
                <a:gd name="T39" fmla="*/ 14 h 220"/>
                <a:gd name="T40" fmla="*/ 34 w 209"/>
                <a:gd name="T41" fmla="*/ 12 h 220"/>
                <a:gd name="T42" fmla="*/ 50 w 209"/>
                <a:gd name="T43" fmla="*/ 12 h 220"/>
                <a:gd name="T44" fmla="*/ 64 w 209"/>
                <a:gd name="T45" fmla="*/ 16 h 220"/>
                <a:gd name="T46" fmla="*/ 76 w 209"/>
                <a:gd name="T47" fmla="*/ 23 h 220"/>
                <a:gd name="T48" fmla="*/ 88 w 209"/>
                <a:gd name="T49" fmla="*/ 31 h 220"/>
                <a:gd name="T50" fmla="*/ 101 w 209"/>
                <a:gd name="T51" fmla="*/ 43 h 220"/>
                <a:gd name="T52" fmla="*/ 113 w 209"/>
                <a:gd name="T53" fmla="*/ 57 h 220"/>
                <a:gd name="T54" fmla="*/ 124 w 209"/>
                <a:gd name="T55" fmla="*/ 71 h 220"/>
                <a:gd name="T56" fmla="*/ 135 w 209"/>
                <a:gd name="T57" fmla="*/ 89 h 220"/>
                <a:gd name="T58" fmla="*/ 146 w 209"/>
                <a:gd name="T59" fmla="*/ 108 h 220"/>
                <a:gd name="T60" fmla="*/ 157 w 209"/>
                <a:gd name="T61" fmla="*/ 128 h 220"/>
                <a:gd name="T62" fmla="*/ 167 w 209"/>
                <a:gd name="T63" fmla="*/ 149 h 220"/>
                <a:gd name="T64" fmla="*/ 178 w 209"/>
                <a:gd name="T65" fmla="*/ 171 h 220"/>
                <a:gd name="T66" fmla="*/ 188 w 209"/>
                <a:gd name="T67" fmla="*/ 194 h 220"/>
                <a:gd name="T68" fmla="*/ 199 w 209"/>
                <a:gd name="T69" fmla="*/ 218 h 220"/>
                <a:gd name="T70" fmla="*/ 202 w 209"/>
                <a:gd name="T71" fmla="*/ 210 h 220"/>
                <a:gd name="T72" fmla="*/ 199 w 209"/>
                <a:gd name="T73" fmla="*/ 218 h 220"/>
                <a:gd name="T74" fmla="*/ 202 w 209"/>
                <a:gd name="T75" fmla="*/ 220 h 220"/>
                <a:gd name="T76" fmla="*/ 206 w 209"/>
                <a:gd name="T77" fmla="*/ 220 h 220"/>
                <a:gd name="T78" fmla="*/ 209 w 209"/>
                <a:gd name="T79" fmla="*/ 216 h 220"/>
                <a:gd name="T80" fmla="*/ 209 w 209"/>
                <a:gd name="T81" fmla="*/ 213 h 220"/>
                <a:gd name="T82" fmla="*/ 206 w 209"/>
                <a:gd name="T83" fmla="*/ 220 h 22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9"/>
                <a:gd name="T127" fmla="*/ 0 h 220"/>
                <a:gd name="T128" fmla="*/ 209 w 209"/>
                <a:gd name="T129" fmla="*/ 220 h 22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9" h="220">
                  <a:moveTo>
                    <a:pt x="206" y="220"/>
                  </a:moveTo>
                  <a:lnTo>
                    <a:pt x="209" y="213"/>
                  </a:lnTo>
                  <a:lnTo>
                    <a:pt x="198" y="189"/>
                  </a:lnTo>
                  <a:lnTo>
                    <a:pt x="188" y="166"/>
                  </a:lnTo>
                  <a:lnTo>
                    <a:pt x="177" y="144"/>
                  </a:lnTo>
                  <a:lnTo>
                    <a:pt x="167" y="123"/>
                  </a:lnTo>
                  <a:lnTo>
                    <a:pt x="156" y="103"/>
                  </a:lnTo>
                  <a:lnTo>
                    <a:pt x="145" y="84"/>
                  </a:lnTo>
                  <a:lnTo>
                    <a:pt x="134" y="66"/>
                  </a:lnTo>
                  <a:lnTo>
                    <a:pt x="120" y="49"/>
                  </a:lnTo>
                  <a:lnTo>
                    <a:pt x="108" y="36"/>
                  </a:lnTo>
                  <a:lnTo>
                    <a:pt x="96" y="23"/>
                  </a:lnTo>
                  <a:lnTo>
                    <a:pt x="81" y="14"/>
                  </a:lnTo>
                  <a:lnTo>
                    <a:pt x="66" y="6"/>
                  </a:lnTo>
                  <a:lnTo>
                    <a:pt x="50" y="3"/>
                  </a:lnTo>
                  <a:lnTo>
                    <a:pt x="34" y="0"/>
                  </a:lnTo>
                  <a:lnTo>
                    <a:pt x="17" y="4"/>
                  </a:lnTo>
                  <a:lnTo>
                    <a:pt x="0" y="9"/>
                  </a:lnTo>
                  <a:lnTo>
                    <a:pt x="2" y="18"/>
                  </a:lnTo>
                  <a:lnTo>
                    <a:pt x="20" y="14"/>
                  </a:lnTo>
                  <a:lnTo>
                    <a:pt x="34" y="12"/>
                  </a:lnTo>
                  <a:lnTo>
                    <a:pt x="50" y="12"/>
                  </a:lnTo>
                  <a:lnTo>
                    <a:pt x="64" y="16"/>
                  </a:lnTo>
                  <a:lnTo>
                    <a:pt x="76" y="23"/>
                  </a:lnTo>
                  <a:lnTo>
                    <a:pt x="88" y="31"/>
                  </a:lnTo>
                  <a:lnTo>
                    <a:pt x="101" y="43"/>
                  </a:lnTo>
                  <a:lnTo>
                    <a:pt x="113" y="57"/>
                  </a:lnTo>
                  <a:lnTo>
                    <a:pt x="124" y="71"/>
                  </a:lnTo>
                  <a:lnTo>
                    <a:pt x="135" y="89"/>
                  </a:lnTo>
                  <a:lnTo>
                    <a:pt x="146" y="108"/>
                  </a:lnTo>
                  <a:lnTo>
                    <a:pt x="157" y="128"/>
                  </a:lnTo>
                  <a:lnTo>
                    <a:pt x="167" y="149"/>
                  </a:lnTo>
                  <a:lnTo>
                    <a:pt x="178" y="171"/>
                  </a:lnTo>
                  <a:lnTo>
                    <a:pt x="188" y="194"/>
                  </a:lnTo>
                  <a:lnTo>
                    <a:pt x="199" y="218"/>
                  </a:lnTo>
                  <a:lnTo>
                    <a:pt x="202" y="210"/>
                  </a:lnTo>
                  <a:lnTo>
                    <a:pt x="199" y="218"/>
                  </a:lnTo>
                  <a:lnTo>
                    <a:pt x="202" y="220"/>
                  </a:lnTo>
                  <a:lnTo>
                    <a:pt x="206" y="220"/>
                  </a:lnTo>
                  <a:lnTo>
                    <a:pt x="209" y="216"/>
                  </a:lnTo>
                  <a:lnTo>
                    <a:pt x="209" y="213"/>
                  </a:lnTo>
                  <a:lnTo>
                    <a:pt x="206" y="2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1" name="Freeform 50">
              <a:extLst>
                <a:ext uri="{FF2B5EF4-FFF2-40B4-BE49-F238E27FC236}">
                  <a16:creationId xmlns:a16="http://schemas.microsoft.com/office/drawing/2014/main" id="{FABF0797-8A29-4C5F-BC68-8BBDA7C0E411}"/>
                </a:ext>
              </a:extLst>
            </p:cNvPr>
            <p:cNvSpPr>
              <a:spLocks/>
            </p:cNvSpPr>
            <p:nvPr/>
          </p:nvSpPr>
          <p:spPr bwMode="auto">
            <a:xfrm>
              <a:off x="3404" y="1577"/>
              <a:ext cx="216" cy="112"/>
            </a:xfrm>
            <a:custGeom>
              <a:avLst/>
              <a:gdLst>
                <a:gd name="T0" fmla="*/ 0 w 216"/>
                <a:gd name="T1" fmla="*/ 108 h 112"/>
                <a:gd name="T2" fmla="*/ 7 w 216"/>
                <a:gd name="T3" fmla="*/ 112 h 112"/>
                <a:gd name="T4" fmla="*/ 216 w 216"/>
                <a:gd name="T5" fmla="*/ 10 h 112"/>
                <a:gd name="T6" fmla="*/ 212 w 216"/>
                <a:gd name="T7" fmla="*/ 0 h 112"/>
                <a:gd name="T8" fmla="*/ 3 w 216"/>
                <a:gd name="T9" fmla="*/ 102 h 112"/>
                <a:gd name="T10" fmla="*/ 10 w 216"/>
                <a:gd name="T11" fmla="*/ 106 h 112"/>
                <a:gd name="T12" fmla="*/ 3 w 216"/>
                <a:gd name="T13" fmla="*/ 102 h 112"/>
                <a:gd name="T14" fmla="*/ 0 w 216"/>
                <a:gd name="T15" fmla="*/ 105 h 112"/>
                <a:gd name="T16" fmla="*/ 0 w 216"/>
                <a:gd name="T17" fmla="*/ 108 h 112"/>
                <a:gd name="T18" fmla="*/ 4 w 216"/>
                <a:gd name="T19" fmla="*/ 112 h 112"/>
                <a:gd name="T20" fmla="*/ 7 w 216"/>
                <a:gd name="T21" fmla="*/ 112 h 112"/>
                <a:gd name="T22" fmla="*/ 0 w 216"/>
                <a:gd name="T23" fmla="*/ 108 h 1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6"/>
                <a:gd name="T37" fmla="*/ 0 h 112"/>
                <a:gd name="T38" fmla="*/ 216 w 216"/>
                <a:gd name="T39" fmla="*/ 112 h 1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6" h="112">
                  <a:moveTo>
                    <a:pt x="0" y="108"/>
                  </a:moveTo>
                  <a:lnTo>
                    <a:pt x="7" y="112"/>
                  </a:lnTo>
                  <a:lnTo>
                    <a:pt x="216" y="10"/>
                  </a:lnTo>
                  <a:lnTo>
                    <a:pt x="212" y="0"/>
                  </a:lnTo>
                  <a:lnTo>
                    <a:pt x="3" y="102"/>
                  </a:lnTo>
                  <a:lnTo>
                    <a:pt x="10" y="106"/>
                  </a:lnTo>
                  <a:lnTo>
                    <a:pt x="3" y="102"/>
                  </a:lnTo>
                  <a:lnTo>
                    <a:pt x="0" y="105"/>
                  </a:lnTo>
                  <a:lnTo>
                    <a:pt x="0" y="108"/>
                  </a:lnTo>
                  <a:lnTo>
                    <a:pt x="4" y="112"/>
                  </a:lnTo>
                  <a:lnTo>
                    <a:pt x="7" y="112"/>
                  </a:lnTo>
                  <a:lnTo>
                    <a:pt x="0"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2" name="Freeform 51">
              <a:extLst>
                <a:ext uri="{FF2B5EF4-FFF2-40B4-BE49-F238E27FC236}">
                  <a16:creationId xmlns:a16="http://schemas.microsoft.com/office/drawing/2014/main" id="{6A278988-A1EF-4406-A6AA-91BF4BEA6EF8}"/>
                </a:ext>
              </a:extLst>
            </p:cNvPr>
            <p:cNvSpPr>
              <a:spLocks/>
            </p:cNvSpPr>
            <p:nvPr/>
          </p:nvSpPr>
          <p:spPr bwMode="auto">
            <a:xfrm>
              <a:off x="3743" y="1227"/>
              <a:ext cx="417" cy="474"/>
            </a:xfrm>
            <a:custGeom>
              <a:avLst/>
              <a:gdLst>
                <a:gd name="T0" fmla="*/ 67 w 417"/>
                <a:gd name="T1" fmla="*/ 366 h 474"/>
                <a:gd name="T2" fmla="*/ 77 w 417"/>
                <a:gd name="T3" fmla="*/ 383 h 474"/>
                <a:gd name="T4" fmla="*/ 88 w 417"/>
                <a:gd name="T5" fmla="*/ 399 h 474"/>
                <a:gd name="T6" fmla="*/ 99 w 417"/>
                <a:gd name="T7" fmla="*/ 414 h 474"/>
                <a:gd name="T8" fmla="*/ 112 w 417"/>
                <a:gd name="T9" fmla="*/ 426 h 474"/>
                <a:gd name="T10" fmla="*/ 127 w 417"/>
                <a:gd name="T11" fmla="*/ 439 h 474"/>
                <a:gd name="T12" fmla="*/ 142 w 417"/>
                <a:gd name="T13" fmla="*/ 448 h 474"/>
                <a:gd name="T14" fmla="*/ 158 w 417"/>
                <a:gd name="T15" fmla="*/ 457 h 474"/>
                <a:gd name="T16" fmla="*/ 174 w 417"/>
                <a:gd name="T17" fmla="*/ 463 h 474"/>
                <a:gd name="T18" fmla="*/ 191 w 417"/>
                <a:gd name="T19" fmla="*/ 469 h 474"/>
                <a:gd name="T20" fmla="*/ 208 w 417"/>
                <a:gd name="T21" fmla="*/ 472 h 474"/>
                <a:gd name="T22" fmla="*/ 227 w 417"/>
                <a:gd name="T23" fmla="*/ 474 h 474"/>
                <a:gd name="T24" fmla="*/ 244 w 417"/>
                <a:gd name="T25" fmla="*/ 474 h 474"/>
                <a:gd name="T26" fmla="*/ 262 w 417"/>
                <a:gd name="T27" fmla="*/ 473 h 474"/>
                <a:gd name="T28" fmla="*/ 279 w 417"/>
                <a:gd name="T29" fmla="*/ 469 h 474"/>
                <a:gd name="T30" fmla="*/ 298 w 417"/>
                <a:gd name="T31" fmla="*/ 463 h 474"/>
                <a:gd name="T32" fmla="*/ 315 w 417"/>
                <a:gd name="T33" fmla="*/ 456 h 474"/>
                <a:gd name="T34" fmla="*/ 347 w 417"/>
                <a:gd name="T35" fmla="*/ 436 h 474"/>
                <a:gd name="T36" fmla="*/ 373 w 417"/>
                <a:gd name="T37" fmla="*/ 412 h 474"/>
                <a:gd name="T38" fmla="*/ 393 w 417"/>
                <a:gd name="T39" fmla="*/ 382 h 474"/>
                <a:gd name="T40" fmla="*/ 407 w 417"/>
                <a:gd name="T41" fmla="*/ 349 h 474"/>
                <a:gd name="T42" fmla="*/ 416 w 417"/>
                <a:gd name="T43" fmla="*/ 313 h 474"/>
                <a:gd name="T44" fmla="*/ 417 w 417"/>
                <a:gd name="T45" fmla="*/ 276 h 474"/>
                <a:gd name="T46" fmla="*/ 411 w 417"/>
                <a:gd name="T47" fmla="*/ 240 h 474"/>
                <a:gd name="T48" fmla="*/ 397 w 417"/>
                <a:gd name="T49" fmla="*/ 204 h 474"/>
                <a:gd name="T50" fmla="*/ 349 w 417"/>
                <a:gd name="T51" fmla="*/ 108 h 474"/>
                <a:gd name="T52" fmla="*/ 340 w 417"/>
                <a:gd name="T53" fmla="*/ 91 h 474"/>
                <a:gd name="T54" fmla="*/ 330 w 417"/>
                <a:gd name="T55" fmla="*/ 75 h 474"/>
                <a:gd name="T56" fmla="*/ 318 w 417"/>
                <a:gd name="T57" fmla="*/ 60 h 474"/>
                <a:gd name="T58" fmla="*/ 304 w 417"/>
                <a:gd name="T59" fmla="*/ 48 h 474"/>
                <a:gd name="T60" fmla="*/ 290 w 417"/>
                <a:gd name="T61" fmla="*/ 36 h 474"/>
                <a:gd name="T62" fmla="*/ 276 w 417"/>
                <a:gd name="T63" fmla="*/ 26 h 474"/>
                <a:gd name="T64" fmla="*/ 260 w 417"/>
                <a:gd name="T65" fmla="*/ 17 h 474"/>
                <a:gd name="T66" fmla="*/ 243 w 417"/>
                <a:gd name="T67" fmla="*/ 11 h 474"/>
                <a:gd name="T68" fmla="*/ 225 w 417"/>
                <a:gd name="T69" fmla="*/ 5 h 474"/>
                <a:gd name="T70" fmla="*/ 208 w 417"/>
                <a:gd name="T71" fmla="*/ 2 h 474"/>
                <a:gd name="T72" fmla="*/ 191 w 417"/>
                <a:gd name="T73" fmla="*/ 0 h 474"/>
                <a:gd name="T74" fmla="*/ 172 w 417"/>
                <a:gd name="T75" fmla="*/ 0 h 474"/>
                <a:gd name="T76" fmla="*/ 154 w 417"/>
                <a:gd name="T77" fmla="*/ 1 h 474"/>
                <a:gd name="T78" fmla="*/ 137 w 417"/>
                <a:gd name="T79" fmla="*/ 5 h 474"/>
                <a:gd name="T80" fmla="*/ 118 w 417"/>
                <a:gd name="T81" fmla="*/ 11 h 474"/>
                <a:gd name="T82" fmla="*/ 101 w 417"/>
                <a:gd name="T83" fmla="*/ 18 h 474"/>
                <a:gd name="T84" fmla="*/ 69 w 417"/>
                <a:gd name="T85" fmla="*/ 38 h 474"/>
                <a:gd name="T86" fmla="*/ 43 w 417"/>
                <a:gd name="T87" fmla="*/ 63 h 474"/>
                <a:gd name="T88" fmla="*/ 24 w 417"/>
                <a:gd name="T89" fmla="*/ 92 h 474"/>
                <a:gd name="T90" fmla="*/ 9 w 417"/>
                <a:gd name="T91" fmla="*/ 125 h 474"/>
                <a:gd name="T92" fmla="*/ 2 w 417"/>
                <a:gd name="T93" fmla="*/ 161 h 474"/>
                <a:gd name="T94" fmla="*/ 0 w 417"/>
                <a:gd name="T95" fmla="*/ 198 h 474"/>
                <a:gd name="T96" fmla="*/ 7 w 417"/>
                <a:gd name="T97" fmla="*/ 235 h 474"/>
                <a:gd name="T98" fmla="*/ 20 w 417"/>
                <a:gd name="T99" fmla="*/ 270 h 474"/>
                <a:gd name="T100" fmla="*/ 67 w 417"/>
                <a:gd name="T101" fmla="*/ 366 h 47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17"/>
                <a:gd name="T154" fmla="*/ 0 h 474"/>
                <a:gd name="T155" fmla="*/ 417 w 417"/>
                <a:gd name="T156" fmla="*/ 474 h 47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17" h="474">
                  <a:moveTo>
                    <a:pt x="67" y="366"/>
                  </a:moveTo>
                  <a:lnTo>
                    <a:pt x="77" y="383"/>
                  </a:lnTo>
                  <a:lnTo>
                    <a:pt x="88" y="399"/>
                  </a:lnTo>
                  <a:lnTo>
                    <a:pt x="99" y="414"/>
                  </a:lnTo>
                  <a:lnTo>
                    <a:pt x="112" y="426"/>
                  </a:lnTo>
                  <a:lnTo>
                    <a:pt x="127" y="439"/>
                  </a:lnTo>
                  <a:lnTo>
                    <a:pt x="142" y="448"/>
                  </a:lnTo>
                  <a:lnTo>
                    <a:pt x="158" y="457"/>
                  </a:lnTo>
                  <a:lnTo>
                    <a:pt x="174" y="463"/>
                  </a:lnTo>
                  <a:lnTo>
                    <a:pt x="191" y="469"/>
                  </a:lnTo>
                  <a:lnTo>
                    <a:pt x="208" y="472"/>
                  </a:lnTo>
                  <a:lnTo>
                    <a:pt x="227" y="474"/>
                  </a:lnTo>
                  <a:lnTo>
                    <a:pt x="244" y="474"/>
                  </a:lnTo>
                  <a:lnTo>
                    <a:pt x="262" y="473"/>
                  </a:lnTo>
                  <a:lnTo>
                    <a:pt x="279" y="469"/>
                  </a:lnTo>
                  <a:lnTo>
                    <a:pt x="298" y="463"/>
                  </a:lnTo>
                  <a:lnTo>
                    <a:pt x="315" y="456"/>
                  </a:lnTo>
                  <a:lnTo>
                    <a:pt x="347" y="436"/>
                  </a:lnTo>
                  <a:lnTo>
                    <a:pt x="373" y="412"/>
                  </a:lnTo>
                  <a:lnTo>
                    <a:pt x="393" y="382"/>
                  </a:lnTo>
                  <a:lnTo>
                    <a:pt x="407" y="349"/>
                  </a:lnTo>
                  <a:lnTo>
                    <a:pt x="416" y="313"/>
                  </a:lnTo>
                  <a:lnTo>
                    <a:pt x="417" y="276"/>
                  </a:lnTo>
                  <a:lnTo>
                    <a:pt x="411" y="240"/>
                  </a:lnTo>
                  <a:lnTo>
                    <a:pt x="397" y="204"/>
                  </a:lnTo>
                  <a:lnTo>
                    <a:pt x="349" y="108"/>
                  </a:lnTo>
                  <a:lnTo>
                    <a:pt x="340" y="91"/>
                  </a:lnTo>
                  <a:lnTo>
                    <a:pt x="330" y="75"/>
                  </a:lnTo>
                  <a:lnTo>
                    <a:pt x="318" y="60"/>
                  </a:lnTo>
                  <a:lnTo>
                    <a:pt x="304" y="48"/>
                  </a:lnTo>
                  <a:lnTo>
                    <a:pt x="290" y="36"/>
                  </a:lnTo>
                  <a:lnTo>
                    <a:pt x="276" y="26"/>
                  </a:lnTo>
                  <a:lnTo>
                    <a:pt x="260" y="17"/>
                  </a:lnTo>
                  <a:lnTo>
                    <a:pt x="243" y="11"/>
                  </a:lnTo>
                  <a:lnTo>
                    <a:pt x="225" y="5"/>
                  </a:lnTo>
                  <a:lnTo>
                    <a:pt x="208" y="2"/>
                  </a:lnTo>
                  <a:lnTo>
                    <a:pt x="191" y="0"/>
                  </a:lnTo>
                  <a:lnTo>
                    <a:pt x="172" y="0"/>
                  </a:lnTo>
                  <a:lnTo>
                    <a:pt x="154" y="1"/>
                  </a:lnTo>
                  <a:lnTo>
                    <a:pt x="137" y="5"/>
                  </a:lnTo>
                  <a:lnTo>
                    <a:pt x="118" y="11"/>
                  </a:lnTo>
                  <a:lnTo>
                    <a:pt x="101" y="18"/>
                  </a:lnTo>
                  <a:lnTo>
                    <a:pt x="69" y="38"/>
                  </a:lnTo>
                  <a:lnTo>
                    <a:pt x="43" y="63"/>
                  </a:lnTo>
                  <a:lnTo>
                    <a:pt x="24" y="92"/>
                  </a:lnTo>
                  <a:lnTo>
                    <a:pt x="9" y="125"/>
                  </a:lnTo>
                  <a:lnTo>
                    <a:pt x="2" y="161"/>
                  </a:lnTo>
                  <a:lnTo>
                    <a:pt x="0" y="198"/>
                  </a:lnTo>
                  <a:lnTo>
                    <a:pt x="7" y="235"/>
                  </a:lnTo>
                  <a:lnTo>
                    <a:pt x="20" y="270"/>
                  </a:lnTo>
                  <a:lnTo>
                    <a:pt x="67" y="366"/>
                  </a:lnTo>
                  <a:close/>
                </a:path>
              </a:pathLst>
            </a:custGeom>
            <a:solidFill>
              <a:srgbClr val="FF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3" name="Freeform 52">
              <a:extLst>
                <a:ext uri="{FF2B5EF4-FFF2-40B4-BE49-F238E27FC236}">
                  <a16:creationId xmlns:a16="http://schemas.microsoft.com/office/drawing/2014/main" id="{3BAC628D-049F-4959-AEF7-46F5DE71BC0B}"/>
                </a:ext>
              </a:extLst>
            </p:cNvPr>
            <p:cNvSpPr>
              <a:spLocks/>
            </p:cNvSpPr>
            <p:nvPr/>
          </p:nvSpPr>
          <p:spPr bwMode="auto">
            <a:xfrm>
              <a:off x="3805" y="1591"/>
              <a:ext cx="256" cy="116"/>
            </a:xfrm>
            <a:custGeom>
              <a:avLst/>
              <a:gdLst>
                <a:gd name="T0" fmla="*/ 251 w 256"/>
                <a:gd name="T1" fmla="*/ 87 h 116"/>
                <a:gd name="T2" fmla="*/ 251 w 256"/>
                <a:gd name="T3" fmla="*/ 87 h 116"/>
                <a:gd name="T4" fmla="*/ 235 w 256"/>
                <a:gd name="T5" fmla="*/ 94 h 116"/>
                <a:gd name="T6" fmla="*/ 216 w 256"/>
                <a:gd name="T7" fmla="*/ 100 h 116"/>
                <a:gd name="T8" fmla="*/ 200 w 256"/>
                <a:gd name="T9" fmla="*/ 104 h 116"/>
                <a:gd name="T10" fmla="*/ 182 w 256"/>
                <a:gd name="T11" fmla="*/ 104 h 116"/>
                <a:gd name="T12" fmla="*/ 165 w 256"/>
                <a:gd name="T13" fmla="*/ 105 h 116"/>
                <a:gd name="T14" fmla="*/ 146 w 256"/>
                <a:gd name="T15" fmla="*/ 103 h 116"/>
                <a:gd name="T16" fmla="*/ 130 w 256"/>
                <a:gd name="T17" fmla="*/ 100 h 116"/>
                <a:gd name="T18" fmla="*/ 113 w 256"/>
                <a:gd name="T19" fmla="*/ 94 h 116"/>
                <a:gd name="T20" fmla="*/ 98 w 256"/>
                <a:gd name="T21" fmla="*/ 88 h 116"/>
                <a:gd name="T22" fmla="*/ 82 w 256"/>
                <a:gd name="T23" fmla="*/ 80 h 116"/>
                <a:gd name="T24" fmla="*/ 67 w 256"/>
                <a:gd name="T25" fmla="*/ 71 h 116"/>
                <a:gd name="T26" fmla="*/ 54 w 256"/>
                <a:gd name="T27" fmla="*/ 59 h 116"/>
                <a:gd name="T28" fmla="*/ 40 w 256"/>
                <a:gd name="T29" fmla="*/ 46 h 116"/>
                <a:gd name="T30" fmla="*/ 31 w 256"/>
                <a:gd name="T31" fmla="*/ 33 h 116"/>
                <a:gd name="T32" fmla="*/ 20 w 256"/>
                <a:gd name="T33" fmla="*/ 17 h 116"/>
                <a:gd name="T34" fmla="*/ 10 w 256"/>
                <a:gd name="T35" fmla="*/ 0 h 116"/>
                <a:gd name="T36" fmla="*/ 0 w 256"/>
                <a:gd name="T37" fmla="*/ 5 h 116"/>
                <a:gd name="T38" fmla="*/ 10 w 256"/>
                <a:gd name="T39" fmla="*/ 22 h 116"/>
                <a:gd name="T40" fmla="*/ 21 w 256"/>
                <a:gd name="T41" fmla="*/ 38 h 116"/>
                <a:gd name="T42" fmla="*/ 33 w 256"/>
                <a:gd name="T43" fmla="*/ 54 h 116"/>
                <a:gd name="T44" fmla="*/ 47 w 256"/>
                <a:gd name="T45" fmla="*/ 66 h 116"/>
                <a:gd name="T46" fmla="*/ 63 w 256"/>
                <a:gd name="T47" fmla="*/ 78 h 116"/>
                <a:gd name="T48" fmla="*/ 77 w 256"/>
                <a:gd name="T49" fmla="*/ 89 h 116"/>
                <a:gd name="T50" fmla="*/ 93 w 256"/>
                <a:gd name="T51" fmla="*/ 98 h 116"/>
                <a:gd name="T52" fmla="*/ 110 w 256"/>
                <a:gd name="T53" fmla="*/ 104 h 116"/>
                <a:gd name="T54" fmla="*/ 128 w 256"/>
                <a:gd name="T55" fmla="*/ 110 h 116"/>
                <a:gd name="T56" fmla="*/ 146 w 256"/>
                <a:gd name="T57" fmla="*/ 113 h 116"/>
                <a:gd name="T58" fmla="*/ 165 w 256"/>
                <a:gd name="T59" fmla="*/ 115 h 116"/>
                <a:gd name="T60" fmla="*/ 182 w 256"/>
                <a:gd name="T61" fmla="*/ 116 h 116"/>
                <a:gd name="T62" fmla="*/ 200 w 256"/>
                <a:gd name="T63" fmla="*/ 114 h 116"/>
                <a:gd name="T64" fmla="*/ 219 w 256"/>
                <a:gd name="T65" fmla="*/ 110 h 116"/>
                <a:gd name="T66" fmla="*/ 237 w 256"/>
                <a:gd name="T67" fmla="*/ 104 h 116"/>
                <a:gd name="T68" fmla="*/ 256 w 256"/>
                <a:gd name="T69" fmla="*/ 97 h 116"/>
                <a:gd name="T70" fmla="*/ 256 w 256"/>
                <a:gd name="T71" fmla="*/ 97 h 116"/>
                <a:gd name="T72" fmla="*/ 251 w 256"/>
                <a:gd name="T73" fmla="*/ 87 h 11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56"/>
                <a:gd name="T112" fmla="*/ 0 h 116"/>
                <a:gd name="T113" fmla="*/ 256 w 256"/>
                <a:gd name="T114" fmla="*/ 116 h 11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56" h="116">
                  <a:moveTo>
                    <a:pt x="251" y="87"/>
                  </a:moveTo>
                  <a:lnTo>
                    <a:pt x="251" y="87"/>
                  </a:lnTo>
                  <a:lnTo>
                    <a:pt x="235" y="94"/>
                  </a:lnTo>
                  <a:lnTo>
                    <a:pt x="216" y="100"/>
                  </a:lnTo>
                  <a:lnTo>
                    <a:pt x="200" y="104"/>
                  </a:lnTo>
                  <a:lnTo>
                    <a:pt x="182" y="104"/>
                  </a:lnTo>
                  <a:lnTo>
                    <a:pt x="165" y="105"/>
                  </a:lnTo>
                  <a:lnTo>
                    <a:pt x="146" y="103"/>
                  </a:lnTo>
                  <a:lnTo>
                    <a:pt x="130" y="100"/>
                  </a:lnTo>
                  <a:lnTo>
                    <a:pt x="113" y="94"/>
                  </a:lnTo>
                  <a:lnTo>
                    <a:pt x="98" y="88"/>
                  </a:lnTo>
                  <a:lnTo>
                    <a:pt x="82" y="80"/>
                  </a:lnTo>
                  <a:lnTo>
                    <a:pt x="67" y="71"/>
                  </a:lnTo>
                  <a:lnTo>
                    <a:pt x="54" y="59"/>
                  </a:lnTo>
                  <a:lnTo>
                    <a:pt x="40" y="46"/>
                  </a:lnTo>
                  <a:lnTo>
                    <a:pt x="31" y="33"/>
                  </a:lnTo>
                  <a:lnTo>
                    <a:pt x="20" y="17"/>
                  </a:lnTo>
                  <a:lnTo>
                    <a:pt x="10" y="0"/>
                  </a:lnTo>
                  <a:lnTo>
                    <a:pt x="0" y="5"/>
                  </a:lnTo>
                  <a:lnTo>
                    <a:pt x="10" y="22"/>
                  </a:lnTo>
                  <a:lnTo>
                    <a:pt x="21" y="38"/>
                  </a:lnTo>
                  <a:lnTo>
                    <a:pt x="33" y="54"/>
                  </a:lnTo>
                  <a:lnTo>
                    <a:pt x="47" y="66"/>
                  </a:lnTo>
                  <a:lnTo>
                    <a:pt x="63" y="78"/>
                  </a:lnTo>
                  <a:lnTo>
                    <a:pt x="77" y="89"/>
                  </a:lnTo>
                  <a:lnTo>
                    <a:pt x="93" y="98"/>
                  </a:lnTo>
                  <a:lnTo>
                    <a:pt x="110" y="104"/>
                  </a:lnTo>
                  <a:lnTo>
                    <a:pt x="128" y="110"/>
                  </a:lnTo>
                  <a:lnTo>
                    <a:pt x="146" y="113"/>
                  </a:lnTo>
                  <a:lnTo>
                    <a:pt x="165" y="115"/>
                  </a:lnTo>
                  <a:lnTo>
                    <a:pt x="182" y="116"/>
                  </a:lnTo>
                  <a:lnTo>
                    <a:pt x="200" y="114"/>
                  </a:lnTo>
                  <a:lnTo>
                    <a:pt x="219" y="110"/>
                  </a:lnTo>
                  <a:lnTo>
                    <a:pt x="237" y="104"/>
                  </a:lnTo>
                  <a:lnTo>
                    <a:pt x="256" y="97"/>
                  </a:lnTo>
                  <a:lnTo>
                    <a:pt x="251"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4" name="Freeform 53">
              <a:extLst>
                <a:ext uri="{FF2B5EF4-FFF2-40B4-BE49-F238E27FC236}">
                  <a16:creationId xmlns:a16="http://schemas.microsoft.com/office/drawing/2014/main" id="{3F18720A-8AE4-4225-90B4-45739A8E8A80}"/>
                </a:ext>
              </a:extLst>
            </p:cNvPr>
            <p:cNvSpPr>
              <a:spLocks/>
            </p:cNvSpPr>
            <p:nvPr/>
          </p:nvSpPr>
          <p:spPr bwMode="auto">
            <a:xfrm>
              <a:off x="4056" y="1426"/>
              <a:ext cx="109" cy="262"/>
            </a:xfrm>
            <a:custGeom>
              <a:avLst/>
              <a:gdLst>
                <a:gd name="T0" fmla="*/ 80 w 109"/>
                <a:gd name="T1" fmla="*/ 7 h 262"/>
                <a:gd name="T2" fmla="*/ 80 w 109"/>
                <a:gd name="T3" fmla="*/ 7 h 262"/>
                <a:gd name="T4" fmla="*/ 93 w 109"/>
                <a:gd name="T5" fmla="*/ 42 h 262"/>
                <a:gd name="T6" fmla="*/ 99 w 109"/>
                <a:gd name="T7" fmla="*/ 77 h 262"/>
                <a:gd name="T8" fmla="*/ 98 w 109"/>
                <a:gd name="T9" fmla="*/ 114 h 262"/>
                <a:gd name="T10" fmla="*/ 89 w 109"/>
                <a:gd name="T11" fmla="*/ 149 h 262"/>
                <a:gd name="T12" fmla="*/ 75 w 109"/>
                <a:gd name="T13" fmla="*/ 181 h 262"/>
                <a:gd name="T14" fmla="*/ 56 w 109"/>
                <a:gd name="T15" fmla="*/ 209 h 262"/>
                <a:gd name="T16" fmla="*/ 30 w 109"/>
                <a:gd name="T17" fmla="*/ 233 h 262"/>
                <a:gd name="T18" fmla="*/ 0 w 109"/>
                <a:gd name="T19" fmla="*/ 252 h 262"/>
                <a:gd name="T20" fmla="*/ 5 w 109"/>
                <a:gd name="T21" fmla="*/ 262 h 262"/>
                <a:gd name="T22" fmla="*/ 38 w 109"/>
                <a:gd name="T23" fmla="*/ 241 h 262"/>
                <a:gd name="T24" fmla="*/ 64 w 109"/>
                <a:gd name="T25" fmla="*/ 216 h 262"/>
                <a:gd name="T26" fmla="*/ 84 w 109"/>
                <a:gd name="T27" fmla="*/ 186 h 262"/>
                <a:gd name="T28" fmla="*/ 99 w 109"/>
                <a:gd name="T29" fmla="*/ 151 h 262"/>
                <a:gd name="T30" fmla="*/ 108 w 109"/>
                <a:gd name="T31" fmla="*/ 114 h 262"/>
                <a:gd name="T32" fmla="*/ 109 w 109"/>
                <a:gd name="T33" fmla="*/ 77 h 262"/>
                <a:gd name="T34" fmla="*/ 103 w 109"/>
                <a:gd name="T35" fmla="*/ 39 h 262"/>
                <a:gd name="T36" fmla="*/ 89 w 109"/>
                <a:gd name="T37" fmla="*/ 2 h 262"/>
                <a:gd name="T38" fmla="*/ 89 w 109"/>
                <a:gd name="T39" fmla="*/ 2 h 262"/>
                <a:gd name="T40" fmla="*/ 89 w 109"/>
                <a:gd name="T41" fmla="*/ 2 h 262"/>
                <a:gd name="T42" fmla="*/ 87 w 109"/>
                <a:gd name="T43" fmla="*/ 0 h 262"/>
                <a:gd name="T44" fmla="*/ 83 w 109"/>
                <a:gd name="T45" fmla="*/ 0 h 262"/>
                <a:gd name="T46" fmla="*/ 80 w 109"/>
                <a:gd name="T47" fmla="*/ 4 h 262"/>
                <a:gd name="T48" fmla="*/ 80 w 109"/>
                <a:gd name="T49" fmla="*/ 7 h 26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
                <a:gd name="T76" fmla="*/ 0 h 262"/>
                <a:gd name="T77" fmla="*/ 109 w 109"/>
                <a:gd name="T78" fmla="*/ 262 h 26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 h="262">
                  <a:moveTo>
                    <a:pt x="80" y="7"/>
                  </a:moveTo>
                  <a:lnTo>
                    <a:pt x="80" y="7"/>
                  </a:lnTo>
                  <a:lnTo>
                    <a:pt x="93" y="42"/>
                  </a:lnTo>
                  <a:lnTo>
                    <a:pt x="99" y="77"/>
                  </a:lnTo>
                  <a:lnTo>
                    <a:pt x="98" y="114"/>
                  </a:lnTo>
                  <a:lnTo>
                    <a:pt x="89" y="149"/>
                  </a:lnTo>
                  <a:lnTo>
                    <a:pt x="75" y="181"/>
                  </a:lnTo>
                  <a:lnTo>
                    <a:pt x="56" y="209"/>
                  </a:lnTo>
                  <a:lnTo>
                    <a:pt x="30" y="233"/>
                  </a:lnTo>
                  <a:lnTo>
                    <a:pt x="0" y="252"/>
                  </a:lnTo>
                  <a:lnTo>
                    <a:pt x="5" y="262"/>
                  </a:lnTo>
                  <a:lnTo>
                    <a:pt x="38" y="241"/>
                  </a:lnTo>
                  <a:lnTo>
                    <a:pt x="64" y="216"/>
                  </a:lnTo>
                  <a:lnTo>
                    <a:pt x="84" y="186"/>
                  </a:lnTo>
                  <a:lnTo>
                    <a:pt x="99" y="151"/>
                  </a:lnTo>
                  <a:lnTo>
                    <a:pt x="108" y="114"/>
                  </a:lnTo>
                  <a:lnTo>
                    <a:pt x="109" y="77"/>
                  </a:lnTo>
                  <a:lnTo>
                    <a:pt x="103" y="39"/>
                  </a:lnTo>
                  <a:lnTo>
                    <a:pt x="89" y="2"/>
                  </a:lnTo>
                  <a:lnTo>
                    <a:pt x="87" y="0"/>
                  </a:lnTo>
                  <a:lnTo>
                    <a:pt x="83" y="0"/>
                  </a:lnTo>
                  <a:lnTo>
                    <a:pt x="80" y="4"/>
                  </a:lnTo>
                  <a:lnTo>
                    <a:pt x="8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5" name="Freeform 54">
              <a:extLst>
                <a:ext uri="{FF2B5EF4-FFF2-40B4-BE49-F238E27FC236}">
                  <a16:creationId xmlns:a16="http://schemas.microsoft.com/office/drawing/2014/main" id="{A66608FB-018E-47B4-B26B-9390890361BB}"/>
                </a:ext>
              </a:extLst>
            </p:cNvPr>
            <p:cNvSpPr>
              <a:spLocks/>
            </p:cNvSpPr>
            <p:nvPr/>
          </p:nvSpPr>
          <p:spPr bwMode="auto">
            <a:xfrm>
              <a:off x="4088" y="1330"/>
              <a:ext cx="57" cy="103"/>
            </a:xfrm>
            <a:custGeom>
              <a:avLst/>
              <a:gdLst>
                <a:gd name="T0" fmla="*/ 0 w 57"/>
                <a:gd name="T1" fmla="*/ 8 h 103"/>
                <a:gd name="T2" fmla="*/ 0 w 57"/>
                <a:gd name="T3" fmla="*/ 8 h 103"/>
                <a:gd name="T4" fmla="*/ 48 w 57"/>
                <a:gd name="T5" fmla="*/ 103 h 103"/>
                <a:gd name="T6" fmla="*/ 57 w 57"/>
                <a:gd name="T7" fmla="*/ 98 h 103"/>
                <a:gd name="T8" fmla="*/ 9 w 57"/>
                <a:gd name="T9" fmla="*/ 3 h 103"/>
                <a:gd name="T10" fmla="*/ 9 w 57"/>
                <a:gd name="T11" fmla="*/ 3 h 103"/>
                <a:gd name="T12" fmla="*/ 9 w 57"/>
                <a:gd name="T13" fmla="*/ 3 h 103"/>
                <a:gd name="T14" fmla="*/ 7 w 57"/>
                <a:gd name="T15" fmla="*/ 0 h 103"/>
                <a:gd name="T16" fmla="*/ 3 w 57"/>
                <a:gd name="T17" fmla="*/ 0 h 103"/>
                <a:gd name="T18" fmla="*/ 0 w 57"/>
                <a:gd name="T19" fmla="*/ 4 h 103"/>
                <a:gd name="T20" fmla="*/ 0 w 57"/>
                <a:gd name="T21" fmla="*/ 8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7"/>
                <a:gd name="T34" fmla="*/ 0 h 103"/>
                <a:gd name="T35" fmla="*/ 57 w 57"/>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7" h="103">
                  <a:moveTo>
                    <a:pt x="0" y="8"/>
                  </a:moveTo>
                  <a:lnTo>
                    <a:pt x="0" y="8"/>
                  </a:lnTo>
                  <a:lnTo>
                    <a:pt x="48" y="103"/>
                  </a:lnTo>
                  <a:lnTo>
                    <a:pt x="57" y="98"/>
                  </a:lnTo>
                  <a:lnTo>
                    <a:pt x="9" y="3"/>
                  </a:lnTo>
                  <a:lnTo>
                    <a:pt x="7" y="0"/>
                  </a:lnTo>
                  <a:lnTo>
                    <a:pt x="3" y="0"/>
                  </a:lnTo>
                  <a:lnTo>
                    <a:pt x="0" y="4"/>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6" name="Freeform 55">
              <a:extLst>
                <a:ext uri="{FF2B5EF4-FFF2-40B4-BE49-F238E27FC236}">
                  <a16:creationId xmlns:a16="http://schemas.microsoft.com/office/drawing/2014/main" id="{EE604DF7-AA83-4348-9B80-3CD5E7BB0BCC}"/>
                </a:ext>
              </a:extLst>
            </p:cNvPr>
            <p:cNvSpPr>
              <a:spLocks/>
            </p:cNvSpPr>
            <p:nvPr/>
          </p:nvSpPr>
          <p:spPr bwMode="auto">
            <a:xfrm>
              <a:off x="3842" y="1221"/>
              <a:ext cx="255" cy="117"/>
            </a:xfrm>
            <a:custGeom>
              <a:avLst/>
              <a:gdLst>
                <a:gd name="T0" fmla="*/ 5 w 255"/>
                <a:gd name="T1" fmla="*/ 29 h 117"/>
                <a:gd name="T2" fmla="*/ 5 w 255"/>
                <a:gd name="T3" fmla="*/ 29 h 117"/>
                <a:gd name="T4" fmla="*/ 21 w 255"/>
                <a:gd name="T5" fmla="*/ 22 h 117"/>
                <a:gd name="T6" fmla="*/ 39 w 255"/>
                <a:gd name="T7" fmla="*/ 16 h 117"/>
                <a:gd name="T8" fmla="*/ 55 w 255"/>
                <a:gd name="T9" fmla="*/ 12 h 117"/>
                <a:gd name="T10" fmla="*/ 73 w 255"/>
                <a:gd name="T11" fmla="*/ 12 h 117"/>
                <a:gd name="T12" fmla="*/ 92 w 255"/>
                <a:gd name="T13" fmla="*/ 11 h 117"/>
                <a:gd name="T14" fmla="*/ 109 w 255"/>
                <a:gd name="T15" fmla="*/ 13 h 117"/>
                <a:gd name="T16" fmla="*/ 125 w 255"/>
                <a:gd name="T17" fmla="*/ 16 h 117"/>
                <a:gd name="T18" fmla="*/ 142 w 255"/>
                <a:gd name="T19" fmla="*/ 22 h 117"/>
                <a:gd name="T20" fmla="*/ 158 w 255"/>
                <a:gd name="T21" fmla="*/ 28 h 117"/>
                <a:gd name="T22" fmla="*/ 174 w 255"/>
                <a:gd name="T23" fmla="*/ 37 h 117"/>
                <a:gd name="T24" fmla="*/ 188 w 255"/>
                <a:gd name="T25" fmla="*/ 45 h 117"/>
                <a:gd name="T26" fmla="*/ 201 w 255"/>
                <a:gd name="T27" fmla="*/ 58 h 117"/>
                <a:gd name="T28" fmla="*/ 215 w 255"/>
                <a:gd name="T29" fmla="*/ 70 h 117"/>
                <a:gd name="T30" fmla="*/ 226 w 255"/>
                <a:gd name="T31" fmla="*/ 83 h 117"/>
                <a:gd name="T32" fmla="*/ 236 w 255"/>
                <a:gd name="T33" fmla="*/ 99 h 117"/>
                <a:gd name="T34" fmla="*/ 246 w 255"/>
                <a:gd name="T35" fmla="*/ 117 h 117"/>
                <a:gd name="T36" fmla="*/ 255 w 255"/>
                <a:gd name="T37" fmla="*/ 112 h 117"/>
                <a:gd name="T38" fmla="*/ 246 w 255"/>
                <a:gd name="T39" fmla="*/ 94 h 117"/>
                <a:gd name="T40" fmla="*/ 236 w 255"/>
                <a:gd name="T41" fmla="*/ 79 h 117"/>
                <a:gd name="T42" fmla="*/ 222 w 255"/>
                <a:gd name="T43" fmla="*/ 63 h 117"/>
                <a:gd name="T44" fmla="*/ 209 w 255"/>
                <a:gd name="T45" fmla="*/ 50 h 117"/>
                <a:gd name="T46" fmla="*/ 195 w 255"/>
                <a:gd name="T47" fmla="*/ 38 h 117"/>
                <a:gd name="T48" fmla="*/ 179 w 255"/>
                <a:gd name="T49" fmla="*/ 27 h 117"/>
                <a:gd name="T50" fmla="*/ 163 w 255"/>
                <a:gd name="T51" fmla="*/ 18 h 117"/>
                <a:gd name="T52" fmla="*/ 145 w 255"/>
                <a:gd name="T53" fmla="*/ 12 h 117"/>
                <a:gd name="T54" fmla="*/ 128 w 255"/>
                <a:gd name="T55" fmla="*/ 6 h 117"/>
                <a:gd name="T56" fmla="*/ 109 w 255"/>
                <a:gd name="T57" fmla="*/ 4 h 117"/>
                <a:gd name="T58" fmla="*/ 92 w 255"/>
                <a:gd name="T59" fmla="*/ 1 h 117"/>
                <a:gd name="T60" fmla="*/ 73 w 255"/>
                <a:gd name="T61" fmla="*/ 0 h 117"/>
                <a:gd name="T62" fmla="*/ 55 w 255"/>
                <a:gd name="T63" fmla="*/ 2 h 117"/>
                <a:gd name="T64" fmla="*/ 37 w 255"/>
                <a:gd name="T65" fmla="*/ 6 h 117"/>
                <a:gd name="T66" fmla="*/ 18 w 255"/>
                <a:gd name="T67" fmla="*/ 12 h 117"/>
                <a:gd name="T68" fmla="*/ 0 w 255"/>
                <a:gd name="T69" fmla="*/ 20 h 117"/>
                <a:gd name="T70" fmla="*/ 0 w 255"/>
                <a:gd name="T71" fmla="*/ 20 h 117"/>
                <a:gd name="T72" fmla="*/ 5 w 255"/>
                <a:gd name="T73" fmla="*/ 29 h 11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55"/>
                <a:gd name="T112" fmla="*/ 0 h 117"/>
                <a:gd name="T113" fmla="*/ 255 w 255"/>
                <a:gd name="T114" fmla="*/ 117 h 11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55" h="117">
                  <a:moveTo>
                    <a:pt x="5" y="29"/>
                  </a:moveTo>
                  <a:lnTo>
                    <a:pt x="5" y="29"/>
                  </a:lnTo>
                  <a:lnTo>
                    <a:pt x="21" y="22"/>
                  </a:lnTo>
                  <a:lnTo>
                    <a:pt x="39" y="16"/>
                  </a:lnTo>
                  <a:lnTo>
                    <a:pt x="55" y="12"/>
                  </a:lnTo>
                  <a:lnTo>
                    <a:pt x="73" y="12"/>
                  </a:lnTo>
                  <a:lnTo>
                    <a:pt x="92" y="11"/>
                  </a:lnTo>
                  <a:lnTo>
                    <a:pt x="109" y="13"/>
                  </a:lnTo>
                  <a:lnTo>
                    <a:pt x="125" y="16"/>
                  </a:lnTo>
                  <a:lnTo>
                    <a:pt x="142" y="22"/>
                  </a:lnTo>
                  <a:lnTo>
                    <a:pt x="158" y="28"/>
                  </a:lnTo>
                  <a:lnTo>
                    <a:pt x="174" y="37"/>
                  </a:lnTo>
                  <a:lnTo>
                    <a:pt x="188" y="45"/>
                  </a:lnTo>
                  <a:lnTo>
                    <a:pt x="201" y="58"/>
                  </a:lnTo>
                  <a:lnTo>
                    <a:pt x="215" y="70"/>
                  </a:lnTo>
                  <a:lnTo>
                    <a:pt x="226" y="83"/>
                  </a:lnTo>
                  <a:lnTo>
                    <a:pt x="236" y="99"/>
                  </a:lnTo>
                  <a:lnTo>
                    <a:pt x="246" y="117"/>
                  </a:lnTo>
                  <a:lnTo>
                    <a:pt x="255" y="112"/>
                  </a:lnTo>
                  <a:lnTo>
                    <a:pt x="246" y="94"/>
                  </a:lnTo>
                  <a:lnTo>
                    <a:pt x="236" y="79"/>
                  </a:lnTo>
                  <a:lnTo>
                    <a:pt x="222" y="63"/>
                  </a:lnTo>
                  <a:lnTo>
                    <a:pt x="209" y="50"/>
                  </a:lnTo>
                  <a:lnTo>
                    <a:pt x="195" y="38"/>
                  </a:lnTo>
                  <a:lnTo>
                    <a:pt x="179" y="27"/>
                  </a:lnTo>
                  <a:lnTo>
                    <a:pt x="163" y="18"/>
                  </a:lnTo>
                  <a:lnTo>
                    <a:pt x="145" y="12"/>
                  </a:lnTo>
                  <a:lnTo>
                    <a:pt x="128" y="6"/>
                  </a:lnTo>
                  <a:lnTo>
                    <a:pt x="109" y="4"/>
                  </a:lnTo>
                  <a:lnTo>
                    <a:pt x="92" y="1"/>
                  </a:lnTo>
                  <a:lnTo>
                    <a:pt x="73" y="0"/>
                  </a:lnTo>
                  <a:lnTo>
                    <a:pt x="55" y="2"/>
                  </a:lnTo>
                  <a:lnTo>
                    <a:pt x="37" y="6"/>
                  </a:lnTo>
                  <a:lnTo>
                    <a:pt x="18" y="12"/>
                  </a:lnTo>
                  <a:lnTo>
                    <a:pt x="0" y="20"/>
                  </a:lnTo>
                  <a:lnTo>
                    <a:pt x="5"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7" name="Freeform 56">
              <a:extLst>
                <a:ext uri="{FF2B5EF4-FFF2-40B4-BE49-F238E27FC236}">
                  <a16:creationId xmlns:a16="http://schemas.microsoft.com/office/drawing/2014/main" id="{981CB41C-4BC4-4770-8338-C9D0A0BBE2A8}"/>
                </a:ext>
              </a:extLst>
            </p:cNvPr>
            <p:cNvSpPr>
              <a:spLocks/>
            </p:cNvSpPr>
            <p:nvPr/>
          </p:nvSpPr>
          <p:spPr bwMode="auto">
            <a:xfrm>
              <a:off x="3738" y="1241"/>
              <a:ext cx="109" cy="261"/>
            </a:xfrm>
            <a:custGeom>
              <a:avLst/>
              <a:gdLst>
                <a:gd name="T0" fmla="*/ 30 w 109"/>
                <a:gd name="T1" fmla="*/ 254 h 261"/>
                <a:gd name="T2" fmla="*/ 30 w 109"/>
                <a:gd name="T3" fmla="*/ 254 h 261"/>
                <a:gd name="T4" fmla="*/ 16 w 109"/>
                <a:gd name="T5" fmla="*/ 219 h 261"/>
                <a:gd name="T6" fmla="*/ 10 w 109"/>
                <a:gd name="T7" fmla="*/ 184 h 261"/>
                <a:gd name="T8" fmla="*/ 12 w 109"/>
                <a:gd name="T9" fmla="*/ 147 h 261"/>
                <a:gd name="T10" fmla="*/ 19 w 109"/>
                <a:gd name="T11" fmla="*/ 113 h 261"/>
                <a:gd name="T12" fmla="*/ 34 w 109"/>
                <a:gd name="T13" fmla="*/ 81 h 261"/>
                <a:gd name="T14" fmla="*/ 52 w 109"/>
                <a:gd name="T15" fmla="*/ 52 h 261"/>
                <a:gd name="T16" fmla="*/ 78 w 109"/>
                <a:gd name="T17" fmla="*/ 28 h 261"/>
                <a:gd name="T18" fmla="*/ 109 w 109"/>
                <a:gd name="T19" fmla="*/ 9 h 261"/>
                <a:gd name="T20" fmla="*/ 104 w 109"/>
                <a:gd name="T21" fmla="*/ 0 h 261"/>
                <a:gd name="T22" fmla="*/ 71 w 109"/>
                <a:gd name="T23" fmla="*/ 20 h 261"/>
                <a:gd name="T24" fmla="*/ 45 w 109"/>
                <a:gd name="T25" fmla="*/ 45 h 261"/>
                <a:gd name="T26" fmla="*/ 24 w 109"/>
                <a:gd name="T27" fmla="*/ 76 h 261"/>
                <a:gd name="T28" fmla="*/ 9 w 109"/>
                <a:gd name="T29" fmla="*/ 110 h 261"/>
                <a:gd name="T30" fmla="*/ 2 w 109"/>
                <a:gd name="T31" fmla="*/ 147 h 261"/>
                <a:gd name="T32" fmla="*/ 0 w 109"/>
                <a:gd name="T33" fmla="*/ 184 h 261"/>
                <a:gd name="T34" fmla="*/ 7 w 109"/>
                <a:gd name="T35" fmla="*/ 222 h 261"/>
                <a:gd name="T36" fmla="*/ 20 w 109"/>
                <a:gd name="T37" fmla="*/ 259 h 261"/>
                <a:gd name="T38" fmla="*/ 20 w 109"/>
                <a:gd name="T39" fmla="*/ 259 h 261"/>
                <a:gd name="T40" fmla="*/ 20 w 109"/>
                <a:gd name="T41" fmla="*/ 259 h 261"/>
                <a:gd name="T42" fmla="*/ 23 w 109"/>
                <a:gd name="T43" fmla="*/ 261 h 261"/>
                <a:gd name="T44" fmla="*/ 28 w 109"/>
                <a:gd name="T45" fmla="*/ 261 h 261"/>
                <a:gd name="T46" fmla="*/ 30 w 109"/>
                <a:gd name="T47" fmla="*/ 258 h 261"/>
                <a:gd name="T48" fmla="*/ 30 w 109"/>
                <a:gd name="T49" fmla="*/ 254 h 26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
                <a:gd name="T76" fmla="*/ 0 h 261"/>
                <a:gd name="T77" fmla="*/ 109 w 109"/>
                <a:gd name="T78" fmla="*/ 261 h 26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 h="261">
                  <a:moveTo>
                    <a:pt x="30" y="254"/>
                  </a:moveTo>
                  <a:lnTo>
                    <a:pt x="30" y="254"/>
                  </a:lnTo>
                  <a:lnTo>
                    <a:pt x="16" y="219"/>
                  </a:lnTo>
                  <a:lnTo>
                    <a:pt x="10" y="184"/>
                  </a:lnTo>
                  <a:lnTo>
                    <a:pt x="12" y="147"/>
                  </a:lnTo>
                  <a:lnTo>
                    <a:pt x="19" y="113"/>
                  </a:lnTo>
                  <a:lnTo>
                    <a:pt x="34" y="81"/>
                  </a:lnTo>
                  <a:lnTo>
                    <a:pt x="52" y="52"/>
                  </a:lnTo>
                  <a:lnTo>
                    <a:pt x="78" y="28"/>
                  </a:lnTo>
                  <a:lnTo>
                    <a:pt x="109" y="9"/>
                  </a:lnTo>
                  <a:lnTo>
                    <a:pt x="104" y="0"/>
                  </a:lnTo>
                  <a:lnTo>
                    <a:pt x="71" y="20"/>
                  </a:lnTo>
                  <a:lnTo>
                    <a:pt x="45" y="45"/>
                  </a:lnTo>
                  <a:lnTo>
                    <a:pt x="24" y="76"/>
                  </a:lnTo>
                  <a:lnTo>
                    <a:pt x="9" y="110"/>
                  </a:lnTo>
                  <a:lnTo>
                    <a:pt x="2" y="147"/>
                  </a:lnTo>
                  <a:lnTo>
                    <a:pt x="0" y="184"/>
                  </a:lnTo>
                  <a:lnTo>
                    <a:pt x="7" y="222"/>
                  </a:lnTo>
                  <a:lnTo>
                    <a:pt x="20" y="259"/>
                  </a:lnTo>
                  <a:lnTo>
                    <a:pt x="23" y="261"/>
                  </a:lnTo>
                  <a:lnTo>
                    <a:pt x="28" y="261"/>
                  </a:lnTo>
                  <a:lnTo>
                    <a:pt x="30" y="258"/>
                  </a:lnTo>
                  <a:lnTo>
                    <a:pt x="30" y="2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8" name="Freeform 57">
              <a:extLst>
                <a:ext uri="{FF2B5EF4-FFF2-40B4-BE49-F238E27FC236}">
                  <a16:creationId xmlns:a16="http://schemas.microsoft.com/office/drawing/2014/main" id="{858F020F-C149-4521-BF28-13F0C353D255}"/>
                </a:ext>
              </a:extLst>
            </p:cNvPr>
            <p:cNvSpPr>
              <a:spLocks/>
            </p:cNvSpPr>
            <p:nvPr/>
          </p:nvSpPr>
          <p:spPr bwMode="auto">
            <a:xfrm>
              <a:off x="3758" y="1495"/>
              <a:ext cx="57" cy="103"/>
            </a:xfrm>
            <a:custGeom>
              <a:avLst/>
              <a:gdLst>
                <a:gd name="T0" fmla="*/ 57 w 57"/>
                <a:gd name="T1" fmla="*/ 96 h 103"/>
                <a:gd name="T2" fmla="*/ 57 w 57"/>
                <a:gd name="T3" fmla="*/ 96 h 103"/>
                <a:gd name="T4" fmla="*/ 10 w 57"/>
                <a:gd name="T5" fmla="*/ 0 h 103"/>
                <a:gd name="T6" fmla="*/ 0 w 57"/>
                <a:gd name="T7" fmla="*/ 5 h 103"/>
                <a:gd name="T8" fmla="*/ 47 w 57"/>
                <a:gd name="T9" fmla="*/ 101 h 103"/>
                <a:gd name="T10" fmla="*/ 47 w 57"/>
                <a:gd name="T11" fmla="*/ 101 h 103"/>
                <a:gd name="T12" fmla="*/ 47 w 57"/>
                <a:gd name="T13" fmla="*/ 101 h 103"/>
                <a:gd name="T14" fmla="*/ 49 w 57"/>
                <a:gd name="T15" fmla="*/ 103 h 103"/>
                <a:gd name="T16" fmla="*/ 54 w 57"/>
                <a:gd name="T17" fmla="*/ 103 h 103"/>
                <a:gd name="T18" fmla="*/ 57 w 57"/>
                <a:gd name="T19" fmla="*/ 99 h 103"/>
                <a:gd name="T20" fmla="*/ 57 w 57"/>
                <a:gd name="T21" fmla="*/ 96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7"/>
                <a:gd name="T34" fmla="*/ 0 h 103"/>
                <a:gd name="T35" fmla="*/ 57 w 57"/>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7" h="103">
                  <a:moveTo>
                    <a:pt x="57" y="96"/>
                  </a:moveTo>
                  <a:lnTo>
                    <a:pt x="57" y="96"/>
                  </a:lnTo>
                  <a:lnTo>
                    <a:pt x="10" y="0"/>
                  </a:lnTo>
                  <a:lnTo>
                    <a:pt x="0" y="5"/>
                  </a:lnTo>
                  <a:lnTo>
                    <a:pt x="47" y="101"/>
                  </a:lnTo>
                  <a:lnTo>
                    <a:pt x="49" y="103"/>
                  </a:lnTo>
                  <a:lnTo>
                    <a:pt x="54" y="103"/>
                  </a:lnTo>
                  <a:lnTo>
                    <a:pt x="57" y="99"/>
                  </a:lnTo>
                  <a:lnTo>
                    <a:pt x="57"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89" name="Freeform 58">
              <a:extLst>
                <a:ext uri="{FF2B5EF4-FFF2-40B4-BE49-F238E27FC236}">
                  <a16:creationId xmlns:a16="http://schemas.microsoft.com/office/drawing/2014/main" id="{91062B00-F6FD-40F1-8AD2-C5519661A615}"/>
                </a:ext>
              </a:extLst>
            </p:cNvPr>
            <p:cNvSpPr>
              <a:spLocks/>
            </p:cNvSpPr>
            <p:nvPr/>
          </p:nvSpPr>
          <p:spPr bwMode="auto">
            <a:xfrm>
              <a:off x="3409" y="1582"/>
              <a:ext cx="1108" cy="1053"/>
            </a:xfrm>
            <a:custGeom>
              <a:avLst/>
              <a:gdLst>
                <a:gd name="T0" fmla="*/ 1052 w 1108"/>
                <a:gd name="T1" fmla="*/ 1053 h 1053"/>
                <a:gd name="T2" fmla="*/ 629 w 1108"/>
                <a:gd name="T3" fmla="*/ 1053 h 1053"/>
                <a:gd name="T4" fmla="*/ 643 w 1108"/>
                <a:gd name="T5" fmla="*/ 1016 h 1053"/>
                <a:gd name="T6" fmla="*/ 660 w 1108"/>
                <a:gd name="T7" fmla="*/ 971 h 1053"/>
                <a:gd name="T8" fmla="*/ 677 w 1108"/>
                <a:gd name="T9" fmla="*/ 920 h 1053"/>
                <a:gd name="T10" fmla="*/ 696 w 1108"/>
                <a:gd name="T11" fmla="*/ 870 h 1053"/>
                <a:gd name="T12" fmla="*/ 712 w 1108"/>
                <a:gd name="T13" fmla="*/ 823 h 1053"/>
                <a:gd name="T14" fmla="*/ 725 w 1108"/>
                <a:gd name="T15" fmla="*/ 785 h 1053"/>
                <a:gd name="T16" fmla="*/ 734 w 1108"/>
                <a:gd name="T17" fmla="*/ 759 h 1053"/>
                <a:gd name="T18" fmla="*/ 738 w 1108"/>
                <a:gd name="T19" fmla="*/ 749 h 1053"/>
                <a:gd name="T20" fmla="*/ 530 w 1108"/>
                <a:gd name="T21" fmla="*/ 409 h 1053"/>
                <a:gd name="T22" fmla="*/ 189 w 1108"/>
                <a:gd name="T23" fmla="*/ 516 h 1053"/>
                <a:gd name="T24" fmla="*/ 0 w 1108"/>
                <a:gd name="T25" fmla="*/ 102 h 1053"/>
                <a:gd name="T26" fmla="*/ 209 w 1108"/>
                <a:gd name="T27" fmla="*/ 0 h 1053"/>
                <a:gd name="T28" fmla="*/ 221 w 1108"/>
                <a:gd name="T29" fmla="*/ 28 h 1053"/>
                <a:gd name="T30" fmla="*/ 238 w 1108"/>
                <a:gd name="T31" fmla="*/ 65 h 1053"/>
                <a:gd name="T32" fmla="*/ 257 w 1108"/>
                <a:gd name="T33" fmla="*/ 109 h 1053"/>
                <a:gd name="T34" fmla="*/ 278 w 1108"/>
                <a:gd name="T35" fmla="*/ 154 h 1053"/>
                <a:gd name="T36" fmla="*/ 297 w 1108"/>
                <a:gd name="T37" fmla="*/ 195 h 1053"/>
                <a:gd name="T38" fmla="*/ 313 w 1108"/>
                <a:gd name="T39" fmla="*/ 231 h 1053"/>
                <a:gd name="T40" fmla="*/ 325 w 1108"/>
                <a:gd name="T41" fmla="*/ 256 h 1053"/>
                <a:gd name="T42" fmla="*/ 328 w 1108"/>
                <a:gd name="T43" fmla="*/ 264 h 1053"/>
                <a:gd name="T44" fmla="*/ 543 w 1108"/>
                <a:gd name="T45" fmla="*/ 202 h 1053"/>
                <a:gd name="T46" fmla="*/ 554 w 1108"/>
                <a:gd name="T47" fmla="*/ 152 h 1053"/>
                <a:gd name="T48" fmla="*/ 762 w 1108"/>
                <a:gd name="T49" fmla="*/ 20 h 1053"/>
                <a:gd name="T50" fmla="*/ 1052 w 1108"/>
                <a:gd name="T51" fmla="*/ 566 h 1053"/>
                <a:gd name="T52" fmla="*/ 1087 w 1108"/>
                <a:gd name="T53" fmla="*/ 633 h 1053"/>
                <a:gd name="T54" fmla="*/ 1104 w 1108"/>
                <a:gd name="T55" fmla="*/ 697 h 1053"/>
                <a:gd name="T56" fmla="*/ 1108 w 1108"/>
                <a:gd name="T57" fmla="*/ 758 h 1053"/>
                <a:gd name="T58" fmla="*/ 1100 w 1108"/>
                <a:gd name="T59" fmla="*/ 818 h 1053"/>
                <a:gd name="T60" fmla="*/ 1088 w 1108"/>
                <a:gd name="T61" fmla="*/ 878 h 1053"/>
                <a:gd name="T62" fmla="*/ 1073 w 1108"/>
                <a:gd name="T63" fmla="*/ 936 h 1053"/>
                <a:gd name="T64" fmla="*/ 1060 w 1108"/>
                <a:gd name="T65" fmla="*/ 995 h 1053"/>
                <a:gd name="T66" fmla="*/ 1052 w 1108"/>
                <a:gd name="T67" fmla="*/ 1053 h 10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8"/>
                <a:gd name="T103" fmla="*/ 0 h 1053"/>
                <a:gd name="T104" fmla="*/ 1108 w 1108"/>
                <a:gd name="T105" fmla="*/ 1053 h 10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8" h="1053">
                  <a:moveTo>
                    <a:pt x="1052" y="1053"/>
                  </a:moveTo>
                  <a:lnTo>
                    <a:pt x="629" y="1053"/>
                  </a:lnTo>
                  <a:lnTo>
                    <a:pt x="643" y="1016"/>
                  </a:lnTo>
                  <a:lnTo>
                    <a:pt x="660" y="971"/>
                  </a:lnTo>
                  <a:lnTo>
                    <a:pt x="677" y="920"/>
                  </a:lnTo>
                  <a:lnTo>
                    <a:pt x="696" y="870"/>
                  </a:lnTo>
                  <a:lnTo>
                    <a:pt x="712" y="823"/>
                  </a:lnTo>
                  <a:lnTo>
                    <a:pt x="725" y="785"/>
                  </a:lnTo>
                  <a:lnTo>
                    <a:pt x="734" y="759"/>
                  </a:lnTo>
                  <a:lnTo>
                    <a:pt x="738" y="749"/>
                  </a:lnTo>
                  <a:lnTo>
                    <a:pt x="530" y="409"/>
                  </a:lnTo>
                  <a:lnTo>
                    <a:pt x="189" y="516"/>
                  </a:lnTo>
                  <a:lnTo>
                    <a:pt x="0" y="102"/>
                  </a:lnTo>
                  <a:lnTo>
                    <a:pt x="209" y="0"/>
                  </a:lnTo>
                  <a:lnTo>
                    <a:pt x="221" y="28"/>
                  </a:lnTo>
                  <a:lnTo>
                    <a:pt x="238" y="65"/>
                  </a:lnTo>
                  <a:lnTo>
                    <a:pt x="257" y="109"/>
                  </a:lnTo>
                  <a:lnTo>
                    <a:pt x="278" y="154"/>
                  </a:lnTo>
                  <a:lnTo>
                    <a:pt x="297" y="195"/>
                  </a:lnTo>
                  <a:lnTo>
                    <a:pt x="313" y="231"/>
                  </a:lnTo>
                  <a:lnTo>
                    <a:pt x="325" y="256"/>
                  </a:lnTo>
                  <a:lnTo>
                    <a:pt x="328" y="264"/>
                  </a:lnTo>
                  <a:lnTo>
                    <a:pt x="543" y="202"/>
                  </a:lnTo>
                  <a:lnTo>
                    <a:pt x="554" y="152"/>
                  </a:lnTo>
                  <a:lnTo>
                    <a:pt x="762" y="20"/>
                  </a:lnTo>
                  <a:lnTo>
                    <a:pt x="1052" y="566"/>
                  </a:lnTo>
                  <a:lnTo>
                    <a:pt x="1087" y="633"/>
                  </a:lnTo>
                  <a:lnTo>
                    <a:pt x="1104" y="697"/>
                  </a:lnTo>
                  <a:lnTo>
                    <a:pt x="1108" y="758"/>
                  </a:lnTo>
                  <a:lnTo>
                    <a:pt x="1100" y="818"/>
                  </a:lnTo>
                  <a:lnTo>
                    <a:pt x="1088" y="878"/>
                  </a:lnTo>
                  <a:lnTo>
                    <a:pt x="1073" y="936"/>
                  </a:lnTo>
                  <a:lnTo>
                    <a:pt x="1060" y="995"/>
                  </a:lnTo>
                  <a:lnTo>
                    <a:pt x="1052" y="1053"/>
                  </a:lnTo>
                  <a:close/>
                </a:path>
              </a:pathLst>
            </a:custGeom>
            <a:solidFill>
              <a:srgbClr val="004C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0" name="Freeform 59">
              <a:extLst>
                <a:ext uri="{FF2B5EF4-FFF2-40B4-BE49-F238E27FC236}">
                  <a16:creationId xmlns:a16="http://schemas.microsoft.com/office/drawing/2014/main" id="{72978B53-2A08-4AEE-B8E1-59300D6C1A85}"/>
                </a:ext>
              </a:extLst>
            </p:cNvPr>
            <p:cNvSpPr>
              <a:spLocks/>
            </p:cNvSpPr>
            <p:nvPr/>
          </p:nvSpPr>
          <p:spPr bwMode="auto">
            <a:xfrm>
              <a:off x="4033" y="2629"/>
              <a:ext cx="428" cy="12"/>
            </a:xfrm>
            <a:custGeom>
              <a:avLst/>
              <a:gdLst>
                <a:gd name="T0" fmla="*/ 0 w 428"/>
                <a:gd name="T1" fmla="*/ 5 h 12"/>
                <a:gd name="T2" fmla="*/ 5 w 428"/>
                <a:gd name="T3" fmla="*/ 12 h 12"/>
                <a:gd name="T4" fmla="*/ 428 w 428"/>
                <a:gd name="T5" fmla="*/ 12 h 12"/>
                <a:gd name="T6" fmla="*/ 428 w 428"/>
                <a:gd name="T7" fmla="*/ 0 h 12"/>
                <a:gd name="T8" fmla="*/ 5 w 428"/>
                <a:gd name="T9" fmla="*/ 0 h 12"/>
                <a:gd name="T10" fmla="*/ 10 w 428"/>
                <a:gd name="T11" fmla="*/ 7 h 12"/>
                <a:gd name="T12" fmla="*/ 5 w 428"/>
                <a:gd name="T13" fmla="*/ 0 h 12"/>
                <a:gd name="T14" fmla="*/ 2 w 428"/>
                <a:gd name="T15" fmla="*/ 2 h 12"/>
                <a:gd name="T16" fmla="*/ 0 w 428"/>
                <a:gd name="T17" fmla="*/ 6 h 12"/>
                <a:gd name="T18" fmla="*/ 2 w 428"/>
                <a:gd name="T19" fmla="*/ 10 h 12"/>
                <a:gd name="T20" fmla="*/ 5 w 428"/>
                <a:gd name="T21" fmla="*/ 12 h 12"/>
                <a:gd name="T22" fmla="*/ 0 w 428"/>
                <a:gd name="T23" fmla="*/ 5 h 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8"/>
                <a:gd name="T37" fmla="*/ 0 h 12"/>
                <a:gd name="T38" fmla="*/ 428 w 428"/>
                <a:gd name="T39" fmla="*/ 12 h 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8" h="12">
                  <a:moveTo>
                    <a:pt x="0" y="5"/>
                  </a:moveTo>
                  <a:lnTo>
                    <a:pt x="5" y="12"/>
                  </a:lnTo>
                  <a:lnTo>
                    <a:pt x="428" y="12"/>
                  </a:lnTo>
                  <a:lnTo>
                    <a:pt x="428" y="0"/>
                  </a:lnTo>
                  <a:lnTo>
                    <a:pt x="5" y="0"/>
                  </a:lnTo>
                  <a:lnTo>
                    <a:pt x="10" y="7"/>
                  </a:lnTo>
                  <a:lnTo>
                    <a:pt x="5" y="0"/>
                  </a:lnTo>
                  <a:lnTo>
                    <a:pt x="2" y="2"/>
                  </a:lnTo>
                  <a:lnTo>
                    <a:pt x="0" y="6"/>
                  </a:lnTo>
                  <a:lnTo>
                    <a:pt x="2" y="10"/>
                  </a:lnTo>
                  <a:lnTo>
                    <a:pt x="5" y="12"/>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1" name="Freeform 60">
              <a:extLst>
                <a:ext uri="{FF2B5EF4-FFF2-40B4-BE49-F238E27FC236}">
                  <a16:creationId xmlns:a16="http://schemas.microsoft.com/office/drawing/2014/main" id="{652E8B25-F3BB-4BCF-9871-F9804280EBB9}"/>
                </a:ext>
              </a:extLst>
            </p:cNvPr>
            <p:cNvSpPr>
              <a:spLocks/>
            </p:cNvSpPr>
            <p:nvPr/>
          </p:nvSpPr>
          <p:spPr bwMode="auto">
            <a:xfrm>
              <a:off x="4033" y="2327"/>
              <a:ext cx="119" cy="309"/>
            </a:xfrm>
            <a:custGeom>
              <a:avLst/>
              <a:gdLst>
                <a:gd name="T0" fmla="*/ 109 w 119"/>
                <a:gd name="T1" fmla="*/ 7 h 309"/>
                <a:gd name="T2" fmla="*/ 109 w 119"/>
                <a:gd name="T3" fmla="*/ 3 h 309"/>
                <a:gd name="T4" fmla="*/ 105 w 119"/>
                <a:gd name="T5" fmla="*/ 13 h 309"/>
                <a:gd name="T6" fmla="*/ 96 w 119"/>
                <a:gd name="T7" fmla="*/ 39 h 309"/>
                <a:gd name="T8" fmla="*/ 83 w 119"/>
                <a:gd name="T9" fmla="*/ 77 h 309"/>
                <a:gd name="T10" fmla="*/ 67 w 119"/>
                <a:gd name="T11" fmla="*/ 124 h 309"/>
                <a:gd name="T12" fmla="*/ 48 w 119"/>
                <a:gd name="T13" fmla="*/ 174 h 309"/>
                <a:gd name="T14" fmla="*/ 31 w 119"/>
                <a:gd name="T15" fmla="*/ 224 h 309"/>
                <a:gd name="T16" fmla="*/ 14 w 119"/>
                <a:gd name="T17" fmla="*/ 270 h 309"/>
                <a:gd name="T18" fmla="*/ 0 w 119"/>
                <a:gd name="T19" fmla="*/ 307 h 309"/>
                <a:gd name="T20" fmla="*/ 10 w 119"/>
                <a:gd name="T21" fmla="*/ 309 h 309"/>
                <a:gd name="T22" fmla="*/ 24 w 119"/>
                <a:gd name="T23" fmla="*/ 272 h 309"/>
                <a:gd name="T24" fmla="*/ 41 w 119"/>
                <a:gd name="T25" fmla="*/ 227 h 309"/>
                <a:gd name="T26" fmla="*/ 58 w 119"/>
                <a:gd name="T27" fmla="*/ 176 h 309"/>
                <a:gd name="T28" fmla="*/ 77 w 119"/>
                <a:gd name="T29" fmla="*/ 126 h 309"/>
                <a:gd name="T30" fmla="*/ 93 w 119"/>
                <a:gd name="T31" fmla="*/ 79 h 309"/>
                <a:gd name="T32" fmla="*/ 106 w 119"/>
                <a:gd name="T33" fmla="*/ 41 h 309"/>
                <a:gd name="T34" fmla="*/ 115 w 119"/>
                <a:gd name="T35" fmla="*/ 15 h 309"/>
                <a:gd name="T36" fmla="*/ 119 w 119"/>
                <a:gd name="T37" fmla="*/ 6 h 309"/>
                <a:gd name="T38" fmla="*/ 119 w 119"/>
                <a:gd name="T39" fmla="*/ 2 h 309"/>
                <a:gd name="T40" fmla="*/ 119 w 119"/>
                <a:gd name="T41" fmla="*/ 6 h 309"/>
                <a:gd name="T42" fmla="*/ 117 w 119"/>
                <a:gd name="T43" fmla="*/ 2 h 309"/>
                <a:gd name="T44" fmla="*/ 115 w 119"/>
                <a:gd name="T45" fmla="*/ 0 h 309"/>
                <a:gd name="T46" fmla="*/ 111 w 119"/>
                <a:gd name="T47" fmla="*/ 0 h 309"/>
                <a:gd name="T48" fmla="*/ 109 w 119"/>
                <a:gd name="T49" fmla="*/ 3 h 309"/>
                <a:gd name="T50" fmla="*/ 109 w 119"/>
                <a:gd name="T51" fmla="*/ 7 h 30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9"/>
                <a:gd name="T79" fmla="*/ 0 h 309"/>
                <a:gd name="T80" fmla="*/ 119 w 119"/>
                <a:gd name="T81" fmla="*/ 309 h 30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9" h="309">
                  <a:moveTo>
                    <a:pt x="109" y="7"/>
                  </a:moveTo>
                  <a:lnTo>
                    <a:pt x="109" y="3"/>
                  </a:lnTo>
                  <a:lnTo>
                    <a:pt x="105" y="13"/>
                  </a:lnTo>
                  <a:lnTo>
                    <a:pt x="96" y="39"/>
                  </a:lnTo>
                  <a:lnTo>
                    <a:pt x="83" y="77"/>
                  </a:lnTo>
                  <a:lnTo>
                    <a:pt x="67" y="124"/>
                  </a:lnTo>
                  <a:lnTo>
                    <a:pt x="48" y="174"/>
                  </a:lnTo>
                  <a:lnTo>
                    <a:pt x="31" y="224"/>
                  </a:lnTo>
                  <a:lnTo>
                    <a:pt x="14" y="270"/>
                  </a:lnTo>
                  <a:lnTo>
                    <a:pt x="0" y="307"/>
                  </a:lnTo>
                  <a:lnTo>
                    <a:pt x="10" y="309"/>
                  </a:lnTo>
                  <a:lnTo>
                    <a:pt x="24" y="272"/>
                  </a:lnTo>
                  <a:lnTo>
                    <a:pt x="41" y="227"/>
                  </a:lnTo>
                  <a:lnTo>
                    <a:pt x="58" y="176"/>
                  </a:lnTo>
                  <a:lnTo>
                    <a:pt x="77" y="126"/>
                  </a:lnTo>
                  <a:lnTo>
                    <a:pt x="93" y="79"/>
                  </a:lnTo>
                  <a:lnTo>
                    <a:pt x="106" y="41"/>
                  </a:lnTo>
                  <a:lnTo>
                    <a:pt x="115" y="15"/>
                  </a:lnTo>
                  <a:lnTo>
                    <a:pt x="119" y="6"/>
                  </a:lnTo>
                  <a:lnTo>
                    <a:pt x="119" y="2"/>
                  </a:lnTo>
                  <a:lnTo>
                    <a:pt x="119" y="6"/>
                  </a:lnTo>
                  <a:lnTo>
                    <a:pt x="117" y="2"/>
                  </a:lnTo>
                  <a:lnTo>
                    <a:pt x="115" y="0"/>
                  </a:lnTo>
                  <a:lnTo>
                    <a:pt x="111" y="0"/>
                  </a:lnTo>
                  <a:lnTo>
                    <a:pt x="109" y="3"/>
                  </a:lnTo>
                  <a:lnTo>
                    <a:pt x="109"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2" name="Freeform 61">
              <a:extLst>
                <a:ext uri="{FF2B5EF4-FFF2-40B4-BE49-F238E27FC236}">
                  <a16:creationId xmlns:a16="http://schemas.microsoft.com/office/drawing/2014/main" id="{FED14905-DC9F-4F68-AC5B-1AF41483E282}"/>
                </a:ext>
              </a:extLst>
            </p:cNvPr>
            <p:cNvSpPr>
              <a:spLocks/>
            </p:cNvSpPr>
            <p:nvPr/>
          </p:nvSpPr>
          <p:spPr bwMode="auto">
            <a:xfrm>
              <a:off x="3934" y="1986"/>
              <a:ext cx="218" cy="348"/>
            </a:xfrm>
            <a:custGeom>
              <a:avLst/>
              <a:gdLst>
                <a:gd name="T0" fmla="*/ 6 w 218"/>
                <a:gd name="T1" fmla="*/ 10 h 348"/>
                <a:gd name="T2" fmla="*/ 0 w 218"/>
                <a:gd name="T3" fmla="*/ 8 h 348"/>
                <a:gd name="T4" fmla="*/ 208 w 218"/>
                <a:gd name="T5" fmla="*/ 348 h 348"/>
                <a:gd name="T6" fmla="*/ 218 w 218"/>
                <a:gd name="T7" fmla="*/ 343 h 348"/>
                <a:gd name="T8" fmla="*/ 10 w 218"/>
                <a:gd name="T9" fmla="*/ 3 h 348"/>
                <a:gd name="T10" fmla="*/ 4 w 218"/>
                <a:gd name="T11" fmla="*/ 0 h 348"/>
                <a:gd name="T12" fmla="*/ 10 w 218"/>
                <a:gd name="T13" fmla="*/ 3 h 348"/>
                <a:gd name="T14" fmla="*/ 7 w 218"/>
                <a:gd name="T15" fmla="*/ 0 h 348"/>
                <a:gd name="T16" fmla="*/ 4 w 218"/>
                <a:gd name="T17" fmla="*/ 0 h 348"/>
                <a:gd name="T18" fmla="*/ 0 w 218"/>
                <a:gd name="T19" fmla="*/ 4 h 348"/>
                <a:gd name="T20" fmla="*/ 0 w 218"/>
                <a:gd name="T21" fmla="*/ 8 h 348"/>
                <a:gd name="T22" fmla="*/ 6 w 218"/>
                <a:gd name="T23" fmla="*/ 10 h 3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8"/>
                <a:gd name="T37" fmla="*/ 0 h 348"/>
                <a:gd name="T38" fmla="*/ 218 w 218"/>
                <a:gd name="T39" fmla="*/ 348 h 3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8" h="348">
                  <a:moveTo>
                    <a:pt x="6" y="10"/>
                  </a:moveTo>
                  <a:lnTo>
                    <a:pt x="0" y="8"/>
                  </a:lnTo>
                  <a:lnTo>
                    <a:pt x="208" y="348"/>
                  </a:lnTo>
                  <a:lnTo>
                    <a:pt x="218" y="343"/>
                  </a:lnTo>
                  <a:lnTo>
                    <a:pt x="10" y="3"/>
                  </a:lnTo>
                  <a:lnTo>
                    <a:pt x="4" y="0"/>
                  </a:lnTo>
                  <a:lnTo>
                    <a:pt x="10" y="3"/>
                  </a:lnTo>
                  <a:lnTo>
                    <a:pt x="7" y="0"/>
                  </a:lnTo>
                  <a:lnTo>
                    <a:pt x="4" y="0"/>
                  </a:lnTo>
                  <a:lnTo>
                    <a:pt x="0" y="4"/>
                  </a:lnTo>
                  <a:lnTo>
                    <a:pt x="0" y="8"/>
                  </a:lnTo>
                  <a:lnTo>
                    <a:pt x="6"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3" name="Freeform 62">
              <a:extLst>
                <a:ext uri="{FF2B5EF4-FFF2-40B4-BE49-F238E27FC236}">
                  <a16:creationId xmlns:a16="http://schemas.microsoft.com/office/drawing/2014/main" id="{97AD5463-8634-4C61-9061-7471BB384081}"/>
                </a:ext>
              </a:extLst>
            </p:cNvPr>
            <p:cNvSpPr>
              <a:spLocks/>
            </p:cNvSpPr>
            <p:nvPr/>
          </p:nvSpPr>
          <p:spPr bwMode="auto">
            <a:xfrm>
              <a:off x="3593" y="1986"/>
              <a:ext cx="347" cy="117"/>
            </a:xfrm>
            <a:custGeom>
              <a:avLst/>
              <a:gdLst>
                <a:gd name="T0" fmla="*/ 0 w 347"/>
                <a:gd name="T1" fmla="*/ 114 h 117"/>
                <a:gd name="T2" fmla="*/ 7 w 347"/>
                <a:gd name="T3" fmla="*/ 117 h 117"/>
                <a:gd name="T4" fmla="*/ 347 w 347"/>
                <a:gd name="T5" fmla="*/ 10 h 117"/>
                <a:gd name="T6" fmla="*/ 345 w 347"/>
                <a:gd name="T7" fmla="*/ 0 h 117"/>
                <a:gd name="T8" fmla="*/ 4 w 347"/>
                <a:gd name="T9" fmla="*/ 107 h 117"/>
                <a:gd name="T10" fmla="*/ 10 w 347"/>
                <a:gd name="T11" fmla="*/ 110 h 117"/>
                <a:gd name="T12" fmla="*/ 4 w 347"/>
                <a:gd name="T13" fmla="*/ 107 h 117"/>
                <a:gd name="T14" fmla="*/ 2 w 347"/>
                <a:gd name="T15" fmla="*/ 110 h 117"/>
                <a:gd name="T16" fmla="*/ 0 w 347"/>
                <a:gd name="T17" fmla="*/ 113 h 117"/>
                <a:gd name="T18" fmla="*/ 3 w 347"/>
                <a:gd name="T19" fmla="*/ 116 h 117"/>
                <a:gd name="T20" fmla="*/ 7 w 347"/>
                <a:gd name="T21" fmla="*/ 117 h 117"/>
                <a:gd name="T22" fmla="*/ 0 w 347"/>
                <a:gd name="T23" fmla="*/ 114 h 1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7"/>
                <a:gd name="T37" fmla="*/ 0 h 117"/>
                <a:gd name="T38" fmla="*/ 347 w 347"/>
                <a:gd name="T39" fmla="*/ 117 h 1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7" h="117">
                  <a:moveTo>
                    <a:pt x="0" y="114"/>
                  </a:moveTo>
                  <a:lnTo>
                    <a:pt x="7" y="117"/>
                  </a:lnTo>
                  <a:lnTo>
                    <a:pt x="347" y="10"/>
                  </a:lnTo>
                  <a:lnTo>
                    <a:pt x="345" y="0"/>
                  </a:lnTo>
                  <a:lnTo>
                    <a:pt x="4" y="107"/>
                  </a:lnTo>
                  <a:lnTo>
                    <a:pt x="10" y="110"/>
                  </a:lnTo>
                  <a:lnTo>
                    <a:pt x="4" y="107"/>
                  </a:lnTo>
                  <a:lnTo>
                    <a:pt x="2" y="110"/>
                  </a:lnTo>
                  <a:lnTo>
                    <a:pt x="0" y="113"/>
                  </a:lnTo>
                  <a:lnTo>
                    <a:pt x="3" y="116"/>
                  </a:lnTo>
                  <a:lnTo>
                    <a:pt x="7" y="117"/>
                  </a:lnTo>
                  <a:lnTo>
                    <a:pt x="0"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4" name="Freeform 63">
              <a:extLst>
                <a:ext uri="{FF2B5EF4-FFF2-40B4-BE49-F238E27FC236}">
                  <a16:creationId xmlns:a16="http://schemas.microsoft.com/office/drawing/2014/main" id="{48A44581-0451-41CF-A507-6124A3816595}"/>
                </a:ext>
              </a:extLst>
            </p:cNvPr>
            <p:cNvSpPr>
              <a:spLocks/>
            </p:cNvSpPr>
            <p:nvPr/>
          </p:nvSpPr>
          <p:spPr bwMode="auto">
            <a:xfrm>
              <a:off x="3404" y="1679"/>
              <a:ext cx="199" cy="421"/>
            </a:xfrm>
            <a:custGeom>
              <a:avLst/>
              <a:gdLst>
                <a:gd name="T0" fmla="*/ 3 w 199"/>
                <a:gd name="T1" fmla="*/ 0 h 421"/>
                <a:gd name="T2" fmla="*/ 0 w 199"/>
                <a:gd name="T3" fmla="*/ 7 h 421"/>
                <a:gd name="T4" fmla="*/ 189 w 199"/>
                <a:gd name="T5" fmla="*/ 421 h 421"/>
                <a:gd name="T6" fmla="*/ 199 w 199"/>
                <a:gd name="T7" fmla="*/ 417 h 421"/>
                <a:gd name="T8" fmla="*/ 10 w 199"/>
                <a:gd name="T9" fmla="*/ 3 h 421"/>
                <a:gd name="T10" fmla="*/ 7 w 199"/>
                <a:gd name="T11" fmla="*/ 10 h 421"/>
                <a:gd name="T12" fmla="*/ 10 w 199"/>
                <a:gd name="T13" fmla="*/ 3 h 421"/>
                <a:gd name="T14" fmla="*/ 7 w 199"/>
                <a:gd name="T15" fmla="*/ 0 h 421"/>
                <a:gd name="T16" fmla="*/ 4 w 199"/>
                <a:gd name="T17" fmla="*/ 0 h 421"/>
                <a:gd name="T18" fmla="*/ 0 w 199"/>
                <a:gd name="T19" fmla="*/ 4 h 421"/>
                <a:gd name="T20" fmla="*/ 0 w 199"/>
                <a:gd name="T21" fmla="*/ 7 h 421"/>
                <a:gd name="T22" fmla="*/ 3 w 199"/>
                <a:gd name="T23" fmla="*/ 0 h 4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9"/>
                <a:gd name="T37" fmla="*/ 0 h 421"/>
                <a:gd name="T38" fmla="*/ 199 w 199"/>
                <a:gd name="T39" fmla="*/ 421 h 4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9" h="421">
                  <a:moveTo>
                    <a:pt x="3" y="0"/>
                  </a:moveTo>
                  <a:lnTo>
                    <a:pt x="0" y="7"/>
                  </a:lnTo>
                  <a:lnTo>
                    <a:pt x="189" y="421"/>
                  </a:lnTo>
                  <a:lnTo>
                    <a:pt x="199" y="417"/>
                  </a:lnTo>
                  <a:lnTo>
                    <a:pt x="10" y="3"/>
                  </a:lnTo>
                  <a:lnTo>
                    <a:pt x="7" y="10"/>
                  </a:lnTo>
                  <a:lnTo>
                    <a:pt x="10" y="3"/>
                  </a:lnTo>
                  <a:lnTo>
                    <a:pt x="7" y="0"/>
                  </a:lnTo>
                  <a:lnTo>
                    <a:pt x="4" y="0"/>
                  </a:lnTo>
                  <a:lnTo>
                    <a:pt x="0" y="4"/>
                  </a:lnTo>
                  <a:lnTo>
                    <a:pt x="0" y="7"/>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5" name="Freeform 64">
              <a:extLst>
                <a:ext uri="{FF2B5EF4-FFF2-40B4-BE49-F238E27FC236}">
                  <a16:creationId xmlns:a16="http://schemas.microsoft.com/office/drawing/2014/main" id="{2D5C2DA7-F2D6-42E2-8B53-E20C3919CA72}"/>
                </a:ext>
              </a:extLst>
            </p:cNvPr>
            <p:cNvSpPr>
              <a:spLocks/>
            </p:cNvSpPr>
            <p:nvPr/>
          </p:nvSpPr>
          <p:spPr bwMode="auto">
            <a:xfrm>
              <a:off x="3407" y="1577"/>
              <a:ext cx="216" cy="112"/>
            </a:xfrm>
            <a:custGeom>
              <a:avLst/>
              <a:gdLst>
                <a:gd name="T0" fmla="*/ 216 w 216"/>
                <a:gd name="T1" fmla="*/ 4 h 112"/>
                <a:gd name="T2" fmla="*/ 209 w 216"/>
                <a:gd name="T3" fmla="*/ 0 h 112"/>
                <a:gd name="T4" fmla="*/ 0 w 216"/>
                <a:gd name="T5" fmla="*/ 102 h 112"/>
                <a:gd name="T6" fmla="*/ 4 w 216"/>
                <a:gd name="T7" fmla="*/ 112 h 112"/>
                <a:gd name="T8" fmla="*/ 213 w 216"/>
                <a:gd name="T9" fmla="*/ 10 h 112"/>
                <a:gd name="T10" fmla="*/ 206 w 216"/>
                <a:gd name="T11" fmla="*/ 6 h 112"/>
                <a:gd name="T12" fmla="*/ 213 w 216"/>
                <a:gd name="T13" fmla="*/ 10 h 112"/>
                <a:gd name="T14" fmla="*/ 216 w 216"/>
                <a:gd name="T15" fmla="*/ 8 h 112"/>
                <a:gd name="T16" fmla="*/ 216 w 216"/>
                <a:gd name="T17" fmla="*/ 3 h 112"/>
                <a:gd name="T18" fmla="*/ 212 w 216"/>
                <a:gd name="T19" fmla="*/ 0 h 112"/>
                <a:gd name="T20" fmla="*/ 209 w 216"/>
                <a:gd name="T21" fmla="*/ 0 h 112"/>
                <a:gd name="T22" fmla="*/ 216 w 216"/>
                <a:gd name="T23" fmla="*/ 4 h 1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6"/>
                <a:gd name="T37" fmla="*/ 0 h 112"/>
                <a:gd name="T38" fmla="*/ 216 w 216"/>
                <a:gd name="T39" fmla="*/ 112 h 1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6" h="112">
                  <a:moveTo>
                    <a:pt x="216" y="4"/>
                  </a:moveTo>
                  <a:lnTo>
                    <a:pt x="209" y="0"/>
                  </a:lnTo>
                  <a:lnTo>
                    <a:pt x="0" y="102"/>
                  </a:lnTo>
                  <a:lnTo>
                    <a:pt x="4" y="112"/>
                  </a:lnTo>
                  <a:lnTo>
                    <a:pt x="213" y="10"/>
                  </a:lnTo>
                  <a:lnTo>
                    <a:pt x="206" y="6"/>
                  </a:lnTo>
                  <a:lnTo>
                    <a:pt x="213" y="10"/>
                  </a:lnTo>
                  <a:lnTo>
                    <a:pt x="216" y="8"/>
                  </a:lnTo>
                  <a:lnTo>
                    <a:pt x="216" y="3"/>
                  </a:lnTo>
                  <a:lnTo>
                    <a:pt x="212" y="0"/>
                  </a:lnTo>
                  <a:lnTo>
                    <a:pt x="209" y="0"/>
                  </a:lnTo>
                  <a:lnTo>
                    <a:pt x="21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6" name="Freeform 65">
              <a:extLst>
                <a:ext uri="{FF2B5EF4-FFF2-40B4-BE49-F238E27FC236}">
                  <a16:creationId xmlns:a16="http://schemas.microsoft.com/office/drawing/2014/main" id="{3F0C3899-AF73-49DD-A886-62194DEEC10E}"/>
                </a:ext>
              </a:extLst>
            </p:cNvPr>
            <p:cNvSpPr>
              <a:spLocks/>
            </p:cNvSpPr>
            <p:nvPr/>
          </p:nvSpPr>
          <p:spPr bwMode="auto">
            <a:xfrm>
              <a:off x="3613" y="1581"/>
              <a:ext cx="129" cy="270"/>
            </a:xfrm>
            <a:custGeom>
              <a:avLst/>
              <a:gdLst>
                <a:gd name="T0" fmla="*/ 123 w 129"/>
                <a:gd name="T1" fmla="*/ 260 h 270"/>
                <a:gd name="T2" fmla="*/ 129 w 129"/>
                <a:gd name="T3" fmla="*/ 263 h 270"/>
                <a:gd name="T4" fmla="*/ 125 w 129"/>
                <a:gd name="T5" fmla="*/ 254 h 270"/>
                <a:gd name="T6" fmla="*/ 114 w 129"/>
                <a:gd name="T7" fmla="*/ 230 h 270"/>
                <a:gd name="T8" fmla="*/ 98 w 129"/>
                <a:gd name="T9" fmla="*/ 194 h 270"/>
                <a:gd name="T10" fmla="*/ 79 w 129"/>
                <a:gd name="T11" fmla="*/ 152 h 270"/>
                <a:gd name="T12" fmla="*/ 58 w 129"/>
                <a:gd name="T13" fmla="*/ 108 h 270"/>
                <a:gd name="T14" fmla="*/ 39 w 129"/>
                <a:gd name="T15" fmla="*/ 64 h 270"/>
                <a:gd name="T16" fmla="*/ 22 w 129"/>
                <a:gd name="T17" fmla="*/ 27 h 270"/>
                <a:gd name="T18" fmla="*/ 10 w 129"/>
                <a:gd name="T19" fmla="*/ 0 h 270"/>
                <a:gd name="T20" fmla="*/ 0 w 129"/>
                <a:gd name="T21" fmla="*/ 2 h 270"/>
                <a:gd name="T22" fmla="*/ 12 w 129"/>
                <a:gd name="T23" fmla="*/ 32 h 270"/>
                <a:gd name="T24" fmla="*/ 30 w 129"/>
                <a:gd name="T25" fmla="*/ 69 h 270"/>
                <a:gd name="T26" fmla="*/ 48 w 129"/>
                <a:gd name="T27" fmla="*/ 113 h 270"/>
                <a:gd name="T28" fmla="*/ 69 w 129"/>
                <a:gd name="T29" fmla="*/ 157 h 270"/>
                <a:gd name="T30" fmla="*/ 89 w 129"/>
                <a:gd name="T31" fmla="*/ 199 h 270"/>
                <a:gd name="T32" fmla="*/ 105 w 129"/>
                <a:gd name="T33" fmla="*/ 234 h 270"/>
                <a:gd name="T34" fmla="*/ 116 w 129"/>
                <a:gd name="T35" fmla="*/ 259 h 270"/>
                <a:gd name="T36" fmla="*/ 119 w 129"/>
                <a:gd name="T37" fmla="*/ 268 h 270"/>
                <a:gd name="T38" fmla="*/ 125 w 129"/>
                <a:gd name="T39" fmla="*/ 270 h 270"/>
                <a:gd name="T40" fmla="*/ 119 w 129"/>
                <a:gd name="T41" fmla="*/ 268 h 270"/>
                <a:gd name="T42" fmla="*/ 122 w 129"/>
                <a:gd name="T43" fmla="*/ 270 h 270"/>
                <a:gd name="T44" fmla="*/ 127 w 129"/>
                <a:gd name="T45" fmla="*/ 270 h 270"/>
                <a:gd name="T46" fmla="*/ 129 w 129"/>
                <a:gd name="T47" fmla="*/ 266 h 270"/>
                <a:gd name="T48" fmla="*/ 129 w 129"/>
                <a:gd name="T49" fmla="*/ 263 h 270"/>
                <a:gd name="T50" fmla="*/ 123 w 129"/>
                <a:gd name="T51" fmla="*/ 260 h 27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9"/>
                <a:gd name="T79" fmla="*/ 0 h 270"/>
                <a:gd name="T80" fmla="*/ 129 w 129"/>
                <a:gd name="T81" fmla="*/ 270 h 27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9" h="270">
                  <a:moveTo>
                    <a:pt x="123" y="260"/>
                  </a:moveTo>
                  <a:lnTo>
                    <a:pt x="129" y="263"/>
                  </a:lnTo>
                  <a:lnTo>
                    <a:pt x="125" y="254"/>
                  </a:lnTo>
                  <a:lnTo>
                    <a:pt x="114" y="230"/>
                  </a:lnTo>
                  <a:lnTo>
                    <a:pt x="98" y="194"/>
                  </a:lnTo>
                  <a:lnTo>
                    <a:pt x="79" y="152"/>
                  </a:lnTo>
                  <a:lnTo>
                    <a:pt x="58" y="108"/>
                  </a:lnTo>
                  <a:lnTo>
                    <a:pt x="39" y="64"/>
                  </a:lnTo>
                  <a:lnTo>
                    <a:pt x="22" y="27"/>
                  </a:lnTo>
                  <a:lnTo>
                    <a:pt x="10" y="0"/>
                  </a:lnTo>
                  <a:lnTo>
                    <a:pt x="0" y="2"/>
                  </a:lnTo>
                  <a:lnTo>
                    <a:pt x="12" y="32"/>
                  </a:lnTo>
                  <a:lnTo>
                    <a:pt x="30" y="69"/>
                  </a:lnTo>
                  <a:lnTo>
                    <a:pt x="48" y="113"/>
                  </a:lnTo>
                  <a:lnTo>
                    <a:pt x="69" y="157"/>
                  </a:lnTo>
                  <a:lnTo>
                    <a:pt x="89" y="199"/>
                  </a:lnTo>
                  <a:lnTo>
                    <a:pt x="105" y="234"/>
                  </a:lnTo>
                  <a:lnTo>
                    <a:pt x="116" y="259"/>
                  </a:lnTo>
                  <a:lnTo>
                    <a:pt x="119" y="268"/>
                  </a:lnTo>
                  <a:lnTo>
                    <a:pt x="125" y="270"/>
                  </a:lnTo>
                  <a:lnTo>
                    <a:pt x="119" y="268"/>
                  </a:lnTo>
                  <a:lnTo>
                    <a:pt x="122" y="270"/>
                  </a:lnTo>
                  <a:lnTo>
                    <a:pt x="127" y="270"/>
                  </a:lnTo>
                  <a:lnTo>
                    <a:pt x="129" y="266"/>
                  </a:lnTo>
                  <a:lnTo>
                    <a:pt x="129" y="263"/>
                  </a:lnTo>
                  <a:lnTo>
                    <a:pt x="123"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7" name="Freeform 66">
              <a:extLst>
                <a:ext uri="{FF2B5EF4-FFF2-40B4-BE49-F238E27FC236}">
                  <a16:creationId xmlns:a16="http://schemas.microsoft.com/office/drawing/2014/main" id="{98AE166C-BD35-4FA2-A83F-FA2B0DEDBFDE}"/>
                </a:ext>
              </a:extLst>
            </p:cNvPr>
            <p:cNvSpPr>
              <a:spLocks/>
            </p:cNvSpPr>
            <p:nvPr/>
          </p:nvSpPr>
          <p:spPr bwMode="auto">
            <a:xfrm>
              <a:off x="3736" y="1779"/>
              <a:ext cx="221" cy="72"/>
            </a:xfrm>
            <a:custGeom>
              <a:avLst/>
              <a:gdLst>
                <a:gd name="T0" fmla="*/ 211 w 221"/>
                <a:gd name="T1" fmla="*/ 3 h 72"/>
                <a:gd name="T2" fmla="*/ 215 w 221"/>
                <a:gd name="T3" fmla="*/ 0 h 72"/>
                <a:gd name="T4" fmla="*/ 0 w 221"/>
                <a:gd name="T5" fmla="*/ 62 h 72"/>
                <a:gd name="T6" fmla="*/ 2 w 221"/>
                <a:gd name="T7" fmla="*/ 72 h 72"/>
                <a:gd name="T8" fmla="*/ 218 w 221"/>
                <a:gd name="T9" fmla="*/ 9 h 72"/>
                <a:gd name="T10" fmla="*/ 221 w 221"/>
                <a:gd name="T11" fmla="*/ 6 h 72"/>
                <a:gd name="T12" fmla="*/ 218 w 221"/>
                <a:gd name="T13" fmla="*/ 9 h 72"/>
                <a:gd name="T14" fmla="*/ 221 w 221"/>
                <a:gd name="T15" fmla="*/ 7 h 72"/>
                <a:gd name="T16" fmla="*/ 221 w 221"/>
                <a:gd name="T17" fmla="*/ 3 h 72"/>
                <a:gd name="T18" fmla="*/ 219 w 221"/>
                <a:gd name="T19" fmla="*/ 1 h 72"/>
                <a:gd name="T20" fmla="*/ 215 w 221"/>
                <a:gd name="T21" fmla="*/ 0 h 72"/>
                <a:gd name="T22" fmla="*/ 211 w 221"/>
                <a:gd name="T23" fmla="*/ 3 h 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1"/>
                <a:gd name="T37" fmla="*/ 0 h 72"/>
                <a:gd name="T38" fmla="*/ 221 w 221"/>
                <a:gd name="T39" fmla="*/ 72 h 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1" h="72">
                  <a:moveTo>
                    <a:pt x="211" y="3"/>
                  </a:moveTo>
                  <a:lnTo>
                    <a:pt x="215" y="0"/>
                  </a:lnTo>
                  <a:lnTo>
                    <a:pt x="0" y="62"/>
                  </a:lnTo>
                  <a:lnTo>
                    <a:pt x="2" y="72"/>
                  </a:lnTo>
                  <a:lnTo>
                    <a:pt x="218" y="9"/>
                  </a:lnTo>
                  <a:lnTo>
                    <a:pt x="221" y="6"/>
                  </a:lnTo>
                  <a:lnTo>
                    <a:pt x="218" y="9"/>
                  </a:lnTo>
                  <a:lnTo>
                    <a:pt x="221" y="7"/>
                  </a:lnTo>
                  <a:lnTo>
                    <a:pt x="221" y="3"/>
                  </a:lnTo>
                  <a:lnTo>
                    <a:pt x="219" y="1"/>
                  </a:lnTo>
                  <a:lnTo>
                    <a:pt x="215" y="0"/>
                  </a:lnTo>
                  <a:lnTo>
                    <a:pt x="211"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8" name="Freeform 67">
              <a:extLst>
                <a:ext uri="{FF2B5EF4-FFF2-40B4-BE49-F238E27FC236}">
                  <a16:creationId xmlns:a16="http://schemas.microsoft.com/office/drawing/2014/main" id="{0834C58A-0C4B-46C9-9F0A-F8912E5A53F5}"/>
                </a:ext>
              </a:extLst>
            </p:cNvPr>
            <p:cNvSpPr>
              <a:spLocks/>
            </p:cNvSpPr>
            <p:nvPr/>
          </p:nvSpPr>
          <p:spPr bwMode="auto">
            <a:xfrm>
              <a:off x="3947" y="1729"/>
              <a:ext cx="21" cy="56"/>
            </a:xfrm>
            <a:custGeom>
              <a:avLst/>
              <a:gdLst>
                <a:gd name="T0" fmla="*/ 14 w 21"/>
                <a:gd name="T1" fmla="*/ 0 h 56"/>
                <a:gd name="T2" fmla="*/ 12 w 21"/>
                <a:gd name="T3" fmla="*/ 4 h 56"/>
                <a:gd name="T4" fmla="*/ 0 w 21"/>
                <a:gd name="T5" fmla="*/ 53 h 56"/>
                <a:gd name="T6" fmla="*/ 10 w 21"/>
                <a:gd name="T7" fmla="*/ 56 h 56"/>
                <a:gd name="T8" fmla="*/ 21 w 21"/>
                <a:gd name="T9" fmla="*/ 7 h 56"/>
                <a:gd name="T10" fmla="*/ 19 w 21"/>
                <a:gd name="T11" fmla="*/ 10 h 56"/>
                <a:gd name="T12" fmla="*/ 21 w 21"/>
                <a:gd name="T13" fmla="*/ 7 h 56"/>
                <a:gd name="T14" fmla="*/ 20 w 21"/>
                <a:gd name="T15" fmla="*/ 3 h 56"/>
                <a:gd name="T16" fmla="*/ 18 w 21"/>
                <a:gd name="T17" fmla="*/ 0 h 56"/>
                <a:gd name="T18" fmla="*/ 14 w 21"/>
                <a:gd name="T19" fmla="*/ 0 h 56"/>
                <a:gd name="T20" fmla="*/ 12 w 21"/>
                <a:gd name="T21" fmla="*/ 4 h 56"/>
                <a:gd name="T22" fmla="*/ 14 w 21"/>
                <a:gd name="T23" fmla="*/ 0 h 5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56"/>
                <a:gd name="T38" fmla="*/ 21 w 21"/>
                <a:gd name="T39" fmla="*/ 56 h 5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56">
                  <a:moveTo>
                    <a:pt x="14" y="0"/>
                  </a:moveTo>
                  <a:lnTo>
                    <a:pt x="12" y="4"/>
                  </a:lnTo>
                  <a:lnTo>
                    <a:pt x="0" y="53"/>
                  </a:lnTo>
                  <a:lnTo>
                    <a:pt x="10" y="56"/>
                  </a:lnTo>
                  <a:lnTo>
                    <a:pt x="21" y="7"/>
                  </a:lnTo>
                  <a:lnTo>
                    <a:pt x="19" y="10"/>
                  </a:lnTo>
                  <a:lnTo>
                    <a:pt x="21" y="7"/>
                  </a:lnTo>
                  <a:lnTo>
                    <a:pt x="20" y="3"/>
                  </a:lnTo>
                  <a:lnTo>
                    <a:pt x="18" y="0"/>
                  </a:lnTo>
                  <a:lnTo>
                    <a:pt x="14" y="0"/>
                  </a:lnTo>
                  <a:lnTo>
                    <a:pt x="12" y="4"/>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39999" name="Freeform 68">
              <a:extLst>
                <a:ext uri="{FF2B5EF4-FFF2-40B4-BE49-F238E27FC236}">
                  <a16:creationId xmlns:a16="http://schemas.microsoft.com/office/drawing/2014/main" id="{04E4F05D-37AA-4D25-8D74-1E010A78EF47}"/>
                </a:ext>
              </a:extLst>
            </p:cNvPr>
            <p:cNvSpPr>
              <a:spLocks/>
            </p:cNvSpPr>
            <p:nvPr/>
          </p:nvSpPr>
          <p:spPr bwMode="auto">
            <a:xfrm>
              <a:off x="3961" y="1597"/>
              <a:ext cx="215" cy="142"/>
            </a:xfrm>
            <a:custGeom>
              <a:avLst/>
              <a:gdLst>
                <a:gd name="T0" fmla="*/ 215 w 215"/>
                <a:gd name="T1" fmla="*/ 2 h 142"/>
                <a:gd name="T2" fmla="*/ 208 w 215"/>
                <a:gd name="T3" fmla="*/ 0 h 142"/>
                <a:gd name="T4" fmla="*/ 0 w 215"/>
                <a:gd name="T5" fmla="*/ 132 h 142"/>
                <a:gd name="T6" fmla="*/ 5 w 215"/>
                <a:gd name="T7" fmla="*/ 142 h 142"/>
                <a:gd name="T8" fmla="*/ 213 w 215"/>
                <a:gd name="T9" fmla="*/ 10 h 142"/>
                <a:gd name="T10" fmla="*/ 205 w 215"/>
                <a:gd name="T11" fmla="*/ 7 h 142"/>
                <a:gd name="T12" fmla="*/ 213 w 215"/>
                <a:gd name="T13" fmla="*/ 10 h 142"/>
                <a:gd name="T14" fmla="*/ 215 w 215"/>
                <a:gd name="T15" fmla="*/ 7 h 142"/>
                <a:gd name="T16" fmla="*/ 215 w 215"/>
                <a:gd name="T17" fmla="*/ 2 h 142"/>
                <a:gd name="T18" fmla="*/ 211 w 215"/>
                <a:gd name="T19" fmla="*/ 0 h 142"/>
                <a:gd name="T20" fmla="*/ 208 w 215"/>
                <a:gd name="T21" fmla="*/ 0 h 142"/>
                <a:gd name="T22" fmla="*/ 215 w 215"/>
                <a:gd name="T23" fmla="*/ 2 h 1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5"/>
                <a:gd name="T37" fmla="*/ 0 h 142"/>
                <a:gd name="T38" fmla="*/ 215 w 215"/>
                <a:gd name="T39" fmla="*/ 142 h 1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5" h="142">
                  <a:moveTo>
                    <a:pt x="215" y="2"/>
                  </a:moveTo>
                  <a:lnTo>
                    <a:pt x="208" y="0"/>
                  </a:lnTo>
                  <a:lnTo>
                    <a:pt x="0" y="132"/>
                  </a:lnTo>
                  <a:lnTo>
                    <a:pt x="5" y="142"/>
                  </a:lnTo>
                  <a:lnTo>
                    <a:pt x="213" y="10"/>
                  </a:lnTo>
                  <a:lnTo>
                    <a:pt x="205" y="7"/>
                  </a:lnTo>
                  <a:lnTo>
                    <a:pt x="213" y="10"/>
                  </a:lnTo>
                  <a:lnTo>
                    <a:pt x="215" y="7"/>
                  </a:lnTo>
                  <a:lnTo>
                    <a:pt x="215" y="2"/>
                  </a:lnTo>
                  <a:lnTo>
                    <a:pt x="211" y="0"/>
                  </a:lnTo>
                  <a:lnTo>
                    <a:pt x="208" y="0"/>
                  </a:lnTo>
                  <a:lnTo>
                    <a:pt x="21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0" name="Freeform 69">
              <a:extLst>
                <a:ext uri="{FF2B5EF4-FFF2-40B4-BE49-F238E27FC236}">
                  <a16:creationId xmlns:a16="http://schemas.microsoft.com/office/drawing/2014/main" id="{DC884C43-7F9C-40A8-A96E-23E9118280D8}"/>
                </a:ext>
              </a:extLst>
            </p:cNvPr>
            <p:cNvSpPr>
              <a:spLocks/>
            </p:cNvSpPr>
            <p:nvPr/>
          </p:nvSpPr>
          <p:spPr bwMode="auto">
            <a:xfrm>
              <a:off x="4166" y="1599"/>
              <a:ext cx="300" cy="554"/>
            </a:xfrm>
            <a:custGeom>
              <a:avLst/>
              <a:gdLst>
                <a:gd name="T0" fmla="*/ 300 w 300"/>
                <a:gd name="T1" fmla="*/ 547 h 554"/>
                <a:gd name="T2" fmla="*/ 300 w 300"/>
                <a:gd name="T3" fmla="*/ 547 h 554"/>
                <a:gd name="T4" fmla="*/ 10 w 300"/>
                <a:gd name="T5" fmla="*/ 0 h 554"/>
                <a:gd name="T6" fmla="*/ 0 w 300"/>
                <a:gd name="T7" fmla="*/ 5 h 554"/>
                <a:gd name="T8" fmla="*/ 290 w 300"/>
                <a:gd name="T9" fmla="*/ 552 h 554"/>
                <a:gd name="T10" fmla="*/ 290 w 300"/>
                <a:gd name="T11" fmla="*/ 552 h 554"/>
                <a:gd name="T12" fmla="*/ 290 w 300"/>
                <a:gd name="T13" fmla="*/ 552 h 554"/>
                <a:gd name="T14" fmla="*/ 293 w 300"/>
                <a:gd name="T15" fmla="*/ 554 h 554"/>
                <a:gd name="T16" fmla="*/ 298 w 300"/>
                <a:gd name="T17" fmla="*/ 554 h 554"/>
                <a:gd name="T18" fmla="*/ 300 w 300"/>
                <a:gd name="T19" fmla="*/ 551 h 554"/>
                <a:gd name="T20" fmla="*/ 300 w 300"/>
                <a:gd name="T21" fmla="*/ 547 h 55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0"/>
                <a:gd name="T34" fmla="*/ 0 h 554"/>
                <a:gd name="T35" fmla="*/ 300 w 300"/>
                <a:gd name="T36" fmla="*/ 554 h 55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0" h="554">
                  <a:moveTo>
                    <a:pt x="300" y="547"/>
                  </a:moveTo>
                  <a:lnTo>
                    <a:pt x="300" y="547"/>
                  </a:lnTo>
                  <a:lnTo>
                    <a:pt x="10" y="0"/>
                  </a:lnTo>
                  <a:lnTo>
                    <a:pt x="0" y="5"/>
                  </a:lnTo>
                  <a:lnTo>
                    <a:pt x="290" y="552"/>
                  </a:lnTo>
                  <a:lnTo>
                    <a:pt x="293" y="554"/>
                  </a:lnTo>
                  <a:lnTo>
                    <a:pt x="298" y="554"/>
                  </a:lnTo>
                  <a:lnTo>
                    <a:pt x="300" y="551"/>
                  </a:lnTo>
                  <a:lnTo>
                    <a:pt x="300" y="5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1" name="Freeform 70">
              <a:extLst>
                <a:ext uri="{FF2B5EF4-FFF2-40B4-BE49-F238E27FC236}">
                  <a16:creationId xmlns:a16="http://schemas.microsoft.com/office/drawing/2014/main" id="{E12BEE4B-99B9-4D45-BAB0-9F69EE03545C}"/>
                </a:ext>
              </a:extLst>
            </p:cNvPr>
            <p:cNvSpPr>
              <a:spLocks/>
            </p:cNvSpPr>
            <p:nvPr/>
          </p:nvSpPr>
          <p:spPr bwMode="auto">
            <a:xfrm>
              <a:off x="4456" y="2146"/>
              <a:ext cx="66" cy="495"/>
            </a:xfrm>
            <a:custGeom>
              <a:avLst/>
              <a:gdLst>
                <a:gd name="T0" fmla="*/ 5 w 66"/>
                <a:gd name="T1" fmla="*/ 495 h 495"/>
                <a:gd name="T2" fmla="*/ 10 w 66"/>
                <a:gd name="T3" fmla="*/ 489 h 495"/>
                <a:gd name="T4" fmla="*/ 18 w 66"/>
                <a:gd name="T5" fmla="*/ 431 h 495"/>
                <a:gd name="T6" fmla="*/ 31 w 66"/>
                <a:gd name="T7" fmla="*/ 373 h 495"/>
                <a:gd name="T8" fmla="*/ 46 w 66"/>
                <a:gd name="T9" fmla="*/ 316 h 495"/>
                <a:gd name="T10" fmla="*/ 58 w 66"/>
                <a:gd name="T11" fmla="*/ 254 h 495"/>
                <a:gd name="T12" fmla="*/ 66 w 66"/>
                <a:gd name="T13" fmla="*/ 194 h 495"/>
                <a:gd name="T14" fmla="*/ 62 w 66"/>
                <a:gd name="T15" fmla="*/ 133 h 495"/>
                <a:gd name="T16" fmla="*/ 45 w 66"/>
                <a:gd name="T17" fmla="*/ 67 h 495"/>
                <a:gd name="T18" fmla="*/ 10 w 66"/>
                <a:gd name="T19" fmla="*/ 0 h 495"/>
                <a:gd name="T20" fmla="*/ 0 w 66"/>
                <a:gd name="T21" fmla="*/ 5 h 495"/>
                <a:gd name="T22" fmla="*/ 35 w 66"/>
                <a:gd name="T23" fmla="*/ 70 h 495"/>
                <a:gd name="T24" fmla="*/ 52 w 66"/>
                <a:gd name="T25" fmla="*/ 133 h 495"/>
                <a:gd name="T26" fmla="*/ 56 w 66"/>
                <a:gd name="T27" fmla="*/ 194 h 495"/>
                <a:gd name="T28" fmla="*/ 48 w 66"/>
                <a:gd name="T29" fmla="*/ 254 h 495"/>
                <a:gd name="T30" fmla="*/ 36 w 66"/>
                <a:gd name="T31" fmla="*/ 313 h 495"/>
                <a:gd name="T32" fmla="*/ 21 w 66"/>
                <a:gd name="T33" fmla="*/ 371 h 495"/>
                <a:gd name="T34" fmla="*/ 8 w 66"/>
                <a:gd name="T35" fmla="*/ 431 h 495"/>
                <a:gd name="T36" fmla="*/ 0 w 66"/>
                <a:gd name="T37" fmla="*/ 489 h 495"/>
                <a:gd name="T38" fmla="*/ 5 w 66"/>
                <a:gd name="T39" fmla="*/ 483 h 495"/>
                <a:gd name="T40" fmla="*/ 0 w 66"/>
                <a:gd name="T41" fmla="*/ 489 h 495"/>
                <a:gd name="T42" fmla="*/ 2 w 66"/>
                <a:gd name="T43" fmla="*/ 493 h 495"/>
                <a:gd name="T44" fmla="*/ 5 w 66"/>
                <a:gd name="T45" fmla="*/ 494 h 495"/>
                <a:gd name="T46" fmla="*/ 9 w 66"/>
                <a:gd name="T47" fmla="*/ 493 h 495"/>
                <a:gd name="T48" fmla="*/ 10 w 66"/>
                <a:gd name="T49" fmla="*/ 489 h 495"/>
                <a:gd name="T50" fmla="*/ 5 w 66"/>
                <a:gd name="T51" fmla="*/ 495 h 49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6"/>
                <a:gd name="T79" fmla="*/ 0 h 495"/>
                <a:gd name="T80" fmla="*/ 66 w 66"/>
                <a:gd name="T81" fmla="*/ 495 h 49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6" h="495">
                  <a:moveTo>
                    <a:pt x="5" y="495"/>
                  </a:moveTo>
                  <a:lnTo>
                    <a:pt x="10" y="489"/>
                  </a:lnTo>
                  <a:lnTo>
                    <a:pt x="18" y="431"/>
                  </a:lnTo>
                  <a:lnTo>
                    <a:pt x="31" y="373"/>
                  </a:lnTo>
                  <a:lnTo>
                    <a:pt x="46" y="316"/>
                  </a:lnTo>
                  <a:lnTo>
                    <a:pt x="58" y="254"/>
                  </a:lnTo>
                  <a:lnTo>
                    <a:pt x="66" y="194"/>
                  </a:lnTo>
                  <a:lnTo>
                    <a:pt x="62" y="133"/>
                  </a:lnTo>
                  <a:lnTo>
                    <a:pt x="45" y="67"/>
                  </a:lnTo>
                  <a:lnTo>
                    <a:pt x="10" y="0"/>
                  </a:lnTo>
                  <a:lnTo>
                    <a:pt x="0" y="5"/>
                  </a:lnTo>
                  <a:lnTo>
                    <a:pt x="35" y="70"/>
                  </a:lnTo>
                  <a:lnTo>
                    <a:pt x="52" y="133"/>
                  </a:lnTo>
                  <a:lnTo>
                    <a:pt x="56" y="194"/>
                  </a:lnTo>
                  <a:lnTo>
                    <a:pt x="48" y="254"/>
                  </a:lnTo>
                  <a:lnTo>
                    <a:pt x="36" y="313"/>
                  </a:lnTo>
                  <a:lnTo>
                    <a:pt x="21" y="371"/>
                  </a:lnTo>
                  <a:lnTo>
                    <a:pt x="8" y="431"/>
                  </a:lnTo>
                  <a:lnTo>
                    <a:pt x="0" y="489"/>
                  </a:lnTo>
                  <a:lnTo>
                    <a:pt x="5" y="483"/>
                  </a:lnTo>
                  <a:lnTo>
                    <a:pt x="0" y="489"/>
                  </a:lnTo>
                  <a:lnTo>
                    <a:pt x="2" y="493"/>
                  </a:lnTo>
                  <a:lnTo>
                    <a:pt x="5" y="494"/>
                  </a:lnTo>
                  <a:lnTo>
                    <a:pt x="9" y="493"/>
                  </a:lnTo>
                  <a:lnTo>
                    <a:pt x="10" y="489"/>
                  </a:lnTo>
                  <a:lnTo>
                    <a:pt x="5" y="4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2" name="Freeform 71">
              <a:extLst>
                <a:ext uri="{FF2B5EF4-FFF2-40B4-BE49-F238E27FC236}">
                  <a16:creationId xmlns:a16="http://schemas.microsoft.com/office/drawing/2014/main" id="{633AA9F6-3103-4FD2-BF53-80C5D8316814}"/>
                </a:ext>
              </a:extLst>
            </p:cNvPr>
            <p:cNvSpPr>
              <a:spLocks/>
            </p:cNvSpPr>
            <p:nvPr/>
          </p:nvSpPr>
          <p:spPr bwMode="auto">
            <a:xfrm>
              <a:off x="3676" y="1714"/>
              <a:ext cx="633" cy="630"/>
            </a:xfrm>
            <a:custGeom>
              <a:avLst/>
              <a:gdLst>
                <a:gd name="T0" fmla="*/ 600 w 633"/>
                <a:gd name="T1" fmla="*/ 181 h 630"/>
                <a:gd name="T2" fmla="*/ 613 w 633"/>
                <a:gd name="T3" fmla="*/ 165 h 630"/>
                <a:gd name="T4" fmla="*/ 624 w 633"/>
                <a:gd name="T5" fmla="*/ 147 h 630"/>
                <a:gd name="T6" fmla="*/ 630 w 633"/>
                <a:gd name="T7" fmla="*/ 127 h 630"/>
                <a:gd name="T8" fmla="*/ 633 w 633"/>
                <a:gd name="T9" fmla="*/ 106 h 630"/>
                <a:gd name="T10" fmla="*/ 630 w 633"/>
                <a:gd name="T11" fmla="*/ 87 h 630"/>
                <a:gd name="T12" fmla="*/ 625 w 633"/>
                <a:gd name="T13" fmla="*/ 67 h 630"/>
                <a:gd name="T14" fmla="*/ 616 w 633"/>
                <a:gd name="T15" fmla="*/ 49 h 630"/>
                <a:gd name="T16" fmla="*/ 602 w 633"/>
                <a:gd name="T17" fmla="*/ 31 h 630"/>
                <a:gd name="T18" fmla="*/ 585 w 633"/>
                <a:gd name="T19" fmla="*/ 18 h 630"/>
                <a:gd name="T20" fmla="*/ 566 w 633"/>
                <a:gd name="T21" fmla="*/ 8 h 630"/>
                <a:gd name="T22" fmla="*/ 547 w 633"/>
                <a:gd name="T23" fmla="*/ 2 h 630"/>
                <a:gd name="T24" fmla="*/ 527 w 633"/>
                <a:gd name="T25" fmla="*/ 0 h 630"/>
                <a:gd name="T26" fmla="*/ 506 w 633"/>
                <a:gd name="T27" fmla="*/ 1 h 630"/>
                <a:gd name="T28" fmla="*/ 487 w 633"/>
                <a:gd name="T29" fmla="*/ 7 h 630"/>
                <a:gd name="T30" fmla="*/ 468 w 633"/>
                <a:gd name="T31" fmla="*/ 17 h 630"/>
                <a:gd name="T32" fmla="*/ 451 w 633"/>
                <a:gd name="T33" fmla="*/ 30 h 630"/>
                <a:gd name="T34" fmla="*/ 0 w 633"/>
                <a:gd name="T35" fmla="*/ 477 h 630"/>
                <a:gd name="T36" fmla="*/ 150 w 633"/>
                <a:gd name="T37" fmla="*/ 630 h 630"/>
                <a:gd name="T38" fmla="*/ 600 w 633"/>
                <a:gd name="T39" fmla="*/ 181 h 63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33"/>
                <a:gd name="T61" fmla="*/ 0 h 630"/>
                <a:gd name="T62" fmla="*/ 633 w 633"/>
                <a:gd name="T63" fmla="*/ 630 h 63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33" h="630">
                  <a:moveTo>
                    <a:pt x="600" y="181"/>
                  </a:moveTo>
                  <a:lnTo>
                    <a:pt x="613" y="165"/>
                  </a:lnTo>
                  <a:lnTo>
                    <a:pt x="624" y="147"/>
                  </a:lnTo>
                  <a:lnTo>
                    <a:pt x="630" y="127"/>
                  </a:lnTo>
                  <a:lnTo>
                    <a:pt x="633" y="106"/>
                  </a:lnTo>
                  <a:lnTo>
                    <a:pt x="630" y="87"/>
                  </a:lnTo>
                  <a:lnTo>
                    <a:pt x="625" y="67"/>
                  </a:lnTo>
                  <a:lnTo>
                    <a:pt x="616" y="49"/>
                  </a:lnTo>
                  <a:lnTo>
                    <a:pt x="602" y="31"/>
                  </a:lnTo>
                  <a:lnTo>
                    <a:pt x="585" y="18"/>
                  </a:lnTo>
                  <a:lnTo>
                    <a:pt x="566" y="8"/>
                  </a:lnTo>
                  <a:lnTo>
                    <a:pt x="547" y="2"/>
                  </a:lnTo>
                  <a:lnTo>
                    <a:pt x="527" y="0"/>
                  </a:lnTo>
                  <a:lnTo>
                    <a:pt x="506" y="1"/>
                  </a:lnTo>
                  <a:lnTo>
                    <a:pt x="487" y="7"/>
                  </a:lnTo>
                  <a:lnTo>
                    <a:pt x="468" y="17"/>
                  </a:lnTo>
                  <a:lnTo>
                    <a:pt x="451" y="30"/>
                  </a:lnTo>
                  <a:lnTo>
                    <a:pt x="0" y="477"/>
                  </a:lnTo>
                  <a:lnTo>
                    <a:pt x="150" y="630"/>
                  </a:lnTo>
                  <a:lnTo>
                    <a:pt x="600" y="181"/>
                  </a:lnTo>
                  <a:close/>
                </a:path>
              </a:pathLst>
            </a:custGeom>
            <a:solidFill>
              <a:srgbClr val="004C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3" name="Freeform 72">
              <a:extLst>
                <a:ext uri="{FF2B5EF4-FFF2-40B4-BE49-F238E27FC236}">
                  <a16:creationId xmlns:a16="http://schemas.microsoft.com/office/drawing/2014/main" id="{C9B74250-D7AA-4069-93EB-2732D12594B8}"/>
                </a:ext>
              </a:extLst>
            </p:cNvPr>
            <p:cNvSpPr>
              <a:spLocks/>
            </p:cNvSpPr>
            <p:nvPr/>
          </p:nvSpPr>
          <p:spPr bwMode="auto">
            <a:xfrm>
              <a:off x="4272" y="1742"/>
              <a:ext cx="43" cy="157"/>
            </a:xfrm>
            <a:custGeom>
              <a:avLst/>
              <a:gdLst>
                <a:gd name="T0" fmla="*/ 2 w 43"/>
                <a:gd name="T1" fmla="*/ 7 h 157"/>
                <a:gd name="T2" fmla="*/ 2 w 43"/>
                <a:gd name="T3" fmla="*/ 7 h 157"/>
                <a:gd name="T4" fmla="*/ 15 w 43"/>
                <a:gd name="T5" fmla="*/ 23 h 157"/>
                <a:gd name="T6" fmla="*/ 25 w 43"/>
                <a:gd name="T7" fmla="*/ 40 h 157"/>
                <a:gd name="T8" fmla="*/ 29 w 43"/>
                <a:gd name="T9" fmla="*/ 59 h 157"/>
                <a:gd name="T10" fmla="*/ 31 w 43"/>
                <a:gd name="T11" fmla="*/ 78 h 157"/>
                <a:gd name="T12" fmla="*/ 29 w 43"/>
                <a:gd name="T13" fmla="*/ 98 h 157"/>
                <a:gd name="T14" fmla="*/ 23 w 43"/>
                <a:gd name="T15" fmla="*/ 116 h 157"/>
                <a:gd name="T16" fmla="*/ 12 w 43"/>
                <a:gd name="T17" fmla="*/ 135 h 157"/>
                <a:gd name="T18" fmla="*/ 0 w 43"/>
                <a:gd name="T19" fmla="*/ 150 h 157"/>
                <a:gd name="T20" fmla="*/ 7 w 43"/>
                <a:gd name="T21" fmla="*/ 157 h 157"/>
                <a:gd name="T22" fmla="*/ 22 w 43"/>
                <a:gd name="T23" fmla="*/ 140 h 157"/>
                <a:gd name="T24" fmla="*/ 33 w 43"/>
                <a:gd name="T25" fmla="*/ 121 h 157"/>
                <a:gd name="T26" fmla="*/ 39 w 43"/>
                <a:gd name="T27" fmla="*/ 100 h 157"/>
                <a:gd name="T28" fmla="*/ 43 w 43"/>
                <a:gd name="T29" fmla="*/ 78 h 157"/>
                <a:gd name="T30" fmla="*/ 39 w 43"/>
                <a:gd name="T31" fmla="*/ 59 h 157"/>
                <a:gd name="T32" fmla="*/ 34 w 43"/>
                <a:gd name="T33" fmla="*/ 38 h 157"/>
                <a:gd name="T34" fmla="*/ 25 w 43"/>
                <a:gd name="T35" fmla="*/ 18 h 157"/>
                <a:gd name="T36" fmla="*/ 10 w 43"/>
                <a:gd name="T37" fmla="*/ 0 h 157"/>
                <a:gd name="T38" fmla="*/ 10 w 43"/>
                <a:gd name="T39" fmla="*/ 0 h 157"/>
                <a:gd name="T40" fmla="*/ 2 w 43"/>
                <a:gd name="T41" fmla="*/ 7 h 15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3"/>
                <a:gd name="T64" fmla="*/ 0 h 157"/>
                <a:gd name="T65" fmla="*/ 43 w 43"/>
                <a:gd name="T66" fmla="*/ 157 h 15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3" h="157">
                  <a:moveTo>
                    <a:pt x="2" y="7"/>
                  </a:moveTo>
                  <a:lnTo>
                    <a:pt x="2" y="7"/>
                  </a:lnTo>
                  <a:lnTo>
                    <a:pt x="15" y="23"/>
                  </a:lnTo>
                  <a:lnTo>
                    <a:pt x="25" y="40"/>
                  </a:lnTo>
                  <a:lnTo>
                    <a:pt x="29" y="59"/>
                  </a:lnTo>
                  <a:lnTo>
                    <a:pt x="31" y="78"/>
                  </a:lnTo>
                  <a:lnTo>
                    <a:pt x="29" y="98"/>
                  </a:lnTo>
                  <a:lnTo>
                    <a:pt x="23" y="116"/>
                  </a:lnTo>
                  <a:lnTo>
                    <a:pt x="12" y="135"/>
                  </a:lnTo>
                  <a:lnTo>
                    <a:pt x="0" y="150"/>
                  </a:lnTo>
                  <a:lnTo>
                    <a:pt x="7" y="157"/>
                  </a:lnTo>
                  <a:lnTo>
                    <a:pt x="22" y="140"/>
                  </a:lnTo>
                  <a:lnTo>
                    <a:pt x="33" y="121"/>
                  </a:lnTo>
                  <a:lnTo>
                    <a:pt x="39" y="100"/>
                  </a:lnTo>
                  <a:lnTo>
                    <a:pt x="43" y="78"/>
                  </a:lnTo>
                  <a:lnTo>
                    <a:pt x="39" y="59"/>
                  </a:lnTo>
                  <a:lnTo>
                    <a:pt x="34" y="38"/>
                  </a:lnTo>
                  <a:lnTo>
                    <a:pt x="25" y="18"/>
                  </a:lnTo>
                  <a:lnTo>
                    <a:pt x="10" y="0"/>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4" name="Freeform 73">
              <a:extLst>
                <a:ext uri="{FF2B5EF4-FFF2-40B4-BE49-F238E27FC236}">
                  <a16:creationId xmlns:a16="http://schemas.microsoft.com/office/drawing/2014/main" id="{5ADF9606-0B6D-4716-AE8F-B607833FF9C0}"/>
                </a:ext>
              </a:extLst>
            </p:cNvPr>
            <p:cNvSpPr>
              <a:spLocks/>
            </p:cNvSpPr>
            <p:nvPr/>
          </p:nvSpPr>
          <p:spPr bwMode="auto">
            <a:xfrm>
              <a:off x="4122" y="1707"/>
              <a:ext cx="160" cy="42"/>
            </a:xfrm>
            <a:custGeom>
              <a:avLst/>
              <a:gdLst>
                <a:gd name="T0" fmla="*/ 9 w 160"/>
                <a:gd name="T1" fmla="*/ 41 h 42"/>
                <a:gd name="T2" fmla="*/ 9 w 160"/>
                <a:gd name="T3" fmla="*/ 41 h 42"/>
                <a:gd name="T4" fmla="*/ 25 w 160"/>
                <a:gd name="T5" fmla="*/ 29 h 42"/>
                <a:gd name="T6" fmla="*/ 42 w 160"/>
                <a:gd name="T7" fmla="*/ 19 h 42"/>
                <a:gd name="T8" fmla="*/ 60 w 160"/>
                <a:gd name="T9" fmla="*/ 13 h 42"/>
                <a:gd name="T10" fmla="*/ 81 w 160"/>
                <a:gd name="T11" fmla="*/ 13 h 42"/>
                <a:gd name="T12" fmla="*/ 100 w 160"/>
                <a:gd name="T13" fmla="*/ 14 h 42"/>
                <a:gd name="T14" fmla="*/ 119 w 160"/>
                <a:gd name="T15" fmla="*/ 20 h 42"/>
                <a:gd name="T16" fmla="*/ 136 w 160"/>
                <a:gd name="T17" fmla="*/ 30 h 42"/>
                <a:gd name="T18" fmla="*/ 152 w 160"/>
                <a:gd name="T19" fmla="*/ 42 h 42"/>
                <a:gd name="T20" fmla="*/ 160 w 160"/>
                <a:gd name="T21" fmla="*/ 35 h 42"/>
                <a:gd name="T22" fmla="*/ 141 w 160"/>
                <a:gd name="T23" fmla="*/ 20 h 42"/>
                <a:gd name="T24" fmla="*/ 122 w 160"/>
                <a:gd name="T25" fmla="*/ 10 h 42"/>
                <a:gd name="T26" fmla="*/ 102 w 160"/>
                <a:gd name="T27" fmla="*/ 4 h 42"/>
                <a:gd name="T28" fmla="*/ 81 w 160"/>
                <a:gd name="T29" fmla="*/ 0 h 42"/>
                <a:gd name="T30" fmla="*/ 60 w 160"/>
                <a:gd name="T31" fmla="*/ 3 h 42"/>
                <a:gd name="T32" fmla="*/ 39 w 160"/>
                <a:gd name="T33" fmla="*/ 9 h 42"/>
                <a:gd name="T34" fmla="*/ 20 w 160"/>
                <a:gd name="T35" fmla="*/ 19 h 42"/>
                <a:gd name="T36" fmla="*/ 1 w 160"/>
                <a:gd name="T37" fmla="*/ 34 h 42"/>
                <a:gd name="T38" fmla="*/ 1 w 160"/>
                <a:gd name="T39" fmla="*/ 34 h 42"/>
                <a:gd name="T40" fmla="*/ 1 w 160"/>
                <a:gd name="T41" fmla="*/ 34 h 42"/>
                <a:gd name="T42" fmla="*/ 0 w 160"/>
                <a:gd name="T43" fmla="*/ 37 h 42"/>
                <a:gd name="T44" fmla="*/ 1 w 160"/>
                <a:gd name="T45" fmla="*/ 41 h 42"/>
                <a:gd name="T46" fmla="*/ 5 w 160"/>
                <a:gd name="T47" fmla="*/ 42 h 42"/>
                <a:gd name="T48" fmla="*/ 9 w 160"/>
                <a:gd name="T49" fmla="*/ 41 h 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0"/>
                <a:gd name="T76" fmla="*/ 0 h 42"/>
                <a:gd name="T77" fmla="*/ 160 w 160"/>
                <a:gd name="T78" fmla="*/ 42 h 4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0" h="42">
                  <a:moveTo>
                    <a:pt x="9" y="41"/>
                  </a:moveTo>
                  <a:lnTo>
                    <a:pt x="9" y="41"/>
                  </a:lnTo>
                  <a:lnTo>
                    <a:pt x="25" y="29"/>
                  </a:lnTo>
                  <a:lnTo>
                    <a:pt x="42" y="19"/>
                  </a:lnTo>
                  <a:lnTo>
                    <a:pt x="60" y="13"/>
                  </a:lnTo>
                  <a:lnTo>
                    <a:pt x="81" y="13"/>
                  </a:lnTo>
                  <a:lnTo>
                    <a:pt x="100" y="14"/>
                  </a:lnTo>
                  <a:lnTo>
                    <a:pt x="119" y="20"/>
                  </a:lnTo>
                  <a:lnTo>
                    <a:pt x="136" y="30"/>
                  </a:lnTo>
                  <a:lnTo>
                    <a:pt x="152" y="42"/>
                  </a:lnTo>
                  <a:lnTo>
                    <a:pt x="160" y="35"/>
                  </a:lnTo>
                  <a:lnTo>
                    <a:pt x="141" y="20"/>
                  </a:lnTo>
                  <a:lnTo>
                    <a:pt x="122" y="10"/>
                  </a:lnTo>
                  <a:lnTo>
                    <a:pt x="102" y="4"/>
                  </a:lnTo>
                  <a:lnTo>
                    <a:pt x="81" y="0"/>
                  </a:lnTo>
                  <a:lnTo>
                    <a:pt x="60" y="3"/>
                  </a:lnTo>
                  <a:lnTo>
                    <a:pt x="39" y="9"/>
                  </a:lnTo>
                  <a:lnTo>
                    <a:pt x="20" y="19"/>
                  </a:lnTo>
                  <a:lnTo>
                    <a:pt x="1" y="34"/>
                  </a:lnTo>
                  <a:lnTo>
                    <a:pt x="0" y="37"/>
                  </a:lnTo>
                  <a:lnTo>
                    <a:pt x="1" y="41"/>
                  </a:lnTo>
                  <a:lnTo>
                    <a:pt x="5" y="42"/>
                  </a:lnTo>
                  <a:lnTo>
                    <a:pt x="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5" name="Freeform 74">
              <a:extLst>
                <a:ext uri="{FF2B5EF4-FFF2-40B4-BE49-F238E27FC236}">
                  <a16:creationId xmlns:a16="http://schemas.microsoft.com/office/drawing/2014/main" id="{CB72C0FA-DEAB-410C-901A-0E2FED82A860}"/>
                </a:ext>
              </a:extLst>
            </p:cNvPr>
            <p:cNvSpPr>
              <a:spLocks/>
            </p:cNvSpPr>
            <p:nvPr/>
          </p:nvSpPr>
          <p:spPr bwMode="auto">
            <a:xfrm>
              <a:off x="3671" y="1741"/>
              <a:ext cx="460" cy="455"/>
            </a:xfrm>
            <a:custGeom>
              <a:avLst/>
              <a:gdLst>
                <a:gd name="T0" fmla="*/ 8 w 460"/>
                <a:gd name="T1" fmla="*/ 447 h 455"/>
                <a:gd name="T2" fmla="*/ 8 w 460"/>
                <a:gd name="T3" fmla="*/ 454 h 455"/>
                <a:gd name="T4" fmla="*/ 460 w 460"/>
                <a:gd name="T5" fmla="*/ 7 h 455"/>
                <a:gd name="T6" fmla="*/ 452 w 460"/>
                <a:gd name="T7" fmla="*/ 0 h 455"/>
                <a:gd name="T8" fmla="*/ 1 w 460"/>
                <a:gd name="T9" fmla="*/ 447 h 455"/>
                <a:gd name="T10" fmla="*/ 1 w 460"/>
                <a:gd name="T11" fmla="*/ 454 h 455"/>
                <a:gd name="T12" fmla="*/ 1 w 460"/>
                <a:gd name="T13" fmla="*/ 447 h 455"/>
                <a:gd name="T14" fmla="*/ 0 w 460"/>
                <a:gd name="T15" fmla="*/ 450 h 455"/>
                <a:gd name="T16" fmla="*/ 1 w 460"/>
                <a:gd name="T17" fmla="*/ 454 h 455"/>
                <a:gd name="T18" fmla="*/ 5 w 460"/>
                <a:gd name="T19" fmla="*/ 455 h 455"/>
                <a:gd name="T20" fmla="*/ 8 w 460"/>
                <a:gd name="T21" fmla="*/ 454 h 455"/>
                <a:gd name="T22" fmla="*/ 8 w 460"/>
                <a:gd name="T23" fmla="*/ 447 h 4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60"/>
                <a:gd name="T37" fmla="*/ 0 h 455"/>
                <a:gd name="T38" fmla="*/ 460 w 460"/>
                <a:gd name="T39" fmla="*/ 455 h 4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60" h="455">
                  <a:moveTo>
                    <a:pt x="8" y="447"/>
                  </a:moveTo>
                  <a:lnTo>
                    <a:pt x="8" y="454"/>
                  </a:lnTo>
                  <a:lnTo>
                    <a:pt x="460" y="7"/>
                  </a:lnTo>
                  <a:lnTo>
                    <a:pt x="452" y="0"/>
                  </a:lnTo>
                  <a:lnTo>
                    <a:pt x="1" y="447"/>
                  </a:lnTo>
                  <a:lnTo>
                    <a:pt x="1" y="454"/>
                  </a:lnTo>
                  <a:lnTo>
                    <a:pt x="1" y="447"/>
                  </a:lnTo>
                  <a:lnTo>
                    <a:pt x="0" y="450"/>
                  </a:lnTo>
                  <a:lnTo>
                    <a:pt x="1" y="454"/>
                  </a:lnTo>
                  <a:lnTo>
                    <a:pt x="5" y="455"/>
                  </a:lnTo>
                  <a:lnTo>
                    <a:pt x="8" y="454"/>
                  </a:lnTo>
                  <a:lnTo>
                    <a:pt x="8" y="4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6" name="Freeform 75">
              <a:extLst>
                <a:ext uri="{FF2B5EF4-FFF2-40B4-BE49-F238E27FC236}">
                  <a16:creationId xmlns:a16="http://schemas.microsoft.com/office/drawing/2014/main" id="{C86EE370-7A04-4F5D-B007-E0F400815B9B}"/>
                </a:ext>
              </a:extLst>
            </p:cNvPr>
            <p:cNvSpPr>
              <a:spLocks/>
            </p:cNvSpPr>
            <p:nvPr/>
          </p:nvSpPr>
          <p:spPr bwMode="auto">
            <a:xfrm>
              <a:off x="3672" y="2188"/>
              <a:ext cx="159" cy="161"/>
            </a:xfrm>
            <a:custGeom>
              <a:avLst/>
              <a:gdLst>
                <a:gd name="T0" fmla="*/ 150 w 159"/>
                <a:gd name="T1" fmla="*/ 152 h 161"/>
                <a:gd name="T2" fmla="*/ 157 w 159"/>
                <a:gd name="T3" fmla="*/ 152 h 161"/>
                <a:gd name="T4" fmla="*/ 7 w 159"/>
                <a:gd name="T5" fmla="*/ 0 h 161"/>
                <a:gd name="T6" fmla="*/ 0 w 159"/>
                <a:gd name="T7" fmla="*/ 7 h 161"/>
                <a:gd name="T8" fmla="*/ 150 w 159"/>
                <a:gd name="T9" fmla="*/ 159 h 161"/>
                <a:gd name="T10" fmla="*/ 157 w 159"/>
                <a:gd name="T11" fmla="*/ 159 h 161"/>
                <a:gd name="T12" fmla="*/ 150 w 159"/>
                <a:gd name="T13" fmla="*/ 159 h 161"/>
                <a:gd name="T14" fmla="*/ 154 w 159"/>
                <a:gd name="T15" fmla="*/ 161 h 161"/>
                <a:gd name="T16" fmla="*/ 157 w 159"/>
                <a:gd name="T17" fmla="*/ 159 h 161"/>
                <a:gd name="T18" fmla="*/ 159 w 159"/>
                <a:gd name="T19" fmla="*/ 156 h 161"/>
                <a:gd name="T20" fmla="*/ 157 w 159"/>
                <a:gd name="T21" fmla="*/ 152 h 161"/>
                <a:gd name="T22" fmla="*/ 150 w 159"/>
                <a:gd name="T23" fmla="*/ 152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9"/>
                <a:gd name="T37" fmla="*/ 0 h 161"/>
                <a:gd name="T38" fmla="*/ 159 w 159"/>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9" h="161">
                  <a:moveTo>
                    <a:pt x="150" y="152"/>
                  </a:moveTo>
                  <a:lnTo>
                    <a:pt x="157" y="152"/>
                  </a:lnTo>
                  <a:lnTo>
                    <a:pt x="7" y="0"/>
                  </a:lnTo>
                  <a:lnTo>
                    <a:pt x="0" y="7"/>
                  </a:lnTo>
                  <a:lnTo>
                    <a:pt x="150" y="159"/>
                  </a:lnTo>
                  <a:lnTo>
                    <a:pt x="157" y="159"/>
                  </a:lnTo>
                  <a:lnTo>
                    <a:pt x="150" y="159"/>
                  </a:lnTo>
                  <a:lnTo>
                    <a:pt x="154" y="161"/>
                  </a:lnTo>
                  <a:lnTo>
                    <a:pt x="157" y="159"/>
                  </a:lnTo>
                  <a:lnTo>
                    <a:pt x="159" y="156"/>
                  </a:lnTo>
                  <a:lnTo>
                    <a:pt x="157" y="152"/>
                  </a:lnTo>
                  <a:lnTo>
                    <a:pt x="150" y="1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7" name="Freeform 76">
              <a:extLst>
                <a:ext uri="{FF2B5EF4-FFF2-40B4-BE49-F238E27FC236}">
                  <a16:creationId xmlns:a16="http://schemas.microsoft.com/office/drawing/2014/main" id="{4618CC00-9E61-4720-890B-DD59F68CB16F}"/>
                </a:ext>
              </a:extLst>
            </p:cNvPr>
            <p:cNvSpPr>
              <a:spLocks/>
            </p:cNvSpPr>
            <p:nvPr/>
          </p:nvSpPr>
          <p:spPr bwMode="auto">
            <a:xfrm>
              <a:off x="3822" y="1890"/>
              <a:ext cx="459" cy="457"/>
            </a:xfrm>
            <a:custGeom>
              <a:avLst/>
              <a:gdLst>
                <a:gd name="T0" fmla="*/ 450 w 459"/>
                <a:gd name="T1" fmla="*/ 2 h 457"/>
                <a:gd name="T2" fmla="*/ 450 w 459"/>
                <a:gd name="T3" fmla="*/ 2 h 457"/>
                <a:gd name="T4" fmla="*/ 0 w 459"/>
                <a:gd name="T5" fmla="*/ 450 h 457"/>
                <a:gd name="T6" fmla="*/ 7 w 459"/>
                <a:gd name="T7" fmla="*/ 457 h 457"/>
                <a:gd name="T8" fmla="*/ 457 w 459"/>
                <a:gd name="T9" fmla="*/ 9 h 457"/>
                <a:gd name="T10" fmla="*/ 457 w 459"/>
                <a:gd name="T11" fmla="*/ 9 h 457"/>
                <a:gd name="T12" fmla="*/ 457 w 459"/>
                <a:gd name="T13" fmla="*/ 9 h 457"/>
                <a:gd name="T14" fmla="*/ 459 w 459"/>
                <a:gd name="T15" fmla="*/ 5 h 457"/>
                <a:gd name="T16" fmla="*/ 457 w 459"/>
                <a:gd name="T17" fmla="*/ 2 h 457"/>
                <a:gd name="T18" fmla="*/ 454 w 459"/>
                <a:gd name="T19" fmla="*/ 0 h 457"/>
                <a:gd name="T20" fmla="*/ 450 w 459"/>
                <a:gd name="T21" fmla="*/ 2 h 4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9"/>
                <a:gd name="T34" fmla="*/ 0 h 457"/>
                <a:gd name="T35" fmla="*/ 459 w 459"/>
                <a:gd name="T36" fmla="*/ 457 h 45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9" h="457">
                  <a:moveTo>
                    <a:pt x="450" y="2"/>
                  </a:moveTo>
                  <a:lnTo>
                    <a:pt x="450" y="2"/>
                  </a:lnTo>
                  <a:lnTo>
                    <a:pt x="0" y="450"/>
                  </a:lnTo>
                  <a:lnTo>
                    <a:pt x="7" y="457"/>
                  </a:lnTo>
                  <a:lnTo>
                    <a:pt x="457" y="9"/>
                  </a:lnTo>
                  <a:lnTo>
                    <a:pt x="459" y="5"/>
                  </a:lnTo>
                  <a:lnTo>
                    <a:pt x="457" y="2"/>
                  </a:lnTo>
                  <a:lnTo>
                    <a:pt x="454" y="0"/>
                  </a:lnTo>
                  <a:lnTo>
                    <a:pt x="45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8" name="Freeform 77">
              <a:extLst>
                <a:ext uri="{FF2B5EF4-FFF2-40B4-BE49-F238E27FC236}">
                  <a16:creationId xmlns:a16="http://schemas.microsoft.com/office/drawing/2014/main" id="{0973FD4A-4A2E-4614-9477-7AD2F70198E7}"/>
                </a:ext>
              </a:extLst>
            </p:cNvPr>
            <p:cNvSpPr>
              <a:spLocks/>
            </p:cNvSpPr>
            <p:nvPr/>
          </p:nvSpPr>
          <p:spPr bwMode="auto">
            <a:xfrm>
              <a:off x="3217" y="2408"/>
              <a:ext cx="619" cy="233"/>
            </a:xfrm>
            <a:custGeom>
              <a:avLst/>
              <a:gdLst>
                <a:gd name="T0" fmla="*/ 619 w 619"/>
                <a:gd name="T1" fmla="*/ 233 h 233"/>
                <a:gd name="T2" fmla="*/ 176 w 619"/>
                <a:gd name="T3" fmla="*/ 233 h 233"/>
                <a:gd name="T4" fmla="*/ 140 w 619"/>
                <a:gd name="T5" fmla="*/ 229 h 233"/>
                <a:gd name="T6" fmla="*/ 107 w 619"/>
                <a:gd name="T7" fmla="*/ 219 h 233"/>
                <a:gd name="T8" fmla="*/ 78 w 619"/>
                <a:gd name="T9" fmla="*/ 202 h 233"/>
                <a:gd name="T10" fmla="*/ 52 w 619"/>
                <a:gd name="T11" fmla="*/ 181 h 233"/>
                <a:gd name="T12" fmla="*/ 30 w 619"/>
                <a:gd name="T13" fmla="*/ 154 h 233"/>
                <a:gd name="T14" fmla="*/ 14 w 619"/>
                <a:gd name="T15" fmla="*/ 125 h 233"/>
                <a:gd name="T16" fmla="*/ 4 w 619"/>
                <a:gd name="T17" fmla="*/ 92 h 233"/>
                <a:gd name="T18" fmla="*/ 0 w 619"/>
                <a:gd name="T19" fmla="*/ 56 h 233"/>
                <a:gd name="T20" fmla="*/ 0 w 619"/>
                <a:gd name="T21" fmla="*/ 0 h 233"/>
                <a:gd name="T22" fmla="*/ 92 w 619"/>
                <a:gd name="T23" fmla="*/ 8 h 233"/>
                <a:gd name="T24" fmla="*/ 175 w 619"/>
                <a:gd name="T25" fmla="*/ 13 h 233"/>
                <a:gd name="T26" fmla="*/ 250 w 619"/>
                <a:gd name="T27" fmla="*/ 18 h 233"/>
                <a:gd name="T28" fmla="*/ 315 w 619"/>
                <a:gd name="T29" fmla="*/ 20 h 233"/>
                <a:gd name="T30" fmla="*/ 374 w 619"/>
                <a:gd name="T31" fmla="*/ 24 h 233"/>
                <a:gd name="T32" fmla="*/ 424 w 619"/>
                <a:gd name="T33" fmla="*/ 27 h 233"/>
                <a:gd name="T34" fmla="*/ 469 w 619"/>
                <a:gd name="T35" fmla="*/ 32 h 233"/>
                <a:gd name="T36" fmla="*/ 505 w 619"/>
                <a:gd name="T37" fmla="*/ 38 h 233"/>
                <a:gd name="T38" fmla="*/ 536 w 619"/>
                <a:gd name="T39" fmla="*/ 46 h 233"/>
                <a:gd name="T40" fmla="*/ 562 w 619"/>
                <a:gd name="T41" fmla="*/ 59 h 233"/>
                <a:gd name="T42" fmla="*/ 582 w 619"/>
                <a:gd name="T43" fmla="*/ 75 h 233"/>
                <a:gd name="T44" fmla="*/ 598 w 619"/>
                <a:gd name="T45" fmla="*/ 94 h 233"/>
                <a:gd name="T46" fmla="*/ 608 w 619"/>
                <a:gd name="T47" fmla="*/ 120 h 233"/>
                <a:gd name="T48" fmla="*/ 615 w 619"/>
                <a:gd name="T49" fmla="*/ 151 h 233"/>
                <a:gd name="T50" fmla="*/ 619 w 619"/>
                <a:gd name="T51" fmla="*/ 189 h 233"/>
                <a:gd name="T52" fmla="*/ 619 w 619"/>
                <a:gd name="T53" fmla="*/ 233 h 23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19"/>
                <a:gd name="T82" fmla="*/ 0 h 233"/>
                <a:gd name="T83" fmla="*/ 619 w 619"/>
                <a:gd name="T84" fmla="*/ 233 h 23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19" h="233">
                  <a:moveTo>
                    <a:pt x="619" y="233"/>
                  </a:moveTo>
                  <a:lnTo>
                    <a:pt x="176" y="233"/>
                  </a:lnTo>
                  <a:lnTo>
                    <a:pt x="140" y="229"/>
                  </a:lnTo>
                  <a:lnTo>
                    <a:pt x="107" y="219"/>
                  </a:lnTo>
                  <a:lnTo>
                    <a:pt x="78" y="202"/>
                  </a:lnTo>
                  <a:lnTo>
                    <a:pt x="52" y="181"/>
                  </a:lnTo>
                  <a:lnTo>
                    <a:pt x="30" y="154"/>
                  </a:lnTo>
                  <a:lnTo>
                    <a:pt x="14" y="125"/>
                  </a:lnTo>
                  <a:lnTo>
                    <a:pt x="4" y="92"/>
                  </a:lnTo>
                  <a:lnTo>
                    <a:pt x="0" y="56"/>
                  </a:lnTo>
                  <a:lnTo>
                    <a:pt x="0" y="0"/>
                  </a:lnTo>
                  <a:lnTo>
                    <a:pt x="92" y="8"/>
                  </a:lnTo>
                  <a:lnTo>
                    <a:pt x="175" y="13"/>
                  </a:lnTo>
                  <a:lnTo>
                    <a:pt x="250" y="18"/>
                  </a:lnTo>
                  <a:lnTo>
                    <a:pt x="315" y="20"/>
                  </a:lnTo>
                  <a:lnTo>
                    <a:pt x="374" y="24"/>
                  </a:lnTo>
                  <a:lnTo>
                    <a:pt x="424" y="27"/>
                  </a:lnTo>
                  <a:lnTo>
                    <a:pt x="469" y="32"/>
                  </a:lnTo>
                  <a:lnTo>
                    <a:pt x="505" y="38"/>
                  </a:lnTo>
                  <a:lnTo>
                    <a:pt x="536" y="46"/>
                  </a:lnTo>
                  <a:lnTo>
                    <a:pt x="562" y="59"/>
                  </a:lnTo>
                  <a:lnTo>
                    <a:pt x="582" y="75"/>
                  </a:lnTo>
                  <a:lnTo>
                    <a:pt x="598" y="94"/>
                  </a:lnTo>
                  <a:lnTo>
                    <a:pt x="608" y="120"/>
                  </a:lnTo>
                  <a:lnTo>
                    <a:pt x="615" y="151"/>
                  </a:lnTo>
                  <a:lnTo>
                    <a:pt x="619" y="189"/>
                  </a:lnTo>
                  <a:lnTo>
                    <a:pt x="619" y="233"/>
                  </a:lnTo>
                  <a:close/>
                </a:path>
              </a:pathLst>
            </a:custGeom>
            <a:solidFill>
              <a:srgbClr val="66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09" name="Freeform 78">
              <a:extLst>
                <a:ext uri="{FF2B5EF4-FFF2-40B4-BE49-F238E27FC236}">
                  <a16:creationId xmlns:a16="http://schemas.microsoft.com/office/drawing/2014/main" id="{A1B846F5-2F9B-4E46-ADA0-8B2A9B2ED5CC}"/>
                </a:ext>
              </a:extLst>
            </p:cNvPr>
            <p:cNvSpPr>
              <a:spLocks/>
            </p:cNvSpPr>
            <p:nvPr/>
          </p:nvSpPr>
          <p:spPr bwMode="auto">
            <a:xfrm>
              <a:off x="3388" y="2635"/>
              <a:ext cx="448" cy="12"/>
            </a:xfrm>
            <a:custGeom>
              <a:avLst/>
              <a:gdLst>
                <a:gd name="T0" fmla="*/ 5 w 448"/>
                <a:gd name="T1" fmla="*/ 12 h 12"/>
                <a:gd name="T2" fmla="*/ 5 w 448"/>
                <a:gd name="T3" fmla="*/ 12 h 12"/>
                <a:gd name="T4" fmla="*/ 448 w 448"/>
                <a:gd name="T5" fmla="*/ 12 h 12"/>
                <a:gd name="T6" fmla="*/ 448 w 448"/>
                <a:gd name="T7" fmla="*/ 0 h 12"/>
                <a:gd name="T8" fmla="*/ 5 w 448"/>
                <a:gd name="T9" fmla="*/ 0 h 12"/>
                <a:gd name="T10" fmla="*/ 5 w 448"/>
                <a:gd name="T11" fmla="*/ 0 h 12"/>
                <a:gd name="T12" fmla="*/ 5 w 448"/>
                <a:gd name="T13" fmla="*/ 0 h 12"/>
                <a:gd name="T14" fmla="*/ 1 w 448"/>
                <a:gd name="T15" fmla="*/ 2 h 12"/>
                <a:gd name="T16" fmla="*/ 0 w 448"/>
                <a:gd name="T17" fmla="*/ 6 h 12"/>
                <a:gd name="T18" fmla="*/ 1 w 448"/>
                <a:gd name="T19" fmla="*/ 10 h 12"/>
                <a:gd name="T20" fmla="*/ 5 w 448"/>
                <a:gd name="T21" fmla="*/ 12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2"/>
                <a:gd name="T35" fmla="*/ 448 w 448"/>
                <a:gd name="T36" fmla="*/ 12 h 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2">
                  <a:moveTo>
                    <a:pt x="5" y="12"/>
                  </a:moveTo>
                  <a:lnTo>
                    <a:pt x="5" y="12"/>
                  </a:lnTo>
                  <a:lnTo>
                    <a:pt x="448" y="12"/>
                  </a:lnTo>
                  <a:lnTo>
                    <a:pt x="448" y="0"/>
                  </a:lnTo>
                  <a:lnTo>
                    <a:pt x="5" y="0"/>
                  </a:lnTo>
                  <a:lnTo>
                    <a:pt x="1" y="2"/>
                  </a:lnTo>
                  <a:lnTo>
                    <a:pt x="0" y="6"/>
                  </a:lnTo>
                  <a:lnTo>
                    <a:pt x="1" y="10"/>
                  </a:lnTo>
                  <a:lnTo>
                    <a:pt x="5"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0" name="Freeform 79">
              <a:extLst>
                <a:ext uri="{FF2B5EF4-FFF2-40B4-BE49-F238E27FC236}">
                  <a16:creationId xmlns:a16="http://schemas.microsoft.com/office/drawing/2014/main" id="{ED6EF543-59E6-4A93-9A32-193C7C3606F2}"/>
                </a:ext>
              </a:extLst>
            </p:cNvPr>
            <p:cNvSpPr>
              <a:spLocks/>
            </p:cNvSpPr>
            <p:nvPr/>
          </p:nvSpPr>
          <p:spPr bwMode="auto">
            <a:xfrm>
              <a:off x="3211" y="2458"/>
              <a:ext cx="182" cy="189"/>
            </a:xfrm>
            <a:custGeom>
              <a:avLst/>
              <a:gdLst>
                <a:gd name="T0" fmla="*/ 0 w 182"/>
                <a:gd name="T1" fmla="*/ 6 h 189"/>
                <a:gd name="T2" fmla="*/ 0 w 182"/>
                <a:gd name="T3" fmla="*/ 6 h 189"/>
                <a:gd name="T4" fmla="*/ 5 w 182"/>
                <a:gd name="T5" fmla="*/ 42 h 189"/>
                <a:gd name="T6" fmla="*/ 15 w 182"/>
                <a:gd name="T7" fmla="*/ 76 h 189"/>
                <a:gd name="T8" fmla="*/ 31 w 182"/>
                <a:gd name="T9" fmla="*/ 107 h 189"/>
                <a:gd name="T10" fmla="*/ 54 w 182"/>
                <a:gd name="T11" fmla="*/ 135 h 189"/>
                <a:gd name="T12" fmla="*/ 81 w 182"/>
                <a:gd name="T13" fmla="*/ 157 h 189"/>
                <a:gd name="T14" fmla="*/ 112 w 182"/>
                <a:gd name="T15" fmla="*/ 174 h 189"/>
                <a:gd name="T16" fmla="*/ 146 w 182"/>
                <a:gd name="T17" fmla="*/ 184 h 189"/>
                <a:gd name="T18" fmla="*/ 182 w 182"/>
                <a:gd name="T19" fmla="*/ 189 h 189"/>
                <a:gd name="T20" fmla="*/ 182 w 182"/>
                <a:gd name="T21" fmla="*/ 177 h 189"/>
                <a:gd name="T22" fmla="*/ 146 w 182"/>
                <a:gd name="T23" fmla="*/ 174 h 189"/>
                <a:gd name="T24" fmla="*/ 114 w 182"/>
                <a:gd name="T25" fmla="*/ 165 h 189"/>
                <a:gd name="T26" fmla="*/ 86 w 182"/>
                <a:gd name="T27" fmla="*/ 147 h 189"/>
                <a:gd name="T28" fmla="*/ 62 w 182"/>
                <a:gd name="T29" fmla="*/ 128 h 189"/>
                <a:gd name="T30" fmla="*/ 41 w 182"/>
                <a:gd name="T31" fmla="*/ 102 h 189"/>
                <a:gd name="T32" fmla="*/ 25 w 182"/>
                <a:gd name="T33" fmla="*/ 74 h 189"/>
                <a:gd name="T34" fmla="*/ 15 w 182"/>
                <a:gd name="T35" fmla="*/ 42 h 189"/>
                <a:gd name="T36" fmla="*/ 12 w 182"/>
                <a:gd name="T37" fmla="*/ 6 h 189"/>
                <a:gd name="T38" fmla="*/ 12 w 182"/>
                <a:gd name="T39" fmla="*/ 6 h 189"/>
                <a:gd name="T40" fmla="*/ 12 w 182"/>
                <a:gd name="T41" fmla="*/ 6 h 189"/>
                <a:gd name="T42" fmla="*/ 10 w 182"/>
                <a:gd name="T43" fmla="*/ 2 h 189"/>
                <a:gd name="T44" fmla="*/ 6 w 182"/>
                <a:gd name="T45" fmla="*/ 0 h 189"/>
                <a:gd name="T46" fmla="*/ 3 w 182"/>
                <a:gd name="T47" fmla="*/ 2 h 189"/>
                <a:gd name="T48" fmla="*/ 0 w 182"/>
                <a:gd name="T49" fmla="*/ 6 h 18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82"/>
                <a:gd name="T76" fmla="*/ 0 h 189"/>
                <a:gd name="T77" fmla="*/ 182 w 182"/>
                <a:gd name="T78" fmla="*/ 189 h 18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82" h="189">
                  <a:moveTo>
                    <a:pt x="0" y="6"/>
                  </a:moveTo>
                  <a:lnTo>
                    <a:pt x="0" y="6"/>
                  </a:lnTo>
                  <a:lnTo>
                    <a:pt x="5" y="42"/>
                  </a:lnTo>
                  <a:lnTo>
                    <a:pt x="15" y="76"/>
                  </a:lnTo>
                  <a:lnTo>
                    <a:pt x="31" y="107"/>
                  </a:lnTo>
                  <a:lnTo>
                    <a:pt x="54" y="135"/>
                  </a:lnTo>
                  <a:lnTo>
                    <a:pt x="81" y="157"/>
                  </a:lnTo>
                  <a:lnTo>
                    <a:pt x="112" y="174"/>
                  </a:lnTo>
                  <a:lnTo>
                    <a:pt x="146" y="184"/>
                  </a:lnTo>
                  <a:lnTo>
                    <a:pt x="182" y="189"/>
                  </a:lnTo>
                  <a:lnTo>
                    <a:pt x="182" y="177"/>
                  </a:lnTo>
                  <a:lnTo>
                    <a:pt x="146" y="174"/>
                  </a:lnTo>
                  <a:lnTo>
                    <a:pt x="114" y="165"/>
                  </a:lnTo>
                  <a:lnTo>
                    <a:pt x="86" y="147"/>
                  </a:lnTo>
                  <a:lnTo>
                    <a:pt x="62" y="128"/>
                  </a:lnTo>
                  <a:lnTo>
                    <a:pt x="41" y="102"/>
                  </a:lnTo>
                  <a:lnTo>
                    <a:pt x="25" y="74"/>
                  </a:lnTo>
                  <a:lnTo>
                    <a:pt x="15" y="42"/>
                  </a:lnTo>
                  <a:lnTo>
                    <a:pt x="12" y="6"/>
                  </a:lnTo>
                  <a:lnTo>
                    <a:pt x="10" y="2"/>
                  </a:lnTo>
                  <a:lnTo>
                    <a:pt x="6" y="0"/>
                  </a:lnTo>
                  <a:lnTo>
                    <a:pt x="3" y="2"/>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1" name="Freeform 80">
              <a:extLst>
                <a:ext uri="{FF2B5EF4-FFF2-40B4-BE49-F238E27FC236}">
                  <a16:creationId xmlns:a16="http://schemas.microsoft.com/office/drawing/2014/main" id="{926B0C51-618F-47A6-9D84-33BF397D492A}"/>
                </a:ext>
              </a:extLst>
            </p:cNvPr>
            <p:cNvSpPr>
              <a:spLocks/>
            </p:cNvSpPr>
            <p:nvPr/>
          </p:nvSpPr>
          <p:spPr bwMode="auto">
            <a:xfrm>
              <a:off x="3211" y="2401"/>
              <a:ext cx="12" cy="63"/>
            </a:xfrm>
            <a:custGeom>
              <a:avLst/>
              <a:gdLst>
                <a:gd name="T0" fmla="*/ 6 w 12"/>
                <a:gd name="T1" fmla="*/ 2 h 63"/>
                <a:gd name="T2" fmla="*/ 0 w 12"/>
                <a:gd name="T3" fmla="*/ 7 h 63"/>
                <a:gd name="T4" fmla="*/ 0 w 12"/>
                <a:gd name="T5" fmla="*/ 63 h 63"/>
                <a:gd name="T6" fmla="*/ 12 w 12"/>
                <a:gd name="T7" fmla="*/ 63 h 63"/>
                <a:gd name="T8" fmla="*/ 12 w 12"/>
                <a:gd name="T9" fmla="*/ 7 h 63"/>
                <a:gd name="T10" fmla="*/ 6 w 12"/>
                <a:gd name="T11" fmla="*/ 12 h 63"/>
                <a:gd name="T12" fmla="*/ 12 w 12"/>
                <a:gd name="T13" fmla="*/ 7 h 63"/>
                <a:gd name="T14" fmla="*/ 10 w 12"/>
                <a:gd name="T15" fmla="*/ 3 h 63"/>
                <a:gd name="T16" fmla="*/ 6 w 12"/>
                <a:gd name="T17" fmla="*/ 0 h 63"/>
                <a:gd name="T18" fmla="*/ 3 w 12"/>
                <a:gd name="T19" fmla="*/ 3 h 63"/>
                <a:gd name="T20" fmla="*/ 0 w 12"/>
                <a:gd name="T21" fmla="*/ 7 h 63"/>
                <a:gd name="T22" fmla="*/ 6 w 12"/>
                <a:gd name="T23" fmla="*/ 2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
                <a:gd name="T37" fmla="*/ 0 h 63"/>
                <a:gd name="T38" fmla="*/ 12 w 12"/>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 h="63">
                  <a:moveTo>
                    <a:pt x="6" y="2"/>
                  </a:moveTo>
                  <a:lnTo>
                    <a:pt x="0" y="7"/>
                  </a:lnTo>
                  <a:lnTo>
                    <a:pt x="0" y="63"/>
                  </a:lnTo>
                  <a:lnTo>
                    <a:pt x="12" y="63"/>
                  </a:lnTo>
                  <a:lnTo>
                    <a:pt x="12" y="7"/>
                  </a:lnTo>
                  <a:lnTo>
                    <a:pt x="6" y="12"/>
                  </a:lnTo>
                  <a:lnTo>
                    <a:pt x="12" y="7"/>
                  </a:lnTo>
                  <a:lnTo>
                    <a:pt x="10" y="3"/>
                  </a:lnTo>
                  <a:lnTo>
                    <a:pt x="6" y="0"/>
                  </a:lnTo>
                  <a:lnTo>
                    <a:pt x="3" y="3"/>
                  </a:lnTo>
                  <a:lnTo>
                    <a:pt x="0" y="7"/>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2" name="Freeform 81">
              <a:extLst>
                <a:ext uri="{FF2B5EF4-FFF2-40B4-BE49-F238E27FC236}">
                  <a16:creationId xmlns:a16="http://schemas.microsoft.com/office/drawing/2014/main" id="{DFB82BC1-4644-493F-9663-C296D3DAD534}"/>
                </a:ext>
              </a:extLst>
            </p:cNvPr>
            <p:cNvSpPr>
              <a:spLocks/>
            </p:cNvSpPr>
            <p:nvPr/>
          </p:nvSpPr>
          <p:spPr bwMode="auto">
            <a:xfrm>
              <a:off x="3217" y="2403"/>
              <a:ext cx="623" cy="244"/>
            </a:xfrm>
            <a:custGeom>
              <a:avLst/>
              <a:gdLst>
                <a:gd name="T0" fmla="*/ 619 w 623"/>
                <a:gd name="T1" fmla="*/ 244 h 244"/>
                <a:gd name="T2" fmla="*/ 623 w 623"/>
                <a:gd name="T3" fmla="*/ 238 h 244"/>
                <a:gd name="T4" fmla="*/ 623 w 623"/>
                <a:gd name="T5" fmla="*/ 194 h 244"/>
                <a:gd name="T6" fmla="*/ 620 w 623"/>
                <a:gd name="T7" fmla="*/ 156 h 244"/>
                <a:gd name="T8" fmla="*/ 612 w 623"/>
                <a:gd name="T9" fmla="*/ 124 h 244"/>
                <a:gd name="T10" fmla="*/ 603 w 623"/>
                <a:gd name="T11" fmla="*/ 97 h 244"/>
                <a:gd name="T12" fmla="*/ 585 w 623"/>
                <a:gd name="T13" fmla="*/ 76 h 244"/>
                <a:gd name="T14" fmla="*/ 564 w 623"/>
                <a:gd name="T15" fmla="*/ 59 h 244"/>
                <a:gd name="T16" fmla="*/ 537 w 623"/>
                <a:gd name="T17" fmla="*/ 46 h 244"/>
                <a:gd name="T18" fmla="*/ 507 w 623"/>
                <a:gd name="T19" fmla="*/ 38 h 244"/>
                <a:gd name="T20" fmla="*/ 469 w 623"/>
                <a:gd name="T21" fmla="*/ 32 h 244"/>
                <a:gd name="T22" fmla="*/ 424 w 623"/>
                <a:gd name="T23" fmla="*/ 27 h 244"/>
                <a:gd name="T24" fmla="*/ 374 w 623"/>
                <a:gd name="T25" fmla="*/ 24 h 244"/>
                <a:gd name="T26" fmla="*/ 315 w 623"/>
                <a:gd name="T27" fmla="*/ 21 h 244"/>
                <a:gd name="T28" fmla="*/ 250 w 623"/>
                <a:gd name="T29" fmla="*/ 18 h 244"/>
                <a:gd name="T30" fmla="*/ 175 w 623"/>
                <a:gd name="T31" fmla="*/ 13 h 244"/>
                <a:gd name="T32" fmla="*/ 92 w 623"/>
                <a:gd name="T33" fmla="*/ 8 h 244"/>
                <a:gd name="T34" fmla="*/ 0 w 623"/>
                <a:gd name="T35" fmla="*/ 0 h 244"/>
                <a:gd name="T36" fmla="*/ 0 w 623"/>
                <a:gd name="T37" fmla="*/ 10 h 244"/>
                <a:gd name="T38" fmla="*/ 92 w 623"/>
                <a:gd name="T39" fmla="*/ 18 h 244"/>
                <a:gd name="T40" fmla="*/ 175 w 623"/>
                <a:gd name="T41" fmla="*/ 23 h 244"/>
                <a:gd name="T42" fmla="*/ 250 w 623"/>
                <a:gd name="T43" fmla="*/ 28 h 244"/>
                <a:gd name="T44" fmla="*/ 315 w 623"/>
                <a:gd name="T45" fmla="*/ 30 h 244"/>
                <a:gd name="T46" fmla="*/ 374 w 623"/>
                <a:gd name="T47" fmla="*/ 34 h 244"/>
                <a:gd name="T48" fmla="*/ 424 w 623"/>
                <a:gd name="T49" fmla="*/ 37 h 244"/>
                <a:gd name="T50" fmla="*/ 469 w 623"/>
                <a:gd name="T51" fmla="*/ 41 h 244"/>
                <a:gd name="T52" fmla="*/ 504 w 623"/>
                <a:gd name="T53" fmla="*/ 48 h 244"/>
                <a:gd name="T54" fmla="*/ 535 w 623"/>
                <a:gd name="T55" fmla="*/ 56 h 244"/>
                <a:gd name="T56" fmla="*/ 560 w 623"/>
                <a:gd name="T57" fmla="*/ 68 h 244"/>
                <a:gd name="T58" fmla="*/ 578 w 623"/>
                <a:gd name="T59" fmla="*/ 83 h 244"/>
                <a:gd name="T60" fmla="*/ 593 w 623"/>
                <a:gd name="T61" fmla="*/ 102 h 244"/>
                <a:gd name="T62" fmla="*/ 603 w 623"/>
                <a:gd name="T63" fmla="*/ 126 h 244"/>
                <a:gd name="T64" fmla="*/ 610 w 623"/>
                <a:gd name="T65" fmla="*/ 156 h 244"/>
                <a:gd name="T66" fmla="*/ 614 w 623"/>
                <a:gd name="T67" fmla="*/ 194 h 244"/>
                <a:gd name="T68" fmla="*/ 614 w 623"/>
                <a:gd name="T69" fmla="*/ 238 h 244"/>
                <a:gd name="T70" fmla="*/ 619 w 623"/>
                <a:gd name="T71" fmla="*/ 232 h 244"/>
                <a:gd name="T72" fmla="*/ 614 w 623"/>
                <a:gd name="T73" fmla="*/ 238 h 244"/>
                <a:gd name="T74" fmla="*/ 615 w 623"/>
                <a:gd name="T75" fmla="*/ 242 h 244"/>
                <a:gd name="T76" fmla="*/ 619 w 623"/>
                <a:gd name="T77" fmla="*/ 243 h 244"/>
                <a:gd name="T78" fmla="*/ 622 w 623"/>
                <a:gd name="T79" fmla="*/ 242 h 244"/>
                <a:gd name="T80" fmla="*/ 623 w 623"/>
                <a:gd name="T81" fmla="*/ 238 h 244"/>
                <a:gd name="T82" fmla="*/ 619 w 623"/>
                <a:gd name="T83" fmla="*/ 244 h 2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23"/>
                <a:gd name="T127" fmla="*/ 0 h 244"/>
                <a:gd name="T128" fmla="*/ 623 w 623"/>
                <a:gd name="T129" fmla="*/ 244 h 24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23" h="244">
                  <a:moveTo>
                    <a:pt x="619" y="244"/>
                  </a:moveTo>
                  <a:lnTo>
                    <a:pt x="623" y="238"/>
                  </a:lnTo>
                  <a:lnTo>
                    <a:pt x="623" y="194"/>
                  </a:lnTo>
                  <a:lnTo>
                    <a:pt x="620" y="156"/>
                  </a:lnTo>
                  <a:lnTo>
                    <a:pt x="612" y="124"/>
                  </a:lnTo>
                  <a:lnTo>
                    <a:pt x="603" y="97"/>
                  </a:lnTo>
                  <a:lnTo>
                    <a:pt x="585" y="76"/>
                  </a:lnTo>
                  <a:lnTo>
                    <a:pt x="564" y="59"/>
                  </a:lnTo>
                  <a:lnTo>
                    <a:pt x="537" y="46"/>
                  </a:lnTo>
                  <a:lnTo>
                    <a:pt x="507" y="38"/>
                  </a:lnTo>
                  <a:lnTo>
                    <a:pt x="469" y="32"/>
                  </a:lnTo>
                  <a:lnTo>
                    <a:pt x="424" y="27"/>
                  </a:lnTo>
                  <a:lnTo>
                    <a:pt x="374" y="24"/>
                  </a:lnTo>
                  <a:lnTo>
                    <a:pt x="315" y="21"/>
                  </a:lnTo>
                  <a:lnTo>
                    <a:pt x="250" y="18"/>
                  </a:lnTo>
                  <a:lnTo>
                    <a:pt x="175" y="13"/>
                  </a:lnTo>
                  <a:lnTo>
                    <a:pt x="92" y="8"/>
                  </a:lnTo>
                  <a:lnTo>
                    <a:pt x="0" y="0"/>
                  </a:lnTo>
                  <a:lnTo>
                    <a:pt x="0" y="10"/>
                  </a:lnTo>
                  <a:lnTo>
                    <a:pt x="92" y="18"/>
                  </a:lnTo>
                  <a:lnTo>
                    <a:pt x="175" y="23"/>
                  </a:lnTo>
                  <a:lnTo>
                    <a:pt x="250" y="28"/>
                  </a:lnTo>
                  <a:lnTo>
                    <a:pt x="315" y="30"/>
                  </a:lnTo>
                  <a:lnTo>
                    <a:pt x="374" y="34"/>
                  </a:lnTo>
                  <a:lnTo>
                    <a:pt x="424" y="37"/>
                  </a:lnTo>
                  <a:lnTo>
                    <a:pt x="469" y="41"/>
                  </a:lnTo>
                  <a:lnTo>
                    <a:pt x="504" y="48"/>
                  </a:lnTo>
                  <a:lnTo>
                    <a:pt x="535" y="56"/>
                  </a:lnTo>
                  <a:lnTo>
                    <a:pt x="560" y="68"/>
                  </a:lnTo>
                  <a:lnTo>
                    <a:pt x="578" y="83"/>
                  </a:lnTo>
                  <a:lnTo>
                    <a:pt x="593" y="102"/>
                  </a:lnTo>
                  <a:lnTo>
                    <a:pt x="603" y="126"/>
                  </a:lnTo>
                  <a:lnTo>
                    <a:pt x="610" y="156"/>
                  </a:lnTo>
                  <a:lnTo>
                    <a:pt x="614" y="194"/>
                  </a:lnTo>
                  <a:lnTo>
                    <a:pt x="614" y="238"/>
                  </a:lnTo>
                  <a:lnTo>
                    <a:pt x="619" y="232"/>
                  </a:lnTo>
                  <a:lnTo>
                    <a:pt x="614" y="238"/>
                  </a:lnTo>
                  <a:lnTo>
                    <a:pt x="615" y="242"/>
                  </a:lnTo>
                  <a:lnTo>
                    <a:pt x="619" y="243"/>
                  </a:lnTo>
                  <a:lnTo>
                    <a:pt x="622" y="242"/>
                  </a:lnTo>
                  <a:lnTo>
                    <a:pt x="623" y="238"/>
                  </a:lnTo>
                  <a:lnTo>
                    <a:pt x="619" y="2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3" name="Freeform 82">
              <a:extLst>
                <a:ext uri="{FF2B5EF4-FFF2-40B4-BE49-F238E27FC236}">
                  <a16:creationId xmlns:a16="http://schemas.microsoft.com/office/drawing/2014/main" id="{B6E28CFD-40CF-414B-B18D-3FCC1BDE2C90}"/>
                </a:ext>
              </a:extLst>
            </p:cNvPr>
            <p:cNvSpPr>
              <a:spLocks/>
            </p:cNvSpPr>
            <p:nvPr/>
          </p:nvSpPr>
          <p:spPr bwMode="auto">
            <a:xfrm>
              <a:off x="3216" y="1491"/>
              <a:ext cx="270" cy="338"/>
            </a:xfrm>
            <a:custGeom>
              <a:avLst/>
              <a:gdLst>
                <a:gd name="T0" fmla="*/ 2 w 270"/>
                <a:gd name="T1" fmla="*/ 338 h 338"/>
                <a:gd name="T2" fmla="*/ 270 w 270"/>
                <a:gd name="T3" fmla="*/ 55 h 338"/>
                <a:gd name="T4" fmla="*/ 211 w 270"/>
                <a:gd name="T5" fmla="*/ 0 h 338"/>
                <a:gd name="T6" fmla="*/ 0 w 270"/>
                <a:gd name="T7" fmla="*/ 224 h 338"/>
                <a:gd name="T8" fmla="*/ 2 w 270"/>
                <a:gd name="T9" fmla="*/ 338 h 338"/>
                <a:gd name="T10" fmla="*/ 0 60000 65536"/>
                <a:gd name="T11" fmla="*/ 0 60000 65536"/>
                <a:gd name="T12" fmla="*/ 0 60000 65536"/>
                <a:gd name="T13" fmla="*/ 0 60000 65536"/>
                <a:gd name="T14" fmla="*/ 0 60000 65536"/>
                <a:gd name="T15" fmla="*/ 0 w 270"/>
                <a:gd name="T16" fmla="*/ 0 h 338"/>
                <a:gd name="T17" fmla="*/ 270 w 270"/>
                <a:gd name="T18" fmla="*/ 338 h 338"/>
              </a:gdLst>
              <a:ahLst/>
              <a:cxnLst>
                <a:cxn ang="T10">
                  <a:pos x="T0" y="T1"/>
                </a:cxn>
                <a:cxn ang="T11">
                  <a:pos x="T2" y="T3"/>
                </a:cxn>
                <a:cxn ang="T12">
                  <a:pos x="T4" y="T5"/>
                </a:cxn>
                <a:cxn ang="T13">
                  <a:pos x="T6" y="T7"/>
                </a:cxn>
                <a:cxn ang="T14">
                  <a:pos x="T8" y="T9"/>
                </a:cxn>
              </a:cxnLst>
              <a:rect l="T15" t="T16" r="T17" b="T18"/>
              <a:pathLst>
                <a:path w="270" h="338">
                  <a:moveTo>
                    <a:pt x="2" y="338"/>
                  </a:moveTo>
                  <a:lnTo>
                    <a:pt x="270" y="55"/>
                  </a:lnTo>
                  <a:lnTo>
                    <a:pt x="211" y="0"/>
                  </a:lnTo>
                  <a:lnTo>
                    <a:pt x="0" y="224"/>
                  </a:lnTo>
                  <a:lnTo>
                    <a:pt x="2" y="338"/>
                  </a:lnTo>
                  <a:close/>
                </a:path>
              </a:pathLst>
            </a:custGeom>
            <a:solidFill>
              <a:srgbClr val="66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4" name="Freeform 83">
              <a:extLst>
                <a:ext uri="{FF2B5EF4-FFF2-40B4-BE49-F238E27FC236}">
                  <a16:creationId xmlns:a16="http://schemas.microsoft.com/office/drawing/2014/main" id="{4D76C13F-B191-4186-82FC-B8BF14E2BF36}"/>
                </a:ext>
              </a:extLst>
            </p:cNvPr>
            <p:cNvSpPr>
              <a:spLocks/>
            </p:cNvSpPr>
            <p:nvPr/>
          </p:nvSpPr>
          <p:spPr bwMode="auto">
            <a:xfrm>
              <a:off x="3215" y="1542"/>
              <a:ext cx="276" cy="291"/>
            </a:xfrm>
            <a:custGeom>
              <a:avLst/>
              <a:gdLst>
                <a:gd name="T0" fmla="*/ 268 w 276"/>
                <a:gd name="T1" fmla="*/ 8 h 291"/>
                <a:gd name="T2" fmla="*/ 268 w 276"/>
                <a:gd name="T3" fmla="*/ 1 h 291"/>
                <a:gd name="T4" fmla="*/ 0 w 276"/>
                <a:gd name="T5" fmla="*/ 283 h 291"/>
                <a:gd name="T6" fmla="*/ 7 w 276"/>
                <a:gd name="T7" fmla="*/ 291 h 291"/>
                <a:gd name="T8" fmla="*/ 275 w 276"/>
                <a:gd name="T9" fmla="*/ 8 h 291"/>
                <a:gd name="T10" fmla="*/ 275 w 276"/>
                <a:gd name="T11" fmla="*/ 1 h 291"/>
                <a:gd name="T12" fmla="*/ 275 w 276"/>
                <a:gd name="T13" fmla="*/ 8 h 291"/>
                <a:gd name="T14" fmla="*/ 276 w 276"/>
                <a:gd name="T15" fmla="*/ 4 h 291"/>
                <a:gd name="T16" fmla="*/ 275 w 276"/>
                <a:gd name="T17" fmla="*/ 1 h 291"/>
                <a:gd name="T18" fmla="*/ 271 w 276"/>
                <a:gd name="T19" fmla="*/ 0 h 291"/>
                <a:gd name="T20" fmla="*/ 268 w 276"/>
                <a:gd name="T21" fmla="*/ 1 h 291"/>
                <a:gd name="T22" fmla="*/ 268 w 276"/>
                <a:gd name="T23" fmla="*/ 8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291"/>
                <a:gd name="T38" fmla="*/ 276 w 276"/>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291">
                  <a:moveTo>
                    <a:pt x="268" y="8"/>
                  </a:moveTo>
                  <a:lnTo>
                    <a:pt x="268" y="1"/>
                  </a:lnTo>
                  <a:lnTo>
                    <a:pt x="0" y="283"/>
                  </a:lnTo>
                  <a:lnTo>
                    <a:pt x="7" y="291"/>
                  </a:lnTo>
                  <a:lnTo>
                    <a:pt x="275" y="8"/>
                  </a:lnTo>
                  <a:lnTo>
                    <a:pt x="275" y="1"/>
                  </a:lnTo>
                  <a:lnTo>
                    <a:pt x="275" y="8"/>
                  </a:lnTo>
                  <a:lnTo>
                    <a:pt x="276" y="4"/>
                  </a:lnTo>
                  <a:lnTo>
                    <a:pt x="275" y="1"/>
                  </a:lnTo>
                  <a:lnTo>
                    <a:pt x="271" y="0"/>
                  </a:lnTo>
                  <a:lnTo>
                    <a:pt x="268" y="1"/>
                  </a:lnTo>
                  <a:lnTo>
                    <a:pt x="26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5" name="Freeform 84">
              <a:extLst>
                <a:ext uri="{FF2B5EF4-FFF2-40B4-BE49-F238E27FC236}">
                  <a16:creationId xmlns:a16="http://schemas.microsoft.com/office/drawing/2014/main" id="{FE5A50AA-4EAE-418F-82DF-BE0C5E3A063B}"/>
                </a:ext>
              </a:extLst>
            </p:cNvPr>
            <p:cNvSpPr>
              <a:spLocks/>
            </p:cNvSpPr>
            <p:nvPr/>
          </p:nvSpPr>
          <p:spPr bwMode="auto">
            <a:xfrm>
              <a:off x="3423" y="1486"/>
              <a:ext cx="67" cy="64"/>
            </a:xfrm>
            <a:custGeom>
              <a:avLst/>
              <a:gdLst>
                <a:gd name="T0" fmla="*/ 8 w 67"/>
                <a:gd name="T1" fmla="*/ 9 h 64"/>
                <a:gd name="T2" fmla="*/ 1 w 67"/>
                <a:gd name="T3" fmla="*/ 9 h 64"/>
                <a:gd name="T4" fmla="*/ 60 w 67"/>
                <a:gd name="T5" fmla="*/ 64 h 64"/>
                <a:gd name="T6" fmla="*/ 67 w 67"/>
                <a:gd name="T7" fmla="*/ 57 h 64"/>
                <a:gd name="T8" fmla="*/ 8 w 67"/>
                <a:gd name="T9" fmla="*/ 1 h 64"/>
                <a:gd name="T10" fmla="*/ 1 w 67"/>
                <a:gd name="T11" fmla="*/ 1 h 64"/>
                <a:gd name="T12" fmla="*/ 8 w 67"/>
                <a:gd name="T13" fmla="*/ 1 h 64"/>
                <a:gd name="T14" fmla="*/ 4 w 67"/>
                <a:gd name="T15" fmla="*/ 0 h 64"/>
                <a:gd name="T16" fmla="*/ 1 w 67"/>
                <a:gd name="T17" fmla="*/ 1 h 64"/>
                <a:gd name="T18" fmla="*/ 0 w 67"/>
                <a:gd name="T19" fmla="*/ 5 h 64"/>
                <a:gd name="T20" fmla="*/ 1 w 67"/>
                <a:gd name="T21" fmla="*/ 9 h 64"/>
                <a:gd name="T22" fmla="*/ 8 w 67"/>
                <a:gd name="T23" fmla="*/ 9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7"/>
                <a:gd name="T37" fmla="*/ 0 h 64"/>
                <a:gd name="T38" fmla="*/ 67 w 67"/>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7" h="64">
                  <a:moveTo>
                    <a:pt x="8" y="9"/>
                  </a:moveTo>
                  <a:lnTo>
                    <a:pt x="1" y="9"/>
                  </a:lnTo>
                  <a:lnTo>
                    <a:pt x="60" y="64"/>
                  </a:lnTo>
                  <a:lnTo>
                    <a:pt x="67" y="57"/>
                  </a:lnTo>
                  <a:lnTo>
                    <a:pt x="8" y="1"/>
                  </a:lnTo>
                  <a:lnTo>
                    <a:pt x="1" y="1"/>
                  </a:lnTo>
                  <a:lnTo>
                    <a:pt x="8" y="1"/>
                  </a:lnTo>
                  <a:lnTo>
                    <a:pt x="4" y="0"/>
                  </a:lnTo>
                  <a:lnTo>
                    <a:pt x="1" y="1"/>
                  </a:lnTo>
                  <a:lnTo>
                    <a:pt x="0" y="5"/>
                  </a:lnTo>
                  <a:lnTo>
                    <a:pt x="1" y="9"/>
                  </a:lnTo>
                  <a:lnTo>
                    <a:pt x="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6" name="Freeform 85">
              <a:extLst>
                <a:ext uri="{FF2B5EF4-FFF2-40B4-BE49-F238E27FC236}">
                  <a16:creationId xmlns:a16="http://schemas.microsoft.com/office/drawing/2014/main" id="{27D6FE26-9A2F-4EA1-858E-37DE589A81F5}"/>
                </a:ext>
              </a:extLst>
            </p:cNvPr>
            <p:cNvSpPr>
              <a:spLocks/>
            </p:cNvSpPr>
            <p:nvPr/>
          </p:nvSpPr>
          <p:spPr bwMode="auto">
            <a:xfrm>
              <a:off x="3211" y="1487"/>
              <a:ext cx="220" cy="233"/>
            </a:xfrm>
            <a:custGeom>
              <a:avLst/>
              <a:gdLst>
                <a:gd name="T0" fmla="*/ 10 w 220"/>
                <a:gd name="T1" fmla="*/ 228 h 233"/>
                <a:gd name="T2" fmla="*/ 9 w 220"/>
                <a:gd name="T3" fmla="*/ 231 h 233"/>
                <a:gd name="T4" fmla="*/ 220 w 220"/>
                <a:gd name="T5" fmla="*/ 8 h 233"/>
                <a:gd name="T6" fmla="*/ 213 w 220"/>
                <a:gd name="T7" fmla="*/ 0 h 233"/>
                <a:gd name="T8" fmla="*/ 1 w 220"/>
                <a:gd name="T9" fmla="*/ 224 h 233"/>
                <a:gd name="T10" fmla="*/ 0 w 220"/>
                <a:gd name="T11" fmla="*/ 228 h 233"/>
                <a:gd name="T12" fmla="*/ 1 w 220"/>
                <a:gd name="T13" fmla="*/ 224 h 233"/>
                <a:gd name="T14" fmla="*/ 0 w 220"/>
                <a:gd name="T15" fmla="*/ 228 h 233"/>
                <a:gd name="T16" fmla="*/ 1 w 220"/>
                <a:gd name="T17" fmla="*/ 231 h 233"/>
                <a:gd name="T18" fmla="*/ 5 w 220"/>
                <a:gd name="T19" fmla="*/ 233 h 233"/>
                <a:gd name="T20" fmla="*/ 9 w 220"/>
                <a:gd name="T21" fmla="*/ 231 h 233"/>
                <a:gd name="T22" fmla="*/ 10 w 220"/>
                <a:gd name="T23" fmla="*/ 228 h 2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0"/>
                <a:gd name="T37" fmla="*/ 0 h 233"/>
                <a:gd name="T38" fmla="*/ 220 w 220"/>
                <a:gd name="T39" fmla="*/ 233 h 2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0" h="233">
                  <a:moveTo>
                    <a:pt x="10" y="228"/>
                  </a:moveTo>
                  <a:lnTo>
                    <a:pt x="9" y="231"/>
                  </a:lnTo>
                  <a:lnTo>
                    <a:pt x="220" y="8"/>
                  </a:lnTo>
                  <a:lnTo>
                    <a:pt x="213" y="0"/>
                  </a:lnTo>
                  <a:lnTo>
                    <a:pt x="1" y="224"/>
                  </a:lnTo>
                  <a:lnTo>
                    <a:pt x="0" y="228"/>
                  </a:lnTo>
                  <a:lnTo>
                    <a:pt x="1" y="224"/>
                  </a:lnTo>
                  <a:lnTo>
                    <a:pt x="0" y="228"/>
                  </a:lnTo>
                  <a:lnTo>
                    <a:pt x="1" y="231"/>
                  </a:lnTo>
                  <a:lnTo>
                    <a:pt x="5" y="233"/>
                  </a:lnTo>
                  <a:lnTo>
                    <a:pt x="9" y="231"/>
                  </a:lnTo>
                  <a:lnTo>
                    <a:pt x="10" y="2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7" name="Freeform 86">
              <a:extLst>
                <a:ext uri="{FF2B5EF4-FFF2-40B4-BE49-F238E27FC236}">
                  <a16:creationId xmlns:a16="http://schemas.microsoft.com/office/drawing/2014/main" id="{A7169B23-1036-46A3-9768-B2BE4263FB01}"/>
                </a:ext>
              </a:extLst>
            </p:cNvPr>
            <p:cNvSpPr>
              <a:spLocks/>
            </p:cNvSpPr>
            <p:nvPr/>
          </p:nvSpPr>
          <p:spPr bwMode="auto">
            <a:xfrm>
              <a:off x="3211" y="1715"/>
              <a:ext cx="14" cy="119"/>
            </a:xfrm>
            <a:custGeom>
              <a:avLst/>
              <a:gdLst>
                <a:gd name="T0" fmla="*/ 4 w 14"/>
                <a:gd name="T1" fmla="*/ 110 h 119"/>
                <a:gd name="T2" fmla="*/ 12 w 14"/>
                <a:gd name="T3" fmla="*/ 114 h 119"/>
                <a:gd name="T4" fmla="*/ 10 w 14"/>
                <a:gd name="T5" fmla="*/ 0 h 119"/>
                <a:gd name="T6" fmla="*/ 0 w 14"/>
                <a:gd name="T7" fmla="*/ 0 h 119"/>
                <a:gd name="T8" fmla="*/ 3 w 14"/>
                <a:gd name="T9" fmla="*/ 114 h 119"/>
                <a:gd name="T10" fmla="*/ 11 w 14"/>
                <a:gd name="T11" fmla="*/ 118 h 119"/>
                <a:gd name="T12" fmla="*/ 1 w 14"/>
                <a:gd name="T13" fmla="*/ 114 h 119"/>
                <a:gd name="T14" fmla="*/ 4 w 14"/>
                <a:gd name="T15" fmla="*/ 118 h 119"/>
                <a:gd name="T16" fmla="*/ 7 w 14"/>
                <a:gd name="T17" fmla="*/ 119 h 119"/>
                <a:gd name="T18" fmla="*/ 11 w 14"/>
                <a:gd name="T19" fmla="*/ 118 h 119"/>
                <a:gd name="T20" fmla="*/ 14 w 14"/>
                <a:gd name="T21" fmla="*/ 114 h 119"/>
                <a:gd name="T22" fmla="*/ 4 w 14"/>
                <a:gd name="T23" fmla="*/ 110 h 1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
                <a:gd name="T37" fmla="*/ 0 h 119"/>
                <a:gd name="T38" fmla="*/ 14 w 14"/>
                <a:gd name="T39" fmla="*/ 119 h 1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 h="119">
                  <a:moveTo>
                    <a:pt x="4" y="110"/>
                  </a:moveTo>
                  <a:lnTo>
                    <a:pt x="12" y="114"/>
                  </a:lnTo>
                  <a:lnTo>
                    <a:pt x="10" y="0"/>
                  </a:lnTo>
                  <a:lnTo>
                    <a:pt x="0" y="0"/>
                  </a:lnTo>
                  <a:lnTo>
                    <a:pt x="3" y="114"/>
                  </a:lnTo>
                  <a:lnTo>
                    <a:pt x="11" y="118"/>
                  </a:lnTo>
                  <a:lnTo>
                    <a:pt x="1" y="114"/>
                  </a:lnTo>
                  <a:lnTo>
                    <a:pt x="4" y="118"/>
                  </a:lnTo>
                  <a:lnTo>
                    <a:pt x="7" y="119"/>
                  </a:lnTo>
                  <a:lnTo>
                    <a:pt x="11" y="118"/>
                  </a:lnTo>
                  <a:lnTo>
                    <a:pt x="14" y="114"/>
                  </a:lnTo>
                  <a:lnTo>
                    <a:pt x="4"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8" name="Freeform 87">
              <a:extLst>
                <a:ext uri="{FF2B5EF4-FFF2-40B4-BE49-F238E27FC236}">
                  <a16:creationId xmlns:a16="http://schemas.microsoft.com/office/drawing/2014/main" id="{57666068-9450-49EB-BAAF-C6F0687CB603}"/>
                </a:ext>
              </a:extLst>
            </p:cNvPr>
            <p:cNvSpPr>
              <a:spLocks/>
            </p:cNvSpPr>
            <p:nvPr/>
          </p:nvSpPr>
          <p:spPr bwMode="auto">
            <a:xfrm>
              <a:off x="4396" y="2202"/>
              <a:ext cx="246" cy="140"/>
            </a:xfrm>
            <a:custGeom>
              <a:avLst/>
              <a:gdLst>
                <a:gd name="T0" fmla="*/ 80 w 246"/>
                <a:gd name="T1" fmla="*/ 140 h 140"/>
                <a:gd name="T2" fmla="*/ 80 w 246"/>
                <a:gd name="T3" fmla="*/ 129 h 140"/>
                <a:gd name="T4" fmla="*/ 83 w 246"/>
                <a:gd name="T5" fmla="*/ 123 h 140"/>
                <a:gd name="T6" fmla="*/ 87 w 246"/>
                <a:gd name="T7" fmla="*/ 123 h 140"/>
                <a:gd name="T8" fmla="*/ 91 w 246"/>
                <a:gd name="T9" fmla="*/ 128 h 140"/>
                <a:gd name="T10" fmla="*/ 111 w 246"/>
                <a:gd name="T11" fmla="*/ 136 h 140"/>
                <a:gd name="T12" fmla="*/ 133 w 246"/>
                <a:gd name="T13" fmla="*/ 139 h 140"/>
                <a:gd name="T14" fmla="*/ 155 w 246"/>
                <a:gd name="T15" fmla="*/ 140 h 140"/>
                <a:gd name="T16" fmla="*/ 178 w 246"/>
                <a:gd name="T17" fmla="*/ 139 h 140"/>
                <a:gd name="T18" fmla="*/ 199 w 246"/>
                <a:gd name="T19" fmla="*/ 136 h 140"/>
                <a:gd name="T20" fmla="*/ 219 w 246"/>
                <a:gd name="T21" fmla="*/ 129 h 140"/>
                <a:gd name="T22" fmla="*/ 235 w 246"/>
                <a:gd name="T23" fmla="*/ 122 h 140"/>
                <a:gd name="T24" fmla="*/ 246 w 246"/>
                <a:gd name="T25" fmla="*/ 112 h 140"/>
                <a:gd name="T26" fmla="*/ 240 w 246"/>
                <a:gd name="T27" fmla="*/ 112 h 140"/>
                <a:gd name="T28" fmla="*/ 230 w 246"/>
                <a:gd name="T29" fmla="*/ 111 h 140"/>
                <a:gd name="T30" fmla="*/ 220 w 246"/>
                <a:gd name="T31" fmla="*/ 109 h 140"/>
                <a:gd name="T32" fmla="*/ 210 w 246"/>
                <a:gd name="T33" fmla="*/ 105 h 140"/>
                <a:gd name="T34" fmla="*/ 199 w 246"/>
                <a:gd name="T35" fmla="*/ 99 h 140"/>
                <a:gd name="T36" fmla="*/ 192 w 246"/>
                <a:gd name="T37" fmla="*/ 91 h 140"/>
                <a:gd name="T38" fmla="*/ 186 w 246"/>
                <a:gd name="T39" fmla="*/ 82 h 140"/>
                <a:gd name="T40" fmla="*/ 185 w 246"/>
                <a:gd name="T41" fmla="*/ 72 h 140"/>
                <a:gd name="T42" fmla="*/ 182 w 246"/>
                <a:gd name="T43" fmla="*/ 40 h 140"/>
                <a:gd name="T44" fmla="*/ 170 w 246"/>
                <a:gd name="T45" fmla="*/ 21 h 140"/>
                <a:gd name="T46" fmla="*/ 151 w 246"/>
                <a:gd name="T47" fmla="*/ 11 h 140"/>
                <a:gd name="T48" fmla="*/ 129 w 246"/>
                <a:gd name="T49" fmla="*/ 9 h 140"/>
                <a:gd name="T50" fmla="*/ 106 w 246"/>
                <a:gd name="T51" fmla="*/ 11 h 140"/>
                <a:gd name="T52" fmla="*/ 84 w 246"/>
                <a:gd name="T53" fmla="*/ 13 h 140"/>
                <a:gd name="T54" fmla="*/ 67 w 246"/>
                <a:gd name="T55" fmla="*/ 13 h 140"/>
                <a:gd name="T56" fmla="*/ 57 w 246"/>
                <a:gd name="T57" fmla="*/ 7 h 140"/>
                <a:gd name="T58" fmla="*/ 51 w 246"/>
                <a:gd name="T59" fmla="*/ 0 h 140"/>
                <a:gd name="T60" fmla="*/ 43 w 246"/>
                <a:gd name="T61" fmla="*/ 0 h 140"/>
                <a:gd name="T62" fmla="*/ 35 w 246"/>
                <a:gd name="T63" fmla="*/ 4 h 140"/>
                <a:gd name="T64" fmla="*/ 27 w 246"/>
                <a:gd name="T65" fmla="*/ 11 h 140"/>
                <a:gd name="T66" fmla="*/ 19 w 246"/>
                <a:gd name="T67" fmla="*/ 21 h 140"/>
                <a:gd name="T68" fmla="*/ 11 w 246"/>
                <a:gd name="T69" fmla="*/ 31 h 140"/>
                <a:gd name="T70" fmla="*/ 5 w 246"/>
                <a:gd name="T71" fmla="*/ 40 h 140"/>
                <a:gd name="T72" fmla="*/ 0 w 246"/>
                <a:gd name="T73" fmla="*/ 46 h 140"/>
                <a:gd name="T74" fmla="*/ 80 w 246"/>
                <a:gd name="T75" fmla="*/ 140 h 14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140"/>
                <a:gd name="T116" fmla="*/ 246 w 246"/>
                <a:gd name="T117" fmla="*/ 140 h 14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140">
                  <a:moveTo>
                    <a:pt x="80" y="140"/>
                  </a:moveTo>
                  <a:lnTo>
                    <a:pt x="80" y="129"/>
                  </a:lnTo>
                  <a:lnTo>
                    <a:pt x="83" y="123"/>
                  </a:lnTo>
                  <a:lnTo>
                    <a:pt x="87" y="123"/>
                  </a:lnTo>
                  <a:lnTo>
                    <a:pt x="91" y="128"/>
                  </a:lnTo>
                  <a:lnTo>
                    <a:pt x="111" y="136"/>
                  </a:lnTo>
                  <a:lnTo>
                    <a:pt x="133" y="139"/>
                  </a:lnTo>
                  <a:lnTo>
                    <a:pt x="155" y="140"/>
                  </a:lnTo>
                  <a:lnTo>
                    <a:pt x="178" y="139"/>
                  </a:lnTo>
                  <a:lnTo>
                    <a:pt x="199" y="136"/>
                  </a:lnTo>
                  <a:lnTo>
                    <a:pt x="219" y="129"/>
                  </a:lnTo>
                  <a:lnTo>
                    <a:pt x="235" y="122"/>
                  </a:lnTo>
                  <a:lnTo>
                    <a:pt x="246" y="112"/>
                  </a:lnTo>
                  <a:lnTo>
                    <a:pt x="240" y="112"/>
                  </a:lnTo>
                  <a:lnTo>
                    <a:pt x="230" y="111"/>
                  </a:lnTo>
                  <a:lnTo>
                    <a:pt x="220" y="109"/>
                  </a:lnTo>
                  <a:lnTo>
                    <a:pt x="210" y="105"/>
                  </a:lnTo>
                  <a:lnTo>
                    <a:pt x="199" y="99"/>
                  </a:lnTo>
                  <a:lnTo>
                    <a:pt x="192" y="91"/>
                  </a:lnTo>
                  <a:lnTo>
                    <a:pt x="186" y="82"/>
                  </a:lnTo>
                  <a:lnTo>
                    <a:pt x="185" y="72"/>
                  </a:lnTo>
                  <a:lnTo>
                    <a:pt x="182" y="40"/>
                  </a:lnTo>
                  <a:lnTo>
                    <a:pt x="170" y="21"/>
                  </a:lnTo>
                  <a:lnTo>
                    <a:pt x="151" y="11"/>
                  </a:lnTo>
                  <a:lnTo>
                    <a:pt x="129" y="9"/>
                  </a:lnTo>
                  <a:lnTo>
                    <a:pt x="106" y="11"/>
                  </a:lnTo>
                  <a:lnTo>
                    <a:pt x="84" y="13"/>
                  </a:lnTo>
                  <a:lnTo>
                    <a:pt x="67" y="13"/>
                  </a:lnTo>
                  <a:lnTo>
                    <a:pt x="57" y="7"/>
                  </a:lnTo>
                  <a:lnTo>
                    <a:pt x="51" y="0"/>
                  </a:lnTo>
                  <a:lnTo>
                    <a:pt x="43" y="0"/>
                  </a:lnTo>
                  <a:lnTo>
                    <a:pt x="35" y="4"/>
                  </a:lnTo>
                  <a:lnTo>
                    <a:pt x="27" y="11"/>
                  </a:lnTo>
                  <a:lnTo>
                    <a:pt x="19" y="21"/>
                  </a:lnTo>
                  <a:lnTo>
                    <a:pt x="11" y="31"/>
                  </a:lnTo>
                  <a:lnTo>
                    <a:pt x="5" y="40"/>
                  </a:lnTo>
                  <a:lnTo>
                    <a:pt x="0" y="46"/>
                  </a:lnTo>
                  <a:lnTo>
                    <a:pt x="80" y="140"/>
                  </a:lnTo>
                  <a:close/>
                </a:path>
              </a:pathLst>
            </a:custGeom>
            <a:solidFill>
              <a:srgbClr val="DB70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19" name="Freeform 88">
              <a:extLst>
                <a:ext uri="{FF2B5EF4-FFF2-40B4-BE49-F238E27FC236}">
                  <a16:creationId xmlns:a16="http://schemas.microsoft.com/office/drawing/2014/main" id="{363ECE4A-659F-40C0-9675-1E169D3A4474}"/>
                </a:ext>
              </a:extLst>
            </p:cNvPr>
            <p:cNvSpPr>
              <a:spLocks/>
            </p:cNvSpPr>
            <p:nvPr/>
          </p:nvSpPr>
          <p:spPr bwMode="auto">
            <a:xfrm>
              <a:off x="4471" y="2320"/>
              <a:ext cx="21" cy="22"/>
            </a:xfrm>
            <a:custGeom>
              <a:avLst/>
              <a:gdLst>
                <a:gd name="T0" fmla="*/ 19 w 21"/>
                <a:gd name="T1" fmla="*/ 5 h 22"/>
                <a:gd name="T2" fmla="*/ 21 w 21"/>
                <a:gd name="T3" fmla="*/ 8 h 22"/>
                <a:gd name="T4" fmla="*/ 15 w 21"/>
                <a:gd name="T5" fmla="*/ 0 h 22"/>
                <a:gd name="T6" fmla="*/ 4 w 21"/>
                <a:gd name="T7" fmla="*/ 2 h 22"/>
                <a:gd name="T8" fmla="*/ 0 w 21"/>
                <a:gd name="T9" fmla="*/ 11 h 22"/>
                <a:gd name="T10" fmla="*/ 0 w 21"/>
                <a:gd name="T11" fmla="*/ 22 h 22"/>
                <a:gd name="T12" fmla="*/ 10 w 21"/>
                <a:gd name="T13" fmla="*/ 22 h 22"/>
                <a:gd name="T14" fmla="*/ 10 w 21"/>
                <a:gd name="T15" fmla="*/ 11 h 22"/>
                <a:gd name="T16" fmla="*/ 11 w 21"/>
                <a:gd name="T17" fmla="*/ 9 h 22"/>
                <a:gd name="T18" fmla="*/ 10 w 21"/>
                <a:gd name="T19" fmla="*/ 10 h 22"/>
                <a:gd name="T20" fmla="*/ 11 w 21"/>
                <a:gd name="T21" fmla="*/ 13 h 22"/>
                <a:gd name="T22" fmla="*/ 14 w 21"/>
                <a:gd name="T23" fmla="*/ 15 h 22"/>
                <a:gd name="T24" fmla="*/ 11 w 21"/>
                <a:gd name="T25" fmla="*/ 13 h 22"/>
                <a:gd name="T26" fmla="*/ 14 w 21"/>
                <a:gd name="T27" fmla="*/ 15 h 22"/>
                <a:gd name="T28" fmla="*/ 19 w 21"/>
                <a:gd name="T29" fmla="*/ 15 h 22"/>
                <a:gd name="T30" fmla="*/ 21 w 21"/>
                <a:gd name="T31" fmla="*/ 11 h 22"/>
                <a:gd name="T32" fmla="*/ 21 w 21"/>
                <a:gd name="T33" fmla="*/ 8 h 22"/>
                <a:gd name="T34" fmla="*/ 19 w 21"/>
                <a:gd name="T35" fmla="*/ 5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
                <a:gd name="T55" fmla="*/ 0 h 22"/>
                <a:gd name="T56" fmla="*/ 21 w 21"/>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 h="22">
                  <a:moveTo>
                    <a:pt x="19" y="5"/>
                  </a:moveTo>
                  <a:lnTo>
                    <a:pt x="21" y="8"/>
                  </a:lnTo>
                  <a:lnTo>
                    <a:pt x="15" y="0"/>
                  </a:lnTo>
                  <a:lnTo>
                    <a:pt x="4" y="2"/>
                  </a:lnTo>
                  <a:lnTo>
                    <a:pt x="0" y="11"/>
                  </a:lnTo>
                  <a:lnTo>
                    <a:pt x="0" y="22"/>
                  </a:lnTo>
                  <a:lnTo>
                    <a:pt x="10" y="22"/>
                  </a:lnTo>
                  <a:lnTo>
                    <a:pt x="10" y="11"/>
                  </a:lnTo>
                  <a:lnTo>
                    <a:pt x="11" y="9"/>
                  </a:lnTo>
                  <a:lnTo>
                    <a:pt x="10" y="10"/>
                  </a:lnTo>
                  <a:lnTo>
                    <a:pt x="11" y="13"/>
                  </a:lnTo>
                  <a:lnTo>
                    <a:pt x="14" y="15"/>
                  </a:lnTo>
                  <a:lnTo>
                    <a:pt x="11" y="13"/>
                  </a:lnTo>
                  <a:lnTo>
                    <a:pt x="14" y="15"/>
                  </a:lnTo>
                  <a:lnTo>
                    <a:pt x="19" y="15"/>
                  </a:lnTo>
                  <a:lnTo>
                    <a:pt x="21" y="11"/>
                  </a:lnTo>
                  <a:lnTo>
                    <a:pt x="21" y="8"/>
                  </a:lnTo>
                  <a:lnTo>
                    <a:pt x="1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0" name="Freeform 89">
              <a:extLst>
                <a:ext uri="{FF2B5EF4-FFF2-40B4-BE49-F238E27FC236}">
                  <a16:creationId xmlns:a16="http://schemas.microsoft.com/office/drawing/2014/main" id="{40D59379-4070-4473-B017-15F4C53F43C9}"/>
                </a:ext>
              </a:extLst>
            </p:cNvPr>
            <p:cNvSpPr>
              <a:spLocks/>
            </p:cNvSpPr>
            <p:nvPr/>
          </p:nvSpPr>
          <p:spPr bwMode="auto">
            <a:xfrm>
              <a:off x="4485" y="2309"/>
              <a:ext cx="162" cy="40"/>
            </a:xfrm>
            <a:custGeom>
              <a:avLst/>
              <a:gdLst>
                <a:gd name="T0" fmla="*/ 158 w 162"/>
                <a:gd name="T1" fmla="*/ 10 h 40"/>
                <a:gd name="T2" fmla="*/ 153 w 162"/>
                <a:gd name="T3" fmla="*/ 2 h 40"/>
                <a:gd name="T4" fmla="*/ 143 w 162"/>
                <a:gd name="T5" fmla="*/ 10 h 40"/>
                <a:gd name="T6" fmla="*/ 129 w 162"/>
                <a:gd name="T7" fmla="*/ 18 h 40"/>
                <a:gd name="T8" fmla="*/ 109 w 162"/>
                <a:gd name="T9" fmla="*/ 24 h 40"/>
                <a:gd name="T10" fmla="*/ 89 w 162"/>
                <a:gd name="T11" fmla="*/ 27 h 40"/>
                <a:gd name="T12" fmla="*/ 66 w 162"/>
                <a:gd name="T13" fmla="*/ 27 h 40"/>
                <a:gd name="T14" fmla="*/ 44 w 162"/>
                <a:gd name="T15" fmla="*/ 27 h 40"/>
                <a:gd name="T16" fmla="*/ 23 w 162"/>
                <a:gd name="T17" fmla="*/ 24 h 40"/>
                <a:gd name="T18" fmla="*/ 5 w 162"/>
                <a:gd name="T19" fmla="*/ 16 h 40"/>
                <a:gd name="T20" fmla="*/ 0 w 162"/>
                <a:gd name="T21" fmla="*/ 26 h 40"/>
                <a:gd name="T22" fmla="*/ 21 w 162"/>
                <a:gd name="T23" fmla="*/ 33 h 40"/>
                <a:gd name="T24" fmla="*/ 44 w 162"/>
                <a:gd name="T25" fmla="*/ 37 h 40"/>
                <a:gd name="T26" fmla="*/ 66 w 162"/>
                <a:gd name="T27" fmla="*/ 40 h 40"/>
                <a:gd name="T28" fmla="*/ 89 w 162"/>
                <a:gd name="T29" fmla="*/ 37 h 40"/>
                <a:gd name="T30" fmla="*/ 112 w 162"/>
                <a:gd name="T31" fmla="*/ 33 h 40"/>
                <a:gd name="T32" fmla="*/ 131 w 162"/>
                <a:gd name="T33" fmla="*/ 27 h 40"/>
                <a:gd name="T34" fmla="*/ 148 w 162"/>
                <a:gd name="T35" fmla="*/ 20 h 40"/>
                <a:gd name="T36" fmla="*/ 161 w 162"/>
                <a:gd name="T37" fmla="*/ 9 h 40"/>
                <a:gd name="T38" fmla="*/ 156 w 162"/>
                <a:gd name="T39" fmla="*/ 0 h 40"/>
                <a:gd name="T40" fmla="*/ 161 w 162"/>
                <a:gd name="T41" fmla="*/ 9 h 40"/>
                <a:gd name="T42" fmla="*/ 162 w 162"/>
                <a:gd name="T43" fmla="*/ 5 h 40"/>
                <a:gd name="T44" fmla="*/ 161 w 162"/>
                <a:gd name="T45" fmla="*/ 2 h 40"/>
                <a:gd name="T46" fmla="*/ 157 w 162"/>
                <a:gd name="T47" fmla="*/ 0 h 40"/>
                <a:gd name="T48" fmla="*/ 153 w 162"/>
                <a:gd name="T49" fmla="*/ 2 h 40"/>
                <a:gd name="T50" fmla="*/ 158 w 162"/>
                <a:gd name="T51" fmla="*/ 10 h 4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2"/>
                <a:gd name="T79" fmla="*/ 0 h 40"/>
                <a:gd name="T80" fmla="*/ 162 w 162"/>
                <a:gd name="T81" fmla="*/ 40 h 4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2" h="40">
                  <a:moveTo>
                    <a:pt x="158" y="10"/>
                  </a:moveTo>
                  <a:lnTo>
                    <a:pt x="153" y="2"/>
                  </a:lnTo>
                  <a:lnTo>
                    <a:pt x="143" y="10"/>
                  </a:lnTo>
                  <a:lnTo>
                    <a:pt x="129" y="18"/>
                  </a:lnTo>
                  <a:lnTo>
                    <a:pt x="109" y="24"/>
                  </a:lnTo>
                  <a:lnTo>
                    <a:pt x="89" y="27"/>
                  </a:lnTo>
                  <a:lnTo>
                    <a:pt x="66" y="27"/>
                  </a:lnTo>
                  <a:lnTo>
                    <a:pt x="44" y="27"/>
                  </a:lnTo>
                  <a:lnTo>
                    <a:pt x="23" y="24"/>
                  </a:lnTo>
                  <a:lnTo>
                    <a:pt x="5" y="16"/>
                  </a:lnTo>
                  <a:lnTo>
                    <a:pt x="0" y="26"/>
                  </a:lnTo>
                  <a:lnTo>
                    <a:pt x="21" y="33"/>
                  </a:lnTo>
                  <a:lnTo>
                    <a:pt x="44" y="37"/>
                  </a:lnTo>
                  <a:lnTo>
                    <a:pt x="66" y="40"/>
                  </a:lnTo>
                  <a:lnTo>
                    <a:pt x="89" y="37"/>
                  </a:lnTo>
                  <a:lnTo>
                    <a:pt x="112" y="33"/>
                  </a:lnTo>
                  <a:lnTo>
                    <a:pt x="131" y="27"/>
                  </a:lnTo>
                  <a:lnTo>
                    <a:pt x="148" y="20"/>
                  </a:lnTo>
                  <a:lnTo>
                    <a:pt x="161" y="9"/>
                  </a:lnTo>
                  <a:lnTo>
                    <a:pt x="156" y="0"/>
                  </a:lnTo>
                  <a:lnTo>
                    <a:pt x="161" y="9"/>
                  </a:lnTo>
                  <a:lnTo>
                    <a:pt x="162" y="5"/>
                  </a:lnTo>
                  <a:lnTo>
                    <a:pt x="161" y="2"/>
                  </a:lnTo>
                  <a:lnTo>
                    <a:pt x="157" y="0"/>
                  </a:lnTo>
                  <a:lnTo>
                    <a:pt x="153" y="2"/>
                  </a:lnTo>
                  <a:lnTo>
                    <a:pt x="158"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1" name="Freeform 90">
              <a:extLst>
                <a:ext uri="{FF2B5EF4-FFF2-40B4-BE49-F238E27FC236}">
                  <a16:creationId xmlns:a16="http://schemas.microsoft.com/office/drawing/2014/main" id="{EB749BA8-1AF9-4D39-80AB-E2FFDDF540E4}"/>
                </a:ext>
              </a:extLst>
            </p:cNvPr>
            <p:cNvSpPr>
              <a:spLocks/>
            </p:cNvSpPr>
            <p:nvPr/>
          </p:nvSpPr>
          <p:spPr bwMode="auto">
            <a:xfrm>
              <a:off x="4576" y="2274"/>
              <a:ext cx="67" cy="45"/>
            </a:xfrm>
            <a:custGeom>
              <a:avLst/>
              <a:gdLst>
                <a:gd name="T0" fmla="*/ 0 w 67"/>
                <a:gd name="T1" fmla="*/ 0 h 45"/>
                <a:gd name="T2" fmla="*/ 0 w 67"/>
                <a:gd name="T3" fmla="*/ 0 h 45"/>
                <a:gd name="T4" fmla="*/ 1 w 67"/>
                <a:gd name="T5" fmla="*/ 11 h 45"/>
                <a:gd name="T6" fmla="*/ 8 w 67"/>
                <a:gd name="T7" fmla="*/ 23 h 45"/>
                <a:gd name="T8" fmla="*/ 17 w 67"/>
                <a:gd name="T9" fmla="*/ 32 h 45"/>
                <a:gd name="T10" fmla="*/ 28 w 67"/>
                <a:gd name="T11" fmla="*/ 38 h 45"/>
                <a:gd name="T12" fmla="*/ 39 w 67"/>
                <a:gd name="T13" fmla="*/ 41 h 45"/>
                <a:gd name="T14" fmla="*/ 50 w 67"/>
                <a:gd name="T15" fmla="*/ 44 h 45"/>
                <a:gd name="T16" fmla="*/ 60 w 67"/>
                <a:gd name="T17" fmla="*/ 45 h 45"/>
                <a:gd name="T18" fmla="*/ 67 w 67"/>
                <a:gd name="T19" fmla="*/ 45 h 45"/>
                <a:gd name="T20" fmla="*/ 65 w 67"/>
                <a:gd name="T21" fmla="*/ 35 h 45"/>
                <a:gd name="T22" fmla="*/ 60 w 67"/>
                <a:gd name="T23" fmla="*/ 35 h 45"/>
                <a:gd name="T24" fmla="*/ 50 w 67"/>
                <a:gd name="T25" fmla="*/ 34 h 45"/>
                <a:gd name="T26" fmla="*/ 41 w 67"/>
                <a:gd name="T27" fmla="*/ 32 h 45"/>
                <a:gd name="T28" fmla="*/ 33 w 67"/>
                <a:gd name="T29" fmla="*/ 28 h 45"/>
                <a:gd name="T30" fmla="*/ 22 w 67"/>
                <a:gd name="T31" fmla="*/ 22 h 45"/>
                <a:gd name="T32" fmla="*/ 16 w 67"/>
                <a:gd name="T33" fmla="*/ 16 h 45"/>
                <a:gd name="T34" fmla="*/ 11 w 67"/>
                <a:gd name="T35" fmla="*/ 8 h 45"/>
                <a:gd name="T36" fmla="*/ 9 w 67"/>
                <a:gd name="T37" fmla="*/ 0 h 45"/>
                <a:gd name="T38" fmla="*/ 9 w 67"/>
                <a:gd name="T39" fmla="*/ 0 h 45"/>
                <a:gd name="T40" fmla="*/ 0 w 67"/>
                <a:gd name="T41" fmla="*/ 0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45"/>
                <a:gd name="T65" fmla="*/ 67 w 67"/>
                <a:gd name="T66" fmla="*/ 45 h 4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45">
                  <a:moveTo>
                    <a:pt x="0" y="0"/>
                  </a:moveTo>
                  <a:lnTo>
                    <a:pt x="0" y="0"/>
                  </a:lnTo>
                  <a:lnTo>
                    <a:pt x="1" y="11"/>
                  </a:lnTo>
                  <a:lnTo>
                    <a:pt x="8" y="23"/>
                  </a:lnTo>
                  <a:lnTo>
                    <a:pt x="17" y="32"/>
                  </a:lnTo>
                  <a:lnTo>
                    <a:pt x="28" y="38"/>
                  </a:lnTo>
                  <a:lnTo>
                    <a:pt x="39" y="41"/>
                  </a:lnTo>
                  <a:lnTo>
                    <a:pt x="50" y="44"/>
                  </a:lnTo>
                  <a:lnTo>
                    <a:pt x="60" y="45"/>
                  </a:lnTo>
                  <a:lnTo>
                    <a:pt x="67" y="45"/>
                  </a:lnTo>
                  <a:lnTo>
                    <a:pt x="65" y="35"/>
                  </a:lnTo>
                  <a:lnTo>
                    <a:pt x="60" y="35"/>
                  </a:lnTo>
                  <a:lnTo>
                    <a:pt x="50" y="34"/>
                  </a:lnTo>
                  <a:lnTo>
                    <a:pt x="41" y="32"/>
                  </a:lnTo>
                  <a:lnTo>
                    <a:pt x="33" y="28"/>
                  </a:lnTo>
                  <a:lnTo>
                    <a:pt x="22" y="22"/>
                  </a:lnTo>
                  <a:lnTo>
                    <a:pt x="16" y="16"/>
                  </a:lnTo>
                  <a:lnTo>
                    <a:pt x="11" y="8"/>
                  </a:lnTo>
                  <a:lnTo>
                    <a:pt x="9"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2" name="Freeform 91">
              <a:extLst>
                <a:ext uri="{FF2B5EF4-FFF2-40B4-BE49-F238E27FC236}">
                  <a16:creationId xmlns:a16="http://schemas.microsoft.com/office/drawing/2014/main" id="{F8DBF963-23AF-48C3-8729-8C555F17EC00}"/>
                </a:ext>
              </a:extLst>
            </p:cNvPr>
            <p:cNvSpPr>
              <a:spLocks/>
            </p:cNvSpPr>
            <p:nvPr/>
          </p:nvSpPr>
          <p:spPr bwMode="auto">
            <a:xfrm>
              <a:off x="4448" y="2205"/>
              <a:ext cx="137" cy="69"/>
            </a:xfrm>
            <a:custGeom>
              <a:avLst/>
              <a:gdLst>
                <a:gd name="T0" fmla="*/ 0 w 137"/>
                <a:gd name="T1" fmla="*/ 6 h 69"/>
                <a:gd name="T2" fmla="*/ 0 w 137"/>
                <a:gd name="T3" fmla="*/ 6 h 69"/>
                <a:gd name="T4" fmla="*/ 13 w 137"/>
                <a:gd name="T5" fmla="*/ 15 h 69"/>
                <a:gd name="T6" fmla="*/ 32 w 137"/>
                <a:gd name="T7" fmla="*/ 16 h 69"/>
                <a:gd name="T8" fmla="*/ 54 w 137"/>
                <a:gd name="T9" fmla="*/ 13 h 69"/>
                <a:gd name="T10" fmla="*/ 77 w 137"/>
                <a:gd name="T11" fmla="*/ 12 h 69"/>
                <a:gd name="T12" fmla="*/ 98 w 137"/>
                <a:gd name="T13" fmla="*/ 13 h 69"/>
                <a:gd name="T14" fmla="*/ 114 w 137"/>
                <a:gd name="T15" fmla="*/ 22 h 69"/>
                <a:gd name="T16" fmla="*/ 125 w 137"/>
                <a:gd name="T17" fmla="*/ 38 h 69"/>
                <a:gd name="T18" fmla="*/ 128 w 137"/>
                <a:gd name="T19" fmla="*/ 69 h 69"/>
                <a:gd name="T20" fmla="*/ 137 w 137"/>
                <a:gd name="T21" fmla="*/ 69 h 69"/>
                <a:gd name="T22" fmla="*/ 135 w 137"/>
                <a:gd name="T23" fmla="*/ 36 h 69"/>
                <a:gd name="T24" fmla="*/ 121 w 137"/>
                <a:gd name="T25" fmla="*/ 15 h 69"/>
                <a:gd name="T26" fmla="*/ 101 w 137"/>
                <a:gd name="T27" fmla="*/ 4 h 69"/>
                <a:gd name="T28" fmla="*/ 77 w 137"/>
                <a:gd name="T29" fmla="*/ 0 h 69"/>
                <a:gd name="T30" fmla="*/ 54 w 137"/>
                <a:gd name="T31" fmla="*/ 4 h 69"/>
                <a:gd name="T32" fmla="*/ 32 w 137"/>
                <a:gd name="T33" fmla="*/ 4 h 69"/>
                <a:gd name="T34" fmla="*/ 16 w 137"/>
                <a:gd name="T35" fmla="*/ 5 h 69"/>
                <a:gd name="T36" fmla="*/ 10 w 137"/>
                <a:gd name="T37" fmla="*/ 1 h 69"/>
                <a:gd name="T38" fmla="*/ 10 w 137"/>
                <a:gd name="T39" fmla="*/ 1 h 69"/>
                <a:gd name="T40" fmla="*/ 0 w 137"/>
                <a:gd name="T41" fmla="*/ 6 h 6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37"/>
                <a:gd name="T64" fmla="*/ 0 h 69"/>
                <a:gd name="T65" fmla="*/ 137 w 137"/>
                <a:gd name="T66" fmla="*/ 69 h 6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37" h="69">
                  <a:moveTo>
                    <a:pt x="0" y="6"/>
                  </a:moveTo>
                  <a:lnTo>
                    <a:pt x="0" y="6"/>
                  </a:lnTo>
                  <a:lnTo>
                    <a:pt x="13" y="15"/>
                  </a:lnTo>
                  <a:lnTo>
                    <a:pt x="32" y="16"/>
                  </a:lnTo>
                  <a:lnTo>
                    <a:pt x="54" y="13"/>
                  </a:lnTo>
                  <a:lnTo>
                    <a:pt x="77" y="12"/>
                  </a:lnTo>
                  <a:lnTo>
                    <a:pt x="98" y="13"/>
                  </a:lnTo>
                  <a:lnTo>
                    <a:pt x="114" y="22"/>
                  </a:lnTo>
                  <a:lnTo>
                    <a:pt x="125" y="38"/>
                  </a:lnTo>
                  <a:lnTo>
                    <a:pt x="128" y="69"/>
                  </a:lnTo>
                  <a:lnTo>
                    <a:pt x="137" y="69"/>
                  </a:lnTo>
                  <a:lnTo>
                    <a:pt x="135" y="36"/>
                  </a:lnTo>
                  <a:lnTo>
                    <a:pt x="121" y="15"/>
                  </a:lnTo>
                  <a:lnTo>
                    <a:pt x="101" y="4"/>
                  </a:lnTo>
                  <a:lnTo>
                    <a:pt x="77" y="0"/>
                  </a:lnTo>
                  <a:lnTo>
                    <a:pt x="54" y="4"/>
                  </a:lnTo>
                  <a:lnTo>
                    <a:pt x="32" y="4"/>
                  </a:lnTo>
                  <a:lnTo>
                    <a:pt x="16" y="5"/>
                  </a:lnTo>
                  <a:lnTo>
                    <a:pt x="10" y="1"/>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3" name="Freeform 92">
              <a:extLst>
                <a:ext uri="{FF2B5EF4-FFF2-40B4-BE49-F238E27FC236}">
                  <a16:creationId xmlns:a16="http://schemas.microsoft.com/office/drawing/2014/main" id="{1B07488A-B4EF-44EF-9E11-B7D44B249134}"/>
                </a:ext>
              </a:extLst>
            </p:cNvPr>
            <p:cNvSpPr>
              <a:spLocks/>
            </p:cNvSpPr>
            <p:nvPr/>
          </p:nvSpPr>
          <p:spPr bwMode="auto">
            <a:xfrm>
              <a:off x="4392" y="2198"/>
              <a:ext cx="66" cy="54"/>
            </a:xfrm>
            <a:custGeom>
              <a:avLst/>
              <a:gdLst>
                <a:gd name="T0" fmla="*/ 8 w 66"/>
                <a:gd name="T1" fmla="*/ 46 h 54"/>
                <a:gd name="T2" fmla="*/ 8 w 66"/>
                <a:gd name="T3" fmla="*/ 54 h 54"/>
                <a:gd name="T4" fmla="*/ 13 w 66"/>
                <a:gd name="T5" fmla="*/ 46 h 54"/>
                <a:gd name="T6" fmla="*/ 20 w 66"/>
                <a:gd name="T7" fmla="*/ 38 h 54"/>
                <a:gd name="T8" fmla="*/ 26 w 66"/>
                <a:gd name="T9" fmla="*/ 29 h 54"/>
                <a:gd name="T10" fmla="*/ 35 w 66"/>
                <a:gd name="T11" fmla="*/ 19 h 54"/>
                <a:gd name="T12" fmla="*/ 41 w 66"/>
                <a:gd name="T13" fmla="*/ 13 h 54"/>
                <a:gd name="T14" fmla="*/ 48 w 66"/>
                <a:gd name="T15" fmla="*/ 9 h 54"/>
                <a:gd name="T16" fmla="*/ 52 w 66"/>
                <a:gd name="T17" fmla="*/ 9 h 54"/>
                <a:gd name="T18" fmla="*/ 56 w 66"/>
                <a:gd name="T19" fmla="*/ 13 h 54"/>
                <a:gd name="T20" fmla="*/ 66 w 66"/>
                <a:gd name="T21" fmla="*/ 8 h 54"/>
                <a:gd name="T22" fmla="*/ 57 w 66"/>
                <a:gd name="T23" fmla="*/ 0 h 54"/>
                <a:gd name="T24" fmla="*/ 46 w 66"/>
                <a:gd name="T25" fmla="*/ 0 h 54"/>
                <a:gd name="T26" fmla="*/ 36 w 66"/>
                <a:gd name="T27" fmla="*/ 3 h 54"/>
                <a:gd name="T28" fmla="*/ 27 w 66"/>
                <a:gd name="T29" fmla="*/ 12 h 54"/>
                <a:gd name="T30" fmla="*/ 19 w 66"/>
                <a:gd name="T31" fmla="*/ 22 h 54"/>
                <a:gd name="T32" fmla="*/ 10 w 66"/>
                <a:gd name="T33" fmla="*/ 33 h 54"/>
                <a:gd name="T34" fmla="*/ 5 w 66"/>
                <a:gd name="T35" fmla="*/ 41 h 54"/>
                <a:gd name="T36" fmla="*/ 0 w 66"/>
                <a:gd name="T37" fmla="*/ 46 h 54"/>
                <a:gd name="T38" fmla="*/ 0 w 66"/>
                <a:gd name="T39" fmla="*/ 54 h 54"/>
                <a:gd name="T40" fmla="*/ 8 w 66"/>
                <a:gd name="T41" fmla="*/ 46 h 5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6"/>
                <a:gd name="T64" fmla="*/ 0 h 54"/>
                <a:gd name="T65" fmla="*/ 66 w 66"/>
                <a:gd name="T66" fmla="*/ 54 h 5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6" h="54">
                  <a:moveTo>
                    <a:pt x="8" y="46"/>
                  </a:moveTo>
                  <a:lnTo>
                    <a:pt x="8" y="54"/>
                  </a:lnTo>
                  <a:lnTo>
                    <a:pt x="13" y="46"/>
                  </a:lnTo>
                  <a:lnTo>
                    <a:pt x="20" y="38"/>
                  </a:lnTo>
                  <a:lnTo>
                    <a:pt x="26" y="29"/>
                  </a:lnTo>
                  <a:lnTo>
                    <a:pt x="35" y="19"/>
                  </a:lnTo>
                  <a:lnTo>
                    <a:pt x="41" y="13"/>
                  </a:lnTo>
                  <a:lnTo>
                    <a:pt x="48" y="9"/>
                  </a:lnTo>
                  <a:lnTo>
                    <a:pt x="52" y="9"/>
                  </a:lnTo>
                  <a:lnTo>
                    <a:pt x="56" y="13"/>
                  </a:lnTo>
                  <a:lnTo>
                    <a:pt x="66" y="8"/>
                  </a:lnTo>
                  <a:lnTo>
                    <a:pt x="57" y="0"/>
                  </a:lnTo>
                  <a:lnTo>
                    <a:pt x="46" y="0"/>
                  </a:lnTo>
                  <a:lnTo>
                    <a:pt x="36" y="3"/>
                  </a:lnTo>
                  <a:lnTo>
                    <a:pt x="27" y="12"/>
                  </a:lnTo>
                  <a:lnTo>
                    <a:pt x="19" y="22"/>
                  </a:lnTo>
                  <a:lnTo>
                    <a:pt x="10" y="33"/>
                  </a:lnTo>
                  <a:lnTo>
                    <a:pt x="5" y="41"/>
                  </a:lnTo>
                  <a:lnTo>
                    <a:pt x="0" y="46"/>
                  </a:lnTo>
                  <a:lnTo>
                    <a:pt x="0" y="54"/>
                  </a:lnTo>
                  <a:lnTo>
                    <a:pt x="8"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4" name="Freeform 93">
              <a:extLst>
                <a:ext uri="{FF2B5EF4-FFF2-40B4-BE49-F238E27FC236}">
                  <a16:creationId xmlns:a16="http://schemas.microsoft.com/office/drawing/2014/main" id="{A9D1B847-0604-4BB8-9E1C-635CC3250CCC}"/>
                </a:ext>
              </a:extLst>
            </p:cNvPr>
            <p:cNvSpPr>
              <a:spLocks/>
            </p:cNvSpPr>
            <p:nvPr/>
          </p:nvSpPr>
          <p:spPr bwMode="auto">
            <a:xfrm>
              <a:off x="4392" y="2244"/>
              <a:ext cx="89" cy="103"/>
            </a:xfrm>
            <a:custGeom>
              <a:avLst/>
              <a:gdLst>
                <a:gd name="T0" fmla="*/ 79 w 89"/>
                <a:gd name="T1" fmla="*/ 98 h 103"/>
                <a:gd name="T2" fmla="*/ 88 w 89"/>
                <a:gd name="T3" fmla="*/ 95 h 103"/>
                <a:gd name="T4" fmla="*/ 8 w 89"/>
                <a:gd name="T5" fmla="*/ 0 h 103"/>
                <a:gd name="T6" fmla="*/ 0 w 89"/>
                <a:gd name="T7" fmla="*/ 8 h 103"/>
                <a:gd name="T8" fmla="*/ 80 w 89"/>
                <a:gd name="T9" fmla="*/ 102 h 103"/>
                <a:gd name="T10" fmla="*/ 89 w 89"/>
                <a:gd name="T11" fmla="*/ 98 h 103"/>
                <a:gd name="T12" fmla="*/ 80 w 89"/>
                <a:gd name="T13" fmla="*/ 102 h 103"/>
                <a:gd name="T14" fmla="*/ 84 w 89"/>
                <a:gd name="T15" fmla="*/ 103 h 103"/>
                <a:gd name="T16" fmla="*/ 88 w 89"/>
                <a:gd name="T17" fmla="*/ 102 h 103"/>
                <a:gd name="T18" fmla="*/ 89 w 89"/>
                <a:gd name="T19" fmla="*/ 98 h 103"/>
                <a:gd name="T20" fmla="*/ 88 w 89"/>
                <a:gd name="T21" fmla="*/ 95 h 103"/>
                <a:gd name="T22" fmla="*/ 79 w 89"/>
                <a:gd name="T23" fmla="*/ 98 h 10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
                <a:gd name="T37" fmla="*/ 0 h 103"/>
                <a:gd name="T38" fmla="*/ 89 w 89"/>
                <a:gd name="T39" fmla="*/ 103 h 10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 h="103">
                  <a:moveTo>
                    <a:pt x="79" y="98"/>
                  </a:moveTo>
                  <a:lnTo>
                    <a:pt x="88" y="95"/>
                  </a:lnTo>
                  <a:lnTo>
                    <a:pt x="8" y="0"/>
                  </a:lnTo>
                  <a:lnTo>
                    <a:pt x="0" y="8"/>
                  </a:lnTo>
                  <a:lnTo>
                    <a:pt x="80" y="102"/>
                  </a:lnTo>
                  <a:lnTo>
                    <a:pt x="89" y="98"/>
                  </a:lnTo>
                  <a:lnTo>
                    <a:pt x="80" y="102"/>
                  </a:lnTo>
                  <a:lnTo>
                    <a:pt x="84" y="103"/>
                  </a:lnTo>
                  <a:lnTo>
                    <a:pt x="88" y="102"/>
                  </a:lnTo>
                  <a:lnTo>
                    <a:pt x="89" y="98"/>
                  </a:lnTo>
                  <a:lnTo>
                    <a:pt x="88" y="95"/>
                  </a:lnTo>
                  <a:lnTo>
                    <a:pt x="79"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5" name="Freeform 94">
              <a:extLst>
                <a:ext uri="{FF2B5EF4-FFF2-40B4-BE49-F238E27FC236}">
                  <a16:creationId xmlns:a16="http://schemas.microsoft.com/office/drawing/2014/main" id="{A11A6BA1-BFC5-4111-8FBE-56939128E3D4}"/>
                </a:ext>
              </a:extLst>
            </p:cNvPr>
            <p:cNvSpPr>
              <a:spLocks/>
            </p:cNvSpPr>
            <p:nvPr/>
          </p:nvSpPr>
          <p:spPr bwMode="auto">
            <a:xfrm>
              <a:off x="4520" y="2266"/>
              <a:ext cx="10" cy="6"/>
            </a:xfrm>
            <a:custGeom>
              <a:avLst/>
              <a:gdLst>
                <a:gd name="T0" fmla="*/ 10 w 10"/>
                <a:gd name="T1" fmla="*/ 4 h 6"/>
                <a:gd name="T2" fmla="*/ 8 w 10"/>
                <a:gd name="T3" fmla="*/ 0 h 6"/>
                <a:gd name="T4" fmla="*/ 4 w 10"/>
                <a:gd name="T5" fmla="*/ 0 h 6"/>
                <a:gd name="T6" fmla="*/ 2 w 10"/>
                <a:gd name="T7" fmla="*/ 3 h 6"/>
                <a:gd name="T8" fmla="*/ 0 w 10"/>
                <a:gd name="T9" fmla="*/ 6 h 6"/>
                <a:gd name="T10" fmla="*/ 10 w 10"/>
                <a:gd name="T11" fmla="*/ 4 h 6"/>
                <a:gd name="T12" fmla="*/ 0 60000 65536"/>
                <a:gd name="T13" fmla="*/ 0 60000 65536"/>
                <a:gd name="T14" fmla="*/ 0 60000 65536"/>
                <a:gd name="T15" fmla="*/ 0 60000 65536"/>
                <a:gd name="T16" fmla="*/ 0 60000 65536"/>
                <a:gd name="T17" fmla="*/ 0 60000 65536"/>
                <a:gd name="T18" fmla="*/ 0 w 10"/>
                <a:gd name="T19" fmla="*/ 0 h 6"/>
                <a:gd name="T20" fmla="*/ 10 w 10"/>
                <a:gd name="T21" fmla="*/ 6 h 6"/>
              </a:gdLst>
              <a:ahLst/>
              <a:cxnLst>
                <a:cxn ang="T12">
                  <a:pos x="T0" y="T1"/>
                </a:cxn>
                <a:cxn ang="T13">
                  <a:pos x="T2" y="T3"/>
                </a:cxn>
                <a:cxn ang="T14">
                  <a:pos x="T4" y="T5"/>
                </a:cxn>
                <a:cxn ang="T15">
                  <a:pos x="T6" y="T7"/>
                </a:cxn>
                <a:cxn ang="T16">
                  <a:pos x="T8" y="T9"/>
                </a:cxn>
                <a:cxn ang="T17">
                  <a:pos x="T10" y="T11"/>
                </a:cxn>
              </a:cxnLst>
              <a:rect l="T18" t="T19" r="T20" b="T21"/>
              <a:pathLst>
                <a:path w="10" h="6">
                  <a:moveTo>
                    <a:pt x="10" y="4"/>
                  </a:moveTo>
                  <a:lnTo>
                    <a:pt x="8" y="0"/>
                  </a:lnTo>
                  <a:lnTo>
                    <a:pt x="4" y="0"/>
                  </a:lnTo>
                  <a:lnTo>
                    <a:pt x="2" y="3"/>
                  </a:lnTo>
                  <a:lnTo>
                    <a:pt x="0" y="6"/>
                  </a:lnTo>
                  <a:lnTo>
                    <a:pt x="1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6" name="Freeform 95">
              <a:extLst>
                <a:ext uri="{FF2B5EF4-FFF2-40B4-BE49-F238E27FC236}">
                  <a16:creationId xmlns:a16="http://schemas.microsoft.com/office/drawing/2014/main" id="{7B58C2C4-E396-4F11-AC99-FDA4D0A47ADC}"/>
                </a:ext>
              </a:extLst>
            </p:cNvPr>
            <p:cNvSpPr>
              <a:spLocks/>
            </p:cNvSpPr>
            <p:nvPr/>
          </p:nvSpPr>
          <p:spPr bwMode="auto">
            <a:xfrm>
              <a:off x="4474" y="2270"/>
              <a:ext cx="56" cy="52"/>
            </a:xfrm>
            <a:custGeom>
              <a:avLst/>
              <a:gdLst>
                <a:gd name="T0" fmla="*/ 12 w 56"/>
                <a:gd name="T1" fmla="*/ 52 h 52"/>
                <a:gd name="T2" fmla="*/ 13 w 56"/>
                <a:gd name="T3" fmla="*/ 48 h 52"/>
                <a:gd name="T4" fmla="*/ 17 w 56"/>
                <a:gd name="T5" fmla="*/ 43 h 52"/>
                <a:gd name="T6" fmla="*/ 25 w 56"/>
                <a:gd name="T7" fmla="*/ 37 h 52"/>
                <a:gd name="T8" fmla="*/ 34 w 56"/>
                <a:gd name="T9" fmla="*/ 29 h 52"/>
                <a:gd name="T10" fmla="*/ 43 w 56"/>
                <a:gd name="T11" fmla="*/ 23 h 52"/>
                <a:gd name="T12" fmla="*/ 50 w 56"/>
                <a:gd name="T13" fmla="*/ 17 h 52"/>
                <a:gd name="T14" fmla="*/ 56 w 56"/>
                <a:gd name="T15" fmla="*/ 9 h 52"/>
                <a:gd name="T16" fmla="*/ 56 w 56"/>
                <a:gd name="T17" fmla="*/ 0 h 52"/>
                <a:gd name="T18" fmla="*/ 46 w 56"/>
                <a:gd name="T19" fmla="*/ 2 h 52"/>
                <a:gd name="T20" fmla="*/ 46 w 56"/>
                <a:gd name="T21" fmla="*/ 6 h 52"/>
                <a:gd name="T22" fmla="*/ 43 w 56"/>
                <a:gd name="T23" fmla="*/ 10 h 52"/>
                <a:gd name="T24" fmla="*/ 35 w 56"/>
                <a:gd name="T25" fmla="*/ 16 h 52"/>
                <a:gd name="T26" fmla="*/ 27 w 56"/>
                <a:gd name="T27" fmla="*/ 22 h 52"/>
                <a:gd name="T28" fmla="*/ 18 w 56"/>
                <a:gd name="T29" fmla="*/ 29 h 52"/>
                <a:gd name="T30" fmla="*/ 9 w 56"/>
                <a:gd name="T31" fmla="*/ 36 h 52"/>
                <a:gd name="T32" fmla="*/ 3 w 56"/>
                <a:gd name="T33" fmla="*/ 43 h 52"/>
                <a:gd name="T34" fmla="*/ 0 w 56"/>
                <a:gd name="T35" fmla="*/ 52 h 52"/>
                <a:gd name="T36" fmla="*/ 12 w 56"/>
                <a:gd name="T37" fmla="*/ 52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6"/>
                <a:gd name="T58" fmla="*/ 0 h 52"/>
                <a:gd name="T59" fmla="*/ 56 w 56"/>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6" h="52">
                  <a:moveTo>
                    <a:pt x="12" y="52"/>
                  </a:moveTo>
                  <a:lnTo>
                    <a:pt x="13" y="48"/>
                  </a:lnTo>
                  <a:lnTo>
                    <a:pt x="17" y="43"/>
                  </a:lnTo>
                  <a:lnTo>
                    <a:pt x="25" y="37"/>
                  </a:lnTo>
                  <a:lnTo>
                    <a:pt x="34" y="29"/>
                  </a:lnTo>
                  <a:lnTo>
                    <a:pt x="43" y="23"/>
                  </a:lnTo>
                  <a:lnTo>
                    <a:pt x="50" y="17"/>
                  </a:lnTo>
                  <a:lnTo>
                    <a:pt x="56" y="9"/>
                  </a:lnTo>
                  <a:lnTo>
                    <a:pt x="56" y="0"/>
                  </a:lnTo>
                  <a:lnTo>
                    <a:pt x="46" y="2"/>
                  </a:lnTo>
                  <a:lnTo>
                    <a:pt x="46" y="6"/>
                  </a:lnTo>
                  <a:lnTo>
                    <a:pt x="43" y="10"/>
                  </a:lnTo>
                  <a:lnTo>
                    <a:pt x="35" y="16"/>
                  </a:lnTo>
                  <a:lnTo>
                    <a:pt x="27" y="22"/>
                  </a:lnTo>
                  <a:lnTo>
                    <a:pt x="18" y="29"/>
                  </a:lnTo>
                  <a:lnTo>
                    <a:pt x="9" y="36"/>
                  </a:lnTo>
                  <a:lnTo>
                    <a:pt x="3" y="43"/>
                  </a:lnTo>
                  <a:lnTo>
                    <a:pt x="0" y="52"/>
                  </a:lnTo>
                  <a:lnTo>
                    <a:pt x="12"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7" name="Freeform 96">
              <a:extLst>
                <a:ext uri="{FF2B5EF4-FFF2-40B4-BE49-F238E27FC236}">
                  <a16:creationId xmlns:a16="http://schemas.microsoft.com/office/drawing/2014/main" id="{4EB1D6A9-680F-4640-86FF-518C7AE3818A}"/>
                </a:ext>
              </a:extLst>
            </p:cNvPr>
            <p:cNvSpPr>
              <a:spLocks/>
            </p:cNvSpPr>
            <p:nvPr/>
          </p:nvSpPr>
          <p:spPr bwMode="auto">
            <a:xfrm>
              <a:off x="4474" y="2322"/>
              <a:ext cx="12" cy="5"/>
            </a:xfrm>
            <a:custGeom>
              <a:avLst/>
              <a:gdLst>
                <a:gd name="T0" fmla="*/ 0 w 12"/>
                <a:gd name="T1" fmla="*/ 0 h 5"/>
                <a:gd name="T2" fmla="*/ 2 w 12"/>
                <a:gd name="T3" fmla="*/ 3 h 5"/>
                <a:gd name="T4" fmla="*/ 6 w 12"/>
                <a:gd name="T5" fmla="*/ 5 h 5"/>
                <a:gd name="T6" fmla="*/ 9 w 12"/>
                <a:gd name="T7" fmla="*/ 3 h 5"/>
                <a:gd name="T8" fmla="*/ 12 w 12"/>
                <a:gd name="T9" fmla="*/ 0 h 5"/>
                <a:gd name="T10" fmla="*/ 0 w 12"/>
                <a:gd name="T11" fmla="*/ 0 h 5"/>
                <a:gd name="T12" fmla="*/ 0 60000 65536"/>
                <a:gd name="T13" fmla="*/ 0 60000 65536"/>
                <a:gd name="T14" fmla="*/ 0 60000 65536"/>
                <a:gd name="T15" fmla="*/ 0 60000 65536"/>
                <a:gd name="T16" fmla="*/ 0 60000 65536"/>
                <a:gd name="T17" fmla="*/ 0 60000 65536"/>
                <a:gd name="T18" fmla="*/ 0 w 12"/>
                <a:gd name="T19" fmla="*/ 0 h 5"/>
                <a:gd name="T20" fmla="*/ 12 w 12"/>
                <a:gd name="T21" fmla="*/ 5 h 5"/>
              </a:gdLst>
              <a:ahLst/>
              <a:cxnLst>
                <a:cxn ang="T12">
                  <a:pos x="T0" y="T1"/>
                </a:cxn>
                <a:cxn ang="T13">
                  <a:pos x="T2" y="T3"/>
                </a:cxn>
                <a:cxn ang="T14">
                  <a:pos x="T4" y="T5"/>
                </a:cxn>
                <a:cxn ang="T15">
                  <a:pos x="T6" y="T7"/>
                </a:cxn>
                <a:cxn ang="T16">
                  <a:pos x="T8" y="T9"/>
                </a:cxn>
                <a:cxn ang="T17">
                  <a:pos x="T10" y="T11"/>
                </a:cxn>
              </a:cxnLst>
              <a:rect l="T18" t="T19" r="T20" b="T21"/>
              <a:pathLst>
                <a:path w="12" h="5">
                  <a:moveTo>
                    <a:pt x="0" y="0"/>
                  </a:moveTo>
                  <a:lnTo>
                    <a:pt x="2" y="3"/>
                  </a:lnTo>
                  <a:lnTo>
                    <a:pt x="6" y="5"/>
                  </a:lnTo>
                  <a:lnTo>
                    <a:pt x="9" y="3"/>
                  </a:lnTo>
                  <a:lnTo>
                    <a:pt x="1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8" name="Freeform 97">
              <a:extLst>
                <a:ext uri="{FF2B5EF4-FFF2-40B4-BE49-F238E27FC236}">
                  <a16:creationId xmlns:a16="http://schemas.microsoft.com/office/drawing/2014/main" id="{4714D246-0442-4DDA-AFB4-7F206083DA9C}"/>
                </a:ext>
              </a:extLst>
            </p:cNvPr>
            <p:cNvSpPr>
              <a:spLocks/>
            </p:cNvSpPr>
            <p:nvPr/>
          </p:nvSpPr>
          <p:spPr bwMode="auto">
            <a:xfrm>
              <a:off x="4372" y="2223"/>
              <a:ext cx="141" cy="167"/>
            </a:xfrm>
            <a:custGeom>
              <a:avLst/>
              <a:gdLst>
                <a:gd name="T0" fmla="*/ 127 w 141"/>
                <a:gd name="T1" fmla="*/ 167 h 167"/>
                <a:gd name="T2" fmla="*/ 141 w 141"/>
                <a:gd name="T3" fmla="*/ 132 h 167"/>
                <a:gd name="T4" fmla="*/ 27 w 141"/>
                <a:gd name="T5" fmla="*/ 0 h 167"/>
                <a:gd name="T6" fmla="*/ 0 w 141"/>
                <a:gd name="T7" fmla="*/ 18 h 167"/>
                <a:gd name="T8" fmla="*/ 127 w 141"/>
                <a:gd name="T9" fmla="*/ 167 h 167"/>
                <a:gd name="T10" fmla="*/ 0 60000 65536"/>
                <a:gd name="T11" fmla="*/ 0 60000 65536"/>
                <a:gd name="T12" fmla="*/ 0 60000 65536"/>
                <a:gd name="T13" fmla="*/ 0 60000 65536"/>
                <a:gd name="T14" fmla="*/ 0 60000 65536"/>
                <a:gd name="T15" fmla="*/ 0 w 141"/>
                <a:gd name="T16" fmla="*/ 0 h 167"/>
                <a:gd name="T17" fmla="*/ 141 w 141"/>
                <a:gd name="T18" fmla="*/ 167 h 167"/>
              </a:gdLst>
              <a:ahLst/>
              <a:cxnLst>
                <a:cxn ang="T10">
                  <a:pos x="T0" y="T1"/>
                </a:cxn>
                <a:cxn ang="T11">
                  <a:pos x="T2" y="T3"/>
                </a:cxn>
                <a:cxn ang="T12">
                  <a:pos x="T4" y="T5"/>
                </a:cxn>
                <a:cxn ang="T13">
                  <a:pos x="T6" y="T7"/>
                </a:cxn>
                <a:cxn ang="T14">
                  <a:pos x="T8" y="T9"/>
                </a:cxn>
              </a:cxnLst>
              <a:rect l="T15" t="T16" r="T17" b="T18"/>
              <a:pathLst>
                <a:path w="141" h="167">
                  <a:moveTo>
                    <a:pt x="127" y="167"/>
                  </a:moveTo>
                  <a:lnTo>
                    <a:pt x="141" y="132"/>
                  </a:lnTo>
                  <a:lnTo>
                    <a:pt x="27" y="0"/>
                  </a:lnTo>
                  <a:lnTo>
                    <a:pt x="0" y="18"/>
                  </a:lnTo>
                  <a:lnTo>
                    <a:pt x="127" y="167"/>
                  </a:lnTo>
                  <a:close/>
                </a:path>
              </a:pathLst>
            </a:custGeom>
            <a:solidFill>
              <a:srgbClr val="004C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29" name="Freeform 98">
              <a:extLst>
                <a:ext uri="{FF2B5EF4-FFF2-40B4-BE49-F238E27FC236}">
                  <a16:creationId xmlns:a16="http://schemas.microsoft.com/office/drawing/2014/main" id="{9033BCD9-50DB-498D-9C05-01ADDA0D3FB8}"/>
                </a:ext>
              </a:extLst>
            </p:cNvPr>
            <p:cNvSpPr>
              <a:spLocks/>
            </p:cNvSpPr>
            <p:nvPr/>
          </p:nvSpPr>
          <p:spPr bwMode="auto">
            <a:xfrm>
              <a:off x="4494" y="2389"/>
              <a:ext cx="10" cy="6"/>
            </a:xfrm>
            <a:custGeom>
              <a:avLst/>
              <a:gdLst>
                <a:gd name="T0" fmla="*/ 0 w 10"/>
                <a:gd name="T1" fmla="*/ 0 h 6"/>
                <a:gd name="T2" fmla="*/ 2 w 10"/>
                <a:gd name="T3" fmla="*/ 4 h 6"/>
                <a:gd name="T4" fmla="*/ 4 w 10"/>
                <a:gd name="T5" fmla="*/ 6 h 6"/>
                <a:gd name="T6" fmla="*/ 8 w 10"/>
                <a:gd name="T7" fmla="*/ 5 h 6"/>
                <a:gd name="T8" fmla="*/ 10 w 10"/>
                <a:gd name="T9" fmla="*/ 3 h 6"/>
                <a:gd name="T10" fmla="*/ 0 w 10"/>
                <a:gd name="T11" fmla="*/ 0 h 6"/>
                <a:gd name="T12" fmla="*/ 0 60000 65536"/>
                <a:gd name="T13" fmla="*/ 0 60000 65536"/>
                <a:gd name="T14" fmla="*/ 0 60000 65536"/>
                <a:gd name="T15" fmla="*/ 0 60000 65536"/>
                <a:gd name="T16" fmla="*/ 0 60000 65536"/>
                <a:gd name="T17" fmla="*/ 0 60000 65536"/>
                <a:gd name="T18" fmla="*/ 0 w 10"/>
                <a:gd name="T19" fmla="*/ 0 h 6"/>
                <a:gd name="T20" fmla="*/ 10 w 10"/>
                <a:gd name="T21" fmla="*/ 6 h 6"/>
              </a:gdLst>
              <a:ahLst/>
              <a:cxnLst>
                <a:cxn ang="T12">
                  <a:pos x="T0" y="T1"/>
                </a:cxn>
                <a:cxn ang="T13">
                  <a:pos x="T2" y="T3"/>
                </a:cxn>
                <a:cxn ang="T14">
                  <a:pos x="T4" y="T5"/>
                </a:cxn>
                <a:cxn ang="T15">
                  <a:pos x="T6" y="T7"/>
                </a:cxn>
                <a:cxn ang="T16">
                  <a:pos x="T8" y="T9"/>
                </a:cxn>
                <a:cxn ang="T17">
                  <a:pos x="T10" y="T11"/>
                </a:cxn>
              </a:cxnLst>
              <a:rect l="T18" t="T19" r="T20" b="T21"/>
              <a:pathLst>
                <a:path w="10" h="6">
                  <a:moveTo>
                    <a:pt x="0" y="0"/>
                  </a:moveTo>
                  <a:lnTo>
                    <a:pt x="2" y="4"/>
                  </a:lnTo>
                  <a:lnTo>
                    <a:pt x="4" y="6"/>
                  </a:lnTo>
                  <a:lnTo>
                    <a:pt x="8" y="5"/>
                  </a:lnTo>
                  <a:lnTo>
                    <a:pt x="10" y="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30" name="Freeform 99">
              <a:extLst>
                <a:ext uri="{FF2B5EF4-FFF2-40B4-BE49-F238E27FC236}">
                  <a16:creationId xmlns:a16="http://schemas.microsoft.com/office/drawing/2014/main" id="{916F490A-98FF-4E2C-9F8F-D28C9CE23E21}"/>
                </a:ext>
              </a:extLst>
            </p:cNvPr>
            <p:cNvSpPr>
              <a:spLocks/>
            </p:cNvSpPr>
            <p:nvPr/>
          </p:nvSpPr>
          <p:spPr bwMode="auto">
            <a:xfrm>
              <a:off x="4494" y="2350"/>
              <a:ext cx="24" cy="42"/>
            </a:xfrm>
            <a:custGeom>
              <a:avLst/>
              <a:gdLst>
                <a:gd name="T0" fmla="*/ 15 w 24"/>
                <a:gd name="T1" fmla="*/ 8 h 42"/>
                <a:gd name="T2" fmla="*/ 14 w 24"/>
                <a:gd name="T3" fmla="*/ 4 h 42"/>
                <a:gd name="T4" fmla="*/ 0 w 24"/>
                <a:gd name="T5" fmla="*/ 39 h 42"/>
                <a:gd name="T6" fmla="*/ 10 w 24"/>
                <a:gd name="T7" fmla="*/ 42 h 42"/>
                <a:gd name="T8" fmla="*/ 24 w 24"/>
                <a:gd name="T9" fmla="*/ 6 h 42"/>
                <a:gd name="T10" fmla="*/ 23 w 24"/>
                <a:gd name="T11" fmla="*/ 1 h 42"/>
                <a:gd name="T12" fmla="*/ 24 w 24"/>
                <a:gd name="T13" fmla="*/ 6 h 42"/>
                <a:gd name="T14" fmla="*/ 23 w 24"/>
                <a:gd name="T15" fmla="*/ 2 h 42"/>
                <a:gd name="T16" fmla="*/ 20 w 24"/>
                <a:gd name="T17" fmla="*/ 0 h 42"/>
                <a:gd name="T18" fmla="*/ 16 w 24"/>
                <a:gd name="T19" fmla="*/ 0 h 42"/>
                <a:gd name="T20" fmla="*/ 14 w 24"/>
                <a:gd name="T21" fmla="*/ 4 h 42"/>
                <a:gd name="T22" fmla="*/ 15 w 24"/>
                <a:gd name="T23" fmla="*/ 8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42"/>
                <a:gd name="T38" fmla="*/ 24 w 24"/>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42">
                  <a:moveTo>
                    <a:pt x="15" y="8"/>
                  </a:moveTo>
                  <a:lnTo>
                    <a:pt x="14" y="4"/>
                  </a:lnTo>
                  <a:lnTo>
                    <a:pt x="0" y="39"/>
                  </a:lnTo>
                  <a:lnTo>
                    <a:pt x="10" y="42"/>
                  </a:lnTo>
                  <a:lnTo>
                    <a:pt x="24" y="6"/>
                  </a:lnTo>
                  <a:lnTo>
                    <a:pt x="23" y="1"/>
                  </a:lnTo>
                  <a:lnTo>
                    <a:pt x="24" y="6"/>
                  </a:lnTo>
                  <a:lnTo>
                    <a:pt x="23" y="2"/>
                  </a:lnTo>
                  <a:lnTo>
                    <a:pt x="20" y="0"/>
                  </a:lnTo>
                  <a:lnTo>
                    <a:pt x="16" y="0"/>
                  </a:lnTo>
                  <a:lnTo>
                    <a:pt x="14" y="4"/>
                  </a:lnTo>
                  <a:lnTo>
                    <a:pt x="1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31" name="Freeform 100">
              <a:extLst>
                <a:ext uri="{FF2B5EF4-FFF2-40B4-BE49-F238E27FC236}">
                  <a16:creationId xmlns:a16="http://schemas.microsoft.com/office/drawing/2014/main" id="{1FF1E33A-256A-4182-ADDD-6216F6EEA46E}"/>
                </a:ext>
              </a:extLst>
            </p:cNvPr>
            <p:cNvSpPr>
              <a:spLocks/>
            </p:cNvSpPr>
            <p:nvPr/>
          </p:nvSpPr>
          <p:spPr bwMode="auto">
            <a:xfrm>
              <a:off x="4394" y="2218"/>
              <a:ext cx="123" cy="140"/>
            </a:xfrm>
            <a:custGeom>
              <a:avLst/>
              <a:gdLst>
                <a:gd name="T0" fmla="*/ 7 w 123"/>
                <a:gd name="T1" fmla="*/ 10 h 140"/>
                <a:gd name="T2" fmla="*/ 1 w 123"/>
                <a:gd name="T3" fmla="*/ 9 h 140"/>
                <a:gd name="T4" fmla="*/ 115 w 123"/>
                <a:gd name="T5" fmla="*/ 140 h 140"/>
                <a:gd name="T6" fmla="*/ 123 w 123"/>
                <a:gd name="T7" fmla="*/ 133 h 140"/>
                <a:gd name="T8" fmla="*/ 8 w 123"/>
                <a:gd name="T9" fmla="*/ 2 h 140"/>
                <a:gd name="T10" fmla="*/ 2 w 123"/>
                <a:gd name="T11" fmla="*/ 0 h 140"/>
                <a:gd name="T12" fmla="*/ 8 w 123"/>
                <a:gd name="T13" fmla="*/ 2 h 140"/>
                <a:gd name="T14" fmla="*/ 5 w 123"/>
                <a:gd name="T15" fmla="*/ 0 h 140"/>
                <a:gd name="T16" fmla="*/ 1 w 123"/>
                <a:gd name="T17" fmla="*/ 2 h 140"/>
                <a:gd name="T18" fmla="*/ 0 w 123"/>
                <a:gd name="T19" fmla="*/ 5 h 140"/>
                <a:gd name="T20" fmla="*/ 1 w 123"/>
                <a:gd name="T21" fmla="*/ 9 h 140"/>
                <a:gd name="T22" fmla="*/ 7 w 123"/>
                <a:gd name="T23" fmla="*/ 10 h 1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140"/>
                <a:gd name="T38" fmla="*/ 123 w 123"/>
                <a:gd name="T39" fmla="*/ 140 h 1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140">
                  <a:moveTo>
                    <a:pt x="7" y="10"/>
                  </a:moveTo>
                  <a:lnTo>
                    <a:pt x="1" y="9"/>
                  </a:lnTo>
                  <a:lnTo>
                    <a:pt x="115" y="140"/>
                  </a:lnTo>
                  <a:lnTo>
                    <a:pt x="123" y="133"/>
                  </a:lnTo>
                  <a:lnTo>
                    <a:pt x="8" y="2"/>
                  </a:lnTo>
                  <a:lnTo>
                    <a:pt x="2" y="0"/>
                  </a:lnTo>
                  <a:lnTo>
                    <a:pt x="8" y="2"/>
                  </a:lnTo>
                  <a:lnTo>
                    <a:pt x="5" y="0"/>
                  </a:lnTo>
                  <a:lnTo>
                    <a:pt x="1" y="2"/>
                  </a:lnTo>
                  <a:lnTo>
                    <a:pt x="0" y="5"/>
                  </a:lnTo>
                  <a:lnTo>
                    <a:pt x="1" y="9"/>
                  </a:lnTo>
                  <a:lnTo>
                    <a:pt x="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32" name="Freeform 101">
              <a:extLst>
                <a:ext uri="{FF2B5EF4-FFF2-40B4-BE49-F238E27FC236}">
                  <a16:creationId xmlns:a16="http://schemas.microsoft.com/office/drawing/2014/main" id="{E3490019-DAED-41B1-AFA4-54610C96399D}"/>
                </a:ext>
              </a:extLst>
            </p:cNvPr>
            <p:cNvSpPr>
              <a:spLocks/>
            </p:cNvSpPr>
            <p:nvPr/>
          </p:nvSpPr>
          <p:spPr bwMode="auto">
            <a:xfrm>
              <a:off x="4369" y="2218"/>
              <a:ext cx="32" cy="27"/>
            </a:xfrm>
            <a:custGeom>
              <a:avLst/>
              <a:gdLst>
                <a:gd name="T0" fmla="*/ 3 w 32"/>
                <a:gd name="T1" fmla="*/ 23 h 27"/>
                <a:gd name="T2" fmla="*/ 5 w 32"/>
                <a:gd name="T3" fmla="*/ 27 h 27"/>
                <a:gd name="T4" fmla="*/ 32 w 32"/>
                <a:gd name="T5" fmla="*/ 10 h 27"/>
                <a:gd name="T6" fmla="*/ 27 w 32"/>
                <a:gd name="T7" fmla="*/ 0 h 27"/>
                <a:gd name="T8" fmla="*/ 0 w 32"/>
                <a:gd name="T9" fmla="*/ 18 h 27"/>
                <a:gd name="T10" fmla="*/ 3 w 32"/>
                <a:gd name="T11" fmla="*/ 23 h 27"/>
                <a:gd name="T12" fmla="*/ 0 60000 65536"/>
                <a:gd name="T13" fmla="*/ 0 60000 65536"/>
                <a:gd name="T14" fmla="*/ 0 60000 65536"/>
                <a:gd name="T15" fmla="*/ 0 60000 65536"/>
                <a:gd name="T16" fmla="*/ 0 60000 65536"/>
                <a:gd name="T17" fmla="*/ 0 60000 65536"/>
                <a:gd name="T18" fmla="*/ 0 w 32"/>
                <a:gd name="T19" fmla="*/ 0 h 27"/>
                <a:gd name="T20" fmla="*/ 32 w 32"/>
                <a:gd name="T21" fmla="*/ 27 h 27"/>
              </a:gdLst>
              <a:ahLst/>
              <a:cxnLst>
                <a:cxn ang="T12">
                  <a:pos x="T0" y="T1"/>
                </a:cxn>
                <a:cxn ang="T13">
                  <a:pos x="T2" y="T3"/>
                </a:cxn>
                <a:cxn ang="T14">
                  <a:pos x="T4" y="T5"/>
                </a:cxn>
                <a:cxn ang="T15">
                  <a:pos x="T6" y="T7"/>
                </a:cxn>
                <a:cxn ang="T16">
                  <a:pos x="T8" y="T9"/>
                </a:cxn>
                <a:cxn ang="T17">
                  <a:pos x="T10" y="T11"/>
                </a:cxn>
              </a:cxnLst>
              <a:rect l="T18" t="T19" r="T20" b="T21"/>
              <a:pathLst>
                <a:path w="32" h="27">
                  <a:moveTo>
                    <a:pt x="3" y="23"/>
                  </a:moveTo>
                  <a:lnTo>
                    <a:pt x="5" y="27"/>
                  </a:lnTo>
                  <a:lnTo>
                    <a:pt x="32" y="10"/>
                  </a:lnTo>
                  <a:lnTo>
                    <a:pt x="27" y="0"/>
                  </a:lnTo>
                  <a:lnTo>
                    <a:pt x="0" y="18"/>
                  </a:lnTo>
                  <a:lnTo>
                    <a:pt x="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sp>
          <p:nvSpPr>
            <p:cNvPr id="40033" name="Freeform 102">
              <a:extLst>
                <a:ext uri="{FF2B5EF4-FFF2-40B4-BE49-F238E27FC236}">
                  <a16:creationId xmlns:a16="http://schemas.microsoft.com/office/drawing/2014/main" id="{21FA90AB-D683-4C30-9733-F0F4BBCAC902}"/>
                </a:ext>
              </a:extLst>
            </p:cNvPr>
            <p:cNvSpPr>
              <a:spLocks/>
            </p:cNvSpPr>
            <p:nvPr/>
          </p:nvSpPr>
          <p:spPr bwMode="auto">
            <a:xfrm>
              <a:off x="4367" y="2236"/>
              <a:ext cx="7" cy="9"/>
            </a:xfrm>
            <a:custGeom>
              <a:avLst/>
              <a:gdLst>
                <a:gd name="T0" fmla="*/ 2 w 7"/>
                <a:gd name="T1" fmla="*/ 0 h 9"/>
                <a:gd name="T2" fmla="*/ 0 w 7"/>
                <a:gd name="T3" fmla="*/ 2 h 9"/>
                <a:gd name="T4" fmla="*/ 0 w 7"/>
                <a:gd name="T5" fmla="*/ 6 h 9"/>
                <a:gd name="T6" fmla="*/ 3 w 7"/>
                <a:gd name="T7" fmla="*/ 9 h 9"/>
                <a:gd name="T8" fmla="*/ 7 w 7"/>
                <a:gd name="T9" fmla="*/ 9 h 9"/>
                <a:gd name="T10" fmla="*/ 2 w 7"/>
                <a:gd name="T11" fmla="*/ 0 h 9"/>
                <a:gd name="T12" fmla="*/ 0 60000 65536"/>
                <a:gd name="T13" fmla="*/ 0 60000 65536"/>
                <a:gd name="T14" fmla="*/ 0 60000 65536"/>
                <a:gd name="T15" fmla="*/ 0 60000 65536"/>
                <a:gd name="T16" fmla="*/ 0 60000 65536"/>
                <a:gd name="T17" fmla="*/ 0 60000 65536"/>
                <a:gd name="T18" fmla="*/ 0 w 7"/>
                <a:gd name="T19" fmla="*/ 0 h 9"/>
                <a:gd name="T20" fmla="*/ 7 w 7"/>
                <a:gd name="T21" fmla="*/ 9 h 9"/>
              </a:gdLst>
              <a:ahLst/>
              <a:cxnLst>
                <a:cxn ang="T12">
                  <a:pos x="T0" y="T1"/>
                </a:cxn>
                <a:cxn ang="T13">
                  <a:pos x="T2" y="T3"/>
                </a:cxn>
                <a:cxn ang="T14">
                  <a:pos x="T4" y="T5"/>
                </a:cxn>
                <a:cxn ang="T15">
                  <a:pos x="T6" y="T7"/>
                </a:cxn>
                <a:cxn ang="T16">
                  <a:pos x="T8" y="T9"/>
                </a:cxn>
                <a:cxn ang="T17">
                  <a:pos x="T10" y="T11"/>
                </a:cxn>
              </a:cxnLst>
              <a:rect l="T18" t="T19" r="T20" b="T21"/>
              <a:pathLst>
                <a:path w="7" h="9">
                  <a:moveTo>
                    <a:pt x="2" y="0"/>
                  </a:moveTo>
                  <a:lnTo>
                    <a:pt x="0" y="2"/>
                  </a:lnTo>
                  <a:lnTo>
                    <a:pt x="0" y="6"/>
                  </a:lnTo>
                  <a:lnTo>
                    <a:pt x="3" y="9"/>
                  </a:lnTo>
                  <a:lnTo>
                    <a:pt x="7" y="9"/>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449263" eaLnBrk="0" fontAlgn="base" hangingPunct="0">
                <a:spcBef>
                  <a:spcPct val="0"/>
                </a:spcBef>
                <a:spcAft>
                  <a:spcPct val="0"/>
                </a:spcAft>
              </a:pPr>
              <a:endParaRPr lang="es-CO" sz="2400">
                <a:solidFill>
                  <a:srgbClr val="FFFFFF"/>
                </a:solidFill>
                <a:latin typeface="Arial" panose="020B0604020202020204" pitchFamily="34" charset="0"/>
                <a:ea typeface="ＭＳ Ｐゴシック" panose="020B0600070205080204" pitchFamily="34" charset="-128"/>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a:extLst>
              <a:ext uri="{FF2B5EF4-FFF2-40B4-BE49-F238E27FC236}">
                <a16:creationId xmlns:a16="http://schemas.microsoft.com/office/drawing/2014/main" id="{AC270EC6-A246-4735-B0E9-AE04656C4D05}"/>
              </a:ext>
            </a:extLst>
          </p:cNvPr>
          <p:cNvSpPr>
            <a:spLocks noChangeArrowheads="1"/>
          </p:cNvSpPr>
          <p:nvPr/>
        </p:nvSpPr>
        <p:spPr bwMode="auto">
          <a:xfrm>
            <a:off x="3733800" y="44450"/>
            <a:ext cx="4800600" cy="10668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40963" name="WordArt 5">
            <a:extLst>
              <a:ext uri="{FF2B5EF4-FFF2-40B4-BE49-F238E27FC236}">
                <a16:creationId xmlns:a16="http://schemas.microsoft.com/office/drawing/2014/main" id="{3373D7DE-ABE1-4969-AC37-764221CB81A1}"/>
              </a:ext>
            </a:extLst>
          </p:cNvPr>
          <p:cNvSpPr>
            <a:spLocks noChangeArrowheads="1" noChangeShapeType="1" noTextEdit="1"/>
          </p:cNvSpPr>
          <p:nvPr/>
        </p:nvSpPr>
        <p:spPr bwMode="auto">
          <a:xfrm>
            <a:off x="4724400" y="44450"/>
            <a:ext cx="3124200" cy="941388"/>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CUIDADOS</a:t>
            </a:r>
          </a:p>
        </p:txBody>
      </p:sp>
      <p:sp>
        <p:nvSpPr>
          <p:cNvPr id="40964" name="Rectangle 10">
            <a:extLst>
              <a:ext uri="{FF2B5EF4-FFF2-40B4-BE49-F238E27FC236}">
                <a16:creationId xmlns:a16="http://schemas.microsoft.com/office/drawing/2014/main" id="{13CFDE76-944C-46C5-A12C-6B058C037BB8}"/>
              </a:ext>
            </a:extLst>
          </p:cNvPr>
          <p:cNvSpPr>
            <a:spLocks noChangeArrowheads="1"/>
          </p:cNvSpPr>
          <p:nvPr/>
        </p:nvSpPr>
        <p:spPr bwMode="auto">
          <a:xfrm>
            <a:off x="4975225" y="1844676"/>
            <a:ext cx="3352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449263" fontAlgn="base">
              <a:spcBef>
                <a:spcPct val="0"/>
              </a:spcBef>
              <a:spcAft>
                <a:spcPct val="0"/>
              </a:spcAft>
              <a:buClr>
                <a:srgbClr val="663300"/>
              </a:buClr>
            </a:pPr>
            <a:r>
              <a:rPr lang="es-ES_tradnl" altLang="es-CO" sz="2400">
                <a:solidFill>
                  <a:srgbClr val="000000"/>
                </a:solidFill>
                <a:latin typeface="Arial" panose="020B0604020202020204" pitchFamily="34" charset="0"/>
                <a:ea typeface="ＭＳ Ｐゴシック" panose="020B0600070205080204" pitchFamily="34" charset="-128"/>
              </a:rPr>
              <a:t>1.) Remplazo periódico</a:t>
            </a:r>
          </a:p>
        </p:txBody>
      </p:sp>
      <p:sp>
        <p:nvSpPr>
          <p:cNvPr id="40965" name="Rectangle 12">
            <a:extLst>
              <a:ext uri="{FF2B5EF4-FFF2-40B4-BE49-F238E27FC236}">
                <a16:creationId xmlns:a16="http://schemas.microsoft.com/office/drawing/2014/main" id="{48F31C14-F63A-4E6A-A60C-FE6D81A1783F}"/>
              </a:ext>
            </a:extLst>
          </p:cNvPr>
          <p:cNvSpPr>
            <a:spLocks noChangeArrowheads="1"/>
          </p:cNvSpPr>
          <p:nvPr/>
        </p:nvSpPr>
        <p:spPr bwMode="auto">
          <a:xfrm>
            <a:off x="5014913" y="2420938"/>
            <a:ext cx="5257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49263" fontAlgn="base">
              <a:spcBef>
                <a:spcPct val="0"/>
              </a:spcBef>
              <a:spcAft>
                <a:spcPct val="0"/>
              </a:spcAft>
              <a:buClr>
                <a:srgbClr val="663300"/>
              </a:buClr>
            </a:pPr>
            <a:r>
              <a:rPr lang="es-ES_tradnl" altLang="es-CO" sz="2400">
                <a:solidFill>
                  <a:srgbClr val="000000"/>
                </a:solidFill>
                <a:latin typeface="Arial" panose="020B0604020202020204" pitchFamily="34" charset="0"/>
                <a:ea typeface="ＭＳ Ｐゴシック" panose="020B0600070205080204" pitchFamily="34" charset="-128"/>
              </a:rPr>
              <a:t>2. ) Sellar los guantes al trabajar </a:t>
            </a:r>
          </a:p>
          <a:p>
            <a:pPr defTabSz="449263" fontAlgn="base">
              <a:spcBef>
                <a:spcPct val="0"/>
              </a:spcBef>
              <a:spcAft>
                <a:spcPct val="0"/>
              </a:spcAft>
              <a:buClr>
                <a:srgbClr val="663300"/>
              </a:buClr>
            </a:pPr>
            <a:r>
              <a:rPr lang="es-ES_tradnl" altLang="es-CO" sz="2400">
                <a:solidFill>
                  <a:srgbClr val="000000"/>
                </a:solidFill>
                <a:latin typeface="Arial" panose="020B0604020202020204" pitchFamily="34" charset="0"/>
                <a:ea typeface="ＭＳ Ｐゴシック" panose="020B0600070205080204" pitchFamily="34" charset="-128"/>
              </a:rPr>
              <a:t>   con sustancias químicas</a:t>
            </a:r>
          </a:p>
        </p:txBody>
      </p:sp>
      <p:sp>
        <p:nvSpPr>
          <p:cNvPr id="40966" name="Rectangle 13">
            <a:extLst>
              <a:ext uri="{FF2B5EF4-FFF2-40B4-BE49-F238E27FC236}">
                <a16:creationId xmlns:a16="http://schemas.microsoft.com/office/drawing/2014/main" id="{09BE6406-F1C2-4EFE-AEE7-D5D34379FC48}"/>
              </a:ext>
            </a:extLst>
          </p:cNvPr>
          <p:cNvSpPr>
            <a:spLocks noChangeArrowheads="1"/>
          </p:cNvSpPr>
          <p:nvPr/>
        </p:nvSpPr>
        <p:spPr bwMode="auto">
          <a:xfrm>
            <a:off x="5159376" y="3357563"/>
            <a:ext cx="42084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449263" fontAlgn="base">
              <a:spcBef>
                <a:spcPct val="0"/>
              </a:spcBef>
              <a:spcAft>
                <a:spcPct val="0"/>
              </a:spcAft>
              <a:buClr>
                <a:srgbClr val="663300"/>
              </a:buClr>
            </a:pPr>
            <a:r>
              <a:rPr lang="es-ES_tradnl" altLang="es-CO" sz="2400">
                <a:solidFill>
                  <a:srgbClr val="000000"/>
                </a:solidFill>
                <a:latin typeface="Arial" panose="020B0604020202020204" pitchFamily="34" charset="0"/>
                <a:ea typeface="ＭＳ Ｐゴシック" panose="020B0600070205080204" pitchFamily="34" charset="-128"/>
              </a:rPr>
              <a:t>3.) No usar guantes con </a:t>
            </a:r>
          </a:p>
          <a:p>
            <a:pPr defTabSz="449263" fontAlgn="base">
              <a:spcBef>
                <a:spcPct val="0"/>
              </a:spcBef>
              <a:spcAft>
                <a:spcPct val="0"/>
              </a:spcAft>
              <a:buClr>
                <a:srgbClr val="663300"/>
              </a:buClr>
            </a:pPr>
            <a:r>
              <a:rPr lang="es-ES_tradnl" altLang="es-CO" sz="2400">
                <a:solidFill>
                  <a:srgbClr val="000000"/>
                </a:solidFill>
                <a:latin typeface="Arial" panose="020B0604020202020204" pitchFamily="34" charset="0"/>
                <a:ea typeface="ＭＳ Ｐゴシック" panose="020B0600070205080204" pitchFamily="34" charset="-128"/>
              </a:rPr>
              <a:t>   maquinarias en movimiento</a:t>
            </a:r>
          </a:p>
        </p:txBody>
      </p:sp>
      <p:sp>
        <p:nvSpPr>
          <p:cNvPr id="40967" name="7 CuadroTexto">
            <a:extLst>
              <a:ext uri="{FF2B5EF4-FFF2-40B4-BE49-F238E27FC236}">
                <a16:creationId xmlns:a16="http://schemas.microsoft.com/office/drawing/2014/main" id="{DFF45B0B-3B71-4F91-BF5B-676870EC5FF7}"/>
              </a:ext>
            </a:extLst>
          </p:cNvPr>
          <p:cNvSpPr txBox="1">
            <a:spLocks noChangeArrowheads="1"/>
          </p:cNvSpPr>
          <p:nvPr/>
        </p:nvSpPr>
        <p:spPr bwMode="auto">
          <a:xfrm>
            <a:off x="1774825" y="4198939"/>
            <a:ext cx="87137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49263" fontAlgn="base">
              <a:spcBef>
                <a:spcPct val="0"/>
              </a:spcBef>
              <a:spcAft>
                <a:spcPct val="0"/>
              </a:spcAft>
            </a:pPr>
            <a:r>
              <a:rPr lang="es-CO" altLang="es-CO" sz="2400">
                <a:solidFill>
                  <a:srgbClr val="000000"/>
                </a:solidFill>
                <a:latin typeface="Arial" panose="020B0604020202020204" pitchFamily="34" charset="0"/>
                <a:ea typeface="ＭＳ Ｐゴシック" panose="020B0600070205080204" pitchFamily="34" charset="-128"/>
              </a:rPr>
              <a:t>4. Los guantes deben ser de la talla apropiada y mantenerse en buenas condiciones.</a:t>
            </a:r>
            <a:br>
              <a:rPr lang="es-CO" altLang="es-CO" sz="2400">
                <a:solidFill>
                  <a:srgbClr val="000000"/>
                </a:solidFill>
                <a:latin typeface="Arial" panose="020B0604020202020204" pitchFamily="34" charset="0"/>
                <a:ea typeface="ＭＳ Ｐゴシック" panose="020B0600070205080204" pitchFamily="34" charset="-128"/>
              </a:rPr>
            </a:br>
            <a:r>
              <a:rPr lang="es-CO" altLang="es-CO" sz="2400">
                <a:solidFill>
                  <a:srgbClr val="000000"/>
                </a:solidFill>
                <a:latin typeface="Arial" panose="020B0604020202020204" pitchFamily="34" charset="0"/>
                <a:ea typeface="ＭＳ Ｐゴシック" panose="020B0600070205080204" pitchFamily="34" charset="-128"/>
              </a:rPr>
              <a:t>5. No deben usarse guantes para trabajar con o cerca de maquinaria en movimiento o giratoria. </a:t>
            </a:r>
            <a:br>
              <a:rPr lang="es-CO" altLang="es-CO" sz="2400">
                <a:solidFill>
                  <a:srgbClr val="000000"/>
                </a:solidFill>
                <a:latin typeface="Arial" panose="020B0604020202020204" pitchFamily="34" charset="0"/>
                <a:ea typeface="ＭＳ Ｐゴシック" panose="020B0600070205080204" pitchFamily="34" charset="-128"/>
              </a:rPr>
            </a:br>
            <a:r>
              <a:rPr lang="es-CO" altLang="es-CO" sz="2400">
                <a:solidFill>
                  <a:srgbClr val="000000"/>
                </a:solidFill>
                <a:latin typeface="Arial" panose="020B0604020202020204" pitchFamily="34" charset="0"/>
                <a:ea typeface="ＭＳ Ｐゴシック" panose="020B0600070205080204" pitchFamily="34" charset="-128"/>
              </a:rPr>
              <a:t>6. Los guantes que se encuentran rotos, rasgados o impregnados con materiales químicos no deben ser utilizados.</a:t>
            </a:r>
          </a:p>
        </p:txBody>
      </p:sp>
      <p:pic>
        <p:nvPicPr>
          <p:cNvPr id="40968" name="Picture 3">
            <a:extLst>
              <a:ext uri="{FF2B5EF4-FFF2-40B4-BE49-F238E27FC236}">
                <a16:creationId xmlns:a16="http://schemas.microsoft.com/office/drawing/2014/main" id="{4E534013-94EB-4937-AB73-E718B3053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5" y="1484314"/>
            <a:ext cx="2038350"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a:extLst>
              <a:ext uri="{FF2B5EF4-FFF2-40B4-BE49-F238E27FC236}">
                <a16:creationId xmlns:a16="http://schemas.microsoft.com/office/drawing/2014/main" id="{0E20BB86-8E80-4598-8A72-80EF9FADF854}"/>
              </a:ext>
            </a:extLst>
          </p:cNvPr>
          <p:cNvSpPr>
            <a:spLocks noGrp="1"/>
          </p:cNvSpPr>
          <p:nvPr>
            <p:ph type="title"/>
          </p:nvPr>
        </p:nvSpPr>
        <p:spPr/>
        <p:txBody>
          <a:bodyPr/>
          <a:lstStyle/>
          <a:p>
            <a:pPr algn="ctr">
              <a:defRPr/>
            </a:pPr>
            <a:r>
              <a:rPr lang="es-CO" b="1" kern="1200" dirty="0">
                <a:latin typeface="Bookman Old Style" pitchFamily="18" charset="0"/>
                <a:ea typeface="+mj-ea"/>
              </a:rPr>
              <a:t>GUANTES DE CUERDO</a:t>
            </a:r>
          </a:p>
        </p:txBody>
      </p:sp>
      <p:pic>
        <p:nvPicPr>
          <p:cNvPr id="41987" name="Imagen 4">
            <a:extLst>
              <a:ext uri="{FF2B5EF4-FFF2-40B4-BE49-F238E27FC236}">
                <a16:creationId xmlns:a16="http://schemas.microsoft.com/office/drawing/2014/main" id="{BBB739CA-DB35-4467-A8C5-7F511166F1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100" t="24788" r="11414" b="16383"/>
          <a:stretch>
            <a:fillRect/>
          </a:stretch>
        </p:blipFill>
        <p:spPr bwMode="auto">
          <a:xfrm>
            <a:off x="2528889" y="1916114"/>
            <a:ext cx="713422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7DB5B8-9FB8-4892-9B01-B634865CB4D6}"/>
              </a:ext>
            </a:extLst>
          </p:cNvPr>
          <p:cNvSpPr>
            <a:spLocks noGrp="1"/>
          </p:cNvSpPr>
          <p:nvPr>
            <p:ph type="title"/>
          </p:nvPr>
        </p:nvSpPr>
        <p:spPr/>
        <p:txBody>
          <a:bodyPr/>
          <a:lstStyle/>
          <a:p>
            <a:pPr algn="ctr"/>
            <a:r>
              <a:rPr lang="es-ES" dirty="0"/>
              <a:t>GUANTES DE POLIURETANO</a:t>
            </a:r>
            <a:endParaRPr lang="es-CO" dirty="0"/>
          </a:p>
        </p:txBody>
      </p:sp>
      <p:sp>
        <p:nvSpPr>
          <p:cNvPr id="3" name="Marcador de contenido 2">
            <a:extLst>
              <a:ext uri="{FF2B5EF4-FFF2-40B4-BE49-F238E27FC236}">
                <a16:creationId xmlns:a16="http://schemas.microsoft.com/office/drawing/2014/main" id="{7E60D8B1-BCF8-489C-BBD8-F62F7CC7BEEA}"/>
              </a:ext>
            </a:extLst>
          </p:cNvPr>
          <p:cNvSpPr>
            <a:spLocks noGrp="1"/>
          </p:cNvSpPr>
          <p:nvPr>
            <p:ph idx="1"/>
          </p:nvPr>
        </p:nvSpPr>
        <p:spPr>
          <a:xfrm>
            <a:off x="1905001" y="5733257"/>
            <a:ext cx="8378825" cy="588169"/>
          </a:xfrm>
        </p:spPr>
        <p:txBody>
          <a:bodyPr/>
          <a:lstStyle/>
          <a:p>
            <a:pPr marL="0" indent="0" algn="just">
              <a:buNone/>
            </a:pPr>
            <a:r>
              <a:rPr lang="es-ES" sz="1800" dirty="0">
                <a:solidFill>
                  <a:schemeClr val="tx1"/>
                </a:solidFill>
              </a:rPr>
              <a:t>El poliuretano es un material plástico que se emplea en la fabricación de guantes de protección ideales para montajes, manipulaciones de piezas, para las industrias automovilísticas o electrónicas, entre muchas otras aplicaciones.</a:t>
            </a:r>
            <a:endParaRPr lang="es-CO" sz="1800" dirty="0">
              <a:solidFill>
                <a:schemeClr val="tx1"/>
              </a:solidFill>
            </a:endParaRPr>
          </a:p>
        </p:txBody>
      </p:sp>
      <p:pic>
        <p:nvPicPr>
          <p:cNvPr id="98306" name="Picture 2" descr="GUANTE EN POLIESTER/POLIURETANO “FLEXPOLY” REF: 11916707 | Empaquetaduras y  Empaques S.A.">
            <a:extLst>
              <a:ext uri="{FF2B5EF4-FFF2-40B4-BE49-F238E27FC236}">
                <a16:creationId xmlns:a16="http://schemas.microsoft.com/office/drawing/2014/main" id="{1DC6A1A3-0457-4AEC-8927-5D3253864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4212" y="1628800"/>
            <a:ext cx="3600400"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953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a:extLst>
              <a:ext uri="{FF2B5EF4-FFF2-40B4-BE49-F238E27FC236}">
                <a16:creationId xmlns:a16="http://schemas.microsoft.com/office/drawing/2014/main" id="{733CA9B0-85C3-41C7-AA4E-23255121CDB6}"/>
              </a:ext>
            </a:extLst>
          </p:cNvPr>
          <p:cNvSpPr>
            <a:spLocks noGrp="1"/>
          </p:cNvSpPr>
          <p:nvPr>
            <p:ph type="title"/>
          </p:nvPr>
        </p:nvSpPr>
        <p:spPr/>
        <p:txBody>
          <a:bodyPr/>
          <a:lstStyle/>
          <a:p>
            <a:pPr algn="ctr">
              <a:defRPr/>
            </a:pPr>
            <a:r>
              <a:rPr lang="es-CO" b="1" kern="1200" dirty="0">
                <a:latin typeface="Bookman Old Style" pitchFamily="18" charset="0"/>
                <a:ea typeface="+mj-ea"/>
              </a:rPr>
              <a:t>GUANTES ALUMINIZADOS</a:t>
            </a:r>
          </a:p>
        </p:txBody>
      </p:sp>
      <p:pic>
        <p:nvPicPr>
          <p:cNvPr id="43011" name="Imagen 4">
            <a:extLst>
              <a:ext uri="{FF2B5EF4-FFF2-40B4-BE49-F238E27FC236}">
                <a16:creationId xmlns:a16="http://schemas.microsoft.com/office/drawing/2014/main" id="{73975D15-E252-4351-8C73-39DC0869F1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541" t="26189" r="12201" b="9381"/>
          <a:stretch>
            <a:fillRect/>
          </a:stretch>
        </p:blipFill>
        <p:spPr bwMode="auto">
          <a:xfrm>
            <a:off x="2711450" y="1844675"/>
            <a:ext cx="659765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a:extLst>
              <a:ext uri="{FF2B5EF4-FFF2-40B4-BE49-F238E27FC236}">
                <a16:creationId xmlns:a16="http://schemas.microsoft.com/office/drawing/2014/main" id="{69544D45-0411-4D58-AFDA-61ACF1C50F5E}"/>
              </a:ext>
            </a:extLst>
          </p:cNvPr>
          <p:cNvSpPr>
            <a:spLocks noGrp="1"/>
          </p:cNvSpPr>
          <p:nvPr>
            <p:ph type="title"/>
          </p:nvPr>
        </p:nvSpPr>
        <p:spPr/>
        <p:txBody>
          <a:bodyPr/>
          <a:lstStyle/>
          <a:p>
            <a:pPr algn="ctr">
              <a:defRPr/>
            </a:pPr>
            <a:r>
              <a:rPr lang="es-CO" b="1" kern="1200" dirty="0">
                <a:latin typeface="Bookman Old Style" pitchFamily="18" charset="0"/>
                <a:ea typeface="+mj-ea"/>
              </a:rPr>
              <a:t>GUANTES DIELÉCTRICOS</a:t>
            </a:r>
          </a:p>
        </p:txBody>
      </p:sp>
      <p:pic>
        <p:nvPicPr>
          <p:cNvPr id="44035" name="Imagen 4">
            <a:extLst>
              <a:ext uri="{FF2B5EF4-FFF2-40B4-BE49-F238E27FC236}">
                <a16:creationId xmlns:a16="http://schemas.microsoft.com/office/drawing/2014/main" id="{466D8770-CE7D-4C54-A0B2-27FC6D39B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100" t="34593" r="10626" b="9381"/>
          <a:stretch>
            <a:fillRect/>
          </a:stretch>
        </p:blipFill>
        <p:spPr bwMode="auto">
          <a:xfrm>
            <a:off x="2190751" y="1916114"/>
            <a:ext cx="7859713"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a:extLst>
              <a:ext uri="{FF2B5EF4-FFF2-40B4-BE49-F238E27FC236}">
                <a16:creationId xmlns:a16="http://schemas.microsoft.com/office/drawing/2014/main" id="{094EFC8E-9604-416F-8446-CE2B4EB05802}"/>
              </a:ext>
            </a:extLst>
          </p:cNvPr>
          <p:cNvSpPr>
            <a:spLocks noGrp="1"/>
          </p:cNvSpPr>
          <p:nvPr>
            <p:ph type="title"/>
          </p:nvPr>
        </p:nvSpPr>
        <p:spPr/>
        <p:txBody>
          <a:bodyPr/>
          <a:lstStyle/>
          <a:p>
            <a:pPr algn="ctr">
              <a:defRPr/>
            </a:pPr>
            <a:r>
              <a:rPr lang="es-CO" b="1" kern="1200" dirty="0">
                <a:latin typeface="Bookman Old Style" pitchFamily="18" charset="0"/>
                <a:ea typeface="+mj-ea"/>
              </a:rPr>
              <a:t>GUANTES DE MALLA</a:t>
            </a:r>
          </a:p>
        </p:txBody>
      </p:sp>
      <p:pic>
        <p:nvPicPr>
          <p:cNvPr id="45059" name="Imagen 5">
            <a:extLst>
              <a:ext uri="{FF2B5EF4-FFF2-40B4-BE49-F238E27FC236}">
                <a16:creationId xmlns:a16="http://schemas.microsoft.com/office/drawing/2014/main" id="{EA3DCEE2-8BD8-4E0B-90F4-CD7B8FE1F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1100" t="33192" r="10626" b="9381"/>
          <a:stretch>
            <a:fillRect/>
          </a:stretch>
        </p:blipFill>
        <p:spPr bwMode="auto">
          <a:xfrm>
            <a:off x="2117726" y="1773239"/>
            <a:ext cx="8188325"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6FE886CC-F0A4-4E08-9E5C-6D354AFF79CA}"/>
              </a:ext>
            </a:extLst>
          </p:cNvPr>
          <p:cNvSpPr>
            <a:spLocks noGrp="1"/>
          </p:cNvSpPr>
          <p:nvPr>
            <p:ph idx="1"/>
          </p:nvPr>
        </p:nvSpPr>
        <p:spPr>
          <a:xfrm>
            <a:off x="2955131" y="5805265"/>
            <a:ext cx="6278563" cy="504825"/>
          </a:xfrm>
        </p:spPr>
        <p:txBody>
          <a:bodyPr/>
          <a:lstStyle/>
          <a:p>
            <a:pPr marL="0" indent="0" algn="ctr">
              <a:buNone/>
              <a:defRPr/>
            </a:pPr>
            <a:r>
              <a:rPr lang="es-ES" sz="2000" kern="1200" dirty="0">
                <a:solidFill>
                  <a:schemeClr val="tx1"/>
                </a:solidFill>
                <a:ea typeface="+mn-ea"/>
              </a:rPr>
              <a:t>Para manipulación de productos químicos</a:t>
            </a:r>
            <a:endParaRPr lang="es-CO" sz="2000" kern="1200" dirty="0">
              <a:solidFill>
                <a:schemeClr val="tx1"/>
              </a:solidFill>
              <a:ea typeface="+mn-ea"/>
            </a:endParaRPr>
          </a:p>
        </p:txBody>
      </p:sp>
      <p:sp>
        <p:nvSpPr>
          <p:cNvPr id="4" name="1 Título">
            <a:extLst>
              <a:ext uri="{FF2B5EF4-FFF2-40B4-BE49-F238E27FC236}">
                <a16:creationId xmlns:a16="http://schemas.microsoft.com/office/drawing/2014/main" id="{E8116FE0-8216-4126-8F63-960527D50A46}"/>
              </a:ext>
            </a:extLst>
          </p:cNvPr>
          <p:cNvSpPr>
            <a:spLocks noGrp="1"/>
          </p:cNvSpPr>
          <p:nvPr>
            <p:ph type="title"/>
          </p:nvPr>
        </p:nvSpPr>
        <p:spPr/>
        <p:txBody>
          <a:bodyPr/>
          <a:lstStyle/>
          <a:p>
            <a:pPr algn="ctr">
              <a:defRPr/>
            </a:pPr>
            <a:r>
              <a:rPr lang="es-CO" b="1" kern="1200" dirty="0">
                <a:latin typeface="Bookman Old Style" pitchFamily="18" charset="0"/>
                <a:ea typeface="+mj-ea"/>
              </a:rPr>
              <a:t>GUANTES DE NITRILO</a:t>
            </a:r>
          </a:p>
        </p:txBody>
      </p:sp>
      <p:pic>
        <p:nvPicPr>
          <p:cNvPr id="46085" name="Picture 5" descr="Guantes, nitrilo, seguridad laboral, protección.">
            <a:extLst>
              <a:ext uri="{FF2B5EF4-FFF2-40B4-BE49-F238E27FC236}">
                <a16:creationId xmlns:a16="http://schemas.microsoft.com/office/drawing/2014/main" id="{034FF8B9-2301-42D9-A19D-36A34B30BB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5800" y="1484784"/>
            <a:ext cx="3888432" cy="38884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a:extLst>
              <a:ext uri="{FF2B5EF4-FFF2-40B4-BE49-F238E27FC236}">
                <a16:creationId xmlns:a16="http://schemas.microsoft.com/office/drawing/2014/main" id="{F1CBDFE5-F3B9-4C14-BEC4-986EE6AE2581}"/>
              </a:ext>
            </a:extLst>
          </p:cNvPr>
          <p:cNvSpPr>
            <a:spLocks noGrp="1"/>
          </p:cNvSpPr>
          <p:nvPr>
            <p:ph idx="1"/>
          </p:nvPr>
        </p:nvSpPr>
        <p:spPr>
          <a:xfrm>
            <a:off x="1905000" y="5301208"/>
            <a:ext cx="8378825" cy="432842"/>
          </a:xfrm>
        </p:spPr>
        <p:txBody>
          <a:bodyPr/>
          <a:lstStyle/>
          <a:p>
            <a:pPr marL="0" indent="0">
              <a:buNone/>
              <a:defRPr/>
            </a:pPr>
            <a:r>
              <a:rPr lang="es-ES" sz="2000" kern="1200" dirty="0">
                <a:solidFill>
                  <a:schemeClr val="tx1"/>
                </a:solidFill>
                <a:ea typeface="+mn-ea"/>
              </a:rPr>
              <a:t>Están especialmente indicados para los sectores sanitario, industrial y alimentario.</a:t>
            </a:r>
            <a:endParaRPr lang="es-CO" sz="2000" kern="1200" dirty="0">
              <a:solidFill>
                <a:schemeClr val="tx1"/>
              </a:solidFill>
              <a:ea typeface="+mn-ea"/>
            </a:endParaRPr>
          </a:p>
        </p:txBody>
      </p:sp>
      <p:sp>
        <p:nvSpPr>
          <p:cNvPr id="4" name="1 Título">
            <a:extLst>
              <a:ext uri="{FF2B5EF4-FFF2-40B4-BE49-F238E27FC236}">
                <a16:creationId xmlns:a16="http://schemas.microsoft.com/office/drawing/2014/main" id="{65D2655B-A77A-4AE1-915E-C2FD04F34DD9}"/>
              </a:ext>
            </a:extLst>
          </p:cNvPr>
          <p:cNvSpPr>
            <a:spLocks noGrp="1"/>
          </p:cNvSpPr>
          <p:nvPr>
            <p:ph type="title"/>
          </p:nvPr>
        </p:nvSpPr>
        <p:spPr/>
        <p:txBody>
          <a:bodyPr/>
          <a:lstStyle/>
          <a:p>
            <a:pPr algn="ctr">
              <a:defRPr/>
            </a:pPr>
            <a:r>
              <a:rPr lang="es-CO" b="1" kern="1200" dirty="0">
                <a:latin typeface="Bookman Old Style" pitchFamily="18" charset="0"/>
                <a:ea typeface="+mj-ea"/>
              </a:rPr>
              <a:t>GUANTES DE LÁTEX</a:t>
            </a:r>
          </a:p>
        </p:txBody>
      </p:sp>
      <p:pic>
        <p:nvPicPr>
          <p:cNvPr id="47112" name="Picture 8" descr="Son los guantes desechables de nitrilo y látex buena defensa contra el  coronavirus?">
            <a:extLst>
              <a:ext uri="{FF2B5EF4-FFF2-40B4-BE49-F238E27FC236}">
                <a16:creationId xmlns:a16="http://schemas.microsoft.com/office/drawing/2014/main" id="{A3B89417-CBBB-4F5D-BFD5-D5EBA67FAC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8071" y="1772816"/>
            <a:ext cx="4735859" cy="28776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
            <a:extLst>
              <a:ext uri="{FF2B5EF4-FFF2-40B4-BE49-F238E27FC236}">
                <a16:creationId xmlns:a16="http://schemas.microsoft.com/office/drawing/2014/main" id="{D133E388-56DF-4F85-964E-E58FC815D2E0}"/>
              </a:ext>
            </a:extLst>
          </p:cNvPr>
          <p:cNvSpPr>
            <a:spLocks noChangeArrowheads="1"/>
          </p:cNvSpPr>
          <p:nvPr/>
        </p:nvSpPr>
        <p:spPr bwMode="auto">
          <a:xfrm>
            <a:off x="3733800" y="188913"/>
            <a:ext cx="4800600" cy="1143000"/>
          </a:xfrm>
          <a:prstGeom prst="rect">
            <a:avLst/>
          </a:prstGeom>
          <a:gradFill rotWithShape="0">
            <a:gsLst>
              <a:gs pos="0">
                <a:schemeClr val="hlink"/>
              </a:gs>
              <a:gs pos="100000">
                <a:srgbClr val="FFCC00"/>
              </a:gs>
            </a:gsLst>
            <a:path path="shape">
              <a:fillToRect l="50000" t="50000" r="50000" b="50000"/>
            </a:path>
          </a:gradFill>
          <a:ln w="9525">
            <a:solidFill>
              <a:srgbClr val="FFFF99"/>
            </a:solidFill>
            <a:miter lim="800000"/>
            <a:headEnd/>
            <a:tailEnd/>
          </a:ln>
          <a:effectLst>
            <a:outerShdw dist="53882" dir="2700000" algn="ctr" rotWithShape="0">
              <a:srgbClr val="9999FF"/>
            </a:outerShdw>
          </a:effectLst>
        </p:spPr>
        <p:txBody>
          <a:bodyPr wrap="none" anchor="ctr"/>
          <a:lstStyle/>
          <a:p>
            <a:pPr defTabSz="449263" fontAlgn="base">
              <a:spcBef>
                <a:spcPct val="0"/>
              </a:spcBef>
              <a:spcAft>
                <a:spcPct val="0"/>
              </a:spcAft>
            </a:pPr>
            <a:endParaRPr lang="es-CO" altLang="es-CO" sz="2400">
              <a:solidFill>
                <a:srgbClr val="FFFFFF"/>
              </a:solidFill>
              <a:latin typeface="Arial" panose="020B0604020202020204" pitchFamily="34" charset="0"/>
              <a:ea typeface="ＭＳ Ｐゴシック" panose="020B0600070205080204" pitchFamily="34" charset="-128"/>
            </a:endParaRPr>
          </a:p>
        </p:txBody>
      </p:sp>
      <p:sp>
        <p:nvSpPr>
          <p:cNvPr id="48131" name="Text Box 3">
            <a:extLst>
              <a:ext uri="{FF2B5EF4-FFF2-40B4-BE49-F238E27FC236}">
                <a16:creationId xmlns:a16="http://schemas.microsoft.com/office/drawing/2014/main" id="{09E130FB-91F5-4C74-B440-13B7F660027F}"/>
              </a:ext>
            </a:extLst>
          </p:cNvPr>
          <p:cNvSpPr txBox="1">
            <a:spLocks noChangeArrowheads="1"/>
          </p:cNvSpPr>
          <p:nvPr/>
        </p:nvSpPr>
        <p:spPr bwMode="auto">
          <a:xfrm>
            <a:off x="3108325" y="193040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defTabSz="449263" fontAlgn="base">
              <a:spcBef>
                <a:spcPct val="0"/>
              </a:spcBef>
              <a:spcAft>
                <a:spcPct val="0"/>
              </a:spcAft>
            </a:pPr>
            <a:endParaRPr lang="es-ES_tradnl" altLang="es-CO" sz="3200">
              <a:solidFill>
                <a:srgbClr val="0033CC"/>
              </a:solidFill>
              <a:latin typeface="Arial" panose="020B0604020202020204" pitchFamily="34" charset="0"/>
              <a:ea typeface="ＭＳ Ｐゴシック" panose="020B0600070205080204" pitchFamily="34" charset="-128"/>
            </a:endParaRPr>
          </a:p>
        </p:txBody>
      </p:sp>
      <p:graphicFrame>
        <p:nvGraphicFramePr>
          <p:cNvPr id="48132" name="Object 1024">
            <a:extLst>
              <a:ext uri="{FF2B5EF4-FFF2-40B4-BE49-F238E27FC236}">
                <a16:creationId xmlns:a16="http://schemas.microsoft.com/office/drawing/2014/main" id="{4877B48D-7CE3-4EBB-9F0D-CEB213E18FB8}"/>
              </a:ext>
            </a:extLst>
          </p:cNvPr>
          <p:cNvGraphicFramePr>
            <a:graphicFrameLocks noChangeAspect="1"/>
          </p:cNvGraphicFramePr>
          <p:nvPr/>
        </p:nvGraphicFramePr>
        <p:xfrm>
          <a:off x="1828800" y="1557338"/>
          <a:ext cx="3733800" cy="2209800"/>
        </p:xfrm>
        <a:graphic>
          <a:graphicData uri="http://schemas.openxmlformats.org/presentationml/2006/ole">
            <mc:AlternateContent xmlns:mc="http://schemas.openxmlformats.org/markup-compatibility/2006">
              <mc:Choice xmlns:v="urn:schemas-microsoft-com:vml" Requires="v">
                <p:oleObj spid="_x0000_s6149" name="Imagen" r:id="rId4" imgW="4595813" imgH="2538413" progId="MS_ClipArt_Gallery.2">
                  <p:embed/>
                </p:oleObj>
              </mc:Choice>
              <mc:Fallback>
                <p:oleObj name="Imagen" r:id="rId4" imgW="4595813" imgH="2538413" progId="MS_ClipArt_Gallery.2">
                  <p:embed/>
                  <p:pic>
                    <p:nvPicPr>
                      <p:cNvPr id="48132" name="Object 1024">
                        <a:extLst>
                          <a:ext uri="{FF2B5EF4-FFF2-40B4-BE49-F238E27FC236}">
                            <a16:creationId xmlns:a16="http://schemas.microsoft.com/office/drawing/2014/main" id="{4877B48D-7CE3-4EBB-9F0D-CEB213E18F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1557338"/>
                        <a:ext cx="3733800" cy="220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Text Box 5">
            <a:extLst>
              <a:ext uri="{FF2B5EF4-FFF2-40B4-BE49-F238E27FC236}">
                <a16:creationId xmlns:a16="http://schemas.microsoft.com/office/drawing/2014/main" id="{10212E9C-D437-4BA5-AF49-8F6C4B08FCEB}"/>
              </a:ext>
            </a:extLst>
          </p:cNvPr>
          <p:cNvSpPr txBox="1">
            <a:spLocks noChangeArrowheads="1"/>
          </p:cNvSpPr>
          <p:nvPr/>
        </p:nvSpPr>
        <p:spPr bwMode="auto">
          <a:xfrm>
            <a:off x="5638801" y="1752600"/>
            <a:ext cx="4849813"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defTabSz="449263" fontAlgn="base">
              <a:spcBef>
                <a:spcPct val="0"/>
              </a:spcBef>
              <a:spcAft>
                <a:spcPct val="0"/>
              </a:spcAft>
              <a:buClr>
                <a:srgbClr val="FF6600"/>
              </a:buClr>
            </a:pPr>
            <a:r>
              <a:rPr lang="es-ES_tradnl" altLang="es-CO" sz="3200" b="1" u="sng">
                <a:solidFill>
                  <a:srgbClr val="FF0000"/>
                </a:solidFill>
                <a:latin typeface="Arial" panose="020B0604020202020204" pitchFamily="34" charset="0"/>
                <a:ea typeface="ＭＳ Ｐゴシック" panose="020B0600070205080204" pitchFamily="34" charset="-128"/>
              </a:rPr>
              <a:t>RIESGOS</a:t>
            </a:r>
            <a:r>
              <a:rPr lang="es-ES_tradnl" altLang="es-CO" sz="3200">
                <a:solidFill>
                  <a:srgbClr val="000000"/>
                </a:solidFill>
                <a:latin typeface="Arial" panose="020B0604020202020204" pitchFamily="34" charset="0"/>
                <a:ea typeface="ＭＳ Ｐゴシック" panose="020B0600070205080204" pitchFamily="34" charset="-128"/>
              </a:rPr>
              <a:t>:</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1.) Caída de objetos </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    pesados </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2.) Atrapamiento por </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    objetos que ruedan</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3.) Objetos punzantes </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    en el piso</a:t>
            </a:r>
          </a:p>
          <a:p>
            <a:pPr defTabSz="449263" fontAlgn="base">
              <a:spcBef>
                <a:spcPct val="0"/>
              </a:spcBef>
              <a:spcAft>
                <a:spcPct val="0"/>
              </a:spcAft>
              <a:buClr>
                <a:srgbClr val="FF6600"/>
              </a:buClr>
            </a:pPr>
            <a:r>
              <a:rPr lang="es-ES_tradnl" altLang="es-CO" sz="3200">
                <a:solidFill>
                  <a:srgbClr val="000000"/>
                </a:solidFill>
                <a:latin typeface="Arial" panose="020B0604020202020204" pitchFamily="34" charset="0"/>
                <a:ea typeface="ＭＳ Ｐゴシック" panose="020B0600070205080204" pitchFamily="34" charset="-128"/>
              </a:rPr>
              <a:t>4. ) Riesgos eléctricos</a:t>
            </a:r>
          </a:p>
        </p:txBody>
      </p:sp>
      <p:sp>
        <p:nvSpPr>
          <p:cNvPr id="48134" name="WordArt 9">
            <a:extLst>
              <a:ext uri="{FF2B5EF4-FFF2-40B4-BE49-F238E27FC236}">
                <a16:creationId xmlns:a16="http://schemas.microsoft.com/office/drawing/2014/main" id="{14E8CC4A-64AB-4A8C-800B-FBDB65FA646E}"/>
              </a:ext>
            </a:extLst>
          </p:cNvPr>
          <p:cNvSpPr>
            <a:spLocks noChangeArrowheads="1" noChangeShapeType="1" noTextEdit="1"/>
          </p:cNvSpPr>
          <p:nvPr/>
        </p:nvSpPr>
        <p:spPr bwMode="auto">
          <a:xfrm rot="160311">
            <a:off x="5029200" y="242889"/>
            <a:ext cx="2362200" cy="941387"/>
          </a:xfrm>
          <a:prstGeom prst="rect">
            <a:avLst/>
          </a:prstGeom>
        </p:spPr>
        <p:txBody>
          <a:bodyPr wrap="none" fromWordArt="1">
            <a:prstTxWarp prst="textSlantUp">
              <a:avLst>
                <a:gd name="adj" fmla="val 32056"/>
              </a:avLst>
            </a:prstTxWarp>
          </a:bodyPr>
          <a:lstStyle/>
          <a:p>
            <a:pPr defTabSz="449263" eaLnBrk="0" fontAlgn="base" hangingPunct="0">
              <a:spcBef>
                <a:spcPct val="0"/>
              </a:spcBef>
              <a:spcAft>
                <a:spcPct val="0"/>
              </a:spcAft>
            </a:pPr>
            <a:r>
              <a:rPr lang="es-CO" sz="3600" kern="10">
                <a:ln w="9525">
                  <a:solidFill>
                    <a:srgbClr val="008000"/>
                  </a:solidFill>
                  <a:round/>
                  <a:headEnd/>
                  <a:tailEnd/>
                </a:ln>
                <a:solidFill>
                  <a:srgbClr val="003300"/>
                </a:solidFill>
                <a:effectLst>
                  <a:outerShdw dist="53882" dir="2700000" algn="ctr" rotWithShape="0">
                    <a:srgbClr val="9999FF"/>
                  </a:outerShdw>
                </a:effectLst>
                <a:latin typeface="Comic Sans MS" panose="030F0702030302020204" pitchFamily="66" charset="0"/>
                <a:ea typeface="ＭＳ Ｐゴシック" panose="020B0600070205080204" pitchFamily="34" charset="-128"/>
              </a:rPr>
              <a:t>PIES</a:t>
            </a:r>
          </a:p>
        </p:txBody>
      </p:sp>
      <p:pic>
        <p:nvPicPr>
          <p:cNvPr id="48135" name="Picture 5193716" descr="S17Picture 5193716">
            <a:extLst>
              <a:ext uri="{FF2B5EF4-FFF2-40B4-BE49-F238E27FC236}">
                <a16:creationId xmlns:a16="http://schemas.microsoft.com/office/drawing/2014/main" id="{5A9DCC5D-6E29-45FB-B227-E073815F76F8}"/>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2208213" y="3856038"/>
            <a:ext cx="1733550" cy="295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1 Título">
            <a:extLst>
              <a:ext uri="{FF2B5EF4-FFF2-40B4-BE49-F238E27FC236}">
                <a16:creationId xmlns:a16="http://schemas.microsoft.com/office/drawing/2014/main" id="{9B6BF9A3-3224-43C8-B37B-E680F2233321}"/>
              </a:ext>
            </a:extLst>
          </p:cNvPr>
          <p:cNvSpPr>
            <a:spLocks noGrp="1" noChangeArrowheads="1"/>
          </p:cNvSpPr>
          <p:nvPr>
            <p:ph type="title"/>
          </p:nvPr>
        </p:nvSpPr>
        <p:spPr>
          <a:xfrm>
            <a:off x="1524000" y="228600"/>
            <a:ext cx="9144000" cy="1066800"/>
          </a:xfrm>
        </p:spPr>
        <p:txBody>
          <a:bodyPr/>
          <a:lstStyle/>
          <a:p>
            <a:pPr algn="ctr"/>
            <a:r>
              <a:rPr lang="es-CO" altLang="es-CO" b="1" dirty="0"/>
              <a:t>BOTAS DE CAUCHO O ZAPATOS DE CUERO CON PUNTERA DE ACERO O DIELÉCTRICAS</a:t>
            </a:r>
          </a:p>
        </p:txBody>
      </p:sp>
      <p:pic>
        <p:nvPicPr>
          <p:cNvPr id="49155" name="Picture 1">
            <a:extLst>
              <a:ext uri="{FF2B5EF4-FFF2-40B4-BE49-F238E27FC236}">
                <a16:creationId xmlns:a16="http://schemas.microsoft.com/office/drawing/2014/main" id="{AD080D66-51AE-4F44-9C0F-A5E1C249C5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19289" y="2881314"/>
            <a:ext cx="4268787" cy="3284537"/>
          </a:xfrm>
          <a:noFill/>
        </p:spPr>
      </p:pic>
      <p:pic>
        <p:nvPicPr>
          <p:cNvPr id="49156" name="Picture 2">
            <a:extLst>
              <a:ext uri="{FF2B5EF4-FFF2-40B4-BE49-F238E27FC236}">
                <a16:creationId xmlns:a16="http://schemas.microsoft.com/office/drawing/2014/main" id="{BC4A0482-E776-4B9E-9101-5973A2B03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1900" y="3213100"/>
            <a:ext cx="338455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7" name="Picture 5">
            <a:extLst>
              <a:ext uri="{FF2B5EF4-FFF2-40B4-BE49-F238E27FC236}">
                <a16:creationId xmlns:a16="http://schemas.microsoft.com/office/drawing/2014/main" id="{6B73A216-8862-4D92-93F1-091AAB2CC6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5289" y="1450975"/>
            <a:ext cx="3781425"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8" name="Picture 2">
            <a:extLst>
              <a:ext uri="{FF2B5EF4-FFF2-40B4-BE49-F238E27FC236}">
                <a16:creationId xmlns:a16="http://schemas.microsoft.com/office/drawing/2014/main" id="{6BFDC117-3B0C-4D82-B497-21ACBF8AB5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3564" y="1700214"/>
            <a:ext cx="2016125"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CE309C-46DB-4EAF-8D89-90DEEF050FAB}"/>
              </a:ext>
            </a:extLst>
          </p:cNvPr>
          <p:cNvSpPr>
            <a:spLocks noGrp="1"/>
          </p:cNvSpPr>
          <p:nvPr>
            <p:ph type="title"/>
          </p:nvPr>
        </p:nvSpPr>
        <p:spPr/>
        <p:txBody>
          <a:bodyPr/>
          <a:lstStyle/>
          <a:p>
            <a:pPr algn="ctr"/>
            <a:r>
              <a:rPr lang="es-ES" dirty="0"/>
              <a:t>VESTIMENTA</a:t>
            </a:r>
            <a:endParaRPr lang="es-CO" dirty="0"/>
          </a:p>
        </p:txBody>
      </p:sp>
      <p:pic>
        <p:nvPicPr>
          <p:cNvPr id="4" name="Imagen 3">
            <a:extLst>
              <a:ext uri="{FF2B5EF4-FFF2-40B4-BE49-F238E27FC236}">
                <a16:creationId xmlns:a16="http://schemas.microsoft.com/office/drawing/2014/main" id="{BD61B8E5-2E7B-4FD4-9FAE-E49514E08028}"/>
              </a:ext>
            </a:extLst>
          </p:cNvPr>
          <p:cNvPicPr>
            <a:picLocks noChangeAspect="1"/>
          </p:cNvPicPr>
          <p:nvPr/>
        </p:nvPicPr>
        <p:blipFill rotWithShape="1">
          <a:blip r:embed="rId2"/>
          <a:srcRect l="32675" t="16384" r="9838" b="7980"/>
          <a:stretch/>
        </p:blipFill>
        <p:spPr>
          <a:xfrm>
            <a:off x="2639616" y="1772816"/>
            <a:ext cx="6408712" cy="4740692"/>
          </a:xfrm>
          <a:prstGeom prst="rect">
            <a:avLst/>
          </a:prstGeom>
        </p:spPr>
      </p:pic>
    </p:spTree>
    <p:extLst>
      <p:ext uri="{BB962C8B-B14F-4D97-AF65-F5344CB8AC3E}">
        <p14:creationId xmlns:p14="http://schemas.microsoft.com/office/powerpoint/2010/main" val="6291950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4C9FD9-A902-4A90-B6CF-8AB8F0F24B41}"/>
              </a:ext>
            </a:extLst>
          </p:cNvPr>
          <p:cNvSpPr>
            <a:spLocks noGrp="1"/>
          </p:cNvSpPr>
          <p:nvPr>
            <p:ph type="title"/>
          </p:nvPr>
        </p:nvSpPr>
        <p:spPr/>
        <p:txBody>
          <a:bodyPr/>
          <a:lstStyle/>
          <a:p>
            <a:pPr algn="ctr"/>
            <a:r>
              <a:rPr lang="es-ES" dirty="0"/>
              <a:t>TRAJES</a:t>
            </a:r>
            <a:endParaRPr lang="es-CO" dirty="0"/>
          </a:p>
        </p:txBody>
      </p:sp>
      <p:pic>
        <p:nvPicPr>
          <p:cNvPr id="4" name="Imagen 3">
            <a:extLst>
              <a:ext uri="{FF2B5EF4-FFF2-40B4-BE49-F238E27FC236}">
                <a16:creationId xmlns:a16="http://schemas.microsoft.com/office/drawing/2014/main" id="{E870E35C-DB8B-4BD3-8D3D-B4FF546C1C32}"/>
              </a:ext>
            </a:extLst>
          </p:cNvPr>
          <p:cNvPicPr>
            <a:picLocks noChangeAspect="1"/>
          </p:cNvPicPr>
          <p:nvPr/>
        </p:nvPicPr>
        <p:blipFill rotWithShape="1">
          <a:blip r:embed="rId2"/>
          <a:srcRect l="32675" t="23386" r="9838" b="10782"/>
          <a:stretch/>
        </p:blipFill>
        <p:spPr>
          <a:xfrm>
            <a:off x="2514231" y="1628800"/>
            <a:ext cx="7163538" cy="4612142"/>
          </a:xfrm>
          <a:prstGeom prst="rect">
            <a:avLst/>
          </a:prstGeom>
        </p:spPr>
      </p:pic>
    </p:spTree>
    <p:extLst>
      <p:ext uri="{BB962C8B-B14F-4D97-AF65-F5344CB8AC3E}">
        <p14:creationId xmlns:p14="http://schemas.microsoft.com/office/powerpoint/2010/main" val="17718366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293F10-CEA6-4682-BEE7-A37ADB43F7EF}"/>
              </a:ext>
            </a:extLst>
          </p:cNvPr>
          <p:cNvSpPr>
            <a:spLocks noGrp="1"/>
          </p:cNvSpPr>
          <p:nvPr>
            <p:ph type="title"/>
          </p:nvPr>
        </p:nvSpPr>
        <p:spPr/>
        <p:txBody>
          <a:bodyPr/>
          <a:lstStyle/>
          <a:p>
            <a:pPr algn="ctr"/>
            <a:r>
              <a:rPr lang="es-ES" dirty="0"/>
              <a:t>PROTECCIÓN CONTRA CAÍDAS</a:t>
            </a:r>
            <a:endParaRPr lang="es-CO" dirty="0"/>
          </a:p>
        </p:txBody>
      </p:sp>
      <p:pic>
        <p:nvPicPr>
          <p:cNvPr id="99330" name="Picture 2" descr="EQUIPOS PARA PROTECCION CONTRA CAIDAS">
            <a:extLst>
              <a:ext uri="{FF2B5EF4-FFF2-40B4-BE49-F238E27FC236}">
                <a16:creationId xmlns:a16="http://schemas.microsoft.com/office/drawing/2014/main" id="{0DDCDDF4-32A3-414E-A1B8-F1E850F86C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736" y="2420888"/>
            <a:ext cx="4984554" cy="35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82353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353313F-01B0-443E-83D0-D3612A1D4C21}"/>
              </a:ext>
            </a:extLst>
          </p:cNvPr>
          <p:cNvSpPr>
            <a:spLocks noGrp="1" noChangeArrowheads="1"/>
          </p:cNvSpPr>
          <p:nvPr>
            <p:ph type="title" idx="4294967295"/>
          </p:nvPr>
        </p:nvSpPr>
        <p:spPr/>
        <p:txBody>
          <a:bodyPr vert="horz" wrap="square" lIns="91440" tIns="45720" rIns="91440" bIns="45720" numCol="1" anchor="b" anchorCtr="0" compatLnSpc="1">
            <a:prstTxWarp prst="textNoShape">
              <a:avLst/>
            </a:prstTxWarp>
          </a:bodyPr>
          <a:lstStyle/>
          <a:p>
            <a:pPr algn="ctr" eaLnBrk="1" hangingPunct="1"/>
            <a:r>
              <a:rPr lang="es-ES" altLang="es-CO" b="1">
                <a:latin typeface="Bookman Old Style" panose="02050604050505020204" pitchFamily="18" charset="0"/>
              </a:rPr>
              <a:t>CUANDO USARLO</a:t>
            </a:r>
            <a:r>
              <a:rPr lang="es-CO" altLang="es-CO" b="1">
                <a:latin typeface="Bookman Old Style" panose="02050604050505020204" pitchFamily="18" charset="0"/>
              </a:rPr>
              <a:t>S</a:t>
            </a:r>
            <a:r>
              <a:rPr lang="es-ES" altLang="es-CO" b="1">
                <a:latin typeface="Bookman Old Style" panose="02050604050505020204" pitchFamily="18" charset="0"/>
              </a:rPr>
              <a:t>?</a:t>
            </a:r>
          </a:p>
        </p:txBody>
      </p:sp>
      <p:sp>
        <p:nvSpPr>
          <p:cNvPr id="5123" name="Rectangle 3">
            <a:extLst>
              <a:ext uri="{FF2B5EF4-FFF2-40B4-BE49-F238E27FC236}">
                <a16:creationId xmlns:a16="http://schemas.microsoft.com/office/drawing/2014/main" id="{C4F26A6A-3999-4559-A441-2BF8FE007565}"/>
              </a:ext>
            </a:extLst>
          </p:cNvPr>
          <p:cNvSpPr>
            <a:spLocks noChangeArrowheads="1"/>
          </p:cNvSpPr>
          <p:nvPr/>
        </p:nvSpPr>
        <p:spPr bwMode="auto">
          <a:xfrm>
            <a:off x="1524000" y="1487488"/>
            <a:ext cx="9144000" cy="5110162"/>
          </a:xfrm>
          <a:prstGeom prst="rect">
            <a:avLst/>
          </a:prstGeom>
          <a:noFill/>
          <a:ln>
            <a:noFill/>
          </a:ln>
        </p:spPr>
        <p:txBody>
          <a:bodyPr anchor="ctr">
            <a:spAutoFit/>
          </a:bodyPr>
          <a:lstStyle/>
          <a:p>
            <a:pPr algn="just" defTabSz="449263" eaLnBrk="0" fontAlgn="base" hangingPunct="0">
              <a:spcBef>
                <a:spcPct val="0"/>
              </a:spcBef>
              <a:spcAft>
                <a:spcPts val="1200"/>
              </a:spcAft>
              <a:buClr>
                <a:srgbClr val="000000"/>
              </a:buClr>
              <a:buSzPct val="100000"/>
              <a:defRPr/>
            </a:pPr>
            <a:r>
              <a:rPr lang="es-CO" sz="2600" dirty="0">
                <a:solidFill>
                  <a:srgbClr val="1B418B"/>
                </a:solidFill>
                <a:latin typeface="Arial"/>
                <a:ea typeface="ＭＳ Ｐゴシック"/>
              </a:rPr>
              <a:t>Los EPP deben ser de uso individual y no intercambiable, aún cuando existan razones de higiene y practicidad que así lo aconsejen. Los equipos y elementos de protección personal, deben ser proporcionados a los trabajadores y utilizados por éstos, mientras se agotan  eliminación de los riesgos.</a:t>
            </a:r>
          </a:p>
          <a:p>
            <a:pPr algn="just" defTabSz="449263" eaLnBrk="0" fontAlgn="base" hangingPunct="0">
              <a:spcBef>
                <a:spcPct val="0"/>
              </a:spcBef>
              <a:spcAft>
                <a:spcPts val="1200"/>
              </a:spcAft>
              <a:buClr>
                <a:srgbClr val="000000"/>
              </a:buClr>
              <a:buSzPct val="100000"/>
              <a:defRPr/>
            </a:pPr>
            <a:r>
              <a:rPr lang="es-ES" sz="2600" dirty="0">
                <a:solidFill>
                  <a:srgbClr val="1B418B"/>
                </a:solidFill>
                <a:latin typeface="Arial"/>
                <a:ea typeface="ＭＳ Ｐゴシック"/>
              </a:rPr>
              <a:t>Los elementos de protección personal deberán utilizarse cuando existan riesgos para la seguridad o salud de los trabajadores que no hayan podido evitarse o limitarse suficientemente por métodos de control administrativos y/o de ingeniería.</a:t>
            </a:r>
          </a:p>
          <a:p>
            <a:pPr defTabSz="449263" eaLnBrk="0" fontAlgn="base" hangingPunct="0">
              <a:spcBef>
                <a:spcPct val="0"/>
              </a:spcBef>
              <a:spcAft>
                <a:spcPts val="1200"/>
              </a:spcAft>
              <a:buClr>
                <a:srgbClr val="000000"/>
              </a:buClr>
              <a:buSzPct val="100000"/>
              <a:defRPr/>
            </a:pPr>
            <a:endParaRPr lang="es-CO" sz="2000" dirty="0">
              <a:solidFill>
                <a:srgbClr val="1B418B"/>
              </a:solidFill>
              <a:latin typeface="Arial"/>
              <a:ea typeface="ＭＳ Ｐゴシック"/>
            </a:endParaRPr>
          </a:p>
        </p:txBody>
      </p:sp>
      <p:sp>
        <p:nvSpPr>
          <p:cNvPr id="53252" name="Rectangle 4">
            <a:extLst>
              <a:ext uri="{FF2B5EF4-FFF2-40B4-BE49-F238E27FC236}">
                <a16:creationId xmlns:a16="http://schemas.microsoft.com/office/drawing/2014/main" id="{A1251FCC-4A01-4115-A6F5-E21B39CBE4A6}"/>
              </a:ext>
            </a:extLst>
          </p:cNvPr>
          <p:cNvSpPr>
            <a:spLocks noChangeArrowheads="1"/>
          </p:cNvSpPr>
          <p:nvPr/>
        </p:nvSpPr>
        <p:spPr bwMode="auto">
          <a:xfrm>
            <a:off x="2208214" y="3785028"/>
            <a:ext cx="1847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ts val="1200"/>
              </a:spcAft>
              <a:buClr>
                <a:srgbClr val="000000"/>
              </a:buClr>
              <a:buSzPct val="100000"/>
              <a:buFont typeface="Times New Roman" panose="02020603050405020304" pitchFamily="18" charset="0"/>
              <a:buChar char="•"/>
              <a:defRPr sz="3200">
                <a:solidFill>
                  <a:srgbClr val="1B418B"/>
                </a:solidFill>
                <a:latin typeface="Arial" panose="020B0604020202020204" pitchFamily="34" charset="0"/>
                <a:ea typeface="ＭＳ Ｐゴシック" panose="020B0600070205080204" pitchFamily="34" charset="-128"/>
              </a:defRPr>
            </a:lvl1pPr>
            <a:lvl2pPr>
              <a:spcAft>
                <a:spcPts val="1200"/>
              </a:spcAft>
              <a:buClr>
                <a:srgbClr val="000000"/>
              </a:buClr>
              <a:buSzPct val="100000"/>
              <a:buFont typeface="Times New Roman" panose="02020603050405020304" pitchFamily="18" charset="0"/>
              <a:buChar char="–"/>
              <a:defRPr sz="1600">
                <a:solidFill>
                  <a:srgbClr val="1B418B"/>
                </a:solidFill>
                <a:latin typeface="Arial" panose="020B0604020202020204" pitchFamily="34" charset="0"/>
                <a:ea typeface="ＭＳ Ｐゴシック" panose="020B0600070205080204" pitchFamily="34" charset="-128"/>
              </a:defRPr>
            </a:lvl2pPr>
            <a:lvl3pPr>
              <a:spcAft>
                <a:spcPts val="1200"/>
              </a:spcAft>
              <a:buClr>
                <a:srgbClr val="000000"/>
              </a:buClr>
              <a:buSzPct val="100000"/>
              <a:buFont typeface="Times New Roman" panose="02020603050405020304" pitchFamily="18" charset="0"/>
              <a:buChar char="•"/>
              <a:defRPr sz="1400">
                <a:solidFill>
                  <a:srgbClr val="1B418B"/>
                </a:solidFill>
                <a:latin typeface="Arial" panose="020B0604020202020204" pitchFamily="34" charset="0"/>
                <a:ea typeface="ＭＳ Ｐゴシック" panose="020B0600070205080204" pitchFamily="34" charset="-128"/>
              </a:defRPr>
            </a:lvl3pPr>
            <a:lvl4pPr>
              <a:spcAft>
                <a:spcPts val="1200"/>
              </a:spcAft>
              <a:buClr>
                <a:srgbClr val="000000"/>
              </a:buClr>
              <a:buSzPct val="100000"/>
              <a:buFont typeface="Times New Roman" panose="02020603050405020304" pitchFamily="18" charset="0"/>
              <a:buChar char="–"/>
              <a:defRPr sz="1200">
                <a:solidFill>
                  <a:srgbClr val="1B418B"/>
                </a:solidFill>
                <a:latin typeface="Arial" panose="020B0604020202020204" pitchFamily="34" charset="0"/>
                <a:ea typeface="ＭＳ Ｐゴシック" panose="020B0600070205080204" pitchFamily="34" charset="-128"/>
              </a:defRPr>
            </a:lvl4pPr>
            <a:lvl5pPr>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ts val="1200"/>
              </a:spcAft>
              <a:buClr>
                <a:srgbClr val="000000"/>
              </a:buClr>
              <a:buSzPct val="100000"/>
              <a:buFont typeface="Times New Roman" panose="02020603050405020304" pitchFamily="18" charset="0"/>
              <a:buChar char="»"/>
              <a:defRPr sz="1100">
                <a:solidFill>
                  <a:srgbClr val="1B418B"/>
                </a:solidFill>
                <a:latin typeface="Arial" panose="020B0604020202020204" pitchFamily="34" charset="0"/>
                <a:ea typeface="ＭＳ Ｐゴシック" panose="020B0600070205080204" pitchFamily="34" charset="-128"/>
              </a:defRPr>
            </a:lvl9pPr>
          </a:lstStyle>
          <a:p>
            <a:pPr fontAlgn="base">
              <a:spcBef>
                <a:spcPct val="0"/>
              </a:spcBef>
              <a:spcAft>
                <a:spcPct val="0"/>
              </a:spcAft>
              <a:buClrTx/>
              <a:buSzTx/>
              <a:buNone/>
            </a:pPr>
            <a:endParaRPr lang="es-ES" altLang="es-CO" sz="2400">
              <a:solidFill>
                <a:srgbClr val="000000"/>
              </a:solidFill>
              <a:latin typeface="Verdana" panose="020B0604030504040204" pitchFamily="34" charset="0"/>
            </a:endParaRPr>
          </a:p>
          <a:p>
            <a:pPr eaLnBrk="0" fontAlgn="base" hangingPunct="0">
              <a:spcBef>
                <a:spcPct val="0"/>
              </a:spcBef>
              <a:spcAft>
                <a:spcPct val="0"/>
              </a:spcAft>
              <a:buClrTx/>
              <a:buSzTx/>
              <a:buNone/>
            </a:pPr>
            <a:endParaRPr lang="es-ES" altLang="es-CO" sz="2400">
              <a:solidFill>
                <a:srgbClr val="000000"/>
              </a:solidFill>
              <a:latin typeface="Verdana" panose="020B060403050404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9F94057A-CBA6-4F74-908A-0CF5E29FF334}"/>
              </a:ext>
            </a:extLst>
          </p:cNvPr>
          <p:cNvSpPr>
            <a:spLocks noGrp="1" noChangeArrowheads="1"/>
          </p:cNvSpPr>
          <p:nvPr>
            <p:ph type="title" idx="4294967295"/>
          </p:nvPr>
        </p:nvSpPr>
        <p:spPr/>
        <p:txBody>
          <a:bodyPr vert="horz" wrap="square" lIns="91440" tIns="45720" rIns="91440" bIns="45720" numCol="1" anchor="b" anchorCtr="0" compatLnSpc="1">
            <a:prstTxWarp prst="textNoShape">
              <a:avLst/>
            </a:prstTxWarp>
          </a:bodyPr>
          <a:lstStyle/>
          <a:p>
            <a:pPr algn="ctr" eaLnBrk="1" hangingPunct="1"/>
            <a:r>
              <a:rPr lang="es-ES" altLang="es-CO" sz="2800" b="1">
                <a:latin typeface="Bookman Old Style" panose="02050604050505020204" pitchFamily="18" charset="0"/>
              </a:rPr>
              <a:t>OBLIGACIONES DEL EMPLEADOR</a:t>
            </a:r>
          </a:p>
        </p:txBody>
      </p:sp>
      <p:sp>
        <p:nvSpPr>
          <p:cNvPr id="54275" name="Rectangle 3">
            <a:extLst>
              <a:ext uri="{FF2B5EF4-FFF2-40B4-BE49-F238E27FC236}">
                <a16:creationId xmlns:a16="http://schemas.microsoft.com/office/drawing/2014/main" id="{EF417398-8CBF-42E3-A7D3-43EDB48FC0C7}"/>
              </a:ext>
            </a:extLst>
          </p:cNvPr>
          <p:cNvSpPr>
            <a:spLocks noGrp="1" noChangeArrowheads="1"/>
          </p:cNvSpPr>
          <p:nvPr>
            <p:ph type="body" idx="4294967295"/>
          </p:nvPr>
        </p:nvSpPr>
        <p:spPr>
          <a:xfrm>
            <a:off x="1524000" y="1557338"/>
            <a:ext cx="9144000" cy="5040312"/>
          </a:xfrm>
        </p:spPr>
        <p:txBody>
          <a:bodyPr vert="horz" wrap="square" lIns="91440" tIns="45720" rIns="91440" bIns="45720" numCol="1" anchor="t" anchorCtr="0" compatLnSpc="1">
            <a:prstTxWarp prst="textNoShape">
              <a:avLst/>
            </a:prstTxWarp>
          </a:bodyPr>
          <a:lstStyle/>
          <a:p>
            <a:pPr>
              <a:lnSpc>
                <a:spcPct val="90000"/>
              </a:lnSpc>
              <a:buFont typeface="Wingdings" panose="05000000000000000000" pitchFamily="2" charset="2"/>
              <a:buChar char="ü"/>
            </a:pPr>
            <a:r>
              <a:rPr lang="es-ES" altLang="es-CO"/>
              <a:t>Establecer y mantener un programa de EPP</a:t>
            </a:r>
          </a:p>
          <a:p>
            <a:pPr>
              <a:lnSpc>
                <a:spcPct val="90000"/>
              </a:lnSpc>
              <a:buFont typeface="Wingdings" panose="05000000000000000000" pitchFamily="2" charset="2"/>
              <a:buChar char="ü"/>
            </a:pPr>
            <a:r>
              <a:rPr lang="es-ES" altLang="es-CO"/>
              <a:t>Selección y suministro de EPP según los riesgos</a:t>
            </a:r>
          </a:p>
          <a:p>
            <a:pPr>
              <a:lnSpc>
                <a:spcPct val="90000"/>
              </a:lnSpc>
              <a:buFont typeface="Wingdings" panose="05000000000000000000" pitchFamily="2" charset="2"/>
              <a:buChar char="ü"/>
            </a:pPr>
            <a:r>
              <a:rPr lang="es-ES" altLang="es-CO"/>
              <a:t>Velar por el uso y mantenimiento de los EPP</a:t>
            </a:r>
          </a:p>
          <a:p>
            <a:pPr>
              <a:lnSpc>
                <a:spcPct val="90000"/>
              </a:lnSpc>
              <a:buFont typeface="Wingdings" panose="05000000000000000000" pitchFamily="2" charset="2"/>
              <a:buChar char="ü"/>
            </a:pPr>
            <a:r>
              <a:rPr lang="es-ES" altLang="es-CO"/>
              <a:t>Investigar las causas de mal funcionamiento de los EPP y reemplazarlos cuando sea necesario</a:t>
            </a:r>
          </a:p>
          <a:p>
            <a:pPr>
              <a:lnSpc>
                <a:spcPct val="90000"/>
              </a:lnSpc>
              <a:buFont typeface="Wingdings" panose="05000000000000000000" pitchFamily="2" charset="2"/>
              <a:buChar char="ü"/>
            </a:pPr>
            <a:r>
              <a:rPr lang="es-ES" altLang="es-CO"/>
              <a:t>Capacitar a los trabajadores en el uso de los EPP</a:t>
            </a:r>
          </a:p>
          <a:p>
            <a:pPr algn="just" eaLnBrk="1" hangingPunct="1">
              <a:lnSpc>
                <a:spcPct val="90000"/>
              </a:lnSpc>
              <a:buFont typeface="Times New Roman" panose="02020603050405020304" pitchFamily="18" charset="0"/>
              <a:buNone/>
            </a:pPr>
            <a:endParaRPr lang="es-ES" altLang="es-CO" sz="2800">
              <a:solidFill>
                <a:schemeClr val="accent2"/>
              </a:solidFill>
              <a:latin typeface="Bookman Old Style" panose="020506040505050202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2ADAD79-42E1-415B-862B-02B84980748D}"/>
              </a:ext>
            </a:extLst>
          </p:cNvPr>
          <p:cNvSpPr>
            <a:spLocks noGrp="1" noChangeArrowheads="1"/>
          </p:cNvSpPr>
          <p:nvPr>
            <p:ph type="title" idx="4294967295"/>
          </p:nvPr>
        </p:nvSpPr>
        <p:spPr/>
        <p:txBody>
          <a:bodyPr vert="horz" wrap="square" lIns="91440" tIns="45720" rIns="91440" bIns="45720" numCol="1" anchor="b" anchorCtr="0" compatLnSpc="1">
            <a:prstTxWarp prst="textNoShape">
              <a:avLst/>
            </a:prstTxWarp>
          </a:bodyPr>
          <a:lstStyle/>
          <a:p>
            <a:pPr algn="ctr" eaLnBrk="1" hangingPunct="1"/>
            <a:r>
              <a:rPr lang="es-ES" altLang="es-CO" b="1">
                <a:latin typeface="Bookman Old Style" panose="02050604050505020204" pitchFamily="18" charset="0"/>
              </a:rPr>
              <a:t>OBLIGACIONES DEL EMPLEADO</a:t>
            </a:r>
          </a:p>
        </p:txBody>
      </p:sp>
      <p:sp>
        <p:nvSpPr>
          <p:cNvPr id="55299" name="Rectangle 3">
            <a:extLst>
              <a:ext uri="{FF2B5EF4-FFF2-40B4-BE49-F238E27FC236}">
                <a16:creationId xmlns:a16="http://schemas.microsoft.com/office/drawing/2014/main" id="{92080522-D00E-4D9B-A055-06B93BB5D2D1}"/>
              </a:ext>
            </a:extLst>
          </p:cNvPr>
          <p:cNvSpPr>
            <a:spLocks noGrp="1" noChangeArrowheads="1"/>
          </p:cNvSpPr>
          <p:nvPr>
            <p:ph type="body" idx="4294967295"/>
          </p:nvPr>
        </p:nvSpPr>
        <p:spPr>
          <a:xfrm>
            <a:off x="1524000" y="1484313"/>
            <a:ext cx="9144000" cy="5040312"/>
          </a:xfrm>
        </p:spPr>
        <p:txBody>
          <a:bodyPr vert="horz" wrap="square" lIns="91440" tIns="45720" rIns="91440" bIns="45720" numCol="1" anchor="t" anchorCtr="0" compatLnSpc="1">
            <a:prstTxWarp prst="textNoShape">
              <a:avLst/>
            </a:prstTxWarp>
          </a:bodyPr>
          <a:lstStyle/>
          <a:p>
            <a:pPr>
              <a:lnSpc>
                <a:spcPct val="90000"/>
              </a:lnSpc>
              <a:buFont typeface="Wingdings" panose="05000000000000000000" pitchFamily="2" charset="2"/>
              <a:buChar char="ü"/>
            </a:pPr>
            <a:r>
              <a:rPr lang="es-ES" altLang="es-CO" sz="2800"/>
              <a:t>Utilizar y cuidar los EPP</a:t>
            </a:r>
          </a:p>
          <a:p>
            <a:pPr>
              <a:lnSpc>
                <a:spcPct val="90000"/>
              </a:lnSpc>
              <a:buFont typeface="Wingdings" panose="05000000000000000000" pitchFamily="2" charset="2"/>
              <a:buChar char="ü"/>
            </a:pPr>
            <a:r>
              <a:rPr lang="es-ES" altLang="es-CO" sz="2800"/>
              <a:t>Almacenar correctamente los EPP</a:t>
            </a:r>
          </a:p>
          <a:p>
            <a:pPr>
              <a:lnSpc>
                <a:spcPct val="90000"/>
              </a:lnSpc>
              <a:buFont typeface="Wingdings" panose="05000000000000000000" pitchFamily="2" charset="2"/>
              <a:buChar char="ü"/>
            </a:pPr>
            <a:r>
              <a:rPr lang="es-ES" altLang="es-CO" sz="2800"/>
              <a:t>Informar sobre los daños o averías de los EPP</a:t>
            </a:r>
          </a:p>
          <a:p>
            <a:pPr>
              <a:lnSpc>
                <a:spcPct val="90000"/>
              </a:lnSpc>
              <a:buFont typeface="Wingdings" panose="05000000000000000000" pitchFamily="2" charset="2"/>
              <a:buChar char="ü"/>
            </a:pPr>
            <a:r>
              <a:rPr lang="es-ES" altLang="es-CO" sz="2800"/>
              <a:t>Informar sobre cambios en la salud que puedan modificar la asignación o uso de los EPP.</a:t>
            </a:r>
          </a:p>
          <a:p>
            <a:pPr>
              <a:lnSpc>
                <a:spcPct val="90000"/>
              </a:lnSpc>
              <a:buFont typeface="Wingdings" panose="05000000000000000000" pitchFamily="2" charset="2"/>
              <a:buChar char="ü"/>
            </a:pPr>
            <a:r>
              <a:rPr lang="es-ES" altLang="es-CO" sz="2800"/>
              <a:t>Informar sobre los riesgos de su puesto de trabajo</a:t>
            </a:r>
          </a:p>
          <a:p>
            <a:pPr>
              <a:lnSpc>
                <a:spcPct val="90000"/>
              </a:lnSpc>
              <a:buFont typeface="Wingdings" panose="05000000000000000000" pitchFamily="2" charset="2"/>
              <a:buChar char="ü"/>
            </a:pPr>
            <a:r>
              <a:rPr lang="es-ES" altLang="es-CO" sz="2800"/>
              <a:t>No ceder, prestar o comercializar los puestos de trabajo.</a:t>
            </a:r>
          </a:p>
          <a:p>
            <a:pPr eaLnBrk="1" hangingPunct="1">
              <a:lnSpc>
                <a:spcPct val="80000"/>
              </a:lnSpc>
              <a:buFontTx/>
              <a:buChar char="•"/>
            </a:pPr>
            <a:endParaRPr lang="es-ES" altLang="es-CO" sz="2400">
              <a:solidFill>
                <a:schemeClr val="accent2"/>
              </a:solidFill>
              <a:latin typeface="Bookman Old Style" panose="020506040505050202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44FD7456-220F-4F19-AEAE-F3137076A77F}"/>
              </a:ext>
            </a:extLst>
          </p:cNvPr>
          <p:cNvSpPr>
            <a:spLocks noGrp="1" noChangeArrowheads="1"/>
          </p:cNvSpPr>
          <p:nvPr>
            <p:ph type="title" idx="4294967295"/>
          </p:nvPr>
        </p:nvSpPr>
        <p:spPr/>
        <p:txBody>
          <a:bodyPr vert="horz" wrap="square" lIns="91440" tIns="45720" rIns="91440" bIns="45720" numCol="1" anchor="b" anchorCtr="0" compatLnSpc="1">
            <a:prstTxWarp prst="textNoShape">
              <a:avLst/>
            </a:prstTxWarp>
          </a:bodyPr>
          <a:lstStyle/>
          <a:p>
            <a:pPr algn="ctr" eaLnBrk="1" hangingPunct="1"/>
            <a:r>
              <a:rPr lang="es-ES" altLang="es-CO" sz="2800" b="1">
                <a:latin typeface="Bookman Old Style" panose="02050604050505020204" pitchFamily="18" charset="0"/>
              </a:rPr>
              <a:t>NECESIDAD DE USO DE LOS EPP</a:t>
            </a:r>
          </a:p>
        </p:txBody>
      </p:sp>
      <p:sp>
        <p:nvSpPr>
          <p:cNvPr id="9219" name="Rectangle 3">
            <a:extLst>
              <a:ext uri="{FF2B5EF4-FFF2-40B4-BE49-F238E27FC236}">
                <a16:creationId xmlns:a16="http://schemas.microsoft.com/office/drawing/2014/main" id="{7C6F8C36-8DA8-489B-B3BF-DF39F3117A1E}"/>
              </a:ext>
            </a:extLst>
          </p:cNvPr>
          <p:cNvSpPr>
            <a:spLocks noGrp="1" noChangeArrowheads="1"/>
          </p:cNvSpPr>
          <p:nvPr>
            <p:ph type="body" idx="4294967295"/>
          </p:nvPr>
        </p:nvSpPr>
        <p:spPr>
          <a:xfrm>
            <a:off x="1524000" y="1557339"/>
            <a:ext cx="9144000" cy="3887787"/>
          </a:xfrm>
        </p:spPr>
        <p:txBody>
          <a:bodyPr vert="horz" wrap="square" lIns="91440" tIns="45720" rIns="91440" bIns="45720" numCol="1" anchor="t" anchorCtr="0" compatLnSpc="1">
            <a:prstTxWarp prst="textNoShape">
              <a:avLst/>
            </a:prstTxWarp>
          </a:bodyPr>
          <a:lstStyle/>
          <a:p>
            <a:pPr algn="just">
              <a:lnSpc>
                <a:spcPct val="90000"/>
              </a:lnSpc>
              <a:buFont typeface="Arial" pitchFamily="34" charset="0"/>
              <a:buChar char="•"/>
              <a:defRPr/>
            </a:pPr>
            <a:r>
              <a:rPr lang="es-ES" sz="2800" kern="1200" dirty="0">
                <a:ea typeface="+mn-ea"/>
              </a:rPr>
              <a:t>Es necesario aplicar primero soluciones técnicas que controlen los riesgos en su origen</a:t>
            </a:r>
          </a:p>
          <a:p>
            <a:pPr algn="just">
              <a:lnSpc>
                <a:spcPct val="90000"/>
              </a:lnSpc>
              <a:buFont typeface="Arial" pitchFamily="34" charset="0"/>
              <a:buChar char="•"/>
              <a:defRPr/>
            </a:pPr>
            <a:endParaRPr lang="es-ES" sz="2800" kern="1200" dirty="0">
              <a:ea typeface="+mn-ea"/>
            </a:endParaRPr>
          </a:p>
          <a:p>
            <a:pPr algn="just">
              <a:lnSpc>
                <a:spcPct val="90000"/>
              </a:lnSpc>
              <a:buFont typeface="Arial" pitchFamily="34" charset="0"/>
              <a:buChar char="•"/>
              <a:defRPr/>
            </a:pPr>
            <a:r>
              <a:rPr lang="es-ES" sz="2800" kern="1200" dirty="0">
                <a:ea typeface="+mn-ea"/>
              </a:rPr>
              <a:t>Los E.P.P. no proporcionan una seguridad total al trabajador.</a:t>
            </a:r>
          </a:p>
          <a:p>
            <a:pPr algn="just">
              <a:lnSpc>
                <a:spcPct val="90000"/>
              </a:lnSpc>
              <a:buFont typeface="Arial" pitchFamily="34" charset="0"/>
              <a:buChar char="•"/>
              <a:defRPr/>
            </a:pPr>
            <a:r>
              <a:rPr lang="es-ES" sz="2800" kern="1200" dirty="0">
                <a:ea typeface="+mn-ea"/>
              </a:rPr>
              <a:t>La selección de los EPP la hace el empresario considerando las exigencias ergonómicas y salud del trabajador, el grado de protección que se necesita ante un riesgo específico</a:t>
            </a:r>
            <a:r>
              <a:rPr lang="es-ES" sz="2800" dirty="0">
                <a:latin typeface="Bookman Old Style" pitchFamily="18" charset="0"/>
                <a:ea typeface="+mn-ea"/>
              </a:rPr>
              <a:t>.</a:t>
            </a:r>
            <a:endParaRPr lang="es-ES" sz="2800" b="1" dirty="0">
              <a:latin typeface="Bookman Old Style" pitchFamily="18" charset="0"/>
              <a:ea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44FD7456-220F-4F19-AEAE-F3137076A77F}"/>
              </a:ext>
            </a:extLst>
          </p:cNvPr>
          <p:cNvSpPr>
            <a:spLocks noGrp="1" noChangeArrowheads="1"/>
          </p:cNvSpPr>
          <p:nvPr>
            <p:ph type="title" idx="4294967295"/>
          </p:nvPr>
        </p:nvSpPr>
        <p:spPr/>
        <p:txBody>
          <a:bodyPr vert="horz" wrap="square" lIns="91440" tIns="45720" rIns="91440" bIns="45720" numCol="1" anchor="b" anchorCtr="0" compatLnSpc="1">
            <a:prstTxWarp prst="textNoShape">
              <a:avLst/>
            </a:prstTxWarp>
          </a:bodyPr>
          <a:lstStyle/>
          <a:p>
            <a:pPr algn="ctr" eaLnBrk="1" hangingPunct="1"/>
            <a:r>
              <a:rPr lang="es-ES" altLang="es-CO" sz="2800" b="1" dirty="0">
                <a:latin typeface="Bookman Old Style" panose="02050604050505020204" pitchFamily="18" charset="0"/>
              </a:rPr>
              <a:t>ENTREGA DE DOTACIÓN</a:t>
            </a:r>
          </a:p>
        </p:txBody>
      </p:sp>
      <p:sp>
        <p:nvSpPr>
          <p:cNvPr id="9219" name="Rectangle 3">
            <a:extLst>
              <a:ext uri="{FF2B5EF4-FFF2-40B4-BE49-F238E27FC236}">
                <a16:creationId xmlns:a16="http://schemas.microsoft.com/office/drawing/2014/main" id="{7C6F8C36-8DA8-489B-B3BF-DF39F3117A1E}"/>
              </a:ext>
            </a:extLst>
          </p:cNvPr>
          <p:cNvSpPr>
            <a:spLocks noGrp="1" noChangeArrowheads="1"/>
          </p:cNvSpPr>
          <p:nvPr>
            <p:ph type="body" idx="4294967295"/>
          </p:nvPr>
        </p:nvSpPr>
        <p:spPr>
          <a:xfrm>
            <a:off x="1524000" y="1557339"/>
            <a:ext cx="9144000" cy="3887787"/>
          </a:xfrm>
        </p:spPr>
        <p:txBody>
          <a:bodyPr vert="horz" wrap="square" lIns="91440" tIns="45720" rIns="91440" bIns="45720" numCol="1" anchor="t" anchorCtr="0" compatLnSpc="1">
            <a:prstTxWarp prst="textNoShape">
              <a:avLst/>
            </a:prstTxWarp>
          </a:bodyPr>
          <a:lstStyle/>
          <a:p>
            <a:pPr marL="0" indent="0" algn="just">
              <a:lnSpc>
                <a:spcPct val="90000"/>
              </a:lnSpc>
              <a:buNone/>
              <a:defRPr/>
            </a:pPr>
            <a:r>
              <a:rPr lang="es-ES" sz="2000" dirty="0"/>
              <a:t>ARTICULO 230. SUMINISTRO DE CALZADO Y VESTIDO DE LABOR. &lt;Artículo modificado por el artículo 7o. de la Ley 11 de 1984. El nuevo texto es el siguiente:&gt; Todo {empleador} que habitualmente ocupe uno (1) o más trabajadores permanentes, deberá suministrar cada cuatro (4) meses, en forma gratuita, un (1) par de zapatos y un (1) vestido de labor al trabajador, cuya remuneración mensual sea hasta dos (2) meses el salario mínimo más alto vigente. Tiene derecho a esta prestación el trabajador que en las fechas de entrega de calzado y vestido haya cumplido más de tres (3) meses al servicio del empleador.</a:t>
            </a:r>
          </a:p>
          <a:p>
            <a:pPr marL="0" indent="0" algn="just">
              <a:lnSpc>
                <a:spcPct val="90000"/>
              </a:lnSpc>
              <a:buNone/>
              <a:defRPr/>
            </a:pPr>
            <a:r>
              <a:rPr lang="es-ES" sz="2000" dirty="0"/>
              <a:t>ARTICULO 232. FECHA DE ENTREGA. &lt;Artículo modificado por el artículo 8o. de la Ley 11 de 1984. El nuevo texto es el siguiente:&gt; Los {empleadores} obligados a suministrar permanente calzado y vestido de labor a sus trabajadores harán entrega de dichos elementos en las siguientes fechas del calendario: 30 de abril, 31 de agosto y 20 de diciembre.</a:t>
            </a:r>
            <a:endParaRPr lang="es-ES" sz="2000" b="1" dirty="0">
              <a:latin typeface="Bookman Old Style" pitchFamily="18" charset="0"/>
              <a:ea typeface="+mn-ea"/>
            </a:endParaRPr>
          </a:p>
        </p:txBody>
      </p:sp>
    </p:spTree>
    <p:extLst>
      <p:ext uri="{BB962C8B-B14F-4D97-AF65-F5344CB8AC3E}">
        <p14:creationId xmlns:p14="http://schemas.microsoft.com/office/powerpoint/2010/main" val="30211810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KIP" val="SKIP"/>
  <p:tag name="RNROPT" val="Picture 5"/>
</p:tagLst>
</file>

<file path=ppt/tags/tag2.xml><?xml version="1.0" encoding="utf-8"?>
<p:tagLst xmlns:a="http://schemas.openxmlformats.org/drawingml/2006/main" xmlns:r="http://schemas.openxmlformats.org/officeDocument/2006/relationships" xmlns:p="http://schemas.openxmlformats.org/presentationml/2006/main">
  <p:tag name="SKIP" val="SKIP"/>
  <p:tag name="RNROPT" val="Picture 7"/>
</p:tagLst>
</file>

<file path=ppt/tags/tag3.xml><?xml version="1.0" encoding="utf-8"?>
<p:tagLst xmlns:a="http://schemas.openxmlformats.org/drawingml/2006/main" xmlns:r="http://schemas.openxmlformats.org/officeDocument/2006/relationships" xmlns:p="http://schemas.openxmlformats.org/presentationml/2006/main">
  <p:tag name="SKIP" val="SKIP"/>
  <p:tag name="RNROPT" val="Picture 7"/>
</p:tagLst>
</file>

<file path=ppt/tags/tag4.xml><?xml version="1.0" encoding="utf-8"?>
<p:tagLst xmlns:a="http://schemas.openxmlformats.org/drawingml/2006/main" xmlns:r="http://schemas.openxmlformats.org/officeDocument/2006/relationships" xmlns:p="http://schemas.openxmlformats.org/presentationml/2006/main">
  <p:tag name="SKIP" val="SKIP"/>
  <p:tag name="RNROPT" val="Picture 16"/>
</p:tagLst>
</file>

<file path=ppt/tags/tag5.xml><?xml version="1.0" encoding="utf-8"?>
<p:tagLst xmlns:a="http://schemas.openxmlformats.org/drawingml/2006/main" xmlns:r="http://schemas.openxmlformats.org/officeDocument/2006/relationships" xmlns:p="http://schemas.openxmlformats.org/presentationml/2006/main">
  <p:tag name="SKIP" val="SKIP"/>
  <p:tag name="RNROPT" val="Picture 5"/>
</p:tagLst>
</file>

<file path=ppt/tags/tag6.xml><?xml version="1.0" encoding="utf-8"?>
<p:tagLst xmlns:a="http://schemas.openxmlformats.org/drawingml/2006/main" xmlns:r="http://schemas.openxmlformats.org/officeDocument/2006/relationships" xmlns:p="http://schemas.openxmlformats.org/presentationml/2006/main">
  <p:tag name="SKIP" val="SKIP"/>
  <p:tag name="RNROPT" val="Picture 4"/>
</p:tagLst>
</file>

<file path=ppt/tags/tag7.xml><?xml version="1.0" encoding="utf-8"?>
<p:tagLst xmlns:a="http://schemas.openxmlformats.org/drawingml/2006/main" xmlns:r="http://schemas.openxmlformats.org/officeDocument/2006/relationships" xmlns:p="http://schemas.openxmlformats.org/presentationml/2006/main">
  <p:tag name="SKIP" val="SKIP"/>
  <p:tag name="RNROPT" val="Picture 5"/>
</p:tagLst>
</file>

<file path=ppt/tags/tag8.xml><?xml version="1.0" encoding="utf-8"?>
<p:tagLst xmlns:a="http://schemas.openxmlformats.org/drawingml/2006/main" xmlns:r="http://schemas.openxmlformats.org/officeDocument/2006/relationships" xmlns:p="http://schemas.openxmlformats.org/presentationml/2006/main">
  <p:tag name="SKIP" val="SKIP"/>
  <p:tag name="RNROPT" val="Picture 6"/>
</p:tagLst>
</file>

<file path=ppt/tags/tag9.xml><?xml version="1.0" encoding="utf-8"?>
<p:tagLst xmlns:a="http://schemas.openxmlformats.org/drawingml/2006/main" xmlns:r="http://schemas.openxmlformats.org/officeDocument/2006/relationships" xmlns:p="http://schemas.openxmlformats.org/presentationml/2006/main">
  <p:tag name="SKIP" val="SKIP"/>
  <p:tag name="RNROPT" val="Picture 7"/>
</p:tagLst>
</file>

<file path=ppt/tags/tag10.xml><?xml version="1.0" encoding="utf-8"?>
<p:tagLst xmlns:a="http://schemas.openxmlformats.org/drawingml/2006/main" xmlns:r="http://schemas.openxmlformats.org/officeDocument/2006/relationships" xmlns:p="http://schemas.openxmlformats.org/presentationml/2006/main">
  <p:tag name="SKIP" val="SKIP"/>
  <p:tag name="RNROPT" val="Picture 6"/>
</p:tagLst>
</file>

<file path=ppt/tags/tag11.xml><?xml version="1.0" encoding="utf-8"?>
<p:tagLst xmlns:a="http://schemas.openxmlformats.org/drawingml/2006/main" xmlns:r="http://schemas.openxmlformats.org/officeDocument/2006/relationships" xmlns:p="http://schemas.openxmlformats.org/presentationml/2006/main">
  <p:tag name="SKIP" val="SKIP"/>
  <p:tag name="RNROPT" val="Picture 8"/>
</p:tagLst>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iseño predeterminado">
      <a:majorFont>
        <a:latin typeface="Arial Bold"/>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24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24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Diseño predeterminado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iseño predeterminado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iseño predeterminado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iseño predeterminado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2556</Words>
  <Application>Microsoft Office PowerPoint</Application>
  <PresentationFormat>Panorámica</PresentationFormat>
  <Paragraphs>211</Paragraphs>
  <Slides>49</Slides>
  <Notes>6</Notes>
  <HiddenSlides>0</HiddenSlides>
  <MMClips>0</MMClips>
  <ScaleCrop>false</ScaleCrop>
  <HeadingPairs>
    <vt:vector size="8" baseType="variant">
      <vt:variant>
        <vt:lpstr>Fuentes usadas</vt:lpstr>
      </vt:variant>
      <vt:variant>
        <vt:i4>10</vt:i4>
      </vt:variant>
      <vt:variant>
        <vt:lpstr>Tema</vt:lpstr>
      </vt:variant>
      <vt:variant>
        <vt:i4>1</vt:i4>
      </vt:variant>
      <vt:variant>
        <vt:lpstr>Servidores OLE incrustados</vt:lpstr>
      </vt:variant>
      <vt:variant>
        <vt:i4>1</vt:i4>
      </vt:variant>
      <vt:variant>
        <vt:lpstr>Títulos de diapositiva</vt:lpstr>
      </vt:variant>
      <vt:variant>
        <vt:i4>49</vt:i4>
      </vt:variant>
    </vt:vector>
  </HeadingPairs>
  <TitlesOfParts>
    <vt:vector size="61" baseType="lpstr">
      <vt:lpstr>Arial</vt:lpstr>
      <vt:lpstr>Arial Bold</vt:lpstr>
      <vt:lpstr>Bookman Old Style</vt:lpstr>
      <vt:lpstr>Calibri</vt:lpstr>
      <vt:lpstr>Comic Sans MS</vt:lpstr>
      <vt:lpstr>Monotype Sorts</vt:lpstr>
      <vt:lpstr>Times New Roman</vt:lpstr>
      <vt:lpstr>Trebuchet MS</vt:lpstr>
      <vt:lpstr>Verdana</vt:lpstr>
      <vt:lpstr>Wingdings</vt:lpstr>
      <vt:lpstr>Diseño predeterminado</vt:lpstr>
      <vt:lpstr>Imagen</vt:lpstr>
      <vt:lpstr>DEFINICIÓN DE EPP</vt:lpstr>
      <vt:lpstr>Presentación de PowerPoint</vt:lpstr>
      <vt:lpstr>Presentación de PowerPoint</vt:lpstr>
      <vt:lpstr>Presentación de PowerPoint</vt:lpstr>
      <vt:lpstr>LEGISLACIÓN</vt:lpstr>
      <vt:lpstr>Presentación de PowerPoint</vt:lpstr>
      <vt:lpstr>Presentación de PowerPoint</vt:lpstr>
      <vt:lpstr>LEGISLACIÓN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Protección para la CABEZA</vt:lpstr>
      <vt:lpstr>PROTECCIÓN OCULAR</vt:lpstr>
      <vt:lpstr>GAFAS DE SEGURIDAD DE LENTE CLARO Y OSCURO</vt:lpstr>
      <vt:lpstr>GAFAS PARA MANIPULACIÓN DE PRODUCTOS QUÍMICOS</vt:lpstr>
      <vt:lpstr> PROTECCIÓN DE CARA </vt:lpstr>
      <vt:lpstr>PROTECCIÓN DE OÍDOS</vt:lpstr>
      <vt:lpstr>PROTECCIÓN DE OÍDOS</vt:lpstr>
      <vt:lpstr>Presentación de PowerPoint</vt:lpstr>
      <vt:lpstr>PROTECCIÓN PARA EL APARATO RESPIRATORIO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GUANTES DE CUERDO</vt:lpstr>
      <vt:lpstr>GUANTES DE POLIURETANO</vt:lpstr>
      <vt:lpstr>GUANTES ALUMINIZADOS</vt:lpstr>
      <vt:lpstr>GUANTES DIELÉCTRICOS</vt:lpstr>
      <vt:lpstr>GUANTES DE MALLA</vt:lpstr>
      <vt:lpstr>GUANTES DE NITRILO</vt:lpstr>
      <vt:lpstr>GUANTES DE LÁTEX</vt:lpstr>
      <vt:lpstr>Presentación de PowerPoint</vt:lpstr>
      <vt:lpstr>BOTAS DE CAUCHO O ZAPATOS DE CUERO CON PUNTERA DE ACERO O DIELÉCTRICAS</vt:lpstr>
      <vt:lpstr>VESTIMENTA</vt:lpstr>
      <vt:lpstr>TRAJES</vt:lpstr>
      <vt:lpstr>PROTECCIÓN CONTRA CAÍDAS</vt:lpstr>
      <vt:lpstr>CUANDO USARLOS?</vt:lpstr>
      <vt:lpstr>OBLIGACIONES DEL EMPLEADOR</vt:lpstr>
      <vt:lpstr>OBLIGACIONES DEL EMPLEADO</vt:lpstr>
      <vt:lpstr>NECESIDAD DE USO DE LOS EPP</vt:lpstr>
      <vt:lpstr>ENTREGA DE DOTACIÓN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ESTUDIANTES</dc:creator>
  <cp:lastModifiedBy>ESTUDIANTES</cp:lastModifiedBy>
  <cp:revision>3</cp:revision>
  <dcterms:created xsi:type="dcterms:W3CDTF">2021-05-10T23:44:26Z</dcterms:created>
  <dcterms:modified xsi:type="dcterms:W3CDTF">2021-05-14T16:10:04Z</dcterms:modified>
</cp:coreProperties>
</file>
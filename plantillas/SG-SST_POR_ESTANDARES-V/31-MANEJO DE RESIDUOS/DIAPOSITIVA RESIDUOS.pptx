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00"/>
    <a:srgbClr val="FF9933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1345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0521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17912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3656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15703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0214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68553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9932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7039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3596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585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46699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469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8048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05003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4211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92AE4-D54E-4EB6-AE1D-322D71640205}" type="datetimeFigureOut">
              <a:rPr lang="es-419" smtClean="0"/>
              <a:t>30/5/2020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4FA5AF6-9157-4F9A-8C9F-9A6160889F4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2002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A4315-A804-415C-8E1A-89BA766411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PLAN DE RESIDUOS SOLIDOS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274813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06EBE-6722-48F4-9B0E-A5C3D38F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RESIDUOS SÓLIDOS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F2F63D-D586-4790-A201-4B8FBD77F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O" dirty="0"/>
              <a:t>Es cualquier objeto, material sustancia o elemento sólido, semisólido, resultante del consumo o uso de un bien en actividades industriales, domésticas, comerciales, institucionales o de servicios, que el generador abandona, rechaza o entrega y que es susceptible de aprovechamiento o transformación en un nuevo bien, con valor económico o de disposición final.</a:t>
            </a:r>
          </a:p>
          <a:p>
            <a:pPr algn="just"/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E98EAA-2590-48DF-991E-5C877A7AD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702" y="3844290"/>
            <a:ext cx="4557932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98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05AFE-E115-4681-B1D1-1A0E647D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RESIDUOS APROVECHABLES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D50A8A-D69F-499A-B5A8-F3F3378DD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Son aquellos que pueden ser transformados para ser utilizados como materia prima en la generación de un nuevo producto. Dentro de esta clasificación pueden entrar los residuos orgánicos e inorgánicos.</a:t>
            </a:r>
            <a:endParaRPr lang="es-419" dirty="0"/>
          </a:p>
        </p:txBody>
      </p:sp>
      <p:pic>
        <p:nvPicPr>
          <p:cNvPr id="1026" name="Picture 2" descr="Wiki Residuos: Base de datos de manejo de residuos solidos">
            <a:extLst>
              <a:ext uri="{FF2B5EF4-FFF2-40B4-BE49-F238E27FC236}">
                <a16:creationId xmlns:a16="http://schemas.microsoft.com/office/drawing/2014/main" id="{4769FC56-9258-4394-943E-E94C4B20F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105" y="370793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67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B40FA-1C56-4046-8582-8DAD21D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RESIDUOS APROVECHABLES ORGÁNICOS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152A4A-E222-4106-936C-FE69AAC7C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Residuos de cosecha</a:t>
            </a:r>
          </a:p>
          <a:p>
            <a:r>
              <a:rPr lang="es-CO" dirty="0"/>
              <a:t>Residuos de poda y corte de arboles, aserrín, paja y trozos de madera</a:t>
            </a:r>
          </a:p>
          <a:p>
            <a:r>
              <a:rPr lang="es-CO" dirty="0"/>
              <a:t>Restos de comida, cascaras de huevo, restos de café</a:t>
            </a:r>
          </a:p>
          <a:p>
            <a:r>
              <a:rPr lang="es-CO" dirty="0"/>
              <a:t>Desechos de plazas de mercado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2050" name="Picture 2" descr="02. Residuos aprovechables y no aprovechables - Residuos sólidos D.e">
            <a:extLst>
              <a:ext uri="{FF2B5EF4-FFF2-40B4-BE49-F238E27FC236}">
                <a16:creationId xmlns:a16="http://schemas.microsoft.com/office/drawing/2014/main" id="{3635795C-A9A5-40AF-86A2-942411EC9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465" y="4212709"/>
            <a:ext cx="274320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292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C77CF-7B92-4C45-AE68-5AC5D486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RESIDUOS APROVECHABLES INORGÁNICOS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16FF5D-DE8B-4BE3-BA7C-DB6A92A04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837201" cy="3880773"/>
          </a:xfrm>
        </p:spPr>
        <p:txBody>
          <a:bodyPr>
            <a:normAutofit lnSpcReduction="10000"/>
          </a:bodyPr>
          <a:lstStyle/>
          <a:p>
            <a:pPr algn="just"/>
            <a:r>
              <a:rPr lang="es-CO" b="1" dirty="0"/>
              <a:t>Plástico: </a:t>
            </a:r>
            <a:r>
              <a:rPr lang="es-CO" dirty="0"/>
              <a:t>potes de champú, empaques de productos de aseo, empaques de alimentos como bolsas, envases de gaseosas no retornables.</a:t>
            </a:r>
          </a:p>
          <a:p>
            <a:pPr algn="just"/>
            <a:r>
              <a:rPr lang="es-CO" b="1" dirty="0"/>
              <a:t>Vidrio: </a:t>
            </a:r>
            <a:r>
              <a:rPr lang="es-CO" dirty="0"/>
              <a:t>vidrio utilizado para el envasado y distribución de productos industriales como botellas de gaseosas y cervezas, frascos, botellas de vino, licores.</a:t>
            </a:r>
          </a:p>
          <a:p>
            <a:pPr algn="just"/>
            <a:r>
              <a:rPr lang="es-CO" b="1" dirty="0"/>
              <a:t>Papel: </a:t>
            </a:r>
            <a:r>
              <a:rPr lang="es-CO" dirty="0"/>
              <a:t>hojas de oficina, periódicos, revistas, cuadernos, libros, cajas de huevo, cajas de cartón.</a:t>
            </a:r>
          </a:p>
          <a:p>
            <a:pPr algn="just"/>
            <a:r>
              <a:rPr lang="es-CO" b="1" dirty="0"/>
              <a:t>Metal: </a:t>
            </a:r>
            <a:r>
              <a:rPr lang="es-CO" dirty="0"/>
              <a:t>latas de  cerveza y gaseosas, ollas, llaves, tapas de bebidas, cubiertos.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BA57DB-9530-4D5C-80B2-3573DE30B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027" y="2544493"/>
            <a:ext cx="2847975" cy="260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7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81F1F-0A0A-4456-80A8-FF3B67E0E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RESIDUOS NO APROVECHABLES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0BD406-7357-4769-A582-EB7582922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CO" dirty="0"/>
              <a:t>Son de naturaleza no peligrosa, pero dada su composición no pueden ser re integrados a un proceso productivo, dentro de estos residuos están:</a:t>
            </a:r>
          </a:p>
          <a:p>
            <a:pPr algn="just"/>
            <a:r>
              <a:rPr lang="es-CO" dirty="0"/>
              <a:t>Papel higiénico</a:t>
            </a:r>
          </a:p>
          <a:p>
            <a:pPr algn="just"/>
            <a:r>
              <a:rPr lang="es-CO" dirty="0"/>
              <a:t>Paños húmedos</a:t>
            </a:r>
          </a:p>
          <a:p>
            <a:pPr algn="just"/>
            <a:r>
              <a:rPr lang="es-CO" dirty="0"/>
              <a:t>Toallas sanitarias</a:t>
            </a:r>
          </a:p>
          <a:p>
            <a:pPr algn="just"/>
            <a:r>
              <a:rPr lang="es-CO" dirty="0"/>
              <a:t>Servilletas</a:t>
            </a:r>
          </a:p>
          <a:p>
            <a:pPr algn="just"/>
            <a:r>
              <a:rPr lang="es-CO" dirty="0"/>
              <a:t>Papeles y cartones contaminados</a:t>
            </a:r>
          </a:p>
          <a:p>
            <a:pPr marL="0" indent="0">
              <a:buNone/>
            </a:pPr>
            <a:endParaRPr lang="es-CO" dirty="0"/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859209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B79A9-D4D1-4261-B704-1E0CAD79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RESIDUOS PELIGROSOS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F5B514-EE7B-40AE-8320-0DB02E696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CO" dirty="0"/>
              <a:t>Son aquellos residuos que dada su composición puede causar daños a la salud o al ambiente, estos peligros se clasifican según su peligrosidad</a:t>
            </a:r>
            <a:r>
              <a:rPr lang="es-419" dirty="0"/>
              <a:t> de la siguiente manera:</a:t>
            </a:r>
          </a:p>
          <a:p>
            <a:pPr algn="just"/>
            <a:r>
              <a:rPr lang="es-419" b="1" dirty="0"/>
              <a:t>Corrosivos: </a:t>
            </a:r>
            <a:r>
              <a:rPr lang="es-419" dirty="0"/>
              <a:t>ácidos, baterías, químicos, que pueden causar daño a la piel o elementos que estén en contacto.</a:t>
            </a:r>
          </a:p>
          <a:p>
            <a:pPr algn="just"/>
            <a:r>
              <a:rPr lang="es-419" b="1" dirty="0"/>
              <a:t>Reactivos: </a:t>
            </a:r>
            <a:r>
              <a:rPr lang="es-419" dirty="0"/>
              <a:t>soluciones de cianuro, ácidos sulfúrico, que generan gases o vapores tóxicos a la salud o el ambiente.</a:t>
            </a:r>
          </a:p>
          <a:p>
            <a:pPr algn="just"/>
            <a:r>
              <a:rPr lang="es-419" b="1" dirty="0"/>
              <a:t>Explosivos: </a:t>
            </a:r>
            <a:r>
              <a:rPr lang="es-419" dirty="0"/>
              <a:t>pólvora. </a:t>
            </a:r>
          </a:p>
          <a:p>
            <a:pPr algn="just"/>
            <a:r>
              <a:rPr lang="es-419" b="1" dirty="0"/>
              <a:t>Inflamables: </a:t>
            </a:r>
            <a:r>
              <a:rPr lang="es-419" dirty="0"/>
              <a:t>alcohol, aceites, punturas, solventes. </a:t>
            </a:r>
          </a:p>
          <a:p>
            <a:pPr algn="just"/>
            <a:r>
              <a:rPr lang="es-419" b="1" dirty="0"/>
              <a:t>Infecciosos: </a:t>
            </a:r>
            <a:r>
              <a:rPr lang="es-419" dirty="0"/>
              <a:t>elementos que han entrado en contacto con bacterias, virus o micro organismos como agujas, residuos humanos, limas, cuchillas, entre otros.</a:t>
            </a:r>
          </a:p>
          <a:p>
            <a:pPr algn="just"/>
            <a:r>
              <a:rPr lang="es-419" b="1" dirty="0"/>
              <a:t>Tóxicos: </a:t>
            </a:r>
            <a:r>
              <a:rPr lang="es-419" dirty="0"/>
              <a:t>insecticidas, fertilizantes, aparatos eléctricos. </a:t>
            </a:r>
          </a:p>
          <a:p>
            <a:pPr algn="just"/>
            <a:r>
              <a:rPr lang="es-419" b="1" dirty="0"/>
              <a:t>Radioactivos: </a:t>
            </a:r>
            <a:r>
              <a:rPr lang="es-419" dirty="0"/>
              <a:t>elementos de centrales nucleares, desechos generados en laboratorios.</a:t>
            </a:r>
          </a:p>
          <a:p>
            <a:pPr algn="just"/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7D850D-CB45-4EB2-A7EF-8BD11BD46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055" y="5369386"/>
            <a:ext cx="370522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76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087E2-1846-4A52-9E59-51C4600D6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RESIDUOS ESPECIALES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CBD1CC-AEFA-463F-815F-48FEE18BC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Son aquellos que dada su naturaleza, composición, tamaño, volumen y peso, deben ser recolectados por un servicio especial de las empresas del servicio público de aseo y/o entidad territorial encargada. Dentro de estos residuos están:</a:t>
            </a:r>
          </a:p>
          <a:p>
            <a:r>
              <a:rPr lang="es-CO" dirty="0"/>
              <a:t>Residuos de construcción y demolición</a:t>
            </a:r>
          </a:p>
          <a:p>
            <a:r>
              <a:rPr lang="es-CO" dirty="0"/>
              <a:t>Vehículos o llantas fuera de uso</a:t>
            </a:r>
          </a:p>
          <a:p>
            <a:r>
              <a:rPr lang="es-CO" dirty="0"/>
              <a:t>Colchones</a:t>
            </a:r>
          </a:p>
          <a:p>
            <a:r>
              <a:rPr lang="es-CO" dirty="0"/>
              <a:t>Muebles</a:t>
            </a:r>
          </a:p>
          <a:p>
            <a:r>
              <a:rPr lang="es-CO" dirty="0"/>
              <a:t>Estanterías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221711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1C058-5554-4695-8BCC-6DB0CF59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CICLO DE VIDA DE LOS RESIDUOS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61CA15-0E34-43E1-8DF3-66A04EBB5E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46" t="20054" r="14039" b="-24"/>
          <a:stretch/>
        </p:blipFill>
        <p:spPr>
          <a:xfrm>
            <a:off x="0" y="1322363"/>
            <a:ext cx="12191999" cy="553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01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D2A3F-50F5-4AA1-ABF7-31A39635D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LAS TRES “R”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D04661-39AC-4A28-A039-149DDA13C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255" y="1488613"/>
            <a:ext cx="4645731" cy="5123202"/>
          </a:xfrm>
        </p:spPr>
        <p:txBody>
          <a:bodyPr>
            <a:normAutofit lnSpcReduction="10000"/>
          </a:bodyPr>
          <a:lstStyle/>
          <a:p>
            <a:pPr algn="just"/>
            <a:r>
              <a:rPr lang="es-CO" dirty="0"/>
              <a:t>Reducir: hay que procurar reducir el volumen de productos que consumimos, ya que para la fabricación de nuevos productos se requieren materias primas que no podemos derrochar como el petróleo o el agua. También para disminuir la cantidad de basura que genera los productos que consumimos.</a:t>
            </a:r>
          </a:p>
          <a:p>
            <a:pPr algn="just"/>
            <a:r>
              <a:rPr lang="es-CO" dirty="0"/>
              <a:t>Reutilizar: reutilizar el mayor número posible de objetos con el fin de producir menos basura y gastar la menor cantidad posible de recursos en fabricar otros nuevos. </a:t>
            </a:r>
          </a:p>
          <a:p>
            <a:pPr algn="just"/>
            <a:r>
              <a:rPr lang="es-CO" dirty="0"/>
              <a:t>Reciclar: consiste en fabricar nuevos productos utilizando materiales obtenidos de otros viejos. Si no es posible reducir el consumo de algo y tampoco reutilizar, intenta que al menos sea reciclable. 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B24FF49-87AC-4B10-89F4-89DB24F34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61" y="2848561"/>
            <a:ext cx="26955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165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13C3D-110F-43A2-A3A3-2AFD0A6B2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CÓDIGO DE COLORES PARA LA SEPARACIÓN DE RESIDUOS (GTC-24/2009)</a:t>
            </a:r>
            <a:endParaRPr lang="es-419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267A168C-F09D-4808-829F-22FD9C8D4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844915"/>
              </p:ext>
            </p:extLst>
          </p:nvPr>
        </p:nvGraphicFramePr>
        <p:xfrm>
          <a:off x="2124221" y="1930400"/>
          <a:ext cx="6182562" cy="4719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84406">
                  <a:extLst>
                    <a:ext uri="{9D8B030D-6E8A-4147-A177-3AD203B41FA5}">
                      <a16:colId xmlns:a16="http://schemas.microsoft.com/office/drawing/2014/main" val="931241790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668409136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154460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bg1"/>
                          </a:solidFill>
                        </a:rPr>
                        <a:t>SECTOR</a:t>
                      </a:r>
                      <a:endParaRPr lang="es-419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bg1"/>
                          </a:solidFill>
                        </a:rPr>
                        <a:t>TIPO DE RESIDUO</a:t>
                      </a:r>
                      <a:endParaRPr lang="es-419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bg1"/>
                          </a:solidFill>
                        </a:rPr>
                        <a:t>COLOR</a:t>
                      </a:r>
                      <a:endParaRPr lang="es-419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96514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endParaRPr lang="es-CO" dirty="0"/>
                    </a:p>
                    <a:p>
                      <a:r>
                        <a:rPr lang="es-CO" dirty="0"/>
                        <a:t>DOMESTICO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Aprovechables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32431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No aprovechables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0558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Orgánicos biodegradables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384083"/>
                  </a:ext>
                </a:extLst>
              </a:tr>
              <a:tr h="370840">
                <a:tc rowSpan="8"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r>
                        <a:rPr lang="es-CO" dirty="0"/>
                        <a:t>Industrial, comercial institucional y de servicios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Cartón y papel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0799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Plásticos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619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Vidrio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1327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Orgánicos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7764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Metálicos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3705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Madera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2160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Ordinarios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6774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Peligrosos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33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46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71297-88B6-4D7E-99C7-9FFA8EB82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1976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s-CO" dirty="0"/>
              <a:t>Art 4. Resolución 2184 del 2019</a:t>
            </a:r>
            <a:br>
              <a:rPr lang="es-CO" dirty="0"/>
            </a:br>
            <a:r>
              <a:rPr lang="es-CO" dirty="0"/>
              <a:t>Nuevo código de colores para separación de residuos, a partir de enero del año 2021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D2E72A-8A89-4924-BD29-5B25D3DCAE7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206038"/>
            <a:ext cx="8596667" cy="437998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4285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0FDCC-148A-4FD6-A258-30228CA8A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ACTIVIDAD</a:t>
            </a:r>
            <a:endParaRPr lang="es-419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3CA4D1FE-ADAE-4B71-88DC-F793B632BB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635992"/>
              </p:ext>
            </p:extLst>
          </p:nvPr>
        </p:nvGraphicFramePr>
        <p:xfrm>
          <a:off x="1322362" y="1392702"/>
          <a:ext cx="7951640" cy="510227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23610">
                  <a:extLst>
                    <a:ext uri="{9D8B030D-6E8A-4147-A177-3AD203B41FA5}">
                      <a16:colId xmlns:a16="http://schemas.microsoft.com/office/drawing/2014/main" val="931241790"/>
                    </a:ext>
                  </a:extLst>
                </a:gridCol>
                <a:gridCol w="2764015">
                  <a:extLst>
                    <a:ext uri="{9D8B030D-6E8A-4147-A177-3AD203B41FA5}">
                      <a16:colId xmlns:a16="http://schemas.microsoft.com/office/drawing/2014/main" val="2668409136"/>
                    </a:ext>
                  </a:extLst>
                </a:gridCol>
                <a:gridCol w="2764015">
                  <a:extLst>
                    <a:ext uri="{9D8B030D-6E8A-4147-A177-3AD203B41FA5}">
                      <a16:colId xmlns:a16="http://schemas.microsoft.com/office/drawing/2014/main" val="154460111"/>
                    </a:ext>
                  </a:extLst>
                </a:gridCol>
              </a:tblGrid>
              <a:tr h="400932"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bg1"/>
                          </a:solidFill>
                        </a:rPr>
                        <a:t>SECTOR</a:t>
                      </a:r>
                      <a:endParaRPr lang="es-419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bg1"/>
                          </a:solidFill>
                        </a:rPr>
                        <a:t>TIPO DE RESIDUO</a:t>
                      </a:r>
                      <a:endParaRPr lang="es-419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chemeClr val="bg1"/>
                          </a:solidFill>
                        </a:rPr>
                        <a:t>COLOR</a:t>
                      </a:r>
                      <a:endParaRPr lang="es-419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965144"/>
                  </a:ext>
                </a:extLst>
              </a:tr>
              <a:tr h="400932">
                <a:tc rowSpan="3">
                  <a:txBody>
                    <a:bodyPr/>
                    <a:lstStyle/>
                    <a:p>
                      <a:r>
                        <a:rPr lang="es-CO" dirty="0"/>
                        <a:t>Doméstico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Aprovechable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324313"/>
                  </a:ext>
                </a:extLst>
              </a:tr>
              <a:tr h="400932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No aprovechable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055895"/>
                  </a:ext>
                </a:extLst>
              </a:tr>
              <a:tr h="69202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Orgánico biodegradable</a:t>
                      </a:r>
                    </a:p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384083"/>
                  </a:ext>
                </a:extLst>
              </a:tr>
              <a:tr h="400932">
                <a:tc rowSpan="8">
                  <a:txBody>
                    <a:bodyPr/>
                    <a:lstStyle/>
                    <a:p>
                      <a:endParaRPr lang="es-CO" dirty="0"/>
                    </a:p>
                    <a:p>
                      <a:r>
                        <a:rPr lang="es-CO" dirty="0"/>
                        <a:t>Industrias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Cartón y papel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07996"/>
                  </a:ext>
                </a:extLst>
              </a:tr>
              <a:tr h="400932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Plástico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61958"/>
                  </a:ext>
                </a:extLst>
              </a:tr>
              <a:tr h="400932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Vidrio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132751"/>
                  </a:ext>
                </a:extLst>
              </a:tr>
              <a:tr h="400932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Orgánico biodegradable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776491"/>
                  </a:ext>
                </a:extLst>
              </a:tr>
              <a:tr h="400932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Metálicos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370554"/>
                  </a:ext>
                </a:extLst>
              </a:tr>
              <a:tr h="400932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Madera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216071"/>
                  </a:ext>
                </a:extLst>
              </a:tr>
              <a:tr h="400932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Ordinario 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67744"/>
                  </a:ext>
                </a:extLst>
              </a:tr>
              <a:tr h="400932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Peligrosos</a:t>
                      </a:r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419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335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74111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259</TotalTime>
  <Words>681</Words>
  <Application>Microsoft Office PowerPoint</Application>
  <PresentationFormat>Panorámica</PresentationFormat>
  <Paragraphs>82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Faceta</vt:lpstr>
      <vt:lpstr>PLAN DE RESIDUOS SOLIDOS</vt:lpstr>
      <vt:lpstr>RESIDUOS SÓLIDOS</vt:lpstr>
      <vt:lpstr>RESIDUOS APROVECHABLES</vt:lpstr>
      <vt:lpstr>RESIDUOS APROVECHABLES ORGÁNICOS</vt:lpstr>
      <vt:lpstr>RESIDUOS APROVECHABLES INORGÁNICOS</vt:lpstr>
      <vt:lpstr>RESIDUOS NO APROVECHABLES</vt:lpstr>
      <vt:lpstr>RESIDUOS PELIGROSOS</vt:lpstr>
      <vt:lpstr>RESIDUOS ESPECIALES</vt:lpstr>
      <vt:lpstr>CICLO DE VIDA DE LOS RESIDUOS</vt:lpstr>
      <vt:lpstr>LAS TRES “R”</vt:lpstr>
      <vt:lpstr>CÓDIGO DE COLORES PARA LA SEPARACIÓN DE RESIDUOS (GTC-24/2009)</vt:lpstr>
      <vt:lpstr>Art 4. Resolución 2184 del 2019 Nuevo código de colores para separación de residuos, a partir de enero del año 2021</vt:lpstr>
      <vt:lpstr>ACTIVIDAD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RESIDUOS</dc:title>
  <dc:creator>LENOVO 1</dc:creator>
  <cp:lastModifiedBy>LENOVO 1</cp:lastModifiedBy>
  <cp:revision>20</cp:revision>
  <dcterms:created xsi:type="dcterms:W3CDTF">2020-05-11T13:52:55Z</dcterms:created>
  <dcterms:modified xsi:type="dcterms:W3CDTF">2020-05-30T17:01:01Z</dcterms:modified>
</cp:coreProperties>
</file>